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147"/>
  </p:notesMasterIdLst>
  <p:sldIdLst>
    <p:sldId id="256" r:id="rId5"/>
    <p:sldId id="258" r:id="rId6"/>
    <p:sldId id="274" r:id="rId7"/>
    <p:sldId id="276" r:id="rId8"/>
    <p:sldId id="278" r:id="rId9"/>
    <p:sldId id="279" r:id="rId10"/>
    <p:sldId id="283" r:id="rId11"/>
    <p:sldId id="280" r:id="rId12"/>
    <p:sldId id="284" r:id="rId13"/>
    <p:sldId id="281" r:id="rId14"/>
    <p:sldId id="285" r:id="rId15"/>
    <p:sldId id="298" r:id="rId16"/>
    <p:sldId id="296" r:id="rId17"/>
    <p:sldId id="309" r:id="rId18"/>
    <p:sldId id="277" r:id="rId19"/>
    <p:sldId id="282" r:id="rId20"/>
    <p:sldId id="287" r:id="rId21"/>
    <p:sldId id="293" r:id="rId22"/>
    <p:sldId id="294" r:id="rId23"/>
    <p:sldId id="380" r:id="rId24"/>
    <p:sldId id="381" r:id="rId25"/>
    <p:sldId id="312" r:id="rId26"/>
    <p:sldId id="295" r:id="rId27"/>
    <p:sldId id="311" r:id="rId28"/>
    <p:sldId id="406" r:id="rId29"/>
    <p:sldId id="324" r:id="rId30"/>
    <p:sldId id="321" r:id="rId31"/>
    <p:sldId id="397" r:id="rId32"/>
    <p:sldId id="370" r:id="rId33"/>
    <p:sldId id="377" r:id="rId34"/>
    <p:sldId id="378" r:id="rId35"/>
    <p:sldId id="375" r:id="rId36"/>
    <p:sldId id="376" r:id="rId37"/>
    <p:sldId id="379" r:id="rId38"/>
    <p:sldId id="398" r:id="rId39"/>
    <p:sldId id="372" r:id="rId40"/>
    <p:sldId id="289" r:id="rId41"/>
    <p:sldId id="290" r:id="rId42"/>
    <p:sldId id="291" r:id="rId43"/>
    <p:sldId id="323" r:id="rId44"/>
    <p:sldId id="300" r:id="rId45"/>
    <p:sldId id="299" r:id="rId46"/>
    <p:sldId id="301" r:id="rId47"/>
    <p:sldId id="302" r:id="rId48"/>
    <p:sldId id="303" r:id="rId49"/>
    <p:sldId id="399" r:id="rId50"/>
    <p:sldId id="304" r:id="rId51"/>
    <p:sldId id="305" r:id="rId52"/>
    <p:sldId id="306" r:id="rId53"/>
    <p:sldId id="307" r:id="rId54"/>
    <p:sldId id="308" r:id="rId55"/>
    <p:sldId id="314" r:id="rId56"/>
    <p:sldId id="315" r:id="rId57"/>
    <p:sldId id="316" r:id="rId58"/>
    <p:sldId id="317" r:id="rId59"/>
    <p:sldId id="318" r:id="rId60"/>
    <p:sldId id="400" r:id="rId61"/>
    <p:sldId id="325"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1" r:id="rId76"/>
    <p:sldId id="342" r:id="rId77"/>
    <p:sldId id="408" r:id="rId78"/>
    <p:sldId id="409" r:id="rId79"/>
    <p:sldId id="407" r:id="rId80"/>
    <p:sldId id="343" r:id="rId81"/>
    <p:sldId id="344" r:id="rId82"/>
    <p:sldId id="345" r:id="rId83"/>
    <p:sldId id="346" r:id="rId84"/>
    <p:sldId id="348" r:id="rId85"/>
    <p:sldId id="350" r:id="rId86"/>
    <p:sldId id="349"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4" r:id="rId100"/>
    <p:sldId id="363" r:id="rId101"/>
    <p:sldId id="402" r:id="rId102"/>
    <p:sldId id="383" r:id="rId103"/>
    <p:sldId id="365" r:id="rId104"/>
    <p:sldId id="366" r:id="rId105"/>
    <p:sldId id="368" r:id="rId106"/>
    <p:sldId id="367" r:id="rId107"/>
    <p:sldId id="369" r:id="rId108"/>
    <p:sldId id="428" r:id="rId109"/>
    <p:sldId id="403" r:id="rId110"/>
    <p:sldId id="384" r:id="rId111"/>
    <p:sldId id="385" r:id="rId112"/>
    <p:sldId id="412" r:id="rId113"/>
    <p:sldId id="386" r:id="rId114"/>
    <p:sldId id="387" r:id="rId115"/>
    <p:sldId id="390" r:id="rId116"/>
    <p:sldId id="388" r:id="rId117"/>
    <p:sldId id="389" r:id="rId118"/>
    <p:sldId id="391" r:id="rId119"/>
    <p:sldId id="392" r:id="rId120"/>
    <p:sldId id="430" r:id="rId121"/>
    <p:sldId id="431" r:id="rId122"/>
    <p:sldId id="405" r:id="rId123"/>
    <p:sldId id="404" r:id="rId124"/>
    <p:sldId id="410" r:id="rId125"/>
    <p:sldId id="421" r:id="rId126"/>
    <p:sldId id="422" r:id="rId127"/>
    <p:sldId id="423" r:id="rId128"/>
    <p:sldId id="424" r:id="rId129"/>
    <p:sldId id="425" r:id="rId130"/>
    <p:sldId id="426" r:id="rId131"/>
    <p:sldId id="427" r:id="rId132"/>
    <p:sldId id="429" r:id="rId133"/>
    <p:sldId id="432" r:id="rId134"/>
    <p:sldId id="394" r:id="rId135"/>
    <p:sldId id="395" r:id="rId136"/>
    <p:sldId id="411" r:id="rId137"/>
    <p:sldId id="413" r:id="rId138"/>
    <p:sldId id="414" r:id="rId139"/>
    <p:sldId id="415" r:id="rId140"/>
    <p:sldId id="416" r:id="rId141"/>
    <p:sldId id="417" r:id="rId142"/>
    <p:sldId id="418" r:id="rId143"/>
    <p:sldId id="419" r:id="rId144"/>
    <p:sldId id="420" r:id="rId145"/>
    <p:sldId id="433" r:id="rId1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4660"/>
  </p:normalViewPr>
  <p:slideViewPr>
    <p:cSldViewPr>
      <p:cViewPr>
        <p:scale>
          <a:sx n="125" d="100"/>
          <a:sy n="125" d="100"/>
        </p:scale>
        <p:origin x="1260"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viewProps" Target="viewProps.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50" Type="http://schemas.openxmlformats.org/officeDocument/2006/relationships/theme" Target="theme/theme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1"/>
          <a:lstStyle>
            <a:lvl1pPr algn="r" latinLnBrk="0">
              <a:defRPr lang="he-IL" sz="1200"/>
            </a:lvl1pPr>
          </a:lstStyle>
          <a:p>
            <a:pPr algn="r" rtl="1"/>
            <a:endParaRPr lang="he-I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1"/>
          <a:lstStyle>
            <a:lvl1pPr algn="r" latinLnBrk="0">
              <a:defRPr lang="he-IL" sz="1200"/>
            </a:lvl1pPr>
          </a:lstStyle>
          <a:p>
            <a:fld id="{6DCC9987-AE10-4685-9B5B-4577F1D5BB4C}" type="datetimeFigureOut">
              <a:rPr lang="en-US"/>
              <a:pPr/>
              <a:t>5/27/2025</a:t>
            </a:fld>
            <a:endParaRPr lang="he-I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pPr algn="r" rtl="1"/>
            <a:endParaRPr lang="he-I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lgn="r" rtl="1"/>
            <a:r>
              <a:rPr lang="he-IL"/>
              <a:t>לחץ כדי לערוך סגנונות טקסט של תבנית בסיס</a:t>
            </a:r>
          </a:p>
          <a:p>
            <a:pPr lvl="1" algn="r" rtl="1"/>
            <a:r>
              <a:rPr lang="he-IL"/>
              <a:t>רמה שניה</a:t>
            </a:r>
          </a:p>
          <a:p>
            <a:pPr lvl="2" algn="r" rtl="1"/>
            <a:r>
              <a:rPr lang="he-IL"/>
              <a:t>רמה שלישית</a:t>
            </a:r>
          </a:p>
          <a:p>
            <a:pPr lvl="3" algn="r" rtl="1"/>
            <a:r>
              <a:rPr lang="he-IL"/>
              <a:t>רמה רביעית</a:t>
            </a:r>
          </a:p>
          <a:p>
            <a:pPr lvl="4" algn="r" rtl="1"/>
            <a:r>
              <a:rPr lang="he-IL"/>
              <a:t>רמה חמישית</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1" anchor="b"/>
          <a:lstStyle>
            <a:lvl1pPr algn="r" latinLnBrk="0">
              <a:defRPr lang="he-IL" sz="1200"/>
            </a:lvl1pPr>
          </a:lstStyle>
          <a:p>
            <a:pPr algn="r" rtl="1"/>
            <a:endParaRPr lang="he-I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1" anchor="b"/>
          <a:lstStyle>
            <a:lvl1pPr algn="r" latinLnBrk="0">
              <a:defRPr lang="he-IL" sz="1200"/>
            </a:lvl1pPr>
          </a:lstStyle>
          <a:p>
            <a:fld id="{77D8454A-404F-4DF1-8F43-7DDF83BF3B63}" type="slidenum">
              <a:rPr/>
              <a:pPr/>
              <a:t>‹#›</a:t>
            </a:fld>
            <a:endParaRPr lang="he-IL"/>
          </a:p>
        </p:txBody>
      </p:sp>
    </p:spTree>
  </p:cSld>
  <p:clrMap bg1="lt1" tx1="dk1" bg2="lt2" tx2="dk2" accent1="accent1" accent2="accent2" accent3="accent3" accent4="accent4" accent5="accent5" accent6="accent6" hlink="hlink" folHlink="folHlink"/>
  <p:notesStyle>
    <a:lvl1pPr marL="0" algn="r" defTabSz="914400" rtl="0" eaLnBrk="1" latinLnBrk="0" hangingPunct="1">
      <a:defRPr lang="he-IL" sz="1200" kern="1200">
        <a:solidFill>
          <a:schemeClr val="tx1"/>
        </a:solidFill>
        <a:latin typeface="+mn-lt"/>
        <a:ea typeface="+mn-ea"/>
        <a:cs typeface="+mn-cs"/>
      </a:defRPr>
    </a:lvl1pPr>
    <a:lvl2pPr marL="457200" algn="l" defTabSz="914400" rtl="0" eaLnBrk="1" latinLnBrk="0" hangingPunct="1">
      <a:defRPr lang="he-IL" sz="1200" kern="1200">
        <a:solidFill>
          <a:schemeClr val="tx1"/>
        </a:solidFill>
        <a:latin typeface="+mn-lt"/>
        <a:ea typeface="+mn-ea"/>
        <a:cs typeface="+mn-cs"/>
      </a:defRPr>
    </a:lvl2pPr>
    <a:lvl3pPr marL="914400" algn="l" defTabSz="914400" rtl="0" eaLnBrk="1" latinLnBrk="0" hangingPunct="1">
      <a:defRPr lang="he-IL" sz="1200" kern="1200">
        <a:solidFill>
          <a:schemeClr val="tx1"/>
        </a:solidFill>
        <a:latin typeface="+mn-lt"/>
        <a:ea typeface="+mn-ea"/>
        <a:cs typeface="+mn-cs"/>
      </a:defRPr>
    </a:lvl3pPr>
    <a:lvl4pPr marL="1371600" algn="l" defTabSz="914400" rtl="0" eaLnBrk="1" latinLnBrk="0" hangingPunct="1">
      <a:defRPr lang="he-IL" sz="1200" kern="1200">
        <a:solidFill>
          <a:schemeClr val="tx1"/>
        </a:solidFill>
        <a:latin typeface="+mn-lt"/>
        <a:ea typeface="+mn-ea"/>
        <a:cs typeface="+mn-cs"/>
      </a:defRPr>
    </a:lvl4pPr>
    <a:lvl5pPr marL="1828800" algn="l" defTabSz="914400" rtl="0" eaLnBrk="1" latinLnBrk="0" hangingPunct="1">
      <a:defRPr lang="he-IL" sz="1200" kern="1200">
        <a:solidFill>
          <a:schemeClr val="tx1"/>
        </a:solidFill>
        <a:latin typeface="+mn-lt"/>
        <a:ea typeface="+mn-ea"/>
        <a:cs typeface="+mn-cs"/>
      </a:defRPr>
    </a:lvl5pPr>
    <a:lvl6pPr marL="2286000" algn="l" defTabSz="914400" rtl="0" eaLnBrk="1" latinLnBrk="0" hangingPunct="1">
      <a:defRPr lang="he-IL" sz="1200" kern="1200">
        <a:solidFill>
          <a:schemeClr val="tx1"/>
        </a:solidFill>
        <a:latin typeface="+mn-lt"/>
        <a:ea typeface="+mn-ea"/>
        <a:cs typeface="+mn-cs"/>
      </a:defRPr>
    </a:lvl6pPr>
    <a:lvl7pPr marL="2743200" algn="l" defTabSz="914400" rtl="0" eaLnBrk="1" latinLnBrk="0" hangingPunct="1">
      <a:defRPr lang="he-IL" sz="1200" kern="1200">
        <a:solidFill>
          <a:schemeClr val="tx1"/>
        </a:solidFill>
        <a:latin typeface="+mn-lt"/>
        <a:ea typeface="+mn-ea"/>
        <a:cs typeface="+mn-cs"/>
      </a:defRPr>
    </a:lvl7pPr>
    <a:lvl8pPr marL="3200400" algn="l" defTabSz="914400" rtl="0" eaLnBrk="1" latinLnBrk="0" hangingPunct="1">
      <a:defRPr lang="he-IL" sz="1200" kern="1200">
        <a:solidFill>
          <a:schemeClr val="tx1"/>
        </a:solidFill>
        <a:latin typeface="+mn-lt"/>
        <a:ea typeface="+mn-ea"/>
        <a:cs typeface="+mn-cs"/>
      </a:defRPr>
    </a:lvl8pPr>
    <a:lvl9pPr marL="3657600" algn="l" defTabSz="914400" rtl="0" eaLnBrk="1" latinLnBrk="0" hangingPunct="1">
      <a:defRPr lang="he-IL"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r" rtl="1"/>
            <a:endParaRPr lang="he-IL"/>
          </a:p>
        </p:txBody>
      </p:sp>
      <p:sp>
        <p:nvSpPr>
          <p:cNvPr id="4" name="Slide Number Placeholder 3"/>
          <p:cNvSpPr>
            <a:spLocks noGrp="1"/>
          </p:cNvSpPr>
          <p:nvPr>
            <p:ph type="sldNum" sz="quarter" idx="10"/>
          </p:nvPr>
        </p:nvSpPr>
        <p:spPr/>
        <p:txBody>
          <a:bodyPr/>
          <a:lstStyle/>
          <a:p>
            <a:fld id="{77D8454A-404F-4DF1-8F43-7DDF83BF3B63}" type="slidenum">
              <a:rPr lang="he-IL" smtClean="0"/>
              <a:pPr/>
              <a:t>1</a:t>
            </a:fld>
            <a:endParaRPr lang="he-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r" rtl="1"/>
            <a:endParaRPr lang="he-IL"/>
          </a:p>
        </p:txBody>
      </p:sp>
      <p:sp>
        <p:nvSpPr>
          <p:cNvPr id="4" name="Slide Number Placeholder 3"/>
          <p:cNvSpPr>
            <a:spLocks noGrp="1"/>
          </p:cNvSpPr>
          <p:nvPr>
            <p:ph type="sldNum" sz="quarter" idx="10"/>
          </p:nvPr>
        </p:nvSpPr>
        <p:spPr/>
        <p:txBody>
          <a:bodyPr/>
          <a:lstStyle/>
          <a:p>
            <a:fld id="{77D8454A-404F-4DF1-8F43-7DDF83BF3B63}" type="slidenum">
              <a:rPr lang="he-IL" smtClean="0"/>
              <a:pPr/>
              <a:t>2</a:t>
            </a:fld>
            <a:endParaRPr lang="he-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r" rtl="1"/>
            <a:endParaRPr lang="he-IL"/>
          </a:p>
        </p:txBody>
      </p:sp>
      <p:sp>
        <p:nvSpPr>
          <p:cNvPr id="4" name="Slide Number Placeholder 3"/>
          <p:cNvSpPr>
            <a:spLocks noGrp="1"/>
          </p:cNvSpPr>
          <p:nvPr>
            <p:ph type="sldNum" sz="quarter" idx="10"/>
          </p:nvPr>
        </p:nvSpPr>
        <p:spPr/>
        <p:txBody>
          <a:bodyPr/>
          <a:lstStyle/>
          <a:p>
            <a:fld id="{77D8454A-404F-4DF1-8F43-7DDF83BF3B63}" type="slidenum">
              <a:rPr lang="he-IL" smtClean="0"/>
              <a:pPr/>
              <a:t>3</a:t>
            </a:fld>
            <a:endParaRPr lang="he-IL"/>
          </a:p>
        </p:txBody>
      </p:sp>
    </p:spTree>
    <p:extLst>
      <p:ext uri="{BB962C8B-B14F-4D97-AF65-F5344CB8AC3E}">
        <p14:creationId xmlns:p14="http://schemas.microsoft.com/office/powerpoint/2010/main" val="1987875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r" rtl="1"/>
            <a:endParaRPr lang="he-IL"/>
          </a:p>
        </p:txBody>
      </p:sp>
      <p:sp>
        <p:nvSpPr>
          <p:cNvPr id="4" name="Slide Number Placeholder 3"/>
          <p:cNvSpPr>
            <a:spLocks noGrp="1"/>
          </p:cNvSpPr>
          <p:nvPr>
            <p:ph type="sldNum" sz="quarter" idx="10"/>
          </p:nvPr>
        </p:nvSpPr>
        <p:spPr/>
        <p:txBody>
          <a:bodyPr/>
          <a:lstStyle/>
          <a:p>
            <a:fld id="{77D8454A-404F-4DF1-8F43-7DDF83BF3B63}" type="slidenum">
              <a:rPr lang="he-IL" smtClean="0"/>
              <a:pPr/>
              <a:t>4</a:t>
            </a:fld>
            <a:endParaRPr lang="he-IL"/>
          </a:p>
        </p:txBody>
      </p:sp>
    </p:spTree>
    <p:extLst>
      <p:ext uri="{BB962C8B-B14F-4D97-AF65-F5344CB8AC3E}">
        <p14:creationId xmlns:p14="http://schemas.microsoft.com/office/powerpoint/2010/main" val="10141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77D8454A-404F-4DF1-8F43-7DDF83BF3B63}" type="slidenum">
              <a:rPr lang="he-IL" smtClean="0"/>
              <a:pPr/>
              <a:t>10</a:t>
            </a:fld>
            <a:endParaRPr lang="he-IL"/>
          </a:p>
        </p:txBody>
      </p:sp>
    </p:spTree>
    <p:extLst>
      <p:ext uri="{BB962C8B-B14F-4D97-AF65-F5344CB8AC3E}">
        <p14:creationId xmlns:p14="http://schemas.microsoft.com/office/powerpoint/2010/main" val="1936013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77D8454A-404F-4DF1-8F43-7DDF83BF3B63}" type="slidenum">
              <a:rPr lang="he-IL" smtClean="0"/>
              <a:pPr/>
              <a:t>12</a:t>
            </a:fld>
            <a:endParaRPr lang="he-IL"/>
          </a:p>
        </p:txBody>
      </p:sp>
    </p:spTree>
    <p:extLst>
      <p:ext uri="{BB962C8B-B14F-4D97-AF65-F5344CB8AC3E}">
        <p14:creationId xmlns:p14="http://schemas.microsoft.com/office/powerpoint/2010/main" val="2408888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r" rtl="1"/>
            <a:endParaRPr lang="he-IL" dirty="0"/>
          </a:p>
        </p:txBody>
      </p:sp>
      <p:sp>
        <p:nvSpPr>
          <p:cNvPr id="4" name="Slide Number Placeholder 3"/>
          <p:cNvSpPr>
            <a:spLocks noGrp="1"/>
          </p:cNvSpPr>
          <p:nvPr>
            <p:ph type="sldNum" sz="quarter" idx="10"/>
          </p:nvPr>
        </p:nvSpPr>
        <p:spPr/>
        <p:txBody>
          <a:bodyPr/>
          <a:lstStyle/>
          <a:p>
            <a:fld id="{77D8454A-404F-4DF1-8F43-7DDF83BF3B63}" type="slidenum">
              <a:rPr lang="he-IL" smtClean="0"/>
              <a:pPr/>
              <a:t>15</a:t>
            </a:fld>
            <a:endParaRPr lang="he-IL"/>
          </a:p>
        </p:txBody>
      </p:sp>
    </p:spTree>
    <p:extLst>
      <p:ext uri="{BB962C8B-B14F-4D97-AF65-F5344CB8AC3E}">
        <p14:creationId xmlns:p14="http://schemas.microsoft.com/office/powerpoint/2010/main" val="2138165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77D8454A-404F-4DF1-8F43-7DDF83BF3B63}" type="slidenum">
              <a:rPr lang="he-IL" smtClean="0"/>
              <a:pPr/>
              <a:t>43</a:t>
            </a:fld>
            <a:endParaRPr lang="he-IL"/>
          </a:p>
        </p:txBody>
      </p:sp>
    </p:spTree>
    <p:extLst>
      <p:ext uri="{BB962C8B-B14F-4D97-AF65-F5344CB8AC3E}">
        <p14:creationId xmlns:p14="http://schemas.microsoft.com/office/powerpoint/2010/main" val="2957925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77D8454A-404F-4DF1-8F43-7DDF83BF3B63}" type="slidenum">
              <a:rPr lang="he-IL" smtClean="0"/>
              <a:pPr/>
              <a:t>59</a:t>
            </a:fld>
            <a:endParaRPr lang="he-IL"/>
          </a:p>
        </p:txBody>
      </p:sp>
    </p:spTree>
    <p:extLst>
      <p:ext uri="{BB962C8B-B14F-4D97-AF65-F5344CB8AC3E}">
        <p14:creationId xmlns:p14="http://schemas.microsoft.com/office/powerpoint/2010/main" val="13337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77D8454A-404F-4DF1-8F43-7DDF83BF3B63}" type="slidenum">
              <a:rPr lang="he-IL" smtClean="0"/>
              <a:pPr/>
              <a:t>109</a:t>
            </a:fld>
            <a:endParaRPr lang="he-IL"/>
          </a:p>
        </p:txBody>
      </p:sp>
    </p:spTree>
    <p:extLst>
      <p:ext uri="{BB962C8B-B14F-4D97-AF65-F5344CB8AC3E}">
        <p14:creationId xmlns:p14="http://schemas.microsoft.com/office/powerpoint/2010/main" val="2326039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77D8454A-404F-4DF1-8F43-7DDF83BF3B63}" type="slidenum">
              <a:rPr lang="he-IL" smtClean="0"/>
              <a:pPr/>
              <a:t>110</a:t>
            </a:fld>
            <a:endParaRPr lang="he-IL"/>
          </a:p>
        </p:txBody>
      </p:sp>
    </p:spTree>
    <p:extLst>
      <p:ext uri="{BB962C8B-B14F-4D97-AF65-F5344CB8AC3E}">
        <p14:creationId xmlns:p14="http://schemas.microsoft.com/office/powerpoint/2010/main" val="106709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eaLnBrk="1" latinLnBrk="0" hangingPunct="1"/>
            <a:endParaRPr kumimoji="0" lang="he-IL"/>
          </a:p>
        </p:txBody>
      </p:sp>
      <p:sp>
        <p:nvSpPr>
          <p:cNvPr id="8" name="Title 7"/>
          <p:cNvSpPr>
            <a:spLocks noGrp="1"/>
          </p:cNvSpPr>
          <p:nvPr>
            <p:ph type="ctrTitle"/>
          </p:nvPr>
        </p:nvSpPr>
        <p:spPr>
          <a:xfrm>
            <a:off x="540544" y="776288"/>
            <a:ext cx="8062912" cy="1470025"/>
          </a:xfrm>
        </p:spPr>
        <p:txBody>
          <a:bodyPr anchor="b">
            <a:normAutofit/>
          </a:bodyPr>
          <a:lstStyle>
            <a:lvl1pPr algn="r" latinLnBrk="0">
              <a:defRPr lang="he-IL" sz="4400"/>
            </a:lvl1pPr>
          </a:lstStyle>
          <a:p>
            <a:pPr algn="r" rtl="1"/>
            <a:r>
              <a:rPr kumimoji="0" lang="he-IL"/>
              <a:t>לחץ כדי לערוך סגנון כותרת של תבנית בסיס</a:t>
            </a:r>
          </a:p>
        </p:txBody>
      </p:sp>
      <p:sp>
        <p:nvSpPr>
          <p:cNvPr id="9" name="Subtitle 8"/>
          <p:cNvSpPr>
            <a:spLocks noGrp="1"/>
          </p:cNvSpPr>
          <p:nvPr>
            <p:ph type="subTitle" idx="1"/>
          </p:nvPr>
        </p:nvSpPr>
        <p:spPr>
          <a:xfrm>
            <a:off x="540544" y="2250280"/>
            <a:ext cx="8062912" cy="2169320"/>
          </a:xfrm>
        </p:spPr>
        <p:txBody>
          <a:bodyPr>
            <a:normAutofit/>
          </a:bodyPr>
          <a:lstStyle>
            <a:lvl1pPr marL="0" marR="36576" indent="0" algn="r" latinLnBrk="0">
              <a:spcBef>
                <a:spcPts val="0"/>
              </a:spcBef>
              <a:buNone/>
              <a:defRPr lang="he-IL" sz="2400">
                <a:ln>
                  <a:noFill/>
                </a:ln>
                <a:solidFill>
                  <a:schemeClr val="tx2">
                    <a:lumMod val="60000"/>
                    <a:lumOff val="4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algn="r" rtl="1"/>
            <a:r>
              <a:rPr kumimoji="0" lang="he-IL" dirty="0"/>
              <a:t>לחץ כדי לערוך סגנון כותרת משנה של תבנית בסיס</a:t>
            </a:r>
          </a:p>
        </p:txBody>
      </p:sp>
      <p:sp>
        <p:nvSpPr>
          <p:cNvPr id="28" name="Date Placeholder 27"/>
          <p:cNvSpPr>
            <a:spLocks noGrp="1"/>
          </p:cNvSpPr>
          <p:nvPr>
            <p:ph type="dt" sz="half" idx="10"/>
          </p:nvPr>
        </p:nvSpPr>
        <p:spPr>
          <a:xfrm>
            <a:off x="1371600" y="6012656"/>
            <a:ext cx="5791200" cy="365125"/>
          </a:xfrm>
        </p:spPr>
        <p:txBody>
          <a:bodyPr tIns="0" bIns="0" anchor="t"/>
          <a:lstStyle>
            <a:lvl1pPr algn="r" latinLnBrk="0">
              <a:defRPr lang="he-IL" sz="1000"/>
            </a:lvl1pPr>
          </a:lstStyle>
          <a:p>
            <a:fld id="{A2FAE584-0C01-44FC-BA57-A272C5B422B0}" type="datetime1">
              <a:rPr lang="en-US" smtClean="0"/>
              <a:t>5/27/2025</a:t>
            </a:fld>
            <a:endParaRPr lang="he-IL"/>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latinLnBrk="0">
              <a:defRPr lang="he-IL" sz="1100"/>
            </a:lvl1pPr>
          </a:lstStyle>
          <a:p>
            <a:pPr algn="r" rtl="1"/>
            <a:r>
              <a:rPr lang="he-IL"/>
              <a:t>סמל החברה כאן</a:t>
            </a:r>
          </a:p>
        </p:txBody>
      </p:sp>
      <p:sp>
        <p:nvSpPr>
          <p:cNvPr id="29" name="Slide Number Placeholder 28"/>
          <p:cNvSpPr>
            <a:spLocks noGrp="1"/>
          </p:cNvSpPr>
          <p:nvPr>
            <p:ph type="sldNum" sz="quarter" idx="12"/>
          </p:nvPr>
        </p:nvSpPr>
        <p:spPr>
          <a:xfrm>
            <a:off x="8392247" y="5752307"/>
            <a:ext cx="502920" cy="365125"/>
          </a:xfrm>
        </p:spPr>
        <p:txBody>
          <a:bodyPr anchor="ctr"/>
          <a:lstStyle>
            <a:lvl1pPr algn="r" latinLnBrk="0">
              <a:defRPr lang="he-IL" sz="2000" b="1">
                <a:solidFill>
                  <a:srgbClr val="FFFFFF"/>
                </a:solidFill>
              </a:defRPr>
            </a:lvl1pPr>
          </a:lstStyle>
          <a:p>
            <a:fld id="{746FD205-8D79-439C-A802-2377436AEC8A}" type="slidenum">
              <a:rPr lang="he-IL" smtClean="0"/>
              <a:pPr/>
              <a:t>‹#›</a:t>
            </a:fld>
            <a:endParaRPr lang="he-I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648200"/>
          </a:xfrm>
        </p:spPr>
        <p:txBody>
          <a:bodyPr/>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7" name="Title 6"/>
          <p:cNvSpPr>
            <a:spLocks noGrp="1"/>
          </p:cNvSpPr>
          <p:nvPr>
            <p:ph type="title"/>
          </p:nvPr>
        </p:nvSpPr>
        <p:spPr/>
        <p:txBody>
          <a:bodyPr/>
          <a:lstStyle/>
          <a:p>
            <a:pPr algn="r" rtl="1"/>
            <a:r>
              <a:rPr lang="he-IL"/>
              <a:t>לחץ כדי לערוך סגנון כותרת של תבנית בסיס</a:t>
            </a:r>
          </a:p>
        </p:txBody>
      </p:sp>
      <p:sp>
        <p:nvSpPr>
          <p:cNvPr id="10" name="Date Placeholder 9"/>
          <p:cNvSpPr>
            <a:spLocks noGrp="1"/>
          </p:cNvSpPr>
          <p:nvPr>
            <p:ph type="dt" sz="half" idx="10"/>
          </p:nvPr>
        </p:nvSpPr>
        <p:spPr/>
        <p:txBody>
          <a:bodyPr/>
          <a:lstStyle/>
          <a:p>
            <a:fld id="{113D639D-7399-451B-80FC-28F398A11FE1}" type="datetime1">
              <a:rPr lang="en-US" smtClean="0"/>
              <a:t>5/27/2025</a:t>
            </a:fld>
            <a:endParaRPr lang="he-IL"/>
          </a:p>
        </p:txBody>
      </p:sp>
      <p:sp>
        <p:nvSpPr>
          <p:cNvPr id="11" name="Slide Number Placeholder 10"/>
          <p:cNvSpPr>
            <a:spLocks noGrp="1"/>
          </p:cNvSpPr>
          <p:nvPr>
            <p:ph type="sldNum" sz="quarter" idx="11"/>
          </p:nvPr>
        </p:nvSpPr>
        <p:spPr/>
        <p:txBody>
          <a:bodyPr/>
          <a:lstStyle/>
          <a:p>
            <a:fld id="{746FD205-8D79-439C-A802-2377436AEC8A}" type="slidenum">
              <a:rPr/>
              <a:pPr/>
              <a:t>‹#›</a:t>
            </a:fld>
            <a:endParaRPr lang="he-IL"/>
          </a:p>
        </p:txBody>
      </p:sp>
      <p:sp>
        <p:nvSpPr>
          <p:cNvPr id="12" name="Footer Placeholder 11"/>
          <p:cNvSpPr>
            <a:spLocks noGrp="1"/>
          </p:cNvSpPr>
          <p:nvPr>
            <p:ph type="ftr" sz="quarter" idx="12"/>
          </p:nvPr>
        </p:nvSpPr>
        <p:spPr/>
        <p:txBody>
          <a:bodyPr/>
          <a:lstStyle/>
          <a:p>
            <a:pPr algn="r" rtl="1"/>
            <a:r>
              <a:rPr lang="he-IL"/>
              <a:t>סמל החברה כאן</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1" eaLnBrk="1" latinLnBrk="0" hangingPunct="1"/>
            <a:endParaRPr kumimoji="0" lang="he-IL" sz="1800" kern="120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eaLnBrk="1" latinLnBrk="0" hangingPunct="1"/>
            <a:endParaRPr kumimoji="0" lang="he-IL"/>
          </a:p>
        </p:txBody>
      </p:sp>
      <p:sp>
        <p:nvSpPr>
          <p:cNvPr id="4" name="Date Placeholder 3"/>
          <p:cNvSpPr>
            <a:spLocks noGrp="1"/>
          </p:cNvSpPr>
          <p:nvPr>
            <p:ph type="dt" sz="half" idx="10"/>
          </p:nvPr>
        </p:nvSpPr>
        <p:spPr>
          <a:xfrm>
            <a:off x="6955632" y="6362700"/>
            <a:ext cx="2133600" cy="304800"/>
          </a:xfrm>
        </p:spPr>
        <p:txBody>
          <a:bodyPr/>
          <a:lstStyle/>
          <a:p>
            <a:fld id="{1DE150F1-3C5D-4407-97DB-9419B6AF259C}" type="datetime1">
              <a:rPr lang="en-US" smtClean="0"/>
              <a:t>5/27/2025</a:t>
            </a:fld>
            <a:endParaRPr lang="he-IL"/>
          </a:p>
        </p:txBody>
      </p:sp>
      <p:sp>
        <p:nvSpPr>
          <p:cNvPr id="5" name="Footer Placeholder 4"/>
          <p:cNvSpPr>
            <a:spLocks noGrp="1"/>
          </p:cNvSpPr>
          <p:nvPr>
            <p:ph type="ftr" sz="quarter" idx="11"/>
          </p:nvPr>
        </p:nvSpPr>
        <p:spPr>
          <a:xfrm>
            <a:off x="2619376" y="6366669"/>
            <a:ext cx="4260056" cy="300831"/>
          </a:xfrm>
        </p:spPr>
        <p:txBody>
          <a:bodyPr/>
          <a:lstStyle/>
          <a:p>
            <a:pPr algn="r" rtl="1"/>
            <a:r>
              <a:rPr lang="he-IL"/>
              <a:t>סמל החברה כאן</a:t>
            </a:r>
          </a:p>
        </p:txBody>
      </p:sp>
      <p:sp>
        <p:nvSpPr>
          <p:cNvPr id="6" name="Slide Number Placeholder 5"/>
          <p:cNvSpPr>
            <a:spLocks noGrp="1"/>
          </p:cNvSpPr>
          <p:nvPr>
            <p:ph type="sldNum" sz="quarter" idx="12"/>
          </p:nvPr>
        </p:nvSpPr>
        <p:spPr>
          <a:xfrm>
            <a:off x="8451056" y="809624"/>
            <a:ext cx="502920" cy="300831"/>
          </a:xfrm>
        </p:spPr>
        <p:txBody>
          <a:bodyPr/>
          <a:lstStyle/>
          <a:p>
            <a:fld id="{746FD205-8D79-439C-A802-2377436AEC8A}" type="slidenum">
              <a:rPr/>
              <a:pPr/>
              <a:t>‹#›</a:t>
            </a:fld>
            <a:endParaRPr lang="he-IL"/>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r" latinLnBrk="0">
              <a:buNone/>
              <a:defRPr lang="he-IL" sz="3600" b="1" cap="none" baseline="0"/>
            </a:lvl1pPr>
          </a:lstStyle>
          <a:p>
            <a:pPr algn="r" rtl="1"/>
            <a:r>
              <a:rPr kumimoji="0" lang="he-IL"/>
              <a:t>לחץ כדי לערוך סגנון כותרת של תבנית בסיס</a:t>
            </a:r>
          </a:p>
        </p:txBody>
      </p:sp>
      <p:sp>
        <p:nvSpPr>
          <p:cNvPr id="3" name="Text Placeholder 2"/>
          <p:cNvSpPr>
            <a:spLocks noGrp="1"/>
          </p:cNvSpPr>
          <p:nvPr>
            <p:ph type="body" idx="1"/>
          </p:nvPr>
        </p:nvSpPr>
        <p:spPr>
          <a:xfrm>
            <a:off x="381000" y="1633536"/>
            <a:ext cx="3886200" cy="2286000"/>
          </a:xfrm>
        </p:spPr>
        <p:txBody>
          <a:bodyPr anchor="t"/>
          <a:lstStyle>
            <a:lvl1pPr marL="54864" indent="0" algn="r" latinLnBrk="0">
              <a:buNone/>
              <a:defRPr lang="he-IL" sz="2000">
                <a:solidFill>
                  <a:schemeClr val="tx1">
                    <a:tint val="75000"/>
                  </a:schemeClr>
                </a:solidFill>
              </a:defRPr>
            </a:lvl1pPr>
            <a:lvl2pPr>
              <a:buNone/>
              <a:defRPr lang="he-IL" sz="1800">
                <a:solidFill>
                  <a:schemeClr val="tx1">
                    <a:tint val="75000"/>
                  </a:schemeClr>
                </a:solidFill>
              </a:defRPr>
            </a:lvl2pPr>
            <a:lvl3pPr>
              <a:buNone/>
              <a:defRPr lang="he-IL" sz="1600">
                <a:solidFill>
                  <a:schemeClr val="tx1">
                    <a:tint val="75000"/>
                  </a:schemeClr>
                </a:solidFill>
              </a:defRPr>
            </a:lvl3pPr>
            <a:lvl4pPr>
              <a:buNone/>
              <a:defRPr lang="he-IL" sz="1400">
                <a:solidFill>
                  <a:schemeClr val="tx1">
                    <a:tint val="75000"/>
                  </a:schemeClr>
                </a:solidFill>
              </a:defRPr>
            </a:lvl4pPr>
            <a:lvl5pPr>
              <a:buNone/>
              <a:defRPr lang="he-IL" sz="1400">
                <a:solidFill>
                  <a:schemeClr val="tx1">
                    <a:tint val="75000"/>
                  </a:schemeClr>
                </a:solidFill>
              </a:defRPr>
            </a:lvl5pPr>
          </a:lstStyle>
          <a:p>
            <a:pPr lvl="0" algn="r" rtl="1" eaLnBrk="1" latinLnBrk="0" hangingPunct="1"/>
            <a:r>
              <a:rPr kumimoji="0" lang="he-IL"/>
              <a:t>לחץ כדי לערוך סגנונות טקסט של תבנית בסיס</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שני תכנים">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24001"/>
            <a:ext cx="4038600" cy="4724400"/>
          </a:xfrm>
        </p:spPr>
        <p:txBody>
          <a:bodyPr/>
          <a:lstStyle>
            <a:lvl1pPr algn="r" latinLnBrk="0">
              <a:defRPr lang="he-IL" sz="2600"/>
            </a:lvl1pPr>
            <a:lvl2pPr>
              <a:defRPr lang="he-IL" sz="2400"/>
            </a:lvl2pPr>
            <a:lvl3pPr>
              <a:defRPr lang="he-IL" sz="2000"/>
            </a:lvl3pPr>
            <a:lvl4pPr>
              <a:defRPr lang="he-IL" sz="1800"/>
            </a:lvl4pPr>
            <a:lvl5pPr>
              <a:defRPr lang="he-IL" sz="1800"/>
            </a:lvl5pPr>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4" name="Content Placeholder 3"/>
          <p:cNvSpPr>
            <a:spLocks noGrp="1"/>
          </p:cNvSpPr>
          <p:nvPr>
            <p:ph sz="half" idx="2"/>
          </p:nvPr>
        </p:nvSpPr>
        <p:spPr>
          <a:xfrm>
            <a:off x="4648200" y="1524001"/>
            <a:ext cx="4038600" cy="4724400"/>
          </a:xfrm>
        </p:spPr>
        <p:txBody>
          <a:bodyPr/>
          <a:lstStyle>
            <a:lvl1pPr algn="r" latinLnBrk="0">
              <a:defRPr lang="he-IL" sz="2600"/>
            </a:lvl1pPr>
            <a:lvl2pPr>
              <a:defRPr lang="he-IL" sz="2400"/>
            </a:lvl2pPr>
            <a:lvl3pPr>
              <a:defRPr lang="he-IL" sz="2000"/>
            </a:lvl3pPr>
            <a:lvl4pPr>
              <a:defRPr lang="he-IL" sz="1800"/>
            </a:lvl4pPr>
            <a:lvl5pPr>
              <a:defRPr lang="he-IL" sz="1800"/>
            </a:lvl5pPr>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8" name="Title 7"/>
          <p:cNvSpPr>
            <a:spLocks noGrp="1"/>
          </p:cNvSpPr>
          <p:nvPr>
            <p:ph type="title"/>
          </p:nvPr>
        </p:nvSpPr>
        <p:spPr/>
        <p:txBody>
          <a:bodyPr/>
          <a:lstStyle/>
          <a:p>
            <a:pPr algn="r" rtl="1"/>
            <a:r>
              <a:rPr lang="he-IL"/>
              <a:t>לחץ כדי לערוך סגנון כותרת של תבנית בסיס</a:t>
            </a:r>
          </a:p>
        </p:txBody>
      </p:sp>
      <p:sp>
        <p:nvSpPr>
          <p:cNvPr id="9" name="Date Placeholder 8"/>
          <p:cNvSpPr>
            <a:spLocks noGrp="1"/>
          </p:cNvSpPr>
          <p:nvPr>
            <p:ph type="dt" sz="half" idx="10"/>
          </p:nvPr>
        </p:nvSpPr>
        <p:spPr/>
        <p:txBody>
          <a:bodyPr/>
          <a:lstStyle/>
          <a:p>
            <a:fld id="{020FD85C-C35E-433C-A39F-5B1370A00CC4}" type="datetime1">
              <a:rPr lang="en-US" smtClean="0"/>
              <a:t>5/27/2025</a:t>
            </a:fld>
            <a:endParaRPr lang="he-IL"/>
          </a:p>
        </p:txBody>
      </p:sp>
      <p:sp>
        <p:nvSpPr>
          <p:cNvPr id="10" name="Slide Number Placeholder 9"/>
          <p:cNvSpPr>
            <a:spLocks noGrp="1"/>
          </p:cNvSpPr>
          <p:nvPr>
            <p:ph type="sldNum" sz="quarter" idx="11"/>
          </p:nvPr>
        </p:nvSpPr>
        <p:spPr/>
        <p:txBody>
          <a:bodyPr/>
          <a:lstStyle/>
          <a:p>
            <a:fld id="{746FD205-8D79-439C-A802-2377436AEC8A}" type="slidenum">
              <a:rPr/>
              <a:pPr/>
              <a:t>‹#›</a:t>
            </a:fld>
            <a:endParaRPr lang="he-IL"/>
          </a:p>
        </p:txBody>
      </p:sp>
      <p:sp>
        <p:nvSpPr>
          <p:cNvPr id="11" name="Footer Placeholder 10"/>
          <p:cNvSpPr>
            <a:spLocks noGrp="1"/>
          </p:cNvSpPr>
          <p:nvPr>
            <p:ph type="ftr" sz="quarter" idx="12"/>
          </p:nvPr>
        </p:nvSpPr>
        <p:spPr/>
        <p:txBody>
          <a:bodyPr/>
          <a:lstStyle/>
          <a:p>
            <a:pPr algn="r" rtl="1"/>
            <a:r>
              <a:rPr lang="he-IL"/>
              <a:t>סמל החברה כאן</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5957668"/>
          </a:xfrm>
        </p:spPr>
        <p:txBody>
          <a:bodyPr vert="vert270" anchor="b"/>
          <a:lstStyle>
            <a:lvl1pPr marL="0" algn="r" latinLnBrk="0">
              <a:defRPr lang="he-IL" sz="3300" b="0">
                <a:ln w="6350">
                  <a:solidFill>
                    <a:schemeClr val="tx1"/>
                  </a:solidFill>
                </a:ln>
                <a:solidFill>
                  <a:schemeClr val="tx1"/>
                </a:solidFill>
              </a:defRPr>
            </a:lvl1pPr>
          </a:lstStyle>
          <a:p>
            <a:pPr algn="r" rtl="1"/>
            <a:r>
              <a:rPr kumimoji="0" lang="he-IL"/>
              <a:t>לחץ כדי לערוך סגנון כותרת של תבנית בסיס</a:t>
            </a:r>
          </a:p>
        </p:txBody>
      </p:sp>
      <p:sp>
        <p:nvSpPr>
          <p:cNvPr id="3" name="Text Placeholder 2"/>
          <p:cNvSpPr>
            <a:spLocks noGrp="1"/>
          </p:cNvSpPr>
          <p:nvPr>
            <p:ph type="body" idx="1"/>
          </p:nvPr>
        </p:nvSpPr>
        <p:spPr>
          <a:xfrm>
            <a:off x="1365006" y="290732"/>
            <a:ext cx="581024" cy="2909668"/>
          </a:xfrm>
          <a:solidFill>
            <a:schemeClr val="bg1"/>
          </a:solidFill>
          <a:ln w="12700">
            <a:noFill/>
          </a:ln>
        </p:spPr>
        <p:txBody>
          <a:bodyPr vert="vert270" anchor="ctr"/>
          <a:lstStyle>
            <a:lvl1pPr marL="0" indent="0" algn="r" latinLnBrk="0">
              <a:buNone/>
              <a:defRPr lang="he-IL" sz="1600" b="0">
                <a:solidFill>
                  <a:schemeClr val="tx1"/>
                </a:solidFill>
              </a:defRPr>
            </a:lvl1pPr>
            <a:lvl2pPr>
              <a:buNone/>
              <a:defRPr lang="he-IL" sz="2000" b="1"/>
            </a:lvl2pPr>
            <a:lvl3pPr>
              <a:buNone/>
              <a:defRPr lang="he-IL" sz="1800" b="1"/>
            </a:lvl3pPr>
            <a:lvl4pPr>
              <a:buNone/>
              <a:defRPr lang="he-IL" sz="1600" b="1"/>
            </a:lvl4pPr>
            <a:lvl5pPr>
              <a:buNone/>
              <a:defRPr lang="he-IL" sz="1600" b="1"/>
            </a:lvl5pPr>
          </a:lstStyle>
          <a:p>
            <a:pPr lvl="0" algn="r" rtl="1" eaLnBrk="1" latinLnBrk="0" hangingPunct="1"/>
            <a:r>
              <a:rPr kumimoji="0" lang="he-IL"/>
              <a:t>לחץ כדי לערוך סגנונות טקסט של תבנית בסיס</a:t>
            </a:r>
          </a:p>
        </p:txBody>
      </p:sp>
      <p:sp>
        <p:nvSpPr>
          <p:cNvPr id="4" name="Text Placeholder 3"/>
          <p:cNvSpPr>
            <a:spLocks noGrp="1"/>
          </p:cNvSpPr>
          <p:nvPr>
            <p:ph type="body" sz="half" idx="3"/>
          </p:nvPr>
        </p:nvSpPr>
        <p:spPr>
          <a:xfrm>
            <a:off x="1365006" y="3427124"/>
            <a:ext cx="581024" cy="2821276"/>
          </a:xfrm>
          <a:solidFill>
            <a:schemeClr val="bg1"/>
          </a:solidFill>
          <a:ln w="12700">
            <a:noFill/>
          </a:ln>
        </p:spPr>
        <p:txBody>
          <a:bodyPr vert="vert270" anchor="ctr"/>
          <a:lstStyle>
            <a:lvl1pPr marL="0" indent="0" algn="r" latinLnBrk="0">
              <a:buNone/>
              <a:defRPr lang="he-IL" sz="1600" b="0">
                <a:solidFill>
                  <a:schemeClr val="tx1"/>
                </a:solidFill>
              </a:defRPr>
            </a:lvl1pPr>
            <a:lvl2pPr>
              <a:buNone/>
              <a:defRPr lang="he-IL" sz="2000" b="1"/>
            </a:lvl2pPr>
            <a:lvl3pPr>
              <a:buNone/>
              <a:defRPr lang="he-IL" sz="1800" b="1"/>
            </a:lvl3pPr>
            <a:lvl4pPr>
              <a:buNone/>
              <a:defRPr lang="he-IL" sz="1600" b="1"/>
            </a:lvl4pPr>
            <a:lvl5pPr>
              <a:buNone/>
              <a:defRPr lang="he-IL" sz="1600" b="1"/>
            </a:lvl5pPr>
          </a:lstStyle>
          <a:p>
            <a:pPr lvl="0" algn="r" rtl="1" eaLnBrk="1" latinLnBrk="0" hangingPunct="1"/>
            <a:r>
              <a:rPr kumimoji="0" lang="he-IL"/>
              <a:t>לחץ כדי לערוך סגנונות טקסט של תבנית בסיס</a:t>
            </a:r>
          </a:p>
        </p:txBody>
      </p:sp>
      <p:sp>
        <p:nvSpPr>
          <p:cNvPr id="5" name="Content Placeholder 4"/>
          <p:cNvSpPr>
            <a:spLocks noGrp="1"/>
          </p:cNvSpPr>
          <p:nvPr>
            <p:ph sz="quarter" idx="2"/>
          </p:nvPr>
        </p:nvSpPr>
        <p:spPr>
          <a:xfrm>
            <a:off x="2022230" y="290732"/>
            <a:ext cx="6858000" cy="2897476"/>
          </a:xfrm>
        </p:spPr>
        <p:txBody>
          <a:bodyPr/>
          <a:lstStyle>
            <a:lvl1pPr algn="r" latinLnBrk="0">
              <a:defRPr lang="he-IL" sz="2400"/>
            </a:lvl1pPr>
            <a:lvl2pPr algn="l">
              <a:defRPr lang="he-IL" sz="2000"/>
            </a:lvl2pPr>
            <a:lvl3pPr algn="l">
              <a:defRPr lang="he-IL" sz="1800"/>
            </a:lvl3pPr>
            <a:lvl4pPr algn="l">
              <a:defRPr lang="he-IL" sz="1600"/>
            </a:lvl4pPr>
            <a:lvl5pPr algn="l">
              <a:defRPr lang="he-IL" sz="1600"/>
            </a:lvl5pPr>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6" name="Content Placeholder 5"/>
          <p:cNvSpPr>
            <a:spLocks noGrp="1"/>
          </p:cNvSpPr>
          <p:nvPr>
            <p:ph sz="quarter" idx="4"/>
          </p:nvPr>
        </p:nvSpPr>
        <p:spPr>
          <a:xfrm>
            <a:off x="2022230" y="3350924"/>
            <a:ext cx="6858000" cy="2897476"/>
          </a:xfrm>
        </p:spPr>
        <p:txBody>
          <a:bodyPr/>
          <a:lstStyle>
            <a:lvl1pPr algn="r" latinLnBrk="0">
              <a:defRPr lang="he-IL" sz="2400"/>
            </a:lvl1pPr>
            <a:lvl2pPr>
              <a:defRPr lang="he-IL" sz="2000"/>
            </a:lvl2pPr>
            <a:lvl3pPr>
              <a:defRPr lang="he-IL" sz="1800"/>
            </a:lvl3pPr>
            <a:lvl4pPr>
              <a:defRPr lang="he-IL" sz="1600"/>
            </a:lvl4pPr>
            <a:lvl5pPr>
              <a:defRPr lang="he-IL" sz="1600"/>
            </a:lvl5pPr>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10" name="Date Placeholder 9"/>
          <p:cNvSpPr>
            <a:spLocks noGrp="1"/>
          </p:cNvSpPr>
          <p:nvPr>
            <p:ph type="dt" sz="half" idx="10"/>
          </p:nvPr>
        </p:nvSpPr>
        <p:spPr/>
        <p:txBody>
          <a:bodyPr/>
          <a:lstStyle/>
          <a:p>
            <a:fld id="{D88618F2-7063-411B-A22E-F722164B569E}" type="datetime1">
              <a:rPr lang="en-US" smtClean="0"/>
              <a:t>5/27/2025</a:t>
            </a:fld>
            <a:endParaRPr lang="he-IL"/>
          </a:p>
        </p:txBody>
      </p:sp>
      <p:sp>
        <p:nvSpPr>
          <p:cNvPr id="11" name="Slide Number Placeholder 10"/>
          <p:cNvSpPr>
            <a:spLocks noGrp="1"/>
          </p:cNvSpPr>
          <p:nvPr>
            <p:ph type="sldNum" sz="quarter" idx="11"/>
          </p:nvPr>
        </p:nvSpPr>
        <p:spPr/>
        <p:txBody>
          <a:bodyPr/>
          <a:lstStyle/>
          <a:p>
            <a:fld id="{746FD205-8D79-439C-A802-2377436AEC8A}" type="slidenum">
              <a:rPr/>
              <a:pPr/>
              <a:t>‹#›</a:t>
            </a:fld>
            <a:endParaRPr lang="he-IL"/>
          </a:p>
        </p:txBody>
      </p:sp>
      <p:sp>
        <p:nvSpPr>
          <p:cNvPr id="12" name="Footer Placeholder 11"/>
          <p:cNvSpPr>
            <a:spLocks noGrp="1"/>
          </p:cNvSpPr>
          <p:nvPr>
            <p:ph type="ftr" sz="quarter" idx="12"/>
          </p:nvPr>
        </p:nvSpPr>
        <p:spPr/>
        <p:txBody>
          <a:bodyPr/>
          <a:lstStyle/>
          <a:p>
            <a:pPr algn="r" rtl="1"/>
            <a:r>
              <a:rPr lang="he-IL"/>
              <a:t>סמל החברה כאן</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latinLnBrk="0">
              <a:defRPr lang="he-IL" b="0"/>
            </a:lvl1pPr>
          </a:lstStyle>
          <a:p>
            <a:pPr algn="r" rtl="1"/>
            <a:r>
              <a:rPr kumimoji="0" lang="he-IL"/>
              <a:t>לחץ כדי לערוך סגנון כותרת של תבנית בסיס</a:t>
            </a:r>
          </a:p>
        </p:txBody>
      </p:sp>
      <p:sp>
        <p:nvSpPr>
          <p:cNvPr id="6" name="Date Placeholder 5"/>
          <p:cNvSpPr>
            <a:spLocks noGrp="1"/>
          </p:cNvSpPr>
          <p:nvPr>
            <p:ph type="dt" sz="half" idx="10"/>
          </p:nvPr>
        </p:nvSpPr>
        <p:spPr/>
        <p:txBody>
          <a:bodyPr/>
          <a:lstStyle/>
          <a:p>
            <a:fld id="{A5485E16-CCF8-456E-AC37-0406390C9B1F}" type="datetime1">
              <a:rPr lang="en-US" smtClean="0"/>
              <a:t>5/27/2025</a:t>
            </a:fld>
            <a:endParaRPr lang="he-IL"/>
          </a:p>
        </p:txBody>
      </p:sp>
      <p:sp>
        <p:nvSpPr>
          <p:cNvPr id="7" name="Slide Number Placeholder 6"/>
          <p:cNvSpPr>
            <a:spLocks noGrp="1"/>
          </p:cNvSpPr>
          <p:nvPr>
            <p:ph type="sldNum" sz="quarter" idx="11"/>
          </p:nvPr>
        </p:nvSpPr>
        <p:spPr/>
        <p:txBody>
          <a:bodyPr/>
          <a:lstStyle/>
          <a:p>
            <a:fld id="{746FD205-8D79-439C-A802-2377436AEC8A}" type="slidenum">
              <a:rPr/>
              <a:pPr/>
              <a:t>‹#›</a:t>
            </a:fld>
            <a:endParaRPr lang="he-IL"/>
          </a:p>
        </p:txBody>
      </p:sp>
      <p:sp>
        <p:nvSpPr>
          <p:cNvPr id="8" name="Footer Placeholder 7"/>
          <p:cNvSpPr>
            <a:spLocks noGrp="1"/>
          </p:cNvSpPr>
          <p:nvPr>
            <p:ph type="ftr" sz="quarter" idx="12"/>
          </p:nvPr>
        </p:nvSpPr>
        <p:spPr/>
        <p:txBody>
          <a:bodyPr/>
          <a:lstStyle/>
          <a:p>
            <a:pPr algn="r" rtl="1"/>
            <a:r>
              <a:rPr lang="he-IL"/>
              <a:t>סמל החברה כאן</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8F38430-C4B8-4BFF-9A0C-B27D3B8130B6}" type="datetime1">
              <a:rPr lang="en-US" smtClean="0"/>
              <a:t>5/27/2025</a:t>
            </a:fld>
            <a:endParaRPr lang="he-IL"/>
          </a:p>
        </p:txBody>
      </p:sp>
      <p:sp>
        <p:nvSpPr>
          <p:cNvPr id="6" name="Slide Number Placeholder 5"/>
          <p:cNvSpPr>
            <a:spLocks noGrp="1"/>
          </p:cNvSpPr>
          <p:nvPr>
            <p:ph type="sldNum" sz="quarter" idx="11"/>
          </p:nvPr>
        </p:nvSpPr>
        <p:spPr/>
        <p:txBody>
          <a:bodyPr/>
          <a:lstStyle/>
          <a:p>
            <a:fld id="{746FD205-8D79-439C-A802-2377436AEC8A}" type="slidenum">
              <a:rPr/>
              <a:pPr/>
              <a:t>‹#›</a:t>
            </a:fld>
            <a:endParaRPr lang="he-IL"/>
          </a:p>
        </p:txBody>
      </p:sp>
      <p:sp>
        <p:nvSpPr>
          <p:cNvPr id="7" name="Footer Placeholder 6"/>
          <p:cNvSpPr>
            <a:spLocks noGrp="1"/>
          </p:cNvSpPr>
          <p:nvPr>
            <p:ph type="ftr" sz="quarter" idx="12"/>
          </p:nvPr>
        </p:nvSpPr>
        <p:spPr/>
        <p:txBody>
          <a:bodyPr/>
          <a:lstStyle/>
          <a:p>
            <a:pPr algn="r" rtl="1"/>
            <a:r>
              <a:rPr lang="he-IL"/>
              <a:t>סמל החברה כאן</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883105"/>
          </a:xfrm>
        </p:spPr>
        <p:txBody>
          <a:bodyPr vert="vert270" anchor="b"/>
          <a:lstStyle>
            <a:lvl1pPr marL="0" marR="18288" algn="r" latinLnBrk="0">
              <a:spcBef>
                <a:spcPts val="0"/>
              </a:spcBef>
              <a:buNone/>
              <a:defRPr lang="he-IL" sz="2900" b="0" cap="all" baseline="0"/>
            </a:lvl1pPr>
          </a:lstStyle>
          <a:p>
            <a:pPr algn="r" rtl="1"/>
            <a:r>
              <a:rPr kumimoji="0" lang="he-IL"/>
              <a:t>לחץ כדי לערוך סגנון כותרת של תבנית בסיס</a:t>
            </a:r>
          </a:p>
        </p:txBody>
      </p:sp>
      <p:sp>
        <p:nvSpPr>
          <p:cNvPr id="3" name="Text Placeholder 2"/>
          <p:cNvSpPr>
            <a:spLocks noGrp="1"/>
          </p:cNvSpPr>
          <p:nvPr>
            <p:ph type="body" idx="2"/>
          </p:nvPr>
        </p:nvSpPr>
        <p:spPr>
          <a:xfrm>
            <a:off x="1135856" y="367664"/>
            <a:ext cx="2438400" cy="5883105"/>
          </a:xfrm>
        </p:spPr>
        <p:txBody>
          <a:bodyPr anchor="t"/>
          <a:lstStyle>
            <a:lvl1pPr marL="0" indent="0" algn="r" latinLnBrk="0">
              <a:spcBef>
                <a:spcPts val="0"/>
              </a:spcBef>
              <a:buNone/>
              <a:defRPr lang="he-IL" sz="1400"/>
            </a:lvl1pPr>
            <a:lvl2pPr>
              <a:buNone/>
              <a:defRPr lang="he-IL" sz="1200"/>
            </a:lvl2pPr>
            <a:lvl3pPr>
              <a:buNone/>
              <a:defRPr lang="he-IL" sz="1000"/>
            </a:lvl3pPr>
            <a:lvl4pPr>
              <a:buNone/>
              <a:defRPr lang="he-IL" sz="900"/>
            </a:lvl4pPr>
            <a:lvl5pPr>
              <a:buNone/>
              <a:defRPr lang="he-IL" sz="900"/>
            </a:lvl5pPr>
          </a:lstStyle>
          <a:p>
            <a:pPr lvl="0" algn="r" rtl="1" eaLnBrk="1" latinLnBrk="0" hangingPunct="1"/>
            <a:r>
              <a:rPr kumimoji="0" lang="he-IL"/>
              <a:t>לחץ כדי לערוך סגנונות טקסט של תבנית בסיס</a:t>
            </a:r>
          </a:p>
        </p:txBody>
      </p:sp>
      <p:sp>
        <p:nvSpPr>
          <p:cNvPr id="4" name="Content Placeholder 3"/>
          <p:cNvSpPr>
            <a:spLocks noGrp="1"/>
          </p:cNvSpPr>
          <p:nvPr>
            <p:ph sz="half" idx="1"/>
          </p:nvPr>
        </p:nvSpPr>
        <p:spPr>
          <a:xfrm>
            <a:off x="3651250" y="320040"/>
            <a:ext cx="5276088" cy="5928360"/>
          </a:xfrm>
        </p:spPr>
        <p:txBody>
          <a:bodyPr/>
          <a:lstStyle>
            <a:lvl1pPr algn="r" latinLnBrk="0">
              <a:spcBef>
                <a:spcPts val="0"/>
              </a:spcBef>
              <a:defRPr lang="he-IL" sz="3000"/>
            </a:lvl1pPr>
            <a:lvl2pPr>
              <a:defRPr lang="he-IL" sz="2600"/>
            </a:lvl2pPr>
            <a:lvl3pPr>
              <a:defRPr lang="he-IL" sz="2400"/>
            </a:lvl3pPr>
            <a:lvl4pPr>
              <a:defRPr lang="he-IL" sz="2000"/>
            </a:lvl4pPr>
            <a:lvl5pPr>
              <a:defRPr lang="he-IL" sz="2000"/>
            </a:lvl5pPr>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8" name="Date Placeholder 7"/>
          <p:cNvSpPr>
            <a:spLocks noGrp="1"/>
          </p:cNvSpPr>
          <p:nvPr>
            <p:ph type="dt" sz="half" idx="10"/>
          </p:nvPr>
        </p:nvSpPr>
        <p:spPr/>
        <p:txBody>
          <a:bodyPr/>
          <a:lstStyle/>
          <a:p>
            <a:fld id="{F2A763C6-1C8C-4603-A0B1-9E86C59F9B00}" type="datetime1">
              <a:rPr lang="en-US" smtClean="0"/>
              <a:t>5/27/2025</a:t>
            </a:fld>
            <a:endParaRPr lang="he-IL"/>
          </a:p>
        </p:txBody>
      </p:sp>
      <p:sp>
        <p:nvSpPr>
          <p:cNvPr id="9" name="Slide Number Placeholder 8"/>
          <p:cNvSpPr>
            <a:spLocks noGrp="1"/>
          </p:cNvSpPr>
          <p:nvPr>
            <p:ph type="sldNum" sz="quarter" idx="11"/>
          </p:nvPr>
        </p:nvSpPr>
        <p:spPr/>
        <p:txBody>
          <a:bodyPr/>
          <a:lstStyle/>
          <a:p>
            <a:fld id="{746FD205-8D79-439C-A802-2377436AEC8A}" type="slidenum">
              <a:rPr/>
              <a:pPr/>
              <a:t>‹#›</a:t>
            </a:fld>
            <a:endParaRPr lang="he-IL"/>
          </a:p>
        </p:txBody>
      </p:sp>
      <p:sp>
        <p:nvSpPr>
          <p:cNvPr id="10" name="Footer Placeholder 9"/>
          <p:cNvSpPr>
            <a:spLocks noGrp="1"/>
          </p:cNvSpPr>
          <p:nvPr>
            <p:ph type="ftr" sz="quarter" idx="12"/>
          </p:nvPr>
        </p:nvSpPr>
        <p:spPr/>
        <p:txBody>
          <a:bodyPr/>
          <a:lstStyle/>
          <a:p>
            <a:pPr algn="r" rtl="1"/>
            <a:r>
              <a:rPr lang="he-IL"/>
              <a:t>סמל החברה כאן</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097504"/>
          </a:xfrm>
        </p:spPr>
        <p:txBody>
          <a:bodyPr vert="vert270" anchor="b"/>
          <a:lstStyle>
            <a:lvl1pPr marL="0" algn="r" latinLnBrk="0">
              <a:buNone/>
              <a:defRPr lang="he-IL" sz="3000" b="0" cap="all" baseline="0"/>
            </a:lvl1pPr>
          </a:lstStyle>
          <a:p>
            <a:pPr algn="r" rtl="1"/>
            <a:r>
              <a:rPr kumimoji="0" lang="he-IL"/>
              <a:t>לחץ כדי לערוך סגנון כותרת של תבנית בסיס</a:t>
            </a:r>
          </a:p>
        </p:txBody>
      </p:sp>
      <p:sp>
        <p:nvSpPr>
          <p:cNvPr id="3" name="Picture Placeholder 2"/>
          <p:cNvSpPr>
            <a:spLocks noGrp="1"/>
          </p:cNvSpPr>
          <p:nvPr>
            <p:ph type="pic" idx="1"/>
          </p:nvPr>
        </p:nvSpPr>
        <p:spPr>
          <a:xfrm>
            <a:off x="1138237" y="373966"/>
            <a:ext cx="7333488" cy="5264834"/>
          </a:xfrm>
          <a:solidFill>
            <a:schemeClr val="bg2">
              <a:shade val="50000"/>
            </a:schemeClr>
          </a:solidFill>
        </p:spPr>
        <p:txBody>
          <a:bodyPr/>
          <a:lstStyle>
            <a:lvl1pPr marL="0" indent="0" algn="r" latinLnBrk="0">
              <a:buNone/>
              <a:defRPr lang="he-IL" sz="3200"/>
            </a:lvl1pPr>
          </a:lstStyle>
          <a:p>
            <a:pPr algn="r" rtl="1"/>
            <a:r>
              <a:rPr kumimoji="0" lang="he-IL"/>
              <a:t>לחץ על סמל כדי להוסיף תמונה</a:t>
            </a:r>
          </a:p>
        </p:txBody>
      </p:sp>
      <p:sp>
        <p:nvSpPr>
          <p:cNvPr id="4" name="Text Placeholder 3"/>
          <p:cNvSpPr>
            <a:spLocks noGrp="1"/>
          </p:cNvSpPr>
          <p:nvPr>
            <p:ph type="body" sz="half" idx="2"/>
          </p:nvPr>
        </p:nvSpPr>
        <p:spPr>
          <a:xfrm>
            <a:off x="1143000" y="5638800"/>
            <a:ext cx="7333488" cy="609600"/>
          </a:xfrm>
          <a:solidFill>
            <a:schemeClr val="accent1">
              <a:alpha val="15000"/>
            </a:schemeClr>
          </a:solidFill>
          <a:ln>
            <a:solidFill>
              <a:schemeClr val="accent1"/>
            </a:solidFill>
            <a:miter lim="800000"/>
          </a:ln>
        </p:spPr>
        <p:txBody>
          <a:bodyPr/>
          <a:lstStyle>
            <a:lvl1pPr marL="0" indent="0" algn="r" latinLnBrk="0">
              <a:spcBef>
                <a:spcPts val="0"/>
              </a:spcBef>
              <a:buNone/>
              <a:defRPr lang="he-IL" sz="1400"/>
            </a:lvl1pPr>
            <a:lvl2pPr>
              <a:defRPr lang="he-IL" sz="1200"/>
            </a:lvl2pPr>
            <a:lvl3pPr>
              <a:defRPr lang="he-IL" sz="1000"/>
            </a:lvl3pPr>
            <a:lvl4pPr>
              <a:defRPr lang="he-IL" sz="900"/>
            </a:lvl4pPr>
            <a:lvl5pPr>
              <a:defRPr lang="he-IL" sz="900"/>
            </a:lvl5pPr>
          </a:lstStyle>
          <a:p>
            <a:pPr lvl="0" algn="r" rtl="1" eaLnBrk="1" latinLnBrk="0" hangingPunct="1"/>
            <a:r>
              <a:rPr kumimoji="0" lang="he-IL"/>
              <a:t>לחץ כדי לערוך סגנונות טקסט של תבנית בסיס</a:t>
            </a:r>
          </a:p>
        </p:txBody>
      </p:sp>
      <p:sp>
        <p:nvSpPr>
          <p:cNvPr id="8" name="Date Placeholder 7"/>
          <p:cNvSpPr>
            <a:spLocks noGrp="1"/>
          </p:cNvSpPr>
          <p:nvPr>
            <p:ph type="dt" sz="half" idx="10"/>
          </p:nvPr>
        </p:nvSpPr>
        <p:spPr/>
        <p:txBody>
          <a:bodyPr/>
          <a:lstStyle/>
          <a:p>
            <a:fld id="{F2CA766F-D8ED-4121-B64A-1BD00241C522}" type="datetime1">
              <a:rPr lang="en-US" smtClean="0"/>
              <a:t>5/27/2025</a:t>
            </a:fld>
            <a:endParaRPr lang="he-IL"/>
          </a:p>
        </p:txBody>
      </p:sp>
      <p:sp>
        <p:nvSpPr>
          <p:cNvPr id="9" name="Slide Number Placeholder 8"/>
          <p:cNvSpPr>
            <a:spLocks noGrp="1"/>
          </p:cNvSpPr>
          <p:nvPr>
            <p:ph type="sldNum" sz="quarter" idx="11"/>
          </p:nvPr>
        </p:nvSpPr>
        <p:spPr/>
        <p:txBody>
          <a:bodyPr/>
          <a:lstStyle/>
          <a:p>
            <a:fld id="{746FD205-8D79-439C-A802-2377436AEC8A}" type="slidenum">
              <a:rPr/>
              <a:pPr/>
              <a:t>‹#›</a:t>
            </a:fld>
            <a:endParaRPr lang="he-IL"/>
          </a:p>
        </p:txBody>
      </p:sp>
      <p:sp>
        <p:nvSpPr>
          <p:cNvPr id="10" name="Footer Placeholder 9"/>
          <p:cNvSpPr>
            <a:spLocks noGrp="1"/>
          </p:cNvSpPr>
          <p:nvPr>
            <p:ph type="ftr" sz="quarter" idx="12"/>
          </p:nvPr>
        </p:nvSpPr>
        <p:spPr/>
        <p:txBody>
          <a:bodyPr/>
          <a:lstStyle/>
          <a:p>
            <a:pPr algn="r" rtl="1"/>
            <a:r>
              <a:rPr lang="he-IL"/>
              <a:t>סמל החברה כאן</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כותרת וטקסט אנכי">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4" name="Date Placeholder 3"/>
          <p:cNvSpPr>
            <a:spLocks noGrp="1"/>
          </p:cNvSpPr>
          <p:nvPr>
            <p:ph type="dt" sz="half" idx="10"/>
          </p:nvPr>
        </p:nvSpPr>
        <p:spPr/>
        <p:txBody>
          <a:bodyPr/>
          <a:lstStyle/>
          <a:p>
            <a:fld id="{B76E9C35-1A21-4AA0-9D08-6FFF5CA3B0A0}" type="datetime1">
              <a:rPr lang="en-US" smtClean="0"/>
              <a:t>5/27/2025</a:t>
            </a:fld>
            <a:endParaRPr lang="he-IL"/>
          </a:p>
        </p:txBody>
      </p:sp>
      <p:sp>
        <p:nvSpPr>
          <p:cNvPr id="5" name="Footer Placeholder 4"/>
          <p:cNvSpPr>
            <a:spLocks noGrp="1"/>
          </p:cNvSpPr>
          <p:nvPr>
            <p:ph type="ftr" sz="quarter" idx="11"/>
          </p:nvPr>
        </p:nvSpPr>
        <p:spPr/>
        <p:txBody>
          <a:bodyPr/>
          <a:lstStyle/>
          <a:p>
            <a:pPr algn="r" rtl="1"/>
            <a:r>
              <a:rPr lang="he-IL"/>
              <a:t>סמל החברה כאן</a:t>
            </a:r>
          </a:p>
        </p:txBody>
      </p:sp>
      <p:sp>
        <p:nvSpPr>
          <p:cNvPr id="6" name="Slide Number Placeholder 5"/>
          <p:cNvSpPr>
            <a:spLocks noGrp="1"/>
          </p:cNvSpPr>
          <p:nvPr>
            <p:ph type="sldNum" sz="quarter" idx="12"/>
          </p:nvPr>
        </p:nvSpPr>
        <p:spPr/>
        <p:txBody>
          <a:bodyPr/>
          <a:lstStyle/>
          <a:p>
            <a:fld id="{746FD205-8D79-439C-A802-2377436AEC8A}" type="slidenum">
              <a:rPr/>
              <a:pPr/>
              <a:t>‹#›</a:t>
            </a:fld>
            <a:endParaRPr 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וטקסט אנכיים">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pPr algn="r" rtl="1"/>
            <a:r>
              <a:rPr kumimoji="0" lang="he-IL"/>
              <a:t>לחץ כדי לערוך סגנון כותרת של תבנית בסיס</a:t>
            </a:r>
          </a:p>
        </p:txBody>
      </p:sp>
      <p:sp>
        <p:nvSpPr>
          <p:cNvPr id="3" name="Vertical Text Placeholder 2"/>
          <p:cNvSpPr>
            <a:spLocks noGrp="1"/>
          </p:cNvSpPr>
          <p:nvPr>
            <p:ph type="body" orient="vert" idx="1"/>
          </p:nvPr>
        </p:nvSpPr>
        <p:spPr>
          <a:xfrm>
            <a:off x="457200" y="381000"/>
            <a:ext cx="6248400" cy="5486400"/>
          </a:xfrm>
        </p:spPr>
        <p:txBody>
          <a:bodyPr vert="eaVert"/>
          <a:lstStyle/>
          <a:p>
            <a:pPr lvl="0" algn="r" rtl="1" eaLnBrk="1" latinLnBrk="0" hangingPunct="1"/>
            <a:r>
              <a:rPr lang="he-IL"/>
              <a:t>לחץ כדי לערוך סגנונות טקסט של תבנית בסיס</a:t>
            </a:r>
          </a:p>
          <a:p>
            <a:pPr lvl="1" algn="r" rtl="1" eaLnBrk="1" latinLnBrk="0" hangingPunct="1"/>
            <a:r>
              <a:rPr lang="he-IL"/>
              <a:t>רמה שניה</a:t>
            </a:r>
          </a:p>
          <a:p>
            <a:pPr lvl="2" algn="r" rtl="1" eaLnBrk="1" latinLnBrk="0" hangingPunct="1"/>
            <a:r>
              <a:rPr lang="he-IL"/>
              <a:t>רמה שלישית</a:t>
            </a:r>
          </a:p>
          <a:p>
            <a:pPr lvl="3" algn="r" rtl="1" eaLnBrk="1" latinLnBrk="0" hangingPunct="1"/>
            <a:r>
              <a:rPr lang="he-IL"/>
              <a:t>רמה רביעית</a:t>
            </a:r>
          </a:p>
          <a:p>
            <a:pPr lvl="4" algn="r" rtl="1" eaLnBrk="1" latinLnBrk="0" hangingPunct="1"/>
            <a:r>
              <a:rPr lang="he-IL"/>
              <a:t>רמה חמישית</a:t>
            </a:r>
            <a:endParaRPr kumimoji="0" lang="he-IL"/>
          </a:p>
        </p:txBody>
      </p:sp>
      <p:sp>
        <p:nvSpPr>
          <p:cNvPr id="4" name="Date Placeholder 3"/>
          <p:cNvSpPr>
            <a:spLocks noGrp="1"/>
          </p:cNvSpPr>
          <p:nvPr>
            <p:ph type="dt" sz="half" idx="10"/>
          </p:nvPr>
        </p:nvSpPr>
        <p:spPr/>
        <p:txBody>
          <a:bodyPr/>
          <a:lstStyle/>
          <a:p>
            <a:fld id="{75F1EDED-6DFC-4B83-A582-FDB2E4875164}" type="datetime1">
              <a:rPr lang="en-US" smtClean="0"/>
              <a:t>5/27/2025</a:t>
            </a:fld>
            <a:endParaRPr lang="he-IL"/>
          </a:p>
        </p:txBody>
      </p:sp>
      <p:sp>
        <p:nvSpPr>
          <p:cNvPr id="5" name="Footer Placeholder 4"/>
          <p:cNvSpPr>
            <a:spLocks noGrp="1"/>
          </p:cNvSpPr>
          <p:nvPr>
            <p:ph type="ftr" sz="quarter" idx="11"/>
          </p:nvPr>
        </p:nvSpPr>
        <p:spPr/>
        <p:txBody>
          <a:bodyPr/>
          <a:lstStyle/>
          <a:p>
            <a:pPr algn="r" rtl="1"/>
            <a:r>
              <a:rPr lang="he-IL"/>
              <a:t>סמל החברה כאן</a:t>
            </a:r>
          </a:p>
        </p:txBody>
      </p:sp>
      <p:sp>
        <p:nvSpPr>
          <p:cNvPr id="6" name="Slide Number Placeholder 5"/>
          <p:cNvSpPr>
            <a:spLocks noGrp="1"/>
          </p:cNvSpPr>
          <p:nvPr>
            <p:ph type="sldNum" sz="quarter" idx="12"/>
          </p:nvPr>
        </p:nvSpPr>
        <p:spPr/>
        <p:txBody>
          <a:bodyPr/>
          <a:lstStyle/>
          <a:p>
            <a:fld id="{746FD205-8D79-439C-A802-2377436AEC8A}" type="slidenum">
              <a:rPr/>
              <a:pPr/>
              <a:t>‹#›</a:t>
            </a:fld>
            <a:endParaRPr lang="he-I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eaLnBrk="1" latinLnBrk="0" hangingPunct="1"/>
            <a:endParaRPr kumimoji="0" lang="he-IL"/>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104106"/>
          </a:xfrm>
          <a:prstGeom prst="rect">
            <a:avLst/>
          </a:prstGeom>
        </p:spPr>
        <p:txBody>
          <a:bodyPr vert="horz" anchor="ctr">
            <a:normAutofit/>
          </a:bodyPr>
          <a:lstStyle/>
          <a:p>
            <a:pPr algn="r" rtl="1"/>
            <a:r>
              <a:rPr kumimoji="0" lang="he-IL"/>
              <a:t>לחץ כדי לערוך סגנון כותרת של תבנית בסיס</a:t>
            </a:r>
          </a:p>
        </p:txBody>
      </p:sp>
      <p:sp>
        <p:nvSpPr>
          <p:cNvPr id="13" name="Text Placeholder 12"/>
          <p:cNvSpPr>
            <a:spLocks noGrp="1"/>
          </p:cNvSpPr>
          <p:nvPr>
            <p:ph type="body" idx="1"/>
          </p:nvPr>
        </p:nvSpPr>
        <p:spPr>
          <a:xfrm>
            <a:off x="457200" y="1524000"/>
            <a:ext cx="8229600" cy="4648200"/>
          </a:xfrm>
          <a:prstGeom prst="rect">
            <a:avLst/>
          </a:prstGeom>
        </p:spPr>
        <p:txBody>
          <a:bodyPr vert="horz" anchor="t">
            <a:normAutofit/>
          </a:bodyPr>
          <a:lstStyle/>
          <a:p>
            <a:pPr lvl="0" algn="r" rtl="1" eaLnBrk="1" latinLnBrk="0" hangingPunct="1"/>
            <a:r>
              <a:rPr kumimoji="0" lang="he-IL"/>
              <a:t>לחץ כדי לערוך סגנונות טקסט של תבנית בסיס</a:t>
            </a:r>
          </a:p>
          <a:p>
            <a:pPr lvl="1" algn="r" rtl="1" eaLnBrk="1" latinLnBrk="0" hangingPunct="1"/>
            <a:r>
              <a:rPr kumimoji="0" lang="he-IL"/>
              <a:t>רמה שניה</a:t>
            </a:r>
          </a:p>
          <a:p>
            <a:pPr lvl="2" algn="r" rtl="1" eaLnBrk="1" latinLnBrk="0" hangingPunct="1"/>
            <a:r>
              <a:rPr kumimoji="0" lang="he-IL"/>
              <a:t>רמה שלישית</a:t>
            </a:r>
          </a:p>
          <a:p>
            <a:pPr lvl="3" algn="r" rtl="1" eaLnBrk="1" latinLnBrk="0" hangingPunct="1"/>
            <a:r>
              <a:rPr kumimoji="0" lang="he-IL"/>
              <a:t>רמה רביעית</a:t>
            </a:r>
          </a:p>
          <a:p>
            <a:pPr lvl="4" algn="r" rtl="1" eaLnBrk="1" latinLnBrk="0" hangingPunct="1"/>
            <a:r>
              <a:rPr kumimoji="0" lang="he-IL"/>
              <a:t>רמה חמישית</a:t>
            </a:r>
          </a:p>
        </p:txBody>
      </p:sp>
      <p:sp>
        <p:nvSpPr>
          <p:cNvPr id="14" name="Date Placeholder 13"/>
          <p:cNvSpPr>
            <a:spLocks noGrp="1"/>
          </p:cNvSpPr>
          <p:nvPr>
            <p:ph type="dt" sz="half" idx="2"/>
          </p:nvPr>
        </p:nvSpPr>
        <p:spPr>
          <a:xfrm>
            <a:off x="4791456" y="6365748"/>
            <a:ext cx="2133600" cy="301752"/>
          </a:xfrm>
          <a:prstGeom prst="rect">
            <a:avLst/>
          </a:prstGeom>
        </p:spPr>
        <p:txBody>
          <a:bodyPr vert="horz" anchor="b"/>
          <a:lstStyle>
            <a:lvl1pPr algn="r" eaLnBrk="1" latinLnBrk="0" hangingPunct="1">
              <a:defRPr kumimoji="0" lang="he-IL" sz="1000" b="0">
                <a:solidFill>
                  <a:schemeClr val="tx1"/>
                </a:solidFill>
              </a:defRPr>
            </a:lvl1pPr>
          </a:lstStyle>
          <a:p>
            <a:fld id="{35364DDB-CF95-4433-A2D5-DBEAD800B75F}" type="datetime1">
              <a:rPr lang="en-US" smtClean="0"/>
              <a:t>5/27/2025</a:t>
            </a:fld>
            <a:endParaRPr lang="he-IL"/>
          </a:p>
        </p:txBody>
      </p:sp>
      <p:sp>
        <p:nvSpPr>
          <p:cNvPr id="3" name="Footer Placeholder 2"/>
          <p:cNvSpPr>
            <a:spLocks noGrp="1"/>
          </p:cNvSpPr>
          <p:nvPr>
            <p:ph type="ftr" sz="quarter" idx="3"/>
          </p:nvPr>
        </p:nvSpPr>
        <p:spPr>
          <a:xfrm>
            <a:off x="457200" y="6366669"/>
            <a:ext cx="4260056" cy="300831"/>
          </a:xfrm>
          <a:prstGeom prst="rect">
            <a:avLst/>
          </a:prstGeom>
        </p:spPr>
        <p:txBody>
          <a:bodyPr vert="horz" anchor="b"/>
          <a:lstStyle>
            <a:lvl1pPr algn="r" eaLnBrk="1" latinLnBrk="0" hangingPunct="1">
              <a:defRPr kumimoji="0" lang="he-IL" sz="1000">
                <a:solidFill>
                  <a:schemeClr val="tx1"/>
                </a:solidFill>
              </a:defRPr>
            </a:lvl1pPr>
          </a:lstStyle>
          <a:p>
            <a:pPr algn="r" rtl="1"/>
            <a:r>
              <a:rPr lang="he-IL"/>
              <a:t>סמל החברה כאן</a:t>
            </a:r>
          </a:p>
        </p:txBody>
      </p:sp>
      <p:sp>
        <p:nvSpPr>
          <p:cNvPr id="23" name="Slide Number Placeholder 22"/>
          <p:cNvSpPr>
            <a:spLocks noGrp="1"/>
          </p:cNvSpPr>
          <p:nvPr>
            <p:ph type="sldNum" sz="quarter" idx="4"/>
          </p:nvPr>
        </p:nvSpPr>
        <p:spPr>
          <a:xfrm>
            <a:off x="7589520" y="6365748"/>
            <a:ext cx="502920" cy="301752"/>
          </a:xfrm>
          <a:prstGeom prst="rect">
            <a:avLst/>
          </a:prstGeom>
        </p:spPr>
        <p:txBody>
          <a:bodyPr vert="horz" anchor="b"/>
          <a:lstStyle>
            <a:lvl1pPr algn="r" eaLnBrk="1" latinLnBrk="0" hangingPunct="1">
              <a:defRPr kumimoji="0" lang="he-IL" sz="1200">
                <a:solidFill>
                  <a:schemeClr val="tx1"/>
                </a:solidFill>
              </a:defRPr>
            </a:lvl1pPr>
          </a:lstStyle>
          <a:p>
            <a:fld id="{746FD205-8D79-439C-A802-2377436AEC8A}" type="slidenum">
              <a:rPr/>
              <a:pPr/>
              <a:t>‹#›</a:t>
            </a:fld>
            <a:endParaRPr lang="he-IL"/>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marL="484632" algn="r" rtl="0" eaLnBrk="1" latinLnBrk="0" hangingPunct="1">
        <a:spcBef>
          <a:spcPct val="0"/>
        </a:spcBef>
        <a:buNone/>
        <a:defRPr kumimoji="0" lang="he-IL" sz="4200" kern="1200">
          <a:ln w="6350">
            <a:noFill/>
          </a:ln>
          <a:solidFill>
            <a:schemeClr val="tx2"/>
          </a:solidFill>
          <a:effectLst/>
          <a:latin typeface="+mj-lt"/>
          <a:ea typeface="+mj-ea"/>
          <a:cs typeface="+mj-cs"/>
        </a:defRPr>
      </a:lvl1pPr>
    </p:titleStyle>
    <p:bodyStyle>
      <a:lvl1pPr marL="448056" indent="-384048" algn="r" rtl="0" eaLnBrk="1" latinLnBrk="0" hangingPunct="1">
        <a:spcBef>
          <a:spcPct val="20000"/>
        </a:spcBef>
        <a:buClr>
          <a:schemeClr val="accent1"/>
        </a:buClr>
        <a:buSzPct val="80000"/>
        <a:buFont typeface="Wingdings 2"/>
        <a:buChar char=""/>
        <a:defRPr kumimoji="0" lang="he-IL"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lang="he-IL"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lang="he-IL"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lang="he-IL"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lang="he-IL"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lang="he-IL"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lang="he-IL"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lang="he-IL"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lang="he-IL" sz="1600" kern="1200">
          <a:solidFill>
            <a:schemeClr val="tx1"/>
          </a:solidFill>
          <a:latin typeface="+mn-lt"/>
          <a:ea typeface="+mn-ea"/>
          <a:cs typeface="+mn-cs"/>
        </a:defRPr>
      </a:lvl9pPr>
    </p:bodyStyle>
    <p:otherStyle>
      <a:lvl1pPr marL="0" algn="r" rtl="0" eaLnBrk="1" latinLnBrk="0" hangingPunct="1">
        <a:defRPr kumimoji="0" lang="he-IL" kern="1200">
          <a:solidFill>
            <a:schemeClr val="tx1"/>
          </a:solidFill>
          <a:latin typeface="+mn-lt"/>
          <a:ea typeface="+mn-ea"/>
          <a:cs typeface="+mn-cs"/>
        </a:defRPr>
      </a:lvl1pPr>
      <a:lvl2pPr marL="457200" algn="l" rtl="0" eaLnBrk="1" latinLnBrk="0" hangingPunct="1">
        <a:defRPr kumimoji="0" lang="he-IL" kern="1200">
          <a:solidFill>
            <a:schemeClr val="tx1"/>
          </a:solidFill>
          <a:latin typeface="+mn-lt"/>
          <a:ea typeface="+mn-ea"/>
          <a:cs typeface="+mn-cs"/>
        </a:defRPr>
      </a:lvl2pPr>
      <a:lvl3pPr marL="914400" algn="l" rtl="0" eaLnBrk="1" latinLnBrk="0" hangingPunct="1">
        <a:defRPr kumimoji="0" lang="he-IL" kern="1200">
          <a:solidFill>
            <a:schemeClr val="tx1"/>
          </a:solidFill>
          <a:latin typeface="+mn-lt"/>
          <a:ea typeface="+mn-ea"/>
          <a:cs typeface="+mn-cs"/>
        </a:defRPr>
      </a:lvl3pPr>
      <a:lvl4pPr marL="1371600" algn="l" rtl="0" eaLnBrk="1" latinLnBrk="0" hangingPunct="1">
        <a:defRPr kumimoji="0" lang="he-IL" kern="1200">
          <a:solidFill>
            <a:schemeClr val="tx1"/>
          </a:solidFill>
          <a:latin typeface="+mn-lt"/>
          <a:ea typeface="+mn-ea"/>
          <a:cs typeface="+mn-cs"/>
        </a:defRPr>
      </a:lvl4pPr>
      <a:lvl5pPr marL="1828800" algn="l" rtl="0" eaLnBrk="1" latinLnBrk="0" hangingPunct="1">
        <a:defRPr kumimoji="0" lang="he-IL" kern="1200">
          <a:solidFill>
            <a:schemeClr val="tx1"/>
          </a:solidFill>
          <a:latin typeface="+mn-lt"/>
          <a:ea typeface="+mn-ea"/>
          <a:cs typeface="+mn-cs"/>
        </a:defRPr>
      </a:lvl5pPr>
      <a:lvl6pPr marL="2286000" algn="l" rtl="0" eaLnBrk="1" latinLnBrk="0" hangingPunct="1">
        <a:defRPr kumimoji="0" lang="he-IL" kern="1200">
          <a:solidFill>
            <a:schemeClr val="tx1"/>
          </a:solidFill>
          <a:latin typeface="+mn-lt"/>
          <a:ea typeface="+mn-ea"/>
          <a:cs typeface="+mn-cs"/>
        </a:defRPr>
      </a:lvl6pPr>
      <a:lvl7pPr marL="2743200" algn="l" rtl="0" eaLnBrk="1" latinLnBrk="0" hangingPunct="1">
        <a:defRPr kumimoji="0" lang="he-IL" kern="1200">
          <a:solidFill>
            <a:schemeClr val="tx1"/>
          </a:solidFill>
          <a:latin typeface="+mn-lt"/>
          <a:ea typeface="+mn-ea"/>
          <a:cs typeface="+mn-cs"/>
        </a:defRPr>
      </a:lvl7pPr>
      <a:lvl8pPr marL="3200400" algn="l" rtl="0" eaLnBrk="1" latinLnBrk="0" hangingPunct="1">
        <a:defRPr kumimoji="0" lang="he-IL" kern="1200">
          <a:solidFill>
            <a:schemeClr val="tx1"/>
          </a:solidFill>
          <a:latin typeface="+mn-lt"/>
          <a:ea typeface="+mn-ea"/>
          <a:cs typeface="+mn-cs"/>
        </a:defRPr>
      </a:lvl8pPr>
      <a:lvl9pPr marL="3657600" algn="l" rtl="0" eaLnBrk="1" latinLnBrk="0" hangingPunct="1">
        <a:defRPr kumimoji="0" lang="he-IL"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6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 Id="rId9" Type="http://schemas.openxmlformats.org/officeDocument/2006/relationships/image" Target="../media/image92.png"/></Relationships>
</file>

<file path=ppt/slides/_rels/slide6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6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6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7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media/image119.png"/><Relationship Id="rId4" Type="http://schemas.openxmlformats.org/officeDocument/2006/relationships/image" Target="../media/image11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png"/></Relationships>
</file>

<file path=ppt/slides/_rels/slide7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7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5" Type="http://schemas.openxmlformats.org/officeDocument/2006/relationships/image" Target="../media/image134.png"/><Relationship Id="rId4" Type="http://schemas.openxmlformats.org/officeDocument/2006/relationships/image" Target="../media/image133.png"/></Relationships>
</file>

<file path=ppt/slides/_rels/slide79.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6.png"/><Relationship Id="rId7" Type="http://schemas.openxmlformats.org/officeDocument/2006/relationships/image" Target="../media/image140.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10" Type="http://schemas.openxmlformats.org/officeDocument/2006/relationships/image" Target="../media/image143.png"/><Relationship Id="rId4" Type="http://schemas.openxmlformats.org/officeDocument/2006/relationships/image" Target="../media/image137.png"/><Relationship Id="rId9" Type="http://schemas.openxmlformats.org/officeDocument/2006/relationships/image" Target="../media/image14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82.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 Id="rId4" Type="http://schemas.openxmlformats.org/officeDocument/2006/relationships/image" Target="../media/image151.png"/></Relationships>
</file>

<file path=ppt/slides/_rels/slide8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88.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73.png"/><Relationship Id="rId7" Type="http://schemas.openxmlformats.org/officeDocument/2006/relationships/image" Target="../media/image177.png"/><Relationship Id="rId2" Type="http://schemas.openxmlformats.org/officeDocument/2006/relationships/image" Target="../media/image172.png"/><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s>
</file>

<file path=ppt/slides/_rels/slide10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image" Target="../media/image189.png"/><Relationship Id="rId3" Type="http://schemas.openxmlformats.org/officeDocument/2006/relationships/image" Target="../media/image184.png"/><Relationship Id="rId7" Type="http://schemas.openxmlformats.org/officeDocument/2006/relationships/image" Target="../media/image188.png"/><Relationship Id="rId2" Type="http://schemas.openxmlformats.org/officeDocument/2006/relationships/image" Target="../media/image183.png"/><Relationship Id="rId1" Type="http://schemas.openxmlformats.org/officeDocument/2006/relationships/slideLayout" Target="../slideLayouts/slideLayout2.xm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 Id="rId9" Type="http://schemas.openxmlformats.org/officeDocument/2006/relationships/image" Target="../media/image19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2.xml"/><Relationship Id="rId4" Type="http://schemas.openxmlformats.org/officeDocument/2006/relationships/image" Target="../media/image196.png"/></Relationships>
</file>

<file path=ppt/slides/_rels/slide115.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png"/><Relationship Id="rId1" Type="http://schemas.openxmlformats.org/officeDocument/2006/relationships/slideLayout" Target="../slideLayouts/slideLayout2.xml"/><Relationship Id="rId4" Type="http://schemas.openxmlformats.org/officeDocument/2006/relationships/image" Target="../media/image20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slideLayout" Target="../slideLayouts/slideLayout2.xml"/><Relationship Id="rId4" Type="http://schemas.openxmlformats.org/officeDocument/2006/relationships/image" Target="../media/image20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06.png"/><Relationship Id="rId1" Type="http://schemas.openxmlformats.org/officeDocument/2006/relationships/slideLayout" Target="../slideLayouts/slideLayout2.xml"/><Relationship Id="rId4" Type="http://schemas.openxmlformats.org/officeDocument/2006/relationships/image" Target="../media/image208.png"/></Relationships>
</file>

<file path=ppt/slides/_rels/slide12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1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16.png"/><Relationship Id="rId1" Type="http://schemas.openxmlformats.org/officeDocument/2006/relationships/slideLayout" Target="../slideLayouts/slideLayout2.xml"/><Relationship Id="rId4" Type="http://schemas.openxmlformats.org/officeDocument/2006/relationships/image" Target="../media/image218.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2.xml"/><Relationship Id="rId5" Type="http://schemas.openxmlformats.org/officeDocument/2006/relationships/image" Target="../media/image223.png"/><Relationship Id="rId4" Type="http://schemas.openxmlformats.org/officeDocument/2006/relationships/image" Target="../media/image22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0544" y="776288"/>
            <a:ext cx="8298656" cy="2043112"/>
          </a:xfrm>
        </p:spPr>
        <p:txBody>
          <a:bodyPr>
            <a:normAutofit/>
          </a:bodyPr>
          <a:lstStyle/>
          <a:p>
            <a:pPr algn="l" rtl="1"/>
            <a:r>
              <a:rPr lang="en-US" sz="7200" b="1" dirty="0"/>
              <a:t>SQL</a:t>
            </a:r>
            <a:endParaRPr lang="he-IL" sz="7200" b="1" dirty="0"/>
          </a:p>
        </p:txBody>
      </p:sp>
      <p:sp>
        <p:nvSpPr>
          <p:cNvPr id="3" name="Subtitle 2"/>
          <p:cNvSpPr>
            <a:spLocks noGrp="1"/>
          </p:cNvSpPr>
          <p:nvPr>
            <p:ph type="subTitle" idx="1"/>
          </p:nvPr>
        </p:nvSpPr>
        <p:spPr>
          <a:xfrm>
            <a:off x="329335" y="6117432"/>
            <a:ext cx="8062912" cy="457200"/>
          </a:xfrm>
        </p:spPr>
        <p:txBody>
          <a:bodyPr>
            <a:normAutofit/>
          </a:bodyPr>
          <a:lstStyle/>
          <a:p>
            <a:pPr algn="l" rtl="1"/>
            <a:r>
              <a:rPr lang="en-US" sz="1200" dirty="0"/>
              <a:t>Chaya Schiff 0548455703 chaya55703@gmail.com</a:t>
            </a:r>
            <a:endParaRPr lang="he-IL" sz="1200" dirty="0"/>
          </a:p>
        </p:txBody>
      </p:sp>
      <p:sp>
        <p:nvSpPr>
          <p:cNvPr id="5" name="מציין מיקום של מספר שקופית 4">
            <a:extLst>
              <a:ext uri="{FF2B5EF4-FFF2-40B4-BE49-F238E27FC236}">
                <a16:creationId xmlns:a16="http://schemas.microsoft.com/office/drawing/2014/main" id="{2124B8E7-2F3C-4B63-87FD-6F184BBCC415}"/>
              </a:ext>
            </a:extLst>
          </p:cNvPr>
          <p:cNvSpPr>
            <a:spLocks noGrp="1"/>
          </p:cNvSpPr>
          <p:nvPr>
            <p:ph type="sldNum" sz="quarter" idx="12"/>
          </p:nvPr>
        </p:nvSpPr>
        <p:spPr/>
        <p:txBody>
          <a:bodyPr/>
          <a:lstStyle/>
          <a:p>
            <a:fld id="{746FD205-8D79-439C-A802-2377436AEC8A}" type="slidenum">
              <a:rPr lang="he-IL" smtClean="0"/>
              <a:pPr/>
              <a:t>1</a:t>
            </a:fld>
            <a:endParaRPr lang="he-I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4008" indent="0" rtl="1">
              <a:buNone/>
            </a:pPr>
            <a:r>
              <a:rPr lang="he-IL" sz="1800" dirty="0">
                <a:cs typeface="Calibri" panose="020F0502020204030204" pitchFamily="34" charset="0"/>
              </a:rPr>
              <a:t>בסיסי נתונים משמשים היום כמאגר המידע העיקרי והחשוב ביותר בכל ארגון. מדובר במערכת אשר כוללת את כל המידע שהארגון זקוק לו, בין אם זה מידע על הלקוחות, על הספקים ועל העובדים, נתוני מלאי, מכירות ועוד – כל מידע הקשור לפעילות הארגון נמצא בתוך אותם בסיסי נתונים. </a:t>
            </a:r>
          </a:p>
          <a:p>
            <a:pPr marL="64008" indent="0" rtl="1">
              <a:buNone/>
            </a:pPr>
            <a:r>
              <a:rPr lang="he-IL" sz="1800" dirty="0">
                <a:cs typeface="Calibri" panose="020F0502020204030204" pitchFamily="34" charset="0"/>
              </a:rPr>
              <a:t>בסיסי הנתונים מאפשרים לנו להפיק דוחות המתבססים על אותם נתונים, כמו דוחות מכירות, דוחות מלאי, שעות עבודה של עובדים, מידע על לקוחות או כל דבר אחר. כמו כן בסיסי נתונים פועלים באינטגרציה מלאה עם מערכות נוספות בארגון כך שבכל רגע נתון מספקות מידע רלוונטי. </a:t>
            </a:r>
          </a:p>
          <a:p>
            <a:pPr marL="64008" indent="0" rtl="1">
              <a:buNone/>
            </a:pPr>
            <a:r>
              <a:rPr lang="he-IL" sz="1800" dirty="0">
                <a:cs typeface="Calibri" panose="020F0502020204030204" pitchFamily="34" charset="0"/>
              </a:rPr>
              <a:t>מבחינה טכנולוגית, בסיס נתונים הוא כלי/תוכנה שמאחסן את הנתונים ומאפשר שליפה, בדיקה ועדכון של חלקים מסוימים של נתונים באופן מהיר וקוהרנטי (עקבי) – </a:t>
            </a:r>
            <a:r>
              <a:rPr lang="en-US" sz="1800" dirty="0">
                <a:cs typeface="Calibri" panose="020F0502020204030204" pitchFamily="34" charset="0"/>
              </a:rPr>
              <a:t>DBMS – database  .management system</a:t>
            </a:r>
            <a:r>
              <a:rPr lang="he-IL" sz="1800" dirty="0">
                <a:cs typeface="Calibri" panose="020F0502020204030204" pitchFamily="34" charset="0"/>
              </a:rPr>
              <a:t> </a:t>
            </a:r>
          </a:p>
          <a:p>
            <a:pPr marL="64008" indent="0" rtl="1">
              <a:buNone/>
            </a:pPr>
            <a:r>
              <a:rPr lang="he-IL" sz="1800" dirty="0">
                <a:cs typeface="Calibri" panose="020F0502020204030204" pitchFamily="34" charset="0"/>
              </a:rPr>
              <a:t>לדוגמא – בכניסה לאתר של משרד הפנים, כאשר נכניס את מספר הזהות שלנו, נקבל נתונים רבים נוספים (שם פרטי, שם משפחה, כתובת, מספר ילדים ועוד), נתונים אלו מאוחסנים בבסיס הנתונים של משרד הפנים, ונשלפים עפ"י מספר הזהות הניתן.</a:t>
            </a:r>
            <a:br>
              <a:rPr lang="en-US" sz="1800" dirty="0">
                <a:cs typeface="Calibri" panose="020F0502020204030204" pitchFamily="34" charset="0"/>
              </a:rPr>
            </a:br>
            <a:r>
              <a:rPr lang="he-IL" sz="1800" dirty="0">
                <a:cs typeface="Calibri" panose="020F0502020204030204" pitchFamily="34" charset="0"/>
              </a:rPr>
              <a:t>דוגמא נוספת - גולש באתר אינטרנט של חברת מוצרים שמעוניין לבדוק מהם המוצרים (והמחירים) שיש לחברה בקטגוריה מסוימת – מקבל בקליק אחד את כל המידע שביקש. למעשה מאחורי הקלעים פעל בסיס נתונים שסיפק את המידע על פי הבקשה (הקלקה על שדה כלשהו באתר החברה) של הגולש</a:t>
            </a:r>
            <a:r>
              <a:rPr lang="he-IL" sz="1800" dirty="0"/>
              <a:t>.</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2" name="Title 1"/>
          <p:cNvSpPr>
            <a:spLocks noGrp="1"/>
          </p:cNvSpPr>
          <p:nvPr>
            <p:ph type="title"/>
          </p:nvPr>
        </p:nvSpPr>
        <p:spPr/>
        <p:txBody>
          <a:bodyPr/>
          <a:lstStyle/>
          <a:p>
            <a:pPr algn="r" rtl="1"/>
            <a:r>
              <a:rPr lang="he-IL" dirty="0"/>
              <a:t>מהם בסיסי נתונים?</a:t>
            </a:r>
          </a:p>
        </p:txBody>
      </p:sp>
      <p:sp>
        <p:nvSpPr>
          <p:cNvPr id="5" name="מציין מיקום של מספר שקופית 4">
            <a:extLst>
              <a:ext uri="{FF2B5EF4-FFF2-40B4-BE49-F238E27FC236}">
                <a16:creationId xmlns:a16="http://schemas.microsoft.com/office/drawing/2014/main" id="{63404A2F-D1A1-4DF4-8885-0559E55FF4DF}"/>
              </a:ext>
            </a:extLst>
          </p:cNvPr>
          <p:cNvSpPr>
            <a:spLocks noGrp="1"/>
          </p:cNvSpPr>
          <p:nvPr>
            <p:ph type="sldNum" sz="quarter" idx="11"/>
          </p:nvPr>
        </p:nvSpPr>
        <p:spPr/>
        <p:txBody>
          <a:bodyPr/>
          <a:lstStyle/>
          <a:p>
            <a:fld id="{746FD205-8D79-439C-A802-2377436AEC8A}" type="slidenum">
              <a:rPr lang="he-IL" smtClean="0"/>
              <a:pPr/>
              <a:t>2</a:t>
            </a:fld>
            <a:endParaRPr lang="he-I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he-IL" sz="1800" dirty="0">
                <a:cs typeface="Calibri" panose="020F0502020204030204" pitchFamily="34" charset="0"/>
              </a:rPr>
              <a:t>באיזה מסדי נתונים נשתמש?</a:t>
            </a:r>
          </a:p>
          <a:p>
            <a:pPr marL="0" indent="0">
              <a:buNone/>
            </a:pPr>
            <a:r>
              <a:rPr lang="he-IL" sz="1800" dirty="0">
                <a:cs typeface="Calibri" panose="020F0502020204030204" pitchFamily="34" charset="0"/>
              </a:rPr>
              <a:t>כשמדובר בחברה קטנה, או בבעל עסק פרטי, או אפילו במחשב האישי שלנו – גם כלים כמו אקסל הינם בסיסי נתונים. גיליונות אלקטרוניים הם סוג של מסד נתונים שבו הנתונים מאוחסנים בגיליון אחד או יותר.</a:t>
            </a:r>
            <a:br>
              <a:rPr lang="he-IL" sz="1800" dirty="0">
                <a:cs typeface="Calibri" panose="020F0502020204030204" pitchFamily="34" charset="0"/>
              </a:rPr>
            </a:br>
            <a:r>
              <a:rPr lang="he-IL" sz="1800" dirty="0">
                <a:cs typeface="Calibri" panose="020F0502020204030204" pitchFamily="34" charset="0"/>
              </a:rPr>
              <a:t>בתוך גיליונות עבודה, הנתונים מאורגנים בעמודות ובשורות בתוך התאים. כלומר המידע שנמצא בהם מאורגן ומסודר לפי לוגיקה מסוימת.</a:t>
            </a:r>
          </a:p>
          <a:p>
            <a:pPr marL="0" indent="0">
              <a:buNone/>
            </a:pPr>
            <a:r>
              <a:rPr lang="he-IL" sz="1800" dirty="0">
                <a:cs typeface="Calibri" panose="020F0502020204030204" pitchFamily="34" charset="0"/>
              </a:rPr>
              <a:t>כשמדובר בארגונים גדולים יותר, עם כמויות נתונים גדולות וצרכים ארגוניים הדורשים שימוש בכלים וטכנולוגיות מתקדמים, גדולים וחזקים יותר – נראה שימוש במסדי נתונים מאסיביים יותר.</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2" name="Title 1"/>
          <p:cNvSpPr>
            <a:spLocks noGrp="1"/>
          </p:cNvSpPr>
          <p:nvPr>
            <p:ph type="title"/>
          </p:nvPr>
        </p:nvSpPr>
        <p:spPr/>
        <p:txBody>
          <a:bodyPr/>
          <a:lstStyle/>
          <a:p>
            <a:pPr algn="r" rtl="1"/>
            <a:r>
              <a:rPr lang="he-IL" dirty="0"/>
              <a:t>שימוש בבסיסי נתונים</a:t>
            </a:r>
          </a:p>
        </p:txBody>
      </p:sp>
      <p:sp>
        <p:nvSpPr>
          <p:cNvPr id="5" name="מציין מיקום של מספר שקופית 4">
            <a:extLst>
              <a:ext uri="{FF2B5EF4-FFF2-40B4-BE49-F238E27FC236}">
                <a16:creationId xmlns:a16="http://schemas.microsoft.com/office/drawing/2014/main" id="{2DE9E3D6-B914-48B6-A225-6E7A8C921DA1}"/>
              </a:ext>
            </a:extLst>
          </p:cNvPr>
          <p:cNvSpPr>
            <a:spLocks noGrp="1"/>
          </p:cNvSpPr>
          <p:nvPr>
            <p:ph type="sldNum" sz="quarter" idx="11"/>
          </p:nvPr>
        </p:nvSpPr>
        <p:spPr/>
        <p:txBody>
          <a:bodyPr/>
          <a:lstStyle/>
          <a:p>
            <a:fld id="{746FD205-8D79-439C-A802-2377436AEC8A}" type="slidenum">
              <a:rPr lang="he-IL" smtClean="0"/>
              <a:pPr/>
              <a:t>3</a:t>
            </a:fld>
            <a:endParaRPr lang="he-IL"/>
          </a:p>
        </p:txBody>
      </p:sp>
    </p:spTree>
    <p:extLst>
      <p:ext uri="{BB962C8B-B14F-4D97-AF65-F5344CB8AC3E}">
        <p14:creationId xmlns:p14="http://schemas.microsoft.com/office/powerpoint/2010/main" val="2473167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229600" cy="4343400"/>
          </a:xfrm>
        </p:spPr>
        <p:txBody>
          <a:bodyPr>
            <a:normAutofit/>
          </a:bodyPr>
          <a:lstStyle/>
          <a:p>
            <a:pPr marL="0" indent="0" rtl="1">
              <a:buNone/>
            </a:pPr>
            <a:r>
              <a:rPr lang="he-IL" sz="1800" dirty="0">
                <a:latin typeface="Calibri" panose="020F0502020204030204" pitchFamily="34" charset="0"/>
                <a:cs typeface="Calibri" panose="020F0502020204030204" pitchFamily="34" charset="0"/>
              </a:rPr>
              <a:t>ישנם שני סוגים של מסדי נתונים: מסד נתונים </a:t>
            </a:r>
            <a:r>
              <a:rPr lang="he-IL" sz="1800" dirty="0" err="1">
                <a:latin typeface="Calibri" panose="020F0502020204030204" pitchFamily="34" charset="0"/>
                <a:cs typeface="Calibri" panose="020F0502020204030204" pitchFamily="34" charset="0"/>
              </a:rPr>
              <a:t>רלציוני</a:t>
            </a:r>
            <a:r>
              <a:rPr lang="he-IL" sz="1800" dirty="0">
                <a:latin typeface="Calibri" panose="020F0502020204030204" pitchFamily="34" charset="0"/>
                <a:cs typeface="Calibri" panose="020F0502020204030204" pitchFamily="34" charset="0"/>
              </a:rPr>
              <a:t> ומסד נתונים לא </a:t>
            </a:r>
            <a:r>
              <a:rPr lang="he-IL" sz="1800" dirty="0" err="1">
                <a:latin typeface="Calibri" panose="020F0502020204030204" pitchFamily="34" charset="0"/>
                <a:cs typeface="Calibri" panose="020F0502020204030204" pitchFamily="34" charset="0"/>
              </a:rPr>
              <a:t>רלציוני</a:t>
            </a:r>
            <a:r>
              <a:rPr lang="he-IL" sz="1800" dirty="0">
                <a:latin typeface="Calibri" panose="020F0502020204030204" pitchFamily="34" charset="0"/>
                <a:cs typeface="Calibri" panose="020F0502020204030204" pitchFamily="34" charset="0"/>
              </a:rPr>
              <a:t>:</a:t>
            </a:r>
          </a:p>
          <a:p>
            <a:pPr marL="0" indent="0" rtl="1">
              <a:buNone/>
            </a:pPr>
            <a:r>
              <a:rPr lang="en-US" sz="1800" b="1" dirty="0">
                <a:latin typeface="Calibri" panose="020F0502020204030204" pitchFamily="34" charset="0"/>
                <a:cs typeface="Calibri" panose="020F0502020204030204" pitchFamily="34" charset="0"/>
              </a:rPr>
              <a:t>Relational Database</a:t>
            </a:r>
            <a:r>
              <a:rPr lang="he-IL" sz="1800" b="1" dirty="0">
                <a:latin typeface="Calibri" panose="020F0502020204030204" pitchFamily="34" charset="0"/>
                <a:cs typeface="Calibri" panose="020F0502020204030204" pitchFamily="34" charset="0"/>
              </a:rPr>
              <a:t> </a:t>
            </a:r>
            <a:r>
              <a:rPr lang="he-IL" sz="1800" dirty="0">
                <a:latin typeface="Calibri" panose="020F0502020204030204" pitchFamily="34" charset="0"/>
                <a:cs typeface="Calibri" panose="020F0502020204030204" pitchFamily="34" charset="0"/>
              </a:rPr>
              <a:t>– מסד נתונים במודל </a:t>
            </a:r>
            <a:r>
              <a:rPr lang="he-IL" sz="1800" b="1" dirty="0">
                <a:latin typeface="Calibri" panose="020F0502020204030204" pitchFamily="34" charset="0"/>
                <a:cs typeface="Calibri" panose="020F0502020204030204" pitchFamily="34" charset="0"/>
              </a:rPr>
              <a:t>טבלאי</a:t>
            </a:r>
            <a:r>
              <a:rPr lang="he-IL" sz="1800" dirty="0">
                <a:latin typeface="Calibri" panose="020F0502020204030204" pitchFamily="34" charset="0"/>
                <a:cs typeface="Calibri" panose="020F0502020204030204" pitchFamily="34" charset="0"/>
              </a:rPr>
              <a:t> המבוסס על שמירת רשומות והקשרים ביניהם בטבלאות בעלות סכמה מוגדרת מראש. </a:t>
            </a:r>
            <a:br>
              <a:rPr lang="en-US" sz="1800" dirty="0">
                <a:latin typeface="Calibri" panose="020F0502020204030204" pitchFamily="34" charset="0"/>
                <a:cs typeface="Calibri" panose="020F0502020204030204" pitchFamily="34" charset="0"/>
              </a:rPr>
            </a:br>
            <a:r>
              <a:rPr lang="he-IL" sz="1800" dirty="0">
                <a:latin typeface="Calibri" panose="020F0502020204030204" pitchFamily="34" charset="0"/>
                <a:cs typeface="Calibri" panose="020F0502020204030204" pitchFamily="34" charset="0"/>
              </a:rPr>
              <a:t>מודל זה מאפשר נורמליזציה של נתונים (מניעה של שכפול נתונים) והחלת כללי וולידציה עליהם.</a:t>
            </a:r>
            <a:br>
              <a:rPr lang="en-US" sz="1800" dirty="0"/>
            </a:br>
            <a:r>
              <a:rPr lang="he-IL" sz="1800" dirty="0">
                <a:latin typeface="Calibri" panose="020F0502020204030204" pitchFamily="34" charset="0"/>
                <a:cs typeface="Calibri" panose="020F0502020204030204" pitchFamily="34" charset="0"/>
              </a:rPr>
              <a:t>שליפת מידע במסד נתונים </a:t>
            </a:r>
            <a:r>
              <a:rPr lang="he-IL" sz="1800" dirty="0" err="1">
                <a:latin typeface="Calibri" panose="020F0502020204030204" pitchFamily="34" charset="0"/>
                <a:cs typeface="Calibri" panose="020F0502020204030204" pitchFamily="34" charset="0"/>
              </a:rPr>
              <a:t>רלציוני</a:t>
            </a:r>
            <a:r>
              <a:rPr lang="he-IL" sz="1800" dirty="0">
                <a:latin typeface="Calibri" panose="020F0502020204030204" pitchFamily="34" charset="0"/>
                <a:cs typeface="Calibri" panose="020F0502020204030204" pitchFamily="34" charset="0"/>
              </a:rPr>
              <a:t> נעשית באמצעות שפת </a:t>
            </a:r>
            <a:r>
              <a:rPr lang="en-US" sz="1800" dirty="0">
                <a:latin typeface="Calibri" panose="020F0502020204030204" pitchFamily="34" charset="0"/>
                <a:cs typeface="Calibri" panose="020F0502020204030204" pitchFamily="34" charset="0"/>
              </a:rPr>
              <a:t>SQL</a:t>
            </a:r>
            <a:r>
              <a:rPr lang="he-IL" sz="1800" dirty="0">
                <a:latin typeface="Calibri" panose="020F0502020204030204" pitchFamily="34" charset="0"/>
                <a:cs typeface="Calibri" panose="020F0502020204030204" pitchFamily="34" charset="0"/>
              </a:rPr>
              <a:t>.</a:t>
            </a:r>
          </a:p>
          <a:p>
            <a:pPr marL="0" indent="0" rtl="1">
              <a:buNone/>
            </a:pPr>
            <a:r>
              <a:rPr lang="en-US" sz="1800" b="1" dirty="0">
                <a:latin typeface="Calibri" panose="020F0502020204030204" pitchFamily="34" charset="0"/>
                <a:cs typeface="Calibri" panose="020F0502020204030204" pitchFamily="34" charset="0"/>
              </a:rPr>
              <a:t>Non-Relational Database</a:t>
            </a:r>
            <a:r>
              <a:rPr lang="he-IL" sz="1800" dirty="0">
                <a:latin typeface="Calibri" panose="020F0502020204030204" pitchFamily="34" charset="0"/>
                <a:cs typeface="Calibri" panose="020F0502020204030204" pitchFamily="34" charset="0"/>
              </a:rPr>
              <a:t> – מסד נתונים שהמבנה והסכמה שלו אינם מוגדרים מראש. אין בו טבלאות ואין תבנית מוגדרת עבור אחסון הנתונים. </a:t>
            </a:r>
            <a:br>
              <a:rPr lang="en-US" sz="1800" dirty="0">
                <a:latin typeface="Calibri" panose="020F0502020204030204" pitchFamily="34" charset="0"/>
                <a:cs typeface="Calibri" panose="020F0502020204030204" pitchFamily="34" charset="0"/>
              </a:rPr>
            </a:br>
            <a:r>
              <a:rPr lang="he-IL" sz="1800" dirty="0">
                <a:latin typeface="Calibri" panose="020F0502020204030204" pitchFamily="34" charset="0"/>
                <a:cs typeface="Calibri" panose="020F0502020204030204" pitchFamily="34" charset="0"/>
              </a:rPr>
              <a:t>מודל זה משמש עבור אחסון נתונים שהם </a:t>
            </a:r>
            <a:r>
              <a:rPr lang="en-US" sz="1800" b="1" dirty="0">
                <a:latin typeface="Calibri" panose="020F0502020204030204" pitchFamily="34" charset="0"/>
                <a:cs typeface="Calibri" panose="020F0502020204030204" pitchFamily="34" charset="0"/>
              </a:rPr>
              <a:t>Big Data</a:t>
            </a:r>
            <a:r>
              <a:rPr lang="he-IL" sz="1800" b="1" dirty="0">
                <a:latin typeface="Calibri" panose="020F0502020204030204" pitchFamily="34" charset="0"/>
                <a:cs typeface="Calibri" panose="020F0502020204030204" pitchFamily="34" charset="0"/>
              </a:rPr>
              <a:t> </a:t>
            </a:r>
            <a:r>
              <a:rPr lang="he-IL" sz="1800" dirty="0">
                <a:latin typeface="Calibri" panose="020F0502020204030204" pitchFamily="34" charset="0"/>
                <a:cs typeface="Calibri" panose="020F0502020204030204" pitchFamily="34" charset="0"/>
              </a:rPr>
              <a:t>– נתונים מגוונים בעלי נפח גדול בצורה מהירה.</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2" name="Title 1"/>
          <p:cNvSpPr>
            <a:spLocks noGrp="1"/>
          </p:cNvSpPr>
          <p:nvPr>
            <p:ph type="title"/>
          </p:nvPr>
        </p:nvSpPr>
        <p:spPr/>
        <p:txBody>
          <a:bodyPr>
            <a:normAutofit fontScale="90000"/>
          </a:bodyPr>
          <a:lstStyle/>
          <a:p>
            <a:pPr algn="l" rtl="1"/>
            <a:r>
              <a:rPr lang="en-US" dirty="0"/>
              <a:t>Relational and non-relational databases</a:t>
            </a:r>
            <a:endParaRPr lang="he-IL" dirty="0"/>
          </a:p>
        </p:txBody>
      </p:sp>
      <p:sp>
        <p:nvSpPr>
          <p:cNvPr id="5" name="מציין מיקום של מספר שקופית 4">
            <a:extLst>
              <a:ext uri="{FF2B5EF4-FFF2-40B4-BE49-F238E27FC236}">
                <a16:creationId xmlns:a16="http://schemas.microsoft.com/office/drawing/2014/main" id="{4B155FA9-7FBE-485E-ACE8-5CDA44746F8C}"/>
              </a:ext>
            </a:extLst>
          </p:cNvPr>
          <p:cNvSpPr>
            <a:spLocks noGrp="1"/>
          </p:cNvSpPr>
          <p:nvPr>
            <p:ph type="sldNum" sz="quarter" idx="11"/>
          </p:nvPr>
        </p:nvSpPr>
        <p:spPr/>
        <p:txBody>
          <a:bodyPr/>
          <a:lstStyle/>
          <a:p>
            <a:fld id="{746FD205-8D79-439C-A802-2377436AEC8A}" type="slidenum">
              <a:rPr lang="he-IL" smtClean="0"/>
              <a:pPr/>
              <a:t>4</a:t>
            </a:fld>
            <a:endParaRPr lang="he-IL"/>
          </a:p>
        </p:txBody>
      </p:sp>
    </p:spTree>
    <p:extLst>
      <p:ext uri="{BB962C8B-B14F-4D97-AF65-F5344CB8AC3E}">
        <p14:creationId xmlns:p14="http://schemas.microsoft.com/office/powerpoint/2010/main" val="2748940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A10C6E7E-5E24-4A5D-A448-944C083F14E2}"/>
              </a:ext>
            </a:extLst>
          </p:cNvPr>
          <p:cNvSpPr>
            <a:spLocks noGrp="1"/>
          </p:cNvSpPr>
          <p:nvPr>
            <p:ph idx="1"/>
          </p:nvPr>
        </p:nvSpPr>
        <p:spPr/>
        <p:txBody>
          <a:bodyPr>
            <a:normAutofit/>
          </a:bodyPr>
          <a:lstStyle/>
          <a:p>
            <a:pPr marL="64008" indent="0" rtl="1">
              <a:buNone/>
            </a:pPr>
            <a:r>
              <a:rPr lang="he-IL" sz="1800" dirty="0">
                <a:latin typeface="Calibri" panose="020F0502020204030204" pitchFamily="34" charset="0"/>
                <a:cs typeface="Calibri" panose="020F0502020204030204" pitchFamily="34" charset="0"/>
              </a:rPr>
              <a:t>מסד נתונים </a:t>
            </a:r>
            <a:r>
              <a:rPr lang="he-IL" sz="1800" dirty="0" err="1">
                <a:latin typeface="Calibri" panose="020F0502020204030204" pitchFamily="34" charset="0"/>
                <a:cs typeface="Calibri" panose="020F0502020204030204" pitchFamily="34" charset="0"/>
              </a:rPr>
              <a:t>רלציוני</a:t>
            </a:r>
            <a:r>
              <a:rPr lang="he-IL" sz="1800" dirty="0">
                <a:latin typeface="Calibri" panose="020F0502020204030204" pitchFamily="34" charset="0"/>
                <a:cs typeface="Calibri" panose="020F0502020204030204" pitchFamily="34" charset="0"/>
              </a:rPr>
              <a:t> (יחסי) הוא מודל נפוץ של מסד נתונים.</a:t>
            </a:r>
          </a:p>
          <a:p>
            <a:pPr marL="64008" indent="0" rtl="1">
              <a:buNone/>
            </a:pPr>
            <a:r>
              <a:rPr lang="he-IL" sz="1800" dirty="0">
                <a:latin typeface="Calibri" panose="020F0502020204030204" pitchFamily="34" charset="0"/>
                <a:cs typeface="Calibri" panose="020F0502020204030204" pitchFamily="34" charset="0"/>
              </a:rPr>
              <a:t>במודל זה מסד הנתונים בנוי </a:t>
            </a:r>
            <a:r>
              <a:rPr lang="he-IL" sz="1800" b="1" dirty="0">
                <a:latin typeface="Calibri" panose="020F0502020204030204" pitchFamily="34" charset="0"/>
                <a:cs typeface="Calibri" panose="020F0502020204030204" pitchFamily="34" charset="0"/>
              </a:rPr>
              <a:t>מטבלאות</a:t>
            </a:r>
            <a:r>
              <a:rPr lang="he-IL" sz="1800" dirty="0">
                <a:latin typeface="Calibri" panose="020F0502020204030204" pitchFamily="34" charset="0"/>
                <a:cs typeface="Calibri" panose="020F0502020204030204" pitchFamily="34" charset="0"/>
              </a:rPr>
              <a:t>, כאשר כל טבלה מכילה מידע על ישות מסוימת (לדוגמה, לקוחות במערכת בנקאית). ולכל רשומה בטבלה יש שדה</a:t>
            </a:r>
            <a:r>
              <a:rPr lang="en-US" sz="1800" b="1" dirty="0">
                <a:latin typeface="Calibri" panose="020F0502020204030204" pitchFamily="34" charset="0"/>
                <a:cs typeface="Calibri" panose="020F0502020204030204" pitchFamily="34" charset="0"/>
              </a:rPr>
              <a:t>ID</a:t>
            </a:r>
            <a:r>
              <a:rPr lang="en-US" sz="1800" dirty="0">
                <a:latin typeface="Calibri" panose="020F0502020204030204" pitchFamily="34" charset="0"/>
                <a:cs typeface="Calibri" panose="020F0502020204030204" pitchFamily="34" charset="0"/>
              </a:rPr>
              <a:t> </a:t>
            </a:r>
            <a:r>
              <a:rPr lang="he-IL" sz="1800" dirty="0">
                <a:latin typeface="Calibri" panose="020F0502020204030204" pitchFamily="34" charset="0"/>
                <a:cs typeface="Calibri" panose="020F0502020204030204" pitchFamily="34" charset="0"/>
              </a:rPr>
              <a:t> שמזהה באופן </a:t>
            </a:r>
            <a:r>
              <a:rPr lang="he-IL" sz="1800" b="1" dirty="0">
                <a:latin typeface="Calibri" panose="020F0502020204030204" pitchFamily="34" charset="0"/>
                <a:cs typeface="Calibri" panose="020F0502020204030204" pitchFamily="34" charset="0"/>
              </a:rPr>
              <a:t>ייחודי</a:t>
            </a:r>
            <a:r>
              <a:rPr lang="he-IL" sz="1800" dirty="0">
                <a:latin typeface="Calibri" panose="020F0502020204030204" pitchFamily="34" charset="0"/>
                <a:cs typeface="Calibri" panose="020F0502020204030204" pitchFamily="34" charset="0"/>
              </a:rPr>
              <a:t> את הרשומה. </a:t>
            </a:r>
            <a:r>
              <a:rPr lang="he-IL" sz="1800" b="1" dirty="0">
                <a:latin typeface="Calibri" panose="020F0502020204030204" pitchFamily="34" charset="0"/>
                <a:cs typeface="Calibri" panose="020F0502020204030204" pitchFamily="34" charset="0"/>
              </a:rPr>
              <a:t>הקשרים</a:t>
            </a:r>
            <a:r>
              <a:rPr lang="he-IL" sz="1800" dirty="0">
                <a:latin typeface="Calibri" panose="020F0502020204030204" pitchFamily="34" charset="0"/>
                <a:cs typeface="Calibri" panose="020F0502020204030204" pitchFamily="34" charset="0"/>
              </a:rPr>
              <a:t> בין הרשומות בטבלאות השונות נעשה באמצעות שדה מיוחד זה הנקרא </a:t>
            </a:r>
            <a:r>
              <a:rPr lang="he-IL" sz="1800" b="1" dirty="0">
                <a:latin typeface="Calibri" panose="020F0502020204030204" pitchFamily="34" charset="0"/>
                <a:cs typeface="Calibri" panose="020F0502020204030204" pitchFamily="34" charset="0"/>
              </a:rPr>
              <a:t>שדה מפתח</a:t>
            </a:r>
            <a:r>
              <a:rPr lang="he-IL" sz="1800" dirty="0">
                <a:latin typeface="Calibri" panose="020F0502020204030204" pitchFamily="34" charset="0"/>
                <a:cs typeface="Calibri" panose="020F0502020204030204" pitchFamily="34" charset="0"/>
              </a:rPr>
              <a:t>, שבו ערכים זהים מסמלים קשר בין הרשומות. שליפת מידע ופעולות עדכון במסד נתונים טבלאי נעשות באמצעות שפת</a:t>
            </a:r>
            <a:r>
              <a:rPr lang="en-US" sz="1800" b="1" dirty="0">
                <a:latin typeface="Calibri" panose="020F0502020204030204" pitchFamily="34" charset="0"/>
                <a:cs typeface="Calibri" panose="020F0502020204030204" pitchFamily="34" charset="0"/>
              </a:rPr>
              <a:t>SQL</a:t>
            </a:r>
            <a:r>
              <a:rPr lang="en-US" sz="1800" dirty="0">
                <a:latin typeface="Calibri" panose="020F0502020204030204" pitchFamily="34" charset="0"/>
                <a:cs typeface="Calibri" panose="020F0502020204030204" pitchFamily="34" charset="0"/>
              </a:rPr>
              <a:t> </a:t>
            </a:r>
            <a:r>
              <a:rPr lang="he-IL" sz="1800" dirty="0">
                <a:latin typeface="Calibri" panose="020F0502020204030204" pitchFamily="34" charset="0"/>
                <a:cs typeface="Calibri" panose="020F0502020204030204" pitchFamily="34" charset="0"/>
              </a:rPr>
              <a:t>, המהווה ממשק המאפשר גישה לנתונים מבלי להתייחס לאופן שמירתם במסד הנתונים.</a:t>
            </a:r>
          </a:p>
        </p:txBody>
      </p:sp>
      <p:sp>
        <p:nvSpPr>
          <p:cNvPr id="3" name="כותרת 2">
            <a:extLst>
              <a:ext uri="{FF2B5EF4-FFF2-40B4-BE49-F238E27FC236}">
                <a16:creationId xmlns:a16="http://schemas.microsoft.com/office/drawing/2014/main" id="{35643762-2553-4387-8219-9498B2DFD38E}"/>
              </a:ext>
            </a:extLst>
          </p:cNvPr>
          <p:cNvSpPr>
            <a:spLocks noGrp="1"/>
          </p:cNvSpPr>
          <p:nvPr>
            <p:ph type="title"/>
          </p:nvPr>
        </p:nvSpPr>
        <p:spPr/>
        <p:txBody>
          <a:bodyPr/>
          <a:lstStyle/>
          <a:p>
            <a:pPr algn="l"/>
            <a:r>
              <a:rPr lang="en-US" dirty="0"/>
              <a:t>Relational database</a:t>
            </a:r>
            <a:endParaRPr lang="he-IL" dirty="0"/>
          </a:p>
        </p:txBody>
      </p:sp>
      <p:sp>
        <p:nvSpPr>
          <p:cNvPr id="6" name="מציין מיקום של מספר שקופית 5">
            <a:extLst>
              <a:ext uri="{FF2B5EF4-FFF2-40B4-BE49-F238E27FC236}">
                <a16:creationId xmlns:a16="http://schemas.microsoft.com/office/drawing/2014/main" id="{47E40AB1-C47D-4222-9956-E7092E7BF894}"/>
              </a:ext>
            </a:extLst>
          </p:cNvPr>
          <p:cNvSpPr>
            <a:spLocks noGrp="1"/>
          </p:cNvSpPr>
          <p:nvPr>
            <p:ph type="sldNum" sz="quarter" idx="11"/>
          </p:nvPr>
        </p:nvSpPr>
        <p:spPr/>
        <p:txBody>
          <a:bodyPr/>
          <a:lstStyle/>
          <a:p>
            <a:fld id="{746FD205-8D79-439C-A802-2377436AEC8A}" type="slidenum">
              <a:rPr lang="he-IL" smtClean="0"/>
              <a:pPr/>
              <a:t>5</a:t>
            </a:fld>
            <a:endParaRPr lang="he-IL"/>
          </a:p>
        </p:txBody>
      </p:sp>
    </p:spTree>
    <p:extLst>
      <p:ext uri="{BB962C8B-B14F-4D97-AF65-F5344CB8AC3E}">
        <p14:creationId xmlns:p14="http://schemas.microsoft.com/office/powerpoint/2010/main" val="981222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833ADB8-78B8-4891-8D40-79761B9B091F}"/>
              </a:ext>
            </a:extLst>
          </p:cNvPr>
          <p:cNvSpPr>
            <a:spLocks noGrp="1"/>
          </p:cNvSpPr>
          <p:nvPr>
            <p:ph idx="1"/>
          </p:nvPr>
        </p:nvSpPr>
        <p:spPr/>
        <p:txBody>
          <a:bodyPr/>
          <a:lstStyle/>
          <a:p>
            <a:pPr marL="64008" indent="0" rtl="1">
              <a:buNone/>
            </a:pPr>
            <a:r>
              <a:rPr lang="en-US" sz="1800" b="1" dirty="0">
                <a:cs typeface="Calibri" panose="020F0502020204030204" pitchFamily="34" charset="0"/>
              </a:rPr>
              <a:t>Field</a:t>
            </a:r>
            <a:r>
              <a:rPr lang="he-IL" sz="1800" b="1" dirty="0">
                <a:cs typeface="Calibri" panose="020F0502020204030204" pitchFamily="34" charset="0"/>
              </a:rPr>
              <a:t> (שדה) </a:t>
            </a:r>
            <a:r>
              <a:rPr lang="he-IL" sz="1800" dirty="0">
                <a:cs typeface="Calibri" panose="020F0502020204030204" pitchFamily="34" charset="0"/>
              </a:rPr>
              <a:t>– יחידת הנתונים הקטנה ביותר במסד הנתונים הטבלאי. לדוגמא: בנתוני אזרח במרשם התושבים, ת"ז, שם פרטי ושם משפחה הם שדות בטבלה.</a:t>
            </a:r>
            <a:br>
              <a:rPr lang="en-US" sz="1800" dirty="0">
                <a:cs typeface="Calibri" panose="020F0502020204030204" pitchFamily="34" charset="0"/>
              </a:rPr>
            </a:br>
            <a:r>
              <a:rPr lang="he-IL" sz="1800" dirty="0">
                <a:cs typeface="Calibri" panose="020F0502020204030204" pitchFamily="34" charset="0"/>
              </a:rPr>
              <a:t>שדה חייב להיות מסוג מסוים, שמגביל את הזנת הערכים לו לאותו סוג נתונים. כך, למשל, שדה שהוגדר מספרי לא יוכל להכיל תווי אותיות.</a:t>
            </a:r>
            <a:br>
              <a:rPr lang="en-US" sz="1800" dirty="0">
                <a:cs typeface="Calibri" panose="020F0502020204030204" pitchFamily="34" charset="0"/>
              </a:rPr>
            </a:br>
            <a:r>
              <a:rPr lang="he-IL" sz="1800" dirty="0">
                <a:cs typeface="Calibri" panose="020F0502020204030204" pitchFamily="34" charset="0"/>
              </a:rPr>
              <a:t>כמו"כ עבור כל שדה, יש להגדיר האם ערכו יכול להיות </a:t>
            </a:r>
            <a:r>
              <a:rPr lang="en-US" sz="1800" dirty="0">
                <a:cs typeface="Calibri" panose="020F0502020204030204" pitchFamily="34" charset="0"/>
              </a:rPr>
              <a:t>NULL</a:t>
            </a:r>
            <a:r>
              <a:rPr lang="he-IL" sz="1800" dirty="0">
                <a:cs typeface="Calibri" panose="020F0502020204030204" pitchFamily="34" charset="0"/>
              </a:rPr>
              <a:t> או לא, משמעות הדבר היא האם ניתן להשאיר את השדה ללא ערך בחלק מהרשומות או שחייבים למלא אותו.</a:t>
            </a:r>
          </a:p>
          <a:p>
            <a:pPr marL="64008" indent="0" rtl="1">
              <a:buNone/>
            </a:pPr>
            <a:r>
              <a:rPr lang="he-IL" sz="1800" dirty="0">
                <a:cs typeface="Calibri" panose="020F0502020204030204" pitchFamily="34" charset="0"/>
              </a:rPr>
              <a:t>שדה הוא בעצם ערך של </a:t>
            </a:r>
            <a:r>
              <a:rPr lang="en-US" sz="1800" b="1" dirty="0">
                <a:cs typeface="Calibri" panose="020F0502020204030204" pitchFamily="34" charset="0"/>
              </a:rPr>
              <a:t>column</a:t>
            </a:r>
            <a:r>
              <a:rPr lang="he-IL" sz="1800" dirty="0">
                <a:cs typeface="Calibri" panose="020F0502020204030204" pitchFamily="34" charset="0"/>
              </a:rPr>
              <a:t> (עמודה) בתור רשומה.</a:t>
            </a:r>
          </a:p>
          <a:p>
            <a:pPr marL="64008" indent="0" rtl="1">
              <a:buNone/>
            </a:pPr>
            <a:r>
              <a:rPr lang="en-US" sz="1800" b="1" dirty="0">
                <a:cs typeface="Calibri" panose="020F0502020204030204" pitchFamily="34" charset="0"/>
              </a:rPr>
              <a:t>Record</a:t>
            </a:r>
            <a:r>
              <a:rPr lang="he-IL" sz="1800" b="1" dirty="0">
                <a:cs typeface="Calibri" panose="020F0502020204030204" pitchFamily="34" charset="0"/>
              </a:rPr>
              <a:t> (רשומה, שורה) </a:t>
            </a:r>
            <a:r>
              <a:rPr lang="he-IL" sz="1800" dirty="0">
                <a:cs typeface="Calibri" panose="020F0502020204030204" pitchFamily="34" charset="0"/>
              </a:rPr>
              <a:t>– אוסף כל השדות המתארים ישות ספציפית, בדוגמא זו אזרח.</a:t>
            </a:r>
          </a:p>
          <a:p>
            <a:pPr marL="64008" indent="0" rtl="1">
              <a:buNone/>
            </a:pPr>
            <a:r>
              <a:rPr lang="en-US" sz="1800" b="1" dirty="0">
                <a:cs typeface="Calibri" panose="020F0502020204030204" pitchFamily="34" charset="0"/>
              </a:rPr>
              <a:t>Table</a:t>
            </a:r>
            <a:r>
              <a:rPr lang="he-IL" sz="1800" b="1" dirty="0">
                <a:cs typeface="Calibri" panose="020F0502020204030204" pitchFamily="34" charset="0"/>
              </a:rPr>
              <a:t> (טבלה) </a:t>
            </a:r>
            <a:r>
              <a:rPr lang="he-IL" sz="1800" dirty="0">
                <a:cs typeface="Calibri" panose="020F0502020204030204" pitchFamily="34" charset="0"/>
              </a:rPr>
              <a:t>– אוסף הרשומות של כל הישויות, בדוגמא זו כל האזרחים.</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A9BE7682-3B30-4374-B878-EF30956913E3}"/>
              </a:ext>
            </a:extLst>
          </p:cNvPr>
          <p:cNvSpPr>
            <a:spLocks noGrp="1"/>
          </p:cNvSpPr>
          <p:nvPr>
            <p:ph type="title"/>
          </p:nvPr>
        </p:nvSpPr>
        <p:spPr>
          <a:xfrm>
            <a:off x="457200" y="239213"/>
            <a:ext cx="8229600" cy="1104106"/>
          </a:xfrm>
        </p:spPr>
        <p:txBody>
          <a:bodyPr/>
          <a:lstStyle/>
          <a:p>
            <a:r>
              <a:rPr lang="he-IL" dirty="0"/>
              <a:t>מרכיבי מסד הנתונים הטבלאי</a:t>
            </a:r>
          </a:p>
        </p:txBody>
      </p:sp>
      <p:sp>
        <p:nvSpPr>
          <p:cNvPr id="6" name="מציין מיקום של מספר שקופית 5">
            <a:extLst>
              <a:ext uri="{FF2B5EF4-FFF2-40B4-BE49-F238E27FC236}">
                <a16:creationId xmlns:a16="http://schemas.microsoft.com/office/drawing/2014/main" id="{3D28B35D-1579-4854-8F29-8A1FF4C601B8}"/>
              </a:ext>
            </a:extLst>
          </p:cNvPr>
          <p:cNvSpPr>
            <a:spLocks noGrp="1"/>
          </p:cNvSpPr>
          <p:nvPr>
            <p:ph type="sldNum" sz="quarter" idx="11"/>
          </p:nvPr>
        </p:nvSpPr>
        <p:spPr/>
        <p:txBody>
          <a:bodyPr/>
          <a:lstStyle/>
          <a:p>
            <a:fld id="{746FD205-8D79-439C-A802-2377436AEC8A}" type="slidenum">
              <a:rPr lang="he-IL" smtClean="0"/>
              <a:pPr/>
              <a:t>6</a:t>
            </a:fld>
            <a:endParaRPr lang="he-IL"/>
          </a:p>
        </p:txBody>
      </p:sp>
    </p:spTree>
    <p:extLst>
      <p:ext uri="{BB962C8B-B14F-4D97-AF65-F5344CB8AC3E}">
        <p14:creationId xmlns:p14="http://schemas.microsoft.com/office/powerpoint/2010/main" val="117802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B0ABB4B0-1CCB-4056-A89B-100DC3AB9976}"/>
              </a:ext>
            </a:extLst>
          </p:cNvPr>
          <p:cNvPicPr>
            <a:picLocks noGrp="1" noChangeAspect="1"/>
          </p:cNvPicPr>
          <p:nvPr>
            <p:ph idx="1"/>
          </p:nvPr>
        </p:nvPicPr>
        <p:blipFill>
          <a:blip r:embed="rId2"/>
          <a:stretch>
            <a:fillRect/>
          </a:stretch>
        </p:blipFill>
        <p:spPr>
          <a:xfrm>
            <a:off x="5638800" y="2197893"/>
            <a:ext cx="2590800" cy="1603529"/>
          </a:xfrm>
          <a:prstGeom prst="rect">
            <a:avLst/>
          </a:prstGeom>
        </p:spPr>
      </p:pic>
      <p:sp>
        <p:nvSpPr>
          <p:cNvPr id="3" name="כותרת 2">
            <a:extLst>
              <a:ext uri="{FF2B5EF4-FFF2-40B4-BE49-F238E27FC236}">
                <a16:creationId xmlns:a16="http://schemas.microsoft.com/office/drawing/2014/main" id="{B24676B9-40E4-47C3-BF57-8CA687C87282}"/>
              </a:ext>
            </a:extLst>
          </p:cNvPr>
          <p:cNvSpPr>
            <a:spLocks noGrp="1"/>
          </p:cNvSpPr>
          <p:nvPr>
            <p:ph type="title"/>
          </p:nvPr>
        </p:nvSpPr>
        <p:spPr/>
        <p:txBody>
          <a:bodyPr>
            <a:normAutofit fontScale="90000"/>
          </a:bodyPr>
          <a:lstStyle/>
          <a:p>
            <a:r>
              <a:rPr lang="he-IL" dirty="0"/>
              <a:t>מרכיבי מסד נתונים הטבלאי - דוגמא</a:t>
            </a:r>
          </a:p>
        </p:txBody>
      </p:sp>
      <p:pic>
        <p:nvPicPr>
          <p:cNvPr id="6" name="תמונה 5">
            <a:extLst>
              <a:ext uri="{FF2B5EF4-FFF2-40B4-BE49-F238E27FC236}">
                <a16:creationId xmlns:a16="http://schemas.microsoft.com/office/drawing/2014/main" id="{2148A475-F0D4-431F-AE02-9272F4823A58}"/>
              </a:ext>
            </a:extLst>
          </p:cNvPr>
          <p:cNvPicPr>
            <a:picLocks noChangeAspect="1"/>
          </p:cNvPicPr>
          <p:nvPr/>
        </p:nvPicPr>
        <p:blipFill>
          <a:blip r:embed="rId3"/>
          <a:stretch>
            <a:fillRect/>
          </a:stretch>
        </p:blipFill>
        <p:spPr>
          <a:xfrm>
            <a:off x="3309594" y="4627716"/>
            <a:ext cx="5029200" cy="1738032"/>
          </a:xfrm>
          <a:prstGeom prst="rect">
            <a:avLst/>
          </a:prstGeom>
        </p:spPr>
      </p:pic>
      <p:sp>
        <p:nvSpPr>
          <p:cNvPr id="8" name="תיבת טקסט 7">
            <a:extLst>
              <a:ext uri="{FF2B5EF4-FFF2-40B4-BE49-F238E27FC236}">
                <a16:creationId xmlns:a16="http://schemas.microsoft.com/office/drawing/2014/main" id="{FD273C86-1EB9-4490-8A6C-89205B5017BC}"/>
              </a:ext>
            </a:extLst>
          </p:cNvPr>
          <p:cNvSpPr txBox="1"/>
          <p:nvPr/>
        </p:nvSpPr>
        <p:spPr>
          <a:xfrm>
            <a:off x="2514600" y="1676400"/>
            <a:ext cx="5791200" cy="369332"/>
          </a:xfrm>
          <a:prstGeom prst="rect">
            <a:avLst/>
          </a:prstGeom>
          <a:noFill/>
        </p:spPr>
        <p:txBody>
          <a:bodyPr wrap="square" rtlCol="1">
            <a:spAutoFit/>
          </a:bodyPr>
          <a:lstStyle/>
          <a:p>
            <a:pPr algn="r" rtl="1"/>
            <a:r>
              <a:rPr lang="he-IL" dirty="0"/>
              <a:t>דוגמא להגדרת עמודות בטבלה עם ה </a:t>
            </a:r>
            <a:r>
              <a:rPr lang="en-US" dirty="0"/>
              <a:t>data types</a:t>
            </a:r>
            <a:r>
              <a:rPr lang="he-IL" dirty="0"/>
              <a:t> שלהם</a:t>
            </a:r>
          </a:p>
        </p:txBody>
      </p:sp>
      <p:sp>
        <p:nvSpPr>
          <p:cNvPr id="9" name="תיבת טקסט 8">
            <a:extLst>
              <a:ext uri="{FF2B5EF4-FFF2-40B4-BE49-F238E27FC236}">
                <a16:creationId xmlns:a16="http://schemas.microsoft.com/office/drawing/2014/main" id="{1790D9D0-4280-4D2E-81D2-1588EF3DA27C}"/>
              </a:ext>
            </a:extLst>
          </p:cNvPr>
          <p:cNvSpPr txBox="1"/>
          <p:nvPr/>
        </p:nvSpPr>
        <p:spPr>
          <a:xfrm>
            <a:off x="3962400" y="4207019"/>
            <a:ext cx="4419600" cy="369332"/>
          </a:xfrm>
          <a:prstGeom prst="rect">
            <a:avLst/>
          </a:prstGeom>
          <a:noFill/>
        </p:spPr>
        <p:txBody>
          <a:bodyPr wrap="square" rtlCol="1">
            <a:spAutoFit/>
          </a:bodyPr>
          <a:lstStyle/>
          <a:p>
            <a:pPr algn="r"/>
            <a:r>
              <a:rPr lang="he-IL" dirty="0"/>
              <a:t>דוגמא לטבלה שהוסיפו לה מספר רשומות:</a:t>
            </a:r>
          </a:p>
        </p:txBody>
      </p:sp>
      <p:sp>
        <p:nvSpPr>
          <p:cNvPr id="7" name="מציין מיקום של מספר שקופית 6">
            <a:extLst>
              <a:ext uri="{FF2B5EF4-FFF2-40B4-BE49-F238E27FC236}">
                <a16:creationId xmlns:a16="http://schemas.microsoft.com/office/drawing/2014/main" id="{BF584B67-1542-495B-9834-152B0319446E}"/>
              </a:ext>
            </a:extLst>
          </p:cNvPr>
          <p:cNvSpPr>
            <a:spLocks noGrp="1"/>
          </p:cNvSpPr>
          <p:nvPr>
            <p:ph type="sldNum" sz="quarter" idx="11"/>
          </p:nvPr>
        </p:nvSpPr>
        <p:spPr/>
        <p:txBody>
          <a:bodyPr/>
          <a:lstStyle/>
          <a:p>
            <a:fld id="{746FD205-8D79-439C-A802-2377436AEC8A}" type="slidenum">
              <a:rPr lang="he-IL" smtClean="0"/>
              <a:pPr/>
              <a:t>7</a:t>
            </a:fld>
            <a:endParaRPr lang="he-IL"/>
          </a:p>
        </p:txBody>
      </p:sp>
    </p:spTree>
    <p:extLst>
      <p:ext uri="{BB962C8B-B14F-4D97-AF65-F5344CB8AC3E}">
        <p14:creationId xmlns:p14="http://schemas.microsoft.com/office/powerpoint/2010/main" val="1629437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3C21058-D517-4CCD-94BE-AD9939356A48}"/>
              </a:ext>
            </a:extLst>
          </p:cNvPr>
          <p:cNvSpPr>
            <a:spLocks noGrp="1"/>
          </p:cNvSpPr>
          <p:nvPr>
            <p:ph idx="1"/>
          </p:nvPr>
        </p:nvSpPr>
        <p:spPr/>
        <p:txBody>
          <a:bodyPr/>
          <a:lstStyle/>
          <a:p>
            <a:pPr marL="64008" indent="0" rtl="1">
              <a:buNone/>
            </a:pPr>
            <a:r>
              <a:rPr lang="en-US" sz="1800" b="1" dirty="0">
                <a:cs typeface="Calibri" panose="020F0502020204030204" pitchFamily="34" charset="0"/>
              </a:rPr>
              <a:t>Primary key</a:t>
            </a:r>
            <a:r>
              <a:rPr lang="he-IL" sz="1800" b="1" dirty="0">
                <a:cs typeface="Calibri" panose="020F0502020204030204" pitchFamily="34" charset="0"/>
              </a:rPr>
              <a:t> (מפתח ראשי) </a:t>
            </a:r>
            <a:r>
              <a:rPr lang="he-IL" sz="1800" dirty="0">
                <a:cs typeface="Calibri" panose="020F0502020204030204" pitchFamily="34" charset="0"/>
              </a:rPr>
              <a:t>- לכל רשומה יש מפתח ראשי המשמש לזיהוי חד-משמעי שלה. לכל רשומה יכול להיות רק מפתח ראשי אחד, </a:t>
            </a:r>
            <a:r>
              <a:rPr lang="he-IL" sz="1800" b="1" dirty="0">
                <a:cs typeface="Calibri" panose="020F0502020204030204" pitchFamily="34" charset="0"/>
              </a:rPr>
              <a:t>שערכיו חייבים להיות ייחודיים ואסור שיהיו ריקים</a:t>
            </a:r>
            <a:r>
              <a:rPr lang="he-IL" sz="1800" dirty="0">
                <a:cs typeface="Calibri" panose="020F0502020204030204" pitchFamily="34" charset="0"/>
              </a:rPr>
              <a:t>.</a:t>
            </a:r>
          </a:p>
          <a:p>
            <a:pPr marL="64008" indent="0" rtl="1">
              <a:buNone/>
            </a:pPr>
            <a:r>
              <a:rPr lang="en-US" sz="1800" b="1" dirty="0">
                <a:cs typeface="Calibri" panose="020F0502020204030204" pitchFamily="34" charset="0"/>
              </a:rPr>
              <a:t>Foreign key</a:t>
            </a:r>
            <a:r>
              <a:rPr lang="he-IL" sz="1800" b="1" dirty="0">
                <a:cs typeface="Calibri" panose="020F0502020204030204" pitchFamily="34" charset="0"/>
              </a:rPr>
              <a:t> (מפתח זר) </a:t>
            </a:r>
            <a:r>
              <a:rPr lang="he-IL" sz="1800" dirty="0">
                <a:cs typeface="Calibri" panose="020F0502020204030204" pitchFamily="34" charset="0"/>
              </a:rPr>
              <a:t>– רשומה יכולה להכיל מפתח זר - מפתח ראשי של רשומה בטבלה אחרת, וכך היא מקושרת לרשומה שבטבלה השנייה.</a:t>
            </a:r>
          </a:p>
          <a:p>
            <a:pPr marL="64008" indent="0" rtl="1">
              <a:buNone/>
            </a:pPr>
            <a:r>
              <a:rPr lang="he-IL" sz="1800" dirty="0">
                <a:cs typeface="Calibri" panose="020F0502020204030204" pitchFamily="34" charset="0"/>
              </a:rPr>
              <a:t>המפתח הוא שדה שמוגדר ככזה. כמעט כל שדה יכול להיות מוגדר כשדה מפתח, אבל </a:t>
            </a:r>
            <a:r>
              <a:rPr lang="he-IL" sz="1800" b="1" dirty="0">
                <a:cs typeface="Calibri" panose="020F0502020204030204" pitchFamily="34" charset="0"/>
              </a:rPr>
              <a:t>רק שדה אחד בטבלה יכול להיות מוגדר כמפתח ראשי. </a:t>
            </a:r>
            <a:r>
              <a:rPr lang="he-IL" sz="1800" dirty="0">
                <a:cs typeface="Calibri" panose="020F0502020204030204" pitchFamily="34" charset="0"/>
              </a:rPr>
              <a:t>(שאר המפתחות יהיו מוגדרים כמפתחות זרים או כמפתחות משניים [- יילמד בהמשך]).</a:t>
            </a:r>
          </a:p>
          <a:p>
            <a:pPr marL="64008" indent="0" rtl="1">
              <a:buNone/>
            </a:pPr>
            <a:r>
              <a:rPr lang="he-IL" sz="1800" dirty="0">
                <a:cs typeface="Calibri" panose="020F0502020204030204" pitchFamily="34" charset="0"/>
              </a:rPr>
              <a:t>תפקידו העיקרי של המפתח הראשי (והזר) היא הדרך לקשר בין הטבלאות השונות.</a:t>
            </a:r>
          </a:p>
          <a:p>
            <a:pPr marL="64008" indent="0" rtl="1">
              <a:buNone/>
            </a:pPr>
            <a:r>
              <a:rPr lang="he-IL" sz="1800" dirty="0">
                <a:cs typeface="Calibri" panose="020F0502020204030204" pitchFamily="34" charset="0"/>
              </a:rPr>
              <a:t>בד"כ השדה שיוגדר להיות המפתח הראשי הוא שדה כמו תעודת זהות, קוד וכד', זהו שדה שאנו יודעים שהערך שלו לא אמור לחזור ע"ע. </a:t>
            </a:r>
            <a:br>
              <a:rPr lang="en-US" sz="1800" dirty="0">
                <a:cs typeface="Calibri" panose="020F0502020204030204" pitchFamily="34" charset="0"/>
              </a:rPr>
            </a:br>
            <a:r>
              <a:rPr lang="he-IL" sz="1800" dirty="0">
                <a:cs typeface="Calibri" panose="020F0502020204030204" pitchFamily="34" charset="0"/>
              </a:rPr>
              <a:t>במידה ואין לנו שדה כזה בטבלה ניתן להגדיר מפתח רץ שהוא שדה שערכו ייווצר אוטומטית בכל פעם שנוסיף רשומה לטבלה (הוא יתחיל מ 0 ויעלה כל פעם באחד) או לחלופין להגדיר מפתח שמורכב משני שדות שהערך המורכב של שניהם הוא ייחודי (פחות מקובל...)</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464B2C04-9576-4E18-9319-7E1F5C4A1693}"/>
              </a:ext>
            </a:extLst>
          </p:cNvPr>
          <p:cNvSpPr>
            <a:spLocks noGrp="1"/>
          </p:cNvSpPr>
          <p:nvPr>
            <p:ph type="title"/>
          </p:nvPr>
        </p:nvSpPr>
        <p:spPr>
          <a:xfrm>
            <a:off x="457200" y="239213"/>
            <a:ext cx="8229600" cy="1104106"/>
          </a:xfrm>
        </p:spPr>
        <p:txBody>
          <a:bodyPr/>
          <a:lstStyle/>
          <a:p>
            <a:r>
              <a:rPr lang="he-IL" dirty="0"/>
              <a:t>מפתחות</a:t>
            </a:r>
          </a:p>
        </p:txBody>
      </p:sp>
      <p:sp>
        <p:nvSpPr>
          <p:cNvPr id="6" name="מציין מיקום של מספר שקופית 5">
            <a:extLst>
              <a:ext uri="{FF2B5EF4-FFF2-40B4-BE49-F238E27FC236}">
                <a16:creationId xmlns:a16="http://schemas.microsoft.com/office/drawing/2014/main" id="{A9F1271A-E585-40B0-A119-48C6688DAB6E}"/>
              </a:ext>
            </a:extLst>
          </p:cNvPr>
          <p:cNvSpPr>
            <a:spLocks noGrp="1"/>
          </p:cNvSpPr>
          <p:nvPr>
            <p:ph type="sldNum" sz="quarter" idx="11"/>
          </p:nvPr>
        </p:nvSpPr>
        <p:spPr/>
        <p:txBody>
          <a:bodyPr/>
          <a:lstStyle/>
          <a:p>
            <a:fld id="{746FD205-8D79-439C-A802-2377436AEC8A}" type="slidenum">
              <a:rPr lang="he-IL" smtClean="0"/>
              <a:pPr/>
              <a:t>8</a:t>
            </a:fld>
            <a:endParaRPr lang="he-IL"/>
          </a:p>
        </p:txBody>
      </p:sp>
    </p:spTree>
    <p:extLst>
      <p:ext uri="{BB962C8B-B14F-4D97-AF65-F5344CB8AC3E}">
        <p14:creationId xmlns:p14="http://schemas.microsoft.com/office/powerpoint/2010/main" val="3597158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6BC29DDF-AFB2-405B-B599-3758B0563FFD}"/>
              </a:ext>
            </a:extLst>
          </p:cNvPr>
          <p:cNvSpPr>
            <a:spLocks noGrp="1"/>
          </p:cNvSpPr>
          <p:nvPr>
            <p:ph idx="1"/>
          </p:nvPr>
        </p:nvSpPr>
        <p:spPr/>
        <p:txBody>
          <a:bodyPr/>
          <a:lstStyle/>
          <a:p>
            <a:pPr marL="64008" indent="0" rtl="1">
              <a:buNone/>
            </a:pPr>
            <a:r>
              <a:rPr lang="he-IL" sz="1800" dirty="0">
                <a:cs typeface="Calibri" panose="020F0502020204030204" pitchFamily="34" charset="0"/>
              </a:rPr>
              <a:t>בטבלת מוצרים בחנות, נרצה שהשדה </a:t>
            </a:r>
            <a:r>
              <a:rPr lang="en-US" sz="1800" dirty="0" err="1">
                <a:cs typeface="Calibri" panose="020F0502020204030204" pitchFamily="34" charset="0"/>
              </a:rPr>
              <a:t>productID</a:t>
            </a:r>
            <a:r>
              <a:rPr lang="he-IL" sz="1800" dirty="0">
                <a:cs typeface="Calibri" panose="020F0502020204030204" pitchFamily="34" charset="0"/>
              </a:rPr>
              <a:t> שהוא ייחודי לכל מוצר ולא יכול לחזור ע"ע יהיה המפתח הראשי (ערך שדה זה אינו יכול להיות </a:t>
            </a:r>
            <a:r>
              <a:rPr lang="en-US" sz="1800" dirty="0">
                <a:cs typeface="Calibri" panose="020F0502020204030204" pitchFamily="34" charset="0"/>
              </a:rPr>
              <a:t>NULL</a:t>
            </a:r>
            <a:r>
              <a:rPr lang="he-IL" sz="1800" dirty="0">
                <a:cs typeface="Calibri" panose="020F0502020204030204" pitchFamily="34" charset="0"/>
              </a:rPr>
              <a:t> כיוון שכל רשומה </a:t>
            </a:r>
            <a:r>
              <a:rPr lang="he-IL" sz="1800" b="1" dirty="0">
                <a:cs typeface="Calibri" panose="020F0502020204030204" pitchFamily="34" charset="0"/>
              </a:rPr>
              <a:t>חייבת</a:t>
            </a:r>
            <a:r>
              <a:rPr lang="he-IL" sz="1800" dirty="0">
                <a:cs typeface="Calibri" panose="020F0502020204030204" pitchFamily="34" charset="0"/>
              </a:rPr>
              <a:t> להכיל מפתח ראשי)</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6592D7B3-4CB7-414F-9D84-D04B25D37904}"/>
              </a:ext>
            </a:extLst>
          </p:cNvPr>
          <p:cNvSpPr>
            <a:spLocks noGrp="1"/>
          </p:cNvSpPr>
          <p:nvPr>
            <p:ph type="title"/>
          </p:nvPr>
        </p:nvSpPr>
        <p:spPr/>
        <p:txBody>
          <a:bodyPr/>
          <a:lstStyle/>
          <a:p>
            <a:r>
              <a:rPr lang="he-IL" dirty="0"/>
              <a:t>מפתחות - דוגמא</a:t>
            </a:r>
          </a:p>
        </p:txBody>
      </p:sp>
      <p:pic>
        <p:nvPicPr>
          <p:cNvPr id="6" name="תמונה 5">
            <a:extLst>
              <a:ext uri="{FF2B5EF4-FFF2-40B4-BE49-F238E27FC236}">
                <a16:creationId xmlns:a16="http://schemas.microsoft.com/office/drawing/2014/main" id="{55685488-D4DF-487B-842C-928E5CBFC79B}"/>
              </a:ext>
            </a:extLst>
          </p:cNvPr>
          <p:cNvPicPr>
            <a:picLocks noChangeAspect="1"/>
          </p:cNvPicPr>
          <p:nvPr/>
        </p:nvPicPr>
        <p:blipFill>
          <a:blip r:embed="rId2"/>
          <a:stretch>
            <a:fillRect/>
          </a:stretch>
        </p:blipFill>
        <p:spPr>
          <a:xfrm>
            <a:off x="903402" y="2522279"/>
            <a:ext cx="4430598" cy="1115561"/>
          </a:xfrm>
          <a:prstGeom prst="rect">
            <a:avLst/>
          </a:prstGeom>
        </p:spPr>
      </p:pic>
      <p:pic>
        <p:nvPicPr>
          <p:cNvPr id="7" name="תמונה 6">
            <a:extLst>
              <a:ext uri="{FF2B5EF4-FFF2-40B4-BE49-F238E27FC236}">
                <a16:creationId xmlns:a16="http://schemas.microsoft.com/office/drawing/2014/main" id="{5410A507-34AC-4559-B9FA-F0F6901A844B}"/>
              </a:ext>
            </a:extLst>
          </p:cNvPr>
          <p:cNvPicPr>
            <a:picLocks noChangeAspect="1"/>
          </p:cNvPicPr>
          <p:nvPr/>
        </p:nvPicPr>
        <p:blipFill>
          <a:blip r:embed="rId3"/>
          <a:stretch>
            <a:fillRect/>
          </a:stretch>
        </p:blipFill>
        <p:spPr>
          <a:xfrm>
            <a:off x="903402" y="3790240"/>
            <a:ext cx="3135198" cy="2176404"/>
          </a:xfrm>
          <a:prstGeom prst="rect">
            <a:avLst/>
          </a:prstGeom>
        </p:spPr>
      </p:pic>
      <p:sp>
        <p:nvSpPr>
          <p:cNvPr id="8" name="מציין מיקום של מספר שקופית 7">
            <a:extLst>
              <a:ext uri="{FF2B5EF4-FFF2-40B4-BE49-F238E27FC236}">
                <a16:creationId xmlns:a16="http://schemas.microsoft.com/office/drawing/2014/main" id="{BB257B4E-7951-439A-950B-72286F5A35F2}"/>
              </a:ext>
            </a:extLst>
          </p:cNvPr>
          <p:cNvSpPr>
            <a:spLocks noGrp="1"/>
          </p:cNvSpPr>
          <p:nvPr>
            <p:ph type="sldNum" sz="quarter" idx="11"/>
          </p:nvPr>
        </p:nvSpPr>
        <p:spPr/>
        <p:txBody>
          <a:bodyPr/>
          <a:lstStyle/>
          <a:p>
            <a:fld id="{746FD205-8D79-439C-A802-2377436AEC8A}" type="slidenum">
              <a:rPr lang="he-IL" smtClean="0"/>
              <a:pPr/>
              <a:t>9</a:t>
            </a:fld>
            <a:endParaRPr lang="he-IL"/>
          </a:p>
        </p:txBody>
      </p:sp>
    </p:spTree>
    <p:extLst>
      <p:ext uri="{BB962C8B-B14F-4D97-AF65-F5344CB8AC3E}">
        <p14:creationId xmlns:p14="http://schemas.microsoft.com/office/powerpoint/2010/main" val="3251338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D34CCFBA-44AF-495D-B1FE-41E8692FE687}"/>
              </a:ext>
            </a:extLst>
          </p:cNvPr>
          <p:cNvSpPr>
            <a:spLocks noGrp="1"/>
          </p:cNvSpPr>
          <p:nvPr>
            <p:ph idx="1"/>
          </p:nvPr>
        </p:nvSpPr>
        <p:spPr/>
        <p:txBody>
          <a:bodyPr/>
          <a:lstStyle/>
          <a:p>
            <a:pPr marL="64008" indent="0">
              <a:buNone/>
            </a:pPr>
            <a:r>
              <a:rPr lang="he-IL" sz="1800" dirty="0">
                <a:cs typeface="Calibri" panose="020F0502020204030204" pitchFamily="34" charset="0"/>
              </a:rPr>
              <a:t>מסד נתונים מכיל בדרך כלל טבלאות רבות, לדוגמא: מסד נתונים של בי"ס יכיל בתוכו את הטבלאות הבאות: מורים, תלמידים, כיתות, הקבצות, ציונים ועוד.</a:t>
            </a:r>
          </a:p>
          <a:p>
            <a:pPr marL="64008" indent="0">
              <a:buNone/>
            </a:pPr>
            <a:r>
              <a:rPr lang="he-IL" sz="1800" dirty="0">
                <a:cs typeface="Calibri" panose="020F0502020204030204" pitchFamily="34" charset="0"/>
              </a:rPr>
              <a:t>קשרי גומלין זה הדרך לקשר בין הטבלאות כדי שבהמשך נוכל לקבל מידע ממספר טבלאות יחד. לדוגמא: שליפת כל התלמידות שלומדות בכיתה מסוימת.</a:t>
            </a:r>
          </a:p>
          <a:p>
            <a:pPr marL="64008" indent="0">
              <a:buNone/>
            </a:pPr>
            <a:r>
              <a:rPr lang="he-IL" sz="1800" dirty="0">
                <a:cs typeface="Calibri" panose="020F0502020204030204" pitchFamily="34" charset="0"/>
              </a:rPr>
              <a:t>היחסים (קשרי הגומלין) בין הטבלאות יכולים להיות מכמה סוגים:</a:t>
            </a:r>
          </a:p>
          <a:p>
            <a:pPr rtl="1">
              <a:buFont typeface="Courier New" panose="02070309020205020404" pitchFamily="49" charset="0"/>
              <a:buChar char="o"/>
            </a:pPr>
            <a:r>
              <a:rPr lang="he-IL" sz="1800" dirty="0">
                <a:cs typeface="Calibri" panose="020F0502020204030204" pitchFamily="34" charset="0"/>
              </a:rPr>
              <a:t>קשר של יחיד לרבים – לכל רשומה בטבלה הראשית יכולות להיות מספר רשומות מקושרות בטבלה המשנית</a:t>
            </a:r>
          </a:p>
          <a:p>
            <a:pPr rtl="1">
              <a:buFont typeface="Courier New" panose="02070309020205020404" pitchFamily="49" charset="0"/>
              <a:buChar char="o"/>
            </a:pPr>
            <a:r>
              <a:rPr lang="he-IL" sz="1800" dirty="0">
                <a:cs typeface="Calibri" panose="020F0502020204030204" pitchFamily="34" charset="0"/>
              </a:rPr>
              <a:t>קשר של יחיד ליחיד – לכל רשומה בטבלה הראשית יכולה להיות רק רשומה אחת מקושרת בטבלה המשנית</a:t>
            </a:r>
          </a:p>
          <a:p>
            <a:pPr rtl="1">
              <a:buFont typeface="Courier New" panose="02070309020205020404" pitchFamily="49" charset="0"/>
              <a:buChar char="o"/>
            </a:pPr>
            <a:r>
              <a:rPr lang="he-IL" sz="1800" dirty="0">
                <a:cs typeface="Calibri" panose="020F0502020204030204" pitchFamily="34" charset="0"/>
              </a:rPr>
              <a:t>קשר של רבים לרבים – לכל רשומה באחת מהטבלאות המקושרות יכול להיות מספר של רשומות מקושרות בטבלה השנייה (יחס זה מיושם באמצעות טבלת ביניים שמחברת בין שתי הטבלאות המקושרות)</a:t>
            </a: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4F4BC2F1-7A2C-4FC5-8F38-74FC13D68FCD}"/>
              </a:ext>
            </a:extLst>
          </p:cNvPr>
          <p:cNvSpPr>
            <a:spLocks noGrp="1"/>
          </p:cNvSpPr>
          <p:nvPr>
            <p:ph type="title"/>
          </p:nvPr>
        </p:nvSpPr>
        <p:spPr/>
        <p:txBody>
          <a:bodyPr/>
          <a:lstStyle/>
          <a:p>
            <a:r>
              <a:rPr lang="he-IL" dirty="0"/>
              <a:t>קשרים בין טבלאות</a:t>
            </a:r>
          </a:p>
        </p:txBody>
      </p:sp>
      <p:sp>
        <p:nvSpPr>
          <p:cNvPr id="6" name="מציין מיקום של מספר שקופית 5">
            <a:extLst>
              <a:ext uri="{FF2B5EF4-FFF2-40B4-BE49-F238E27FC236}">
                <a16:creationId xmlns:a16="http://schemas.microsoft.com/office/drawing/2014/main" id="{48F5CD86-D3B6-4C1B-B0C6-9EBB7D1D34D2}"/>
              </a:ext>
            </a:extLst>
          </p:cNvPr>
          <p:cNvSpPr>
            <a:spLocks noGrp="1"/>
          </p:cNvSpPr>
          <p:nvPr>
            <p:ph type="sldNum" sz="quarter" idx="11"/>
          </p:nvPr>
        </p:nvSpPr>
        <p:spPr/>
        <p:txBody>
          <a:bodyPr/>
          <a:lstStyle/>
          <a:p>
            <a:fld id="{746FD205-8D79-439C-A802-2377436AEC8A}" type="slidenum">
              <a:rPr lang="he-IL" smtClean="0"/>
              <a:pPr/>
              <a:t>10</a:t>
            </a:fld>
            <a:endParaRPr lang="he-IL"/>
          </a:p>
        </p:txBody>
      </p:sp>
    </p:spTree>
    <p:extLst>
      <p:ext uri="{BB962C8B-B14F-4D97-AF65-F5344CB8AC3E}">
        <p14:creationId xmlns:p14="http://schemas.microsoft.com/office/powerpoint/2010/main" val="42373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00C3F03F-B082-4544-81CB-888BC21612F7}"/>
              </a:ext>
            </a:extLst>
          </p:cNvPr>
          <p:cNvPicPr>
            <a:picLocks noGrp="1" noChangeAspect="1"/>
          </p:cNvPicPr>
          <p:nvPr>
            <p:ph idx="1"/>
          </p:nvPr>
        </p:nvPicPr>
        <p:blipFill>
          <a:blip r:embed="rId2"/>
          <a:stretch>
            <a:fillRect/>
          </a:stretch>
        </p:blipFill>
        <p:spPr>
          <a:xfrm>
            <a:off x="2791213" y="1371600"/>
            <a:ext cx="4162037" cy="1671638"/>
          </a:xfrm>
          <a:prstGeom prst="rect">
            <a:avLst/>
          </a:prstGeom>
        </p:spPr>
      </p:pic>
      <p:sp>
        <p:nvSpPr>
          <p:cNvPr id="3" name="כותרת 2">
            <a:extLst>
              <a:ext uri="{FF2B5EF4-FFF2-40B4-BE49-F238E27FC236}">
                <a16:creationId xmlns:a16="http://schemas.microsoft.com/office/drawing/2014/main" id="{81886F52-E488-4804-B597-8E29F3B81F26}"/>
              </a:ext>
            </a:extLst>
          </p:cNvPr>
          <p:cNvSpPr>
            <a:spLocks noGrp="1"/>
          </p:cNvSpPr>
          <p:nvPr>
            <p:ph type="title"/>
          </p:nvPr>
        </p:nvSpPr>
        <p:spPr/>
        <p:txBody>
          <a:bodyPr/>
          <a:lstStyle/>
          <a:p>
            <a:r>
              <a:rPr lang="he-IL" dirty="0"/>
              <a:t>קשרים בין טבלאות - דוגמא</a:t>
            </a:r>
          </a:p>
        </p:txBody>
      </p:sp>
      <p:pic>
        <p:nvPicPr>
          <p:cNvPr id="6" name="תמונה 5">
            <a:extLst>
              <a:ext uri="{FF2B5EF4-FFF2-40B4-BE49-F238E27FC236}">
                <a16:creationId xmlns:a16="http://schemas.microsoft.com/office/drawing/2014/main" id="{92BCF4ED-C1A1-4C16-83B9-89BCA169AD23}"/>
              </a:ext>
            </a:extLst>
          </p:cNvPr>
          <p:cNvPicPr>
            <a:picLocks noChangeAspect="1"/>
          </p:cNvPicPr>
          <p:nvPr/>
        </p:nvPicPr>
        <p:blipFill>
          <a:blip r:embed="rId3"/>
          <a:stretch>
            <a:fillRect/>
          </a:stretch>
        </p:blipFill>
        <p:spPr>
          <a:xfrm>
            <a:off x="1143000" y="3121508"/>
            <a:ext cx="5810250" cy="1432844"/>
          </a:xfrm>
          <a:prstGeom prst="rect">
            <a:avLst/>
          </a:prstGeom>
        </p:spPr>
      </p:pic>
      <p:pic>
        <p:nvPicPr>
          <p:cNvPr id="7" name="תמונה 6">
            <a:extLst>
              <a:ext uri="{FF2B5EF4-FFF2-40B4-BE49-F238E27FC236}">
                <a16:creationId xmlns:a16="http://schemas.microsoft.com/office/drawing/2014/main" id="{60A8B028-AEA0-41FB-908A-4E8AFEF7915D}"/>
              </a:ext>
            </a:extLst>
          </p:cNvPr>
          <p:cNvPicPr>
            <a:picLocks noChangeAspect="1"/>
          </p:cNvPicPr>
          <p:nvPr/>
        </p:nvPicPr>
        <p:blipFill>
          <a:blip r:embed="rId4"/>
          <a:stretch>
            <a:fillRect/>
          </a:stretch>
        </p:blipFill>
        <p:spPr>
          <a:xfrm>
            <a:off x="1759081" y="4632622"/>
            <a:ext cx="5181600" cy="1548106"/>
          </a:xfrm>
          <a:prstGeom prst="rect">
            <a:avLst/>
          </a:prstGeom>
        </p:spPr>
      </p:pic>
      <p:sp>
        <p:nvSpPr>
          <p:cNvPr id="8" name="תיבת טקסט 7">
            <a:extLst>
              <a:ext uri="{FF2B5EF4-FFF2-40B4-BE49-F238E27FC236}">
                <a16:creationId xmlns:a16="http://schemas.microsoft.com/office/drawing/2014/main" id="{C10B4415-2AEC-4B1A-AAD7-2092CEA04728}"/>
              </a:ext>
            </a:extLst>
          </p:cNvPr>
          <p:cNvSpPr txBox="1"/>
          <p:nvPr/>
        </p:nvSpPr>
        <p:spPr>
          <a:xfrm>
            <a:off x="7550713" y="4800600"/>
            <a:ext cx="1097280" cy="923330"/>
          </a:xfrm>
          <a:prstGeom prst="rect">
            <a:avLst/>
          </a:prstGeom>
          <a:noFill/>
        </p:spPr>
        <p:txBody>
          <a:bodyPr wrap="square" rtlCol="1">
            <a:spAutoFit/>
          </a:bodyPr>
          <a:lstStyle/>
          <a:p>
            <a:pPr algn="r" rtl="1"/>
            <a:r>
              <a:rPr lang="he-IL" dirty="0"/>
              <a:t>קשר של רבים לרבים:</a:t>
            </a:r>
          </a:p>
        </p:txBody>
      </p:sp>
      <p:sp>
        <p:nvSpPr>
          <p:cNvPr id="9" name="תיבת טקסט 8">
            <a:extLst>
              <a:ext uri="{FF2B5EF4-FFF2-40B4-BE49-F238E27FC236}">
                <a16:creationId xmlns:a16="http://schemas.microsoft.com/office/drawing/2014/main" id="{7ABDD561-DAE0-4091-A68D-37829CC11B95}"/>
              </a:ext>
            </a:extLst>
          </p:cNvPr>
          <p:cNvSpPr txBox="1"/>
          <p:nvPr/>
        </p:nvSpPr>
        <p:spPr>
          <a:xfrm>
            <a:off x="7589520" y="3121508"/>
            <a:ext cx="1097280" cy="923330"/>
          </a:xfrm>
          <a:prstGeom prst="rect">
            <a:avLst/>
          </a:prstGeom>
          <a:noFill/>
        </p:spPr>
        <p:txBody>
          <a:bodyPr wrap="square" rtlCol="1">
            <a:spAutoFit/>
          </a:bodyPr>
          <a:lstStyle/>
          <a:p>
            <a:pPr algn="r" rtl="1"/>
            <a:r>
              <a:rPr lang="he-IL" dirty="0"/>
              <a:t>קשר של יחיד לרבים:</a:t>
            </a:r>
          </a:p>
        </p:txBody>
      </p:sp>
      <p:sp>
        <p:nvSpPr>
          <p:cNvPr id="10" name="תיבת טקסט 9">
            <a:extLst>
              <a:ext uri="{FF2B5EF4-FFF2-40B4-BE49-F238E27FC236}">
                <a16:creationId xmlns:a16="http://schemas.microsoft.com/office/drawing/2014/main" id="{8CB08F5C-3949-44D6-912C-B780E77ADBFE}"/>
              </a:ext>
            </a:extLst>
          </p:cNvPr>
          <p:cNvSpPr txBox="1"/>
          <p:nvPr/>
        </p:nvSpPr>
        <p:spPr>
          <a:xfrm>
            <a:off x="7550713" y="1442416"/>
            <a:ext cx="1097280" cy="923330"/>
          </a:xfrm>
          <a:prstGeom prst="rect">
            <a:avLst/>
          </a:prstGeom>
          <a:noFill/>
        </p:spPr>
        <p:txBody>
          <a:bodyPr wrap="square" rtlCol="1">
            <a:spAutoFit/>
          </a:bodyPr>
          <a:lstStyle/>
          <a:p>
            <a:pPr algn="r" rtl="1"/>
            <a:r>
              <a:rPr lang="he-IL" dirty="0"/>
              <a:t>קשר של יחיד ליחיד:</a:t>
            </a:r>
          </a:p>
        </p:txBody>
      </p:sp>
      <p:sp>
        <p:nvSpPr>
          <p:cNvPr id="11" name="מציין מיקום של מספר שקופית 10">
            <a:extLst>
              <a:ext uri="{FF2B5EF4-FFF2-40B4-BE49-F238E27FC236}">
                <a16:creationId xmlns:a16="http://schemas.microsoft.com/office/drawing/2014/main" id="{CF1F2D4C-EE48-4F86-83E1-2625224DA21C}"/>
              </a:ext>
            </a:extLst>
          </p:cNvPr>
          <p:cNvSpPr>
            <a:spLocks noGrp="1"/>
          </p:cNvSpPr>
          <p:nvPr>
            <p:ph type="sldNum" sz="quarter" idx="11"/>
          </p:nvPr>
        </p:nvSpPr>
        <p:spPr/>
        <p:txBody>
          <a:bodyPr/>
          <a:lstStyle/>
          <a:p>
            <a:fld id="{746FD205-8D79-439C-A802-2377436AEC8A}" type="slidenum">
              <a:rPr lang="he-IL" smtClean="0"/>
              <a:pPr/>
              <a:t>11</a:t>
            </a:fld>
            <a:endParaRPr lang="he-IL"/>
          </a:p>
        </p:txBody>
      </p:sp>
    </p:spTree>
    <p:extLst>
      <p:ext uri="{BB962C8B-B14F-4D97-AF65-F5344CB8AC3E}">
        <p14:creationId xmlns:p14="http://schemas.microsoft.com/office/powerpoint/2010/main" val="268583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2644B13-6052-4B15-B99B-62BDD45F9189}"/>
              </a:ext>
            </a:extLst>
          </p:cNvPr>
          <p:cNvSpPr>
            <a:spLocks noGrp="1"/>
          </p:cNvSpPr>
          <p:nvPr>
            <p:ph idx="1"/>
          </p:nvPr>
        </p:nvSpPr>
        <p:spPr/>
        <p:txBody>
          <a:bodyPr/>
          <a:lstStyle/>
          <a:p>
            <a:pPr marL="64008" indent="0">
              <a:buNone/>
            </a:pPr>
            <a:r>
              <a:rPr lang="he-IL" sz="1800" dirty="0">
                <a:cs typeface="Calibri" panose="020F0502020204030204" pitchFamily="34" charset="0"/>
              </a:rPr>
              <a:t>דוגמא למסד נתונים של בנק:</a:t>
            </a:r>
            <a:endParaRPr lang="en-US" sz="1800" dirty="0">
              <a:cs typeface="Calibri" panose="020F0502020204030204" pitchFamily="34" charset="0"/>
            </a:endParaRPr>
          </a:p>
          <a:p>
            <a:pPr marL="64008" indent="0">
              <a:buNone/>
            </a:pPr>
            <a:r>
              <a:rPr lang="he-IL" sz="1800" dirty="0">
                <a:cs typeface="Calibri" panose="020F0502020204030204" pitchFamily="34" charset="0"/>
              </a:rPr>
              <a:t>דוגמאות לטבלאות: לקוחות, פקידים, מנהלים, מחלקות, חשבונות, תנועות....</a:t>
            </a:r>
          </a:p>
          <a:p>
            <a:pPr marL="64008" indent="0">
              <a:buNone/>
            </a:pPr>
            <a:r>
              <a:rPr lang="he-IL" sz="1800" dirty="0">
                <a:cs typeface="Calibri" panose="020F0502020204030204" pitchFamily="34" charset="0"/>
              </a:rPr>
              <a:t>דוגמא לשדות בטבלה: טבלת לקוחות – ת"ז, שם פרטי, שם משפחה, כתובת (לפעמים תהיה טבלה נפרדת עם כל פרטי הכתובת שמקושרת בקשר של יחיד ליחיד), סטטוס </a:t>
            </a:r>
            <a:r>
              <a:rPr lang="he-IL" sz="1800" dirty="0" err="1">
                <a:cs typeface="Calibri" panose="020F0502020204030204" pitchFamily="34" charset="0"/>
              </a:rPr>
              <a:t>וכו</a:t>
            </a:r>
            <a:r>
              <a:rPr lang="he-IL" sz="1800" dirty="0">
                <a:cs typeface="Calibri" panose="020F0502020204030204" pitchFamily="34" charset="0"/>
              </a:rPr>
              <a:t>.</a:t>
            </a:r>
          </a:p>
          <a:p>
            <a:pPr marL="64008" indent="0">
              <a:buNone/>
            </a:pPr>
            <a:r>
              <a:rPr lang="he-IL" sz="1800" dirty="0">
                <a:cs typeface="Calibri" panose="020F0502020204030204" pitchFamily="34" charset="0"/>
              </a:rPr>
              <a:t>מפתחות ראשיים: לקוחות – ת"ז של הלקוח, עובדים – ת"ז של העובד, מחלקות – קוד מחלקה, חשבונות – מספר חשבון, תנועות – קוד תנועה</a:t>
            </a:r>
          </a:p>
          <a:p>
            <a:pPr marL="64008" indent="0">
              <a:buNone/>
            </a:pPr>
            <a:r>
              <a:rPr lang="he-IL" sz="1800" dirty="0">
                <a:cs typeface="Calibri" panose="020F0502020204030204" pitchFamily="34" charset="0"/>
              </a:rPr>
              <a:t>קשרי גומלין:</a:t>
            </a:r>
            <a:endParaRPr lang="en-US" sz="1800" dirty="0">
              <a:cs typeface="Calibri" panose="020F0502020204030204" pitchFamily="34" charset="0"/>
            </a:endParaRPr>
          </a:p>
          <a:p>
            <a:pPr marL="64008" indent="0">
              <a:buNone/>
            </a:pPr>
            <a:r>
              <a:rPr lang="he-IL" sz="1800" dirty="0">
                <a:cs typeface="Calibri" panose="020F0502020204030204" pitchFamily="34" charset="0"/>
              </a:rPr>
              <a:t>קשר של יחיד ליחיד – מנהל ומחלקה – לכל מחלקה יש רק מנהל אחד וכל מנהל </a:t>
            </a:r>
            <a:r>
              <a:rPr lang="he-IL" sz="1800" dirty="0" err="1">
                <a:cs typeface="Calibri" panose="020F0502020204030204" pitchFamily="34" charset="0"/>
              </a:rPr>
              <a:t>מנהל</a:t>
            </a:r>
            <a:r>
              <a:rPr lang="he-IL" sz="1800" dirty="0">
                <a:cs typeface="Calibri" panose="020F0502020204030204" pitchFamily="34" charset="0"/>
              </a:rPr>
              <a:t> מחלקה אחת בלבד.</a:t>
            </a:r>
          </a:p>
          <a:p>
            <a:pPr marL="64008" indent="0">
              <a:buNone/>
            </a:pPr>
            <a:r>
              <a:rPr lang="he-IL" sz="1800" dirty="0">
                <a:cs typeface="Calibri" panose="020F0502020204030204" pitchFamily="34" charset="0"/>
              </a:rPr>
              <a:t>קשר של יחיד לרבים – פקידים ומחלקות – כל פקיד יכול לעבוד רק במחלקה אחת, אך במחלקה אחת יכולים להיות מספר פקידים.</a:t>
            </a:r>
          </a:p>
          <a:p>
            <a:pPr marL="64008" indent="0">
              <a:buNone/>
            </a:pPr>
            <a:r>
              <a:rPr lang="he-IL" sz="1800" dirty="0">
                <a:cs typeface="Calibri" panose="020F0502020204030204" pitchFamily="34" charset="0"/>
              </a:rPr>
              <a:t>קשר של רבים לרבים – לקוחות וחשבונות – יכולים להיות כמה חשבונות לאותו לקוח וכמה לקוחות שחולקים ביחד אותו חשבון.</a:t>
            </a: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FDB71629-9DA2-49A8-A298-FBA51A5BC92E}"/>
              </a:ext>
            </a:extLst>
          </p:cNvPr>
          <p:cNvSpPr>
            <a:spLocks noGrp="1"/>
          </p:cNvSpPr>
          <p:nvPr>
            <p:ph type="title"/>
          </p:nvPr>
        </p:nvSpPr>
        <p:spPr/>
        <p:txBody>
          <a:bodyPr/>
          <a:lstStyle/>
          <a:p>
            <a:r>
              <a:rPr lang="he-IL" dirty="0"/>
              <a:t>מסד נתונים – דוגמא מסכמת</a:t>
            </a:r>
          </a:p>
        </p:txBody>
      </p:sp>
      <p:sp>
        <p:nvSpPr>
          <p:cNvPr id="6" name="מציין מיקום של מספר שקופית 5">
            <a:extLst>
              <a:ext uri="{FF2B5EF4-FFF2-40B4-BE49-F238E27FC236}">
                <a16:creationId xmlns:a16="http://schemas.microsoft.com/office/drawing/2014/main" id="{1C409F93-1161-4E89-B310-A4B190DF7077}"/>
              </a:ext>
            </a:extLst>
          </p:cNvPr>
          <p:cNvSpPr>
            <a:spLocks noGrp="1"/>
          </p:cNvSpPr>
          <p:nvPr>
            <p:ph type="sldNum" sz="quarter" idx="11"/>
          </p:nvPr>
        </p:nvSpPr>
        <p:spPr/>
        <p:txBody>
          <a:bodyPr/>
          <a:lstStyle/>
          <a:p>
            <a:fld id="{746FD205-8D79-439C-A802-2377436AEC8A}" type="slidenum">
              <a:rPr lang="he-IL" smtClean="0"/>
              <a:pPr/>
              <a:t>12</a:t>
            </a:fld>
            <a:endParaRPr lang="he-IL"/>
          </a:p>
        </p:txBody>
      </p:sp>
    </p:spTree>
    <p:extLst>
      <p:ext uri="{BB962C8B-B14F-4D97-AF65-F5344CB8AC3E}">
        <p14:creationId xmlns:p14="http://schemas.microsoft.com/office/powerpoint/2010/main" val="4265139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31112941-1D41-431F-9647-509767EDF9E8}"/>
              </a:ext>
            </a:extLst>
          </p:cNvPr>
          <p:cNvSpPr>
            <a:spLocks noGrp="1"/>
          </p:cNvSpPr>
          <p:nvPr>
            <p:ph idx="1"/>
          </p:nvPr>
        </p:nvSpPr>
        <p:spPr/>
        <p:txBody>
          <a:bodyPr/>
          <a:lstStyle/>
          <a:p>
            <a:pPr marL="64008" indent="0" rtl="1">
              <a:buNone/>
            </a:pPr>
            <a:r>
              <a:rPr lang="he-IL" sz="1800" dirty="0">
                <a:cs typeface="Calibri" panose="020F0502020204030204" pitchFamily="34" charset="0"/>
              </a:rPr>
              <a:t>אילוצי </a:t>
            </a:r>
            <a:r>
              <a:rPr lang="en-US" sz="1800" dirty="0">
                <a:cs typeface="Calibri" panose="020F0502020204030204" pitchFamily="34" charset="0"/>
              </a:rPr>
              <a:t> SQL </a:t>
            </a:r>
            <a:r>
              <a:rPr lang="he-IL" sz="1800" dirty="0">
                <a:cs typeface="Calibri" panose="020F0502020204030204" pitchFamily="34" charset="0"/>
              </a:rPr>
              <a:t>משמשים לציון כללים עבור הנתונים בטבלה.</a:t>
            </a:r>
          </a:p>
          <a:p>
            <a:pPr marL="64008" indent="0" rtl="1">
              <a:buNone/>
            </a:pPr>
            <a:r>
              <a:rPr lang="he-IL" sz="1800" dirty="0">
                <a:cs typeface="Calibri" panose="020F0502020204030204" pitchFamily="34" charset="0"/>
              </a:rPr>
              <a:t>אילוצים משמשים כדי להגביל את סוג הנתונים שיכולים להיכנס לטבלה. זה מבטיח את הדיוק והאמינות של הנתונים בטבלה. אם יש הפרה כלשהי בין האילוץ לפעולת הנתונים, הפעולה תבוטל.</a:t>
            </a:r>
          </a:p>
          <a:p>
            <a:pPr marL="64008" indent="0" rtl="1">
              <a:buNone/>
            </a:pPr>
            <a:r>
              <a:rPr lang="he-IL" sz="1800" dirty="0">
                <a:cs typeface="Calibri" panose="020F0502020204030204" pitchFamily="34" charset="0"/>
              </a:rPr>
              <a:t>אילוצים יכולים להיות ברמת העמודה או ברמת הטבלה. אילוצים ברמת העמודה חלים על עמודה, ואילו אילוצים ברמת הטבלה חלים על הטבלה כולה.</a:t>
            </a:r>
          </a:p>
          <a:p>
            <a:pPr marL="64008" indent="0" rtl="1">
              <a:buNone/>
            </a:pPr>
            <a:r>
              <a:rPr lang="he-IL" sz="1800" dirty="0">
                <a:cs typeface="Calibri" panose="020F0502020204030204" pitchFamily="34" charset="0"/>
              </a:rPr>
              <a:t>האילוצים הבאים נמצאים בשימוש נפוץ ב </a:t>
            </a:r>
            <a:r>
              <a:rPr lang="en-US" sz="1800" dirty="0">
                <a:cs typeface="Calibri" panose="020F0502020204030204" pitchFamily="34" charset="0"/>
              </a:rPr>
              <a:t>SQL</a:t>
            </a:r>
            <a:r>
              <a:rPr lang="he-IL" sz="1800" dirty="0">
                <a:cs typeface="Calibri" panose="020F0502020204030204" pitchFamily="34" charset="0"/>
              </a:rPr>
              <a:t>:</a:t>
            </a:r>
          </a:p>
          <a:p>
            <a:pPr marL="64008" indent="0" rtl="1">
              <a:buNone/>
            </a:pPr>
            <a:r>
              <a:rPr lang="en-US" sz="1800" dirty="0">
                <a:cs typeface="Calibri" panose="020F0502020204030204" pitchFamily="34" charset="0"/>
              </a:rPr>
              <a:t>NOT NULL</a:t>
            </a:r>
            <a:r>
              <a:rPr lang="he-IL" sz="1800" dirty="0">
                <a:cs typeface="Calibri" panose="020F0502020204030204" pitchFamily="34" charset="0"/>
              </a:rPr>
              <a:t> - מבטיח שלעמודה לא יהיה ערך </a:t>
            </a:r>
            <a:r>
              <a:rPr lang="en-US" sz="1800" dirty="0">
                <a:cs typeface="Calibri" panose="020F0502020204030204" pitchFamily="34" charset="0"/>
              </a:rPr>
              <a:t>NULL</a:t>
            </a:r>
            <a:endParaRPr lang="he-IL" sz="1800" dirty="0">
              <a:cs typeface="Calibri" panose="020F0502020204030204" pitchFamily="34" charset="0"/>
            </a:endParaRPr>
          </a:p>
          <a:p>
            <a:pPr marL="64008" indent="0" rtl="1">
              <a:buNone/>
            </a:pPr>
            <a:r>
              <a:rPr lang="en-US" sz="1800" dirty="0">
                <a:cs typeface="Calibri" panose="020F0502020204030204" pitchFamily="34" charset="0"/>
              </a:rPr>
              <a:t>UNIQUE</a:t>
            </a:r>
            <a:r>
              <a:rPr lang="he-IL" sz="1800" dirty="0">
                <a:cs typeface="Calibri" panose="020F0502020204030204" pitchFamily="34" charset="0"/>
              </a:rPr>
              <a:t> - מבטיח שכל הערכים בעמודה שונים</a:t>
            </a:r>
          </a:p>
          <a:p>
            <a:pPr marL="64008" indent="0" rtl="1">
              <a:buNone/>
            </a:pPr>
            <a:r>
              <a:rPr lang="en-US" sz="1800" dirty="0">
                <a:cs typeface="Calibri" panose="020F0502020204030204" pitchFamily="34" charset="0"/>
              </a:rPr>
              <a:t> - PRIMARY KEY</a:t>
            </a:r>
            <a:r>
              <a:rPr lang="he-IL" sz="1800" dirty="0">
                <a:cs typeface="Calibri" panose="020F0502020204030204" pitchFamily="34" charset="0"/>
              </a:rPr>
              <a:t>מזהה ייחודי לכל שורה בטבלה. שילוב של </a:t>
            </a:r>
            <a:r>
              <a:rPr lang="en-US" sz="1800" dirty="0">
                <a:cs typeface="Calibri" panose="020F0502020204030204" pitchFamily="34" charset="0"/>
              </a:rPr>
              <a:t>NOT NULL</a:t>
            </a:r>
            <a:r>
              <a:rPr lang="he-IL" sz="1800" dirty="0">
                <a:cs typeface="Calibri" panose="020F0502020204030204" pitchFamily="34" charset="0"/>
              </a:rPr>
              <a:t> ו </a:t>
            </a:r>
            <a:r>
              <a:rPr lang="en-US" sz="1800" dirty="0">
                <a:cs typeface="Calibri" panose="020F0502020204030204" pitchFamily="34" charset="0"/>
              </a:rPr>
              <a:t>UNIQUE</a:t>
            </a:r>
            <a:r>
              <a:rPr lang="he-IL" sz="1800" dirty="0">
                <a:cs typeface="Calibri" panose="020F0502020204030204" pitchFamily="34" charset="0"/>
              </a:rPr>
              <a:t>.</a:t>
            </a:r>
          </a:p>
          <a:p>
            <a:pPr marL="64008" indent="0" rtl="1">
              <a:buNone/>
            </a:pPr>
            <a:r>
              <a:rPr lang="en-US" sz="1800" dirty="0">
                <a:cs typeface="Calibri" panose="020F0502020204030204" pitchFamily="34" charset="0"/>
              </a:rPr>
              <a:t>FOREIGN KEY</a:t>
            </a:r>
            <a:r>
              <a:rPr lang="he-IL" sz="1800" dirty="0">
                <a:cs typeface="Calibri" panose="020F0502020204030204" pitchFamily="34" charset="0"/>
              </a:rPr>
              <a:t> – שומר על תקינות הקשרים שבין הטבלאות</a:t>
            </a:r>
          </a:p>
          <a:p>
            <a:pPr marL="64008" indent="0" rtl="1">
              <a:buNone/>
            </a:pPr>
            <a:r>
              <a:rPr lang="en-US" sz="1800" dirty="0">
                <a:cs typeface="Calibri" panose="020F0502020204030204" pitchFamily="34" charset="0"/>
              </a:rPr>
              <a:t>CHECK</a:t>
            </a:r>
            <a:r>
              <a:rPr lang="he-IL" sz="1800" dirty="0">
                <a:cs typeface="Calibri" panose="020F0502020204030204" pitchFamily="34" charset="0"/>
              </a:rPr>
              <a:t> - מוודא שהערכים בעמודה עומדים בתנאי מסוים</a:t>
            </a:r>
          </a:p>
          <a:p>
            <a:pPr marL="64008" indent="0" rtl="1">
              <a:buNone/>
            </a:pPr>
            <a:r>
              <a:rPr lang="en-US" sz="1800" dirty="0">
                <a:cs typeface="Calibri" panose="020F0502020204030204" pitchFamily="34" charset="0"/>
              </a:rPr>
              <a:t>DEFAULT</a:t>
            </a:r>
            <a:r>
              <a:rPr lang="he-IL" sz="1800" dirty="0">
                <a:cs typeface="Calibri" panose="020F0502020204030204" pitchFamily="34" charset="0"/>
              </a:rPr>
              <a:t> - מגדיר ערך ברירת מחדל עבור עמודה אם לא צוין ערך</a:t>
            </a:r>
          </a:p>
          <a:p>
            <a:pPr marL="64008" indent="0" rtl="1">
              <a:buNone/>
            </a:pPr>
            <a:r>
              <a:rPr lang="en-US" sz="1800" dirty="0">
                <a:cs typeface="Calibri" panose="020F0502020204030204" pitchFamily="34" charset="0"/>
              </a:rPr>
              <a:t>CREATE INDEX</a:t>
            </a:r>
            <a:r>
              <a:rPr lang="he-IL" sz="1800" dirty="0">
                <a:cs typeface="Calibri" panose="020F0502020204030204" pitchFamily="34" charset="0"/>
              </a:rPr>
              <a:t> - משמש ליצירה ואחזור של נתונים ממסד הנתונים במהירות רבה</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1F350A4-A055-453C-831D-336D2C5676ED}"/>
              </a:ext>
            </a:extLst>
          </p:cNvPr>
          <p:cNvSpPr>
            <a:spLocks noGrp="1"/>
          </p:cNvSpPr>
          <p:nvPr>
            <p:ph type="title"/>
          </p:nvPr>
        </p:nvSpPr>
        <p:spPr/>
        <p:txBody>
          <a:bodyPr/>
          <a:lstStyle/>
          <a:p>
            <a:pPr rtl="1"/>
            <a:r>
              <a:rPr lang="en-US" dirty="0"/>
              <a:t>Constraints</a:t>
            </a:r>
            <a:r>
              <a:rPr lang="he-IL" dirty="0"/>
              <a:t> – אילוצים - סיכום</a:t>
            </a:r>
          </a:p>
        </p:txBody>
      </p:sp>
      <p:sp>
        <p:nvSpPr>
          <p:cNvPr id="4" name="מציין מיקום של מספר שקופית 3">
            <a:extLst>
              <a:ext uri="{FF2B5EF4-FFF2-40B4-BE49-F238E27FC236}">
                <a16:creationId xmlns:a16="http://schemas.microsoft.com/office/drawing/2014/main" id="{3AC43E02-2012-4BEA-B7F6-6E207CA7F235}"/>
              </a:ext>
            </a:extLst>
          </p:cNvPr>
          <p:cNvSpPr>
            <a:spLocks noGrp="1"/>
          </p:cNvSpPr>
          <p:nvPr>
            <p:ph type="sldNum" sz="quarter" idx="11"/>
          </p:nvPr>
        </p:nvSpPr>
        <p:spPr/>
        <p:txBody>
          <a:bodyPr/>
          <a:lstStyle/>
          <a:p>
            <a:fld id="{746FD205-8D79-439C-A802-2377436AEC8A}" type="slidenum">
              <a:rPr lang="he-IL" smtClean="0"/>
              <a:pPr/>
              <a:t>13</a:t>
            </a:fld>
            <a:endParaRPr lang="he-IL"/>
          </a:p>
        </p:txBody>
      </p:sp>
    </p:spTree>
    <p:extLst>
      <p:ext uri="{BB962C8B-B14F-4D97-AF65-F5344CB8AC3E}">
        <p14:creationId xmlns:p14="http://schemas.microsoft.com/office/powerpoint/2010/main" val="842373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AD6BD20-C389-46C7-BF9D-5344474597CE}"/>
              </a:ext>
            </a:extLst>
          </p:cNvPr>
          <p:cNvSpPr>
            <a:spLocks noGrp="1"/>
          </p:cNvSpPr>
          <p:nvPr>
            <p:ph idx="1"/>
          </p:nvPr>
        </p:nvSpPr>
        <p:spPr/>
        <p:txBody>
          <a:bodyPr/>
          <a:lstStyle/>
          <a:p>
            <a:pPr marL="64008" indent="0">
              <a:buNone/>
            </a:pPr>
            <a:r>
              <a:rPr lang="he-IL" sz="1800" dirty="0">
                <a:cs typeface="Calibri" panose="020F0502020204030204" pitchFamily="34" charset="0"/>
              </a:rPr>
              <a:t>הכיני תכנית לבניית מסד נתונים. הגדירי:</a:t>
            </a:r>
          </a:p>
          <a:p>
            <a:pPr rtl="1">
              <a:buFont typeface="Courier New" panose="02070309020205020404" pitchFamily="49" charset="0"/>
              <a:buChar char="o"/>
            </a:pPr>
            <a:r>
              <a:rPr lang="he-IL" sz="1800" dirty="0">
                <a:cs typeface="Calibri" panose="020F0502020204030204" pitchFamily="34" charset="0"/>
              </a:rPr>
              <a:t>טבלאות</a:t>
            </a:r>
          </a:p>
          <a:p>
            <a:pPr rtl="1">
              <a:buFont typeface="Courier New" panose="02070309020205020404" pitchFamily="49" charset="0"/>
              <a:buChar char="o"/>
            </a:pPr>
            <a:r>
              <a:rPr lang="he-IL" sz="1800" dirty="0">
                <a:cs typeface="Calibri" panose="020F0502020204030204" pitchFamily="34" charset="0"/>
              </a:rPr>
              <a:t>שדות בכל טבלה וסוג כל שדה</a:t>
            </a:r>
          </a:p>
          <a:p>
            <a:pPr rtl="1">
              <a:buFont typeface="Courier New" panose="02070309020205020404" pitchFamily="49" charset="0"/>
              <a:buChar char="o"/>
            </a:pPr>
            <a:r>
              <a:rPr lang="he-IL" sz="1800" dirty="0">
                <a:cs typeface="Calibri" panose="020F0502020204030204" pitchFamily="34" charset="0"/>
              </a:rPr>
              <a:t>מפתח ראשי עבור כל טבלה</a:t>
            </a:r>
          </a:p>
          <a:p>
            <a:pPr rtl="1">
              <a:buFont typeface="Courier New" panose="02070309020205020404" pitchFamily="49" charset="0"/>
              <a:buChar char="o"/>
            </a:pPr>
            <a:r>
              <a:rPr lang="he-IL" sz="1800" dirty="0">
                <a:cs typeface="Calibri" panose="020F0502020204030204" pitchFamily="34" charset="0"/>
              </a:rPr>
              <a:t>קשרי גומלין בין הטבלאות (ואיזה סוג קשר זה)</a:t>
            </a:r>
          </a:p>
        </p:txBody>
      </p:sp>
      <p:sp>
        <p:nvSpPr>
          <p:cNvPr id="3" name="כותרת 2">
            <a:extLst>
              <a:ext uri="{FF2B5EF4-FFF2-40B4-BE49-F238E27FC236}">
                <a16:creationId xmlns:a16="http://schemas.microsoft.com/office/drawing/2014/main" id="{13D185B7-6F92-455D-AA34-92DDD545B2C2}"/>
              </a:ext>
            </a:extLst>
          </p:cNvPr>
          <p:cNvSpPr>
            <a:spLocks noGrp="1"/>
          </p:cNvSpPr>
          <p:nvPr>
            <p:ph type="title"/>
          </p:nvPr>
        </p:nvSpPr>
        <p:spPr/>
        <p:txBody>
          <a:bodyPr/>
          <a:lstStyle/>
          <a:p>
            <a:r>
              <a:rPr lang="he-IL" dirty="0"/>
              <a:t>מסד נתונים - תרגיל</a:t>
            </a:r>
          </a:p>
        </p:txBody>
      </p:sp>
      <p:sp>
        <p:nvSpPr>
          <p:cNvPr id="4" name="מציין מיקום של מספר שקופית 3">
            <a:extLst>
              <a:ext uri="{FF2B5EF4-FFF2-40B4-BE49-F238E27FC236}">
                <a16:creationId xmlns:a16="http://schemas.microsoft.com/office/drawing/2014/main" id="{52E563CE-9AEC-4410-BFFB-6990DCCF8F1A}"/>
              </a:ext>
            </a:extLst>
          </p:cNvPr>
          <p:cNvSpPr>
            <a:spLocks noGrp="1"/>
          </p:cNvSpPr>
          <p:nvPr>
            <p:ph type="sldNum" sz="quarter" idx="11"/>
          </p:nvPr>
        </p:nvSpPr>
        <p:spPr/>
        <p:txBody>
          <a:bodyPr/>
          <a:lstStyle/>
          <a:p>
            <a:fld id="{746FD205-8D79-439C-A802-2377436AEC8A}" type="slidenum">
              <a:rPr lang="he-IL" smtClean="0"/>
              <a:pPr/>
              <a:t>14</a:t>
            </a:fld>
            <a:endParaRPr lang="he-IL"/>
          </a:p>
        </p:txBody>
      </p:sp>
    </p:spTree>
    <p:extLst>
      <p:ext uri="{BB962C8B-B14F-4D97-AF65-F5344CB8AC3E}">
        <p14:creationId xmlns:p14="http://schemas.microsoft.com/office/powerpoint/2010/main" val="3490467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4008" indent="0" rtl="1">
              <a:buNone/>
            </a:pPr>
            <a:r>
              <a:rPr lang="he-IL" sz="1800" dirty="0">
                <a:cs typeface="Calibri" panose="020F0502020204030204" pitchFamily="34" charset="0"/>
              </a:rPr>
              <a:t>שפת </a:t>
            </a:r>
            <a:r>
              <a:rPr lang="en-US" sz="1800" dirty="0">
                <a:cs typeface="Calibri" panose="020F0502020204030204" pitchFamily="34" charset="0"/>
              </a:rPr>
              <a:t> SQL </a:t>
            </a:r>
            <a:r>
              <a:rPr lang="he-IL" sz="1800" dirty="0">
                <a:cs typeface="Calibri" panose="020F0502020204030204" pitchFamily="34" charset="0"/>
              </a:rPr>
              <a:t>משמשת לניהול נתונים שנמצאים במערכות ניהול של מסדי נתונים (</a:t>
            </a:r>
            <a:r>
              <a:rPr lang="en-US" sz="1800" dirty="0">
                <a:cs typeface="Calibri" panose="020F0502020204030204" pitchFamily="34" charset="0"/>
              </a:rPr>
              <a:t>Databases</a:t>
            </a:r>
            <a:r>
              <a:rPr lang="he-IL" sz="1800" dirty="0">
                <a:cs typeface="Calibri" panose="020F0502020204030204" pitchFamily="34" charset="0"/>
              </a:rPr>
              <a:t>)</a:t>
            </a:r>
            <a:r>
              <a:rPr lang="en-US" sz="1800" dirty="0">
                <a:cs typeface="Calibri" panose="020F0502020204030204" pitchFamily="34" charset="0"/>
              </a:rPr>
              <a:t> </a:t>
            </a:r>
            <a:r>
              <a:rPr lang="he-IL" sz="1800" dirty="0">
                <a:cs typeface="Calibri" panose="020F0502020204030204" pitchFamily="34" charset="0"/>
              </a:rPr>
              <a:t>הכוללים דאטה המאורגן בטבלאות. באמצעות שפה זו ניתן לבצע שאילתות על מסד הנתונים, לעדכן ולארגן מחדש נתונים, כמו גם ליצור ולשנות את הסכימה (המבנה) של מסד נתונים ולשלוט בגישה לנתונים שלו.</a:t>
            </a:r>
          </a:p>
          <a:p>
            <a:pPr marL="64008" indent="0" rtl="1">
              <a:buNone/>
            </a:pPr>
            <a:endParaRPr lang="he-IL" sz="1800" dirty="0">
              <a:cs typeface="Calibri" panose="020F0502020204030204" pitchFamily="34" charset="0"/>
            </a:endParaRPr>
          </a:p>
          <a:p>
            <a:pPr marL="64008" indent="0" rtl="1">
              <a:buNone/>
            </a:pPr>
            <a:r>
              <a:rPr lang="en-US" sz="1800" dirty="0">
                <a:cs typeface="Calibri" panose="020F0502020204030204" pitchFamily="34" charset="0"/>
              </a:rPr>
              <a:t>SSMS (SQL Server Management Studio)</a:t>
            </a:r>
            <a:r>
              <a:rPr lang="he-IL" sz="1800" dirty="0">
                <a:cs typeface="Calibri" panose="020F0502020204030204" pitchFamily="34" charset="0"/>
              </a:rPr>
              <a:t> – הכלי הגרפי לעבודה מול </a:t>
            </a:r>
            <a:r>
              <a:rPr lang="en-US" sz="1800" dirty="0">
                <a:cs typeface="Calibri" panose="020F0502020204030204" pitchFamily="34" charset="0"/>
              </a:rPr>
              <a:t>SQL server</a:t>
            </a:r>
            <a:r>
              <a:rPr lang="he-IL" sz="1800" dirty="0">
                <a:cs typeface="Calibri" panose="020F0502020204030204" pitchFamily="34" charset="0"/>
              </a:rPr>
              <a:t>.</a:t>
            </a:r>
          </a:p>
          <a:p>
            <a:pPr marL="64008" indent="0" rtl="1">
              <a:buNone/>
            </a:pPr>
            <a:endParaRPr lang="he-IL" sz="1800" dirty="0">
              <a:cs typeface="Calibri" panose="020F0502020204030204" pitchFamily="34" charset="0"/>
            </a:endParaRPr>
          </a:p>
        </p:txBody>
      </p:sp>
      <p:sp>
        <p:nvSpPr>
          <p:cNvPr id="2" name="Title 1"/>
          <p:cNvSpPr>
            <a:spLocks noGrp="1"/>
          </p:cNvSpPr>
          <p:nvPr>
            <p:ph type="title"/>
          </p:nvPr>
        </p:nvSpPr>
        <p:spPr/>
        <p:txBody>
          <a:bodyPr>
            <a:normAutofit/>
          </a:bodyPr>
          <a:lstStyle/>
          <a:p>
            <a:pPr algn="l" rtl="1"/>
            <a:r>
              <a:rPr lang="en-US" sz="3600" dirty="0"/>
              <a:t>SQL – Structured Query Language</a:t>
            </a:r>
            <a:endParaRPr lang="he-IL" sz="3600" dirty="0"/>
          </a:p>
        </p:txBody>
      </p:sp>
      <p:sp>
        <p:nvSpPr>
          <p:cNvPr id="5" name="מציין מיקום של מספר שקופית 4">
            <a:extLst>
              <a:ext uri="{FF2B5EF4-FFF2-40B4-BE49-F238E27FC236}">
                <a16:creationId xmlns:a16="http://schemas.microsoft.com/office/drawing/2014/main" id="{F10C0CC1-996D-4C4F-B646-66D4AE5DDEEB}"/>
              </a:ext>
            </a:extLst>
          </p:cNvPr>
          <p:cNvSpPr>
            <a:spLocks noGrp="1"/>
          </p:cNvSpPr>
          <p:nvPr>
            <p:ph type="sldNum" sz="quarter" idx="11"/>
          </p:nvPr>
        </p:nvSpPr>
        <p:spPr/>
        <p:txBody>
          <a:bodyPr/>
          <a:lstStyle/>
          <a:p>
            <a:fld id="{746FD205-8D79-439C-A802-2377436AEC8A}" type="slidenum">
              <a:rPr lang="he-IL" smtClean="0"/>
              <a:pPr/>
              <a:t>15</a:t>
            </a:fld>
            <a:endParaRPr lang="he-IL"/>
          </a:p>
        </p:txBody>
      </p:sp>
    </p:spTree>
    <p:extLst>
      <p:ext uri="{BB962C8B-B14F-4D97-AF65-F5344CB8AC3E}">
        <p14:creationId xmlns:p14="http://schemas.microsoft.com/office/powerpoint/2010/main" val="4097222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317A9036-E06D-40A5-949C-37108B8B61FB}"/>
              </a:ext>
            </a:extLst>
          </p:cNvPr>
          <p:cNvSpPr>
            <a:spLocks noGrp="1"/>
          </p:cNvSpPr>
          <p:nvPr>
            <p:ph idx="1"/>
          </p:nvPr>
        </p:nvSpPr>
        <p:spPr/>
        <p:txBody>
          <a:bodyPr/>
          <a:lstStyle/>
          <a:p>
            <a:pPr marL="64008" indent="0" rtl="1">
              <a:buNone/>
            </a:pPr>
            <a:r>
              <a:rPr lang="en-US" sz="1800" dirty="0">
                <a:cs typeface="Calibri" panose="020F0502020204030204" pitchFamily="34" charset="0"/>
              </a:rPr>
              <a:t>Server type</a:t>
            </a:r>
            <a:r>
              <a:rPr lang="he-IL" sz="1800" dirty="0">
                <a:cs typeface="Calibri" panose="020F0502020204030204" pitchFamily="34" charset="0"/>
              </a:rPr>
              <a:t> – התחברות ל </a:t>
            </a:r>
            <a:r>
              <a:rPr lang="en-US" sz="1800" dirty="0">
                <a:cs typeface="Calibri" panose="020F0502020204030204" pitchFamily="34" charset="0"/>
              </a:rPr>
              <a:t>database</a:t>
            </a:r>
            <a:r>
              <a:rPr lang="he-IL" sz="1800" dirty="0">
                <a:cs typeface="Calibri" panose="020F0502020204030204" pitchFamily="34" charset="0"/>
              </a:rPr>
              <a:t> – </a:t>
            </a:r>
            <a:r>
              <a:rPr lang="en-US" sz="1800" dirty="0">
                <a:cs typeface="Calibri" panose="020F0502020204030204" pitchFamily="34" charset="0"/>
              </a:rPr>
              <a:t>Database Engine</a:t>
            </a:r>
            <a:endParaRPr lang="he-IL" sz="1800" dirty="0">
              <a:cs typeface="Calibri" panose="020F0502020204030204" pitchFamily="34" charset="0"/>
            </a:endParaRPr>
          </a:p>
          <a:p>
            <a:pPr marL="64008" indent="0" rtl="1">
              <a:buNone/>
            </a:pPr>
            <a:r>
              <a:rPr lang="en-US" sz="1800" dirty="0">
                <a:cs typeface="Calibri" panose="020F0502020204030204" pitchFamily="34" charset="0"/>
              </a:rPr>
              <a:t>Server name</a:t>
            </a:r>
            <a:r>
              <a:rPr lang="he-IL" sz="1800" dirty="0">
                <a:cs typeface="Calibri" panose="020F0502020204030204" pitchFamily="34" charset="0"/>
              </a:rPr>
              <a:t> – שם השרת, באופן </a:t>
            </a:r>
            <a:r>
              <a:rPr lang="he-IL" sz="1800" dirty="0" err="1">
                <a:cs typeface="Calibri" panose="020F0502020204030204" pitchFamily="34" charset="0"/>
              </a:rPr>
              <a:t>דיפולטיבי</a:t>
            </a:r>
            <a:r>
              <a:rPr lang="he-IL" sz="1800" dirty="0">
                <a:cs typeface="Calibri" panose="020F0502020204030204" pitchFamily="34" charset="0"/>
              </a:rPr>
              <a:t> יינתן המחשב המקומי, במידה ונרצה להתחבר לשרת מרוחק, נצטרך לתת את שם השרת המרוחק.</a:t>
            </a:r>
          </a:p>
          <a:p>
            <a:pPr marL="64008" indent="0" rtl="1">
              <a:buNone/>
            </a:pPr>
            <a:r>
              <a:rPr lang="en-US" sz="1800" dirty="0">
                <a:cs typeface="Calibri" panose="020F0502020204030204" pitchFamily="34" charset="0"/>
              </a:rPr>
              <a:t>Authentication</a:t>
            </a:r>
            <a:r>
              <a:rPr lang="he-IL" sz="1800" dirty="0">
                <a:cs typeface="Calibri" panose="020F0502020204030204" pitchFamily="34" charset="0"/>
              </a:rPr>
              <a:t> – אימות – נבחר באפשרות </a:t>
            </a:r>
            <a:r>
              <a:rPr lang="he-IL" sz="1800" dirty="0" err="1">
                <a:cs typeface="Calibri" panose="020F0502020204030204" pitchFamily="34" charset="0"/>
              </a:rPr>
              <a:t>הדיפולטיבית</a:t>
            </a:r>
            <a:r>
              <a:rPr lang="he-IL" sz="1800" dirty="0">
                <a:cs typeface="Calibri" panose="020F0502020204030204" pitchFamily="34" charset="0"/>
              </a:rPr>
              <a:t> שהיא אימות של </a:t>
            </a:r>
            <a:r>
              <a:rPr lang="en-US" sz="1800" dirty="0">
                <a:cs typeface="Calibri" panose="020F0502020204030204" pitchFamily="34" charset="0"/>
              </a:rPr>
              <a:t>windows</a:t>
            </a:r>
            <a:r>
              <a:rPr lang="he-IL" sz="1800" dirty="0">
                <a:cs typeface="Calibri" panose="020F0502020204030204" pitchFamily="34" charset="0"/>
              </a:rPr>
              <a:t>. (האפשרות השנייה היא אימות מעורב של </a:t>
            </a:r>
            <a:r>
              <a:rPr lang="en-US" sz="1800" dirty="0">
                <a:cs typeface="Calibri" panose="020F0502020204030204" pitchFamily="34" charset="0"/>
              </a:rPr>
              <a:t>SQL server</a:t>
            </a:r>
            <a:r>
              <a:rPr lang="he-IL" sz="1800" dirty="0">
                <a:cs typeface="Calibri" panose="020F0502020204030204" pitchFamily="34" charset="0"/>
              </a:rPr>
              <a:t> ו </a:t>
            </a:r>
            <a:r>
              <a:rPr lang="en-US" sz="1800" dirty="0">
                <a:cs typeface="Calibri" panose="020F0502020204030204" pitchFamily="34" charset="0"/>
              </a:rPr>
              <a:t>windows</a:t>
            </a:r>
            <a:r>
              <a:rPr lang="he-IL" sz="1800" dirty="0">
                <a:cs typeface="Calibri" panose="020F0502020204030204" pitchFamily="34" charset="0"/>
              </a:rPr>
              <a:t>).</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0C0BA486-9DAA-487E-84F4-F274EE1C63C1}"/>
              </a:ext>
            </a:extLst>
          </p:cNvPr>
          <p:cNvSpPr>
            <a:spLocks noGrp="1"/>
          </p:cNvSpPr>
          <p:nvPr>
            <p:ph type="title"/>
          </p:nvPr>
        </p:nvSpPr>
        <p:spPr/>
        <p:txBody>
          <a:bodyPr/>
          <a:lstStyle/>
          <a:p>
            <a:pPr rtl="1"/>
            <a:r>
              <a:rPr lang="he-IL" dirty="0"/>
              <a:t>התחברות ל </a:t>
            </a:r>
            <a:r>
              <a:rPr lang="en-US" dirty="0"/>
              <a:t>SQL Server</a:t>
            </a:r>
            <a:endParaRPr lang="he-IL" dirty="0"/>
          </a:p>
        </p:txBody>
      </p:sp>
      <p:pic>
        <p:nvPicPr>
          <p:cNvPr id="6" name="תמונה 5">
            <a:extLst>
              <a:ext uri="{FF2B5EF4-FFF2-40B4-BE49-F238E27FC236}">
                <a16:creationId xmlns:a16="http://schemas.microsoft.com/office/drawing/2014/main" id="{683E0028-7DF2-432C-8BB7-05D3F259394D}"/>
              </a:ext>
            </a:extLst>
          </p:cNvPr>
          <p:cNvPicPr>
            <a:picLocks noChangeAspect="1"/>
          </p:cNvPicPr>
          <p:nvPr/>
        </p:nvPicPr>
        <p:blipFill>
          <a:blip r:embed="rId2"/>
          <a:stretch>
            <a:fillRect/>
          </a:stretch>
        </p:blipFill>
        <p:spPr>
          <a:xfrm>
            <a:off x="2811402" y="3263245"/>
            <a:ext cx="4778118" cy="2895600"/>
          </a:xfrm>
          <a:prstGeom prst="rect">
            <a:avLst/>
          </a:prstGeom>
        </p:spPr>
      </p:pic>
      <p:sp>
        <p:nvSpPr>
          <p:cNvPr id="8" name="מציין מיקום של מספר שקופית 7">
            <a:extLst>
              <a:ext uri="{FF2B5EF4-FFF2-40B4-BE49-F238E27FC236}">
                <a16:creationId xmlns:a16="http://schemas.microsoft.com/office/drawing/2014/main" id="{D2FF4223-4F5F-4F9C-BFE7-4FE7A6457473}"/>
              </a:ext>
            </a:extLst>
          </p:cNvPr>
          <p:cNvSpPr>
            <a:spLocks noGrp="1"/>
          </p:cNvSpPr>
          <p:nvPr>
            <p:ph type="sldNum" sz="quarter" idx="11"/>
          </p:nvPr>
        </p:nvSpPr>
        <p:spPr/>
        <p:txBody>
          <a:bodyPr/>
          <a:lstStyle/>
          <a:p>
            <a:fld id="{746FD205-8D79-439C-A802-2377436AEC8A}" type="slidenum">
              <a:rPr lang="he-IL" smtClean="0"/>
              <a:pPr/>
              <a:t>16</a:t>
            </a:fld>
            <a:endParaRPr lang="he-IL"/>
          </a:p>
        </p:txBody>
      </p:sp>
    </p:spTree>
    <p:extLst>
      <p:ext uri="{BB962C8B-B14F-4D97-AF65-F5344CB8AC3E}">
        <p14:creationId xmlns:p14="http://schemas.microsoft.com/office/powerpoint/2010/main" val="2094635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0B710CB-9F40-408F-BFFB-95C6C0355C49}"/>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כל יצירה, הוספה, עדכון או מחיקת נתונים ב </a:t>
            </a:r>
            <a:r>
              <a:rPr lang="en-US" sz="1800" dirty="0">
                <a:cs typeface="Calibri" panose="020F0502020204030204" pitchFamily="34" charset="0"/>
              </a:rPr>
              <a:t>SQL</a:t>
            </a:r>
            <a:r>
              <a:rPr lang="he-IL" sz="1800" dirty="0">
                <a:cs typeface="Calibri" panose="020F0502020204030204" pitchFamily="34" charset="0"/>
              </a:rPr>
              <a:t> יכולה להיעשות או בצורה גרפית או בצורה של סקריפט – קוד.</a:t>
            </a:r>
          </a:p>
          <a:p>
            <a:pPr marL="64008" indent="0" rtl="1">
              <a:buNone/>
            </a:pPr>
            <a:r>
              <a:rPr lang="he-IL" sz="1800" b="1" dirty="0">
                <a:cs typeface="Calibri" panose="020F0502020204030204" pitchFamily="34" charset="0"/>
              </a:rPr>
              <a:t>יצירת מסד נתונים: </a:t>
            </a:r>
            <a:r>
              <a:rPr lang="he-IL" sz="1800" dirty="0">
                <a:cs typeface="Calibri" panose="020F0502020204030204" pitchFamily="34" charset="0"/>
              </a:rPr>
              <a:t>לחיצה ימנית על </a:t>
            </a:r>
            <a:r>
              <a:rPr lang="en-US" sz="1800" dirty="0">
                <a:cs typeface="Calibri" panose="020F0502020204030204" pitchFamily="34" charset="0"/>
              </a:rPr>
              <a:t>Databases-&gt; new Database</a:t>
            </a:r>
            <a:r>
              <a:rPr lang="he-IL" sz="1800" dirty="0">
                <a:cs typeface="Calibri" panose="020F0502020204030204" pitchFamily="34" charset="0"/>
              </a:rPr>
              <a:t> / ע"י סקריפט.</a:t>
            </a:r>
          </a:p>
          <a:p>
            <a:pPr marL="64008" indent="0" rtl="1">
              <a:buNone/>
            </a:pPr>
            <a:r>
              <a:rPr lang="he-IL" sz="1800" b="1" dirty="0">
                <a:cs typeface="Calibri" panose="020F0502020204030204" pitchFamily="34" charset="0"/>
              </a:rPr>
              <a:t>טבלאות: </a:t>
            </a:r>
            <a:r>
              <a:rPr lang="he-IL" sz="1800" dirty="0">
                <a:cs typeface="Calibri" panose="020F0502020204030204" pitchFamily="34" charset="0"/>
              </a:rPr>
              <a:t>ניתן ליצור או לעדכן מבנה של טבלה בצורה גרפית או ע"י סקריפט (דוגמאות בהמשך). [עבור זאת יש לנו גם תבניות מוכנות של סקריפטים של </a:t>
            </a:r>
            <a:r>
              <a:rPr lang="en-US" sz="1800" dirty="0">
                <a:cs typeface="Calibri" panose="020F0502020204030204" pitchFamily="34" charset="0"/>
              </a:rPr>
              <a:t>SQL server</a:t>
            </a:r>
            <a:r>
              <a:rPr lang="he-IL" sz="1800" dirty="0">
                <a:cs typeface="Calibri" panose="020F0502020204030204" pitchFamily="34" charset="0"/>
              </a:rPr>
              <a:t> –יצירת טבלה חדשה -</a:t>
            </a:r>
            <a:r>
              <a:rPr lang="en-US" sz="1800" dirty="0">
                <a:cs typeface="Calibri" panose="020F0502020204030204" pitchFamily="34" charset="0"/>
              </a:rPr>
              <a:t> CREATE</a:t>
            </a:r>
            <a:r>
              <a:rPr lang="he-IL" sz="1800" dirty="0">
                <a:cs typeface="Calibri" panose="020F0502020204030204" pitchFamily="34" charset="0"/>
              </a:rPr>
              <a:t>, מחיקת טבלה קיימת – </a:t>
            </a:r>
            <a:r>
              <a:rPr lang="en-US" sz="1800" dirty="0">
                <a:cs typeface="Calibri" panose="020F0502020204030204" pitchFamily="34" charset="0"/>
              </a:rPr>
              <a:t>DROP</a:t>
            </a:r>
            <a:r>
              <a:rPr lang="he-IL" sz="1800" dirty="0">
                <a:cs typeface="Calibri" panose="020F0502020204030204" pitchFamily="34" charset="0"/>
              </a:rPr>
              <a:t>, עדכון מבנה טבלה קיימת – </a:t>
            </a:r>
            <a:r>
              <a:rPr lang="en-US" sz="1800" dirty="0">
                <a:cs typeface="Calibri" panose="020F0502020204030204" pitchFamily="34" charset="0"/>
              </a:rPr>
              <a:t>DROP and CREATE</a:t>
            </a:r>
            <a:r>
              <a:rPr lang="he-IL" sz="1800" dirty="0">
                <a:cs typeface="Calibri" panose="020F0502020204030204" pitchFamily="34" charset="0"/>
              </a:rPr>
              <a:t>]</a:t>
            </a:r>
          </a:p>
          <a:p>
            <a:pPr marL="64008" indent="0" rtl="1">
              <a:buNone/>
            </a:pPr>
            <a:r>
              <a:rPr lang="he-IL" sz="1800" b="1" dirty="0">
                <a:cs typeface="Calibri" panose="020F0502020204030204" pitchFamily="34" charset="0"/>
              </a:rPr>
              <a:t>עדכון או שליפת נתונים מה </a:t>
            </a:r>
            <a:r>
              <a:rPr lang="en-US" sz="1800" b="1" dirty="0">
                <a:cs typeface="Calibri" panose="020F0502020204030204" pitchFamily="34" charset="0"/>
              </a:rPr>
              <a:t>database</a:t>
            </a:r>
            <a:r>
              <a:rPr lang="he-IL" sz="1800" b="1" dirty="0">
                <a:cs typeface="Calibri" panose="020F0502020204030204" pitchFamily="34" charset="0"/>
              </a:rPr>
              <a:t>: </a:t>
            </a:r>
            <a:r>
              <a:rPr lang="he-IL" sz="1800" dirty="0">
                <a:cs typeface="Calibri" panose="020F0502020204030204" pitchFamily="34" charset="0"/>
              </a:rPr>
              <a:t>נעשה זאת ע"י </a:t>
            </a:r>
            <a:r>
              <a:rPr lang="en-US" sz="1800" dirty="0">
                <a:cs typeface="Calibri" panose="020F0502020204030204" pitchFamily="34" charset="0"/>
              </a:rPr>
              <a:t>New query</a:t>
            </a:r>
            <a:r>
              <a:rPr lang="he-IL" sz="1800" dirty="0">
                <a:cs typeface="Calibri" panose="020F0502020204030204" pitchFamily="34" charset="0"/>
              </a:rPr>
              <a:t> וכתיבת השאילתה המתאימה.</a:t>
            </a:r>
          </a:p>
          <a:p>
            <a:pPr marL="64008" indent="0" rtl="1">
              <a:buNone/>
            </a:pPr>
            <a:r>
              <a:rPr lang="he-IL" sz="1800" dirty="0">
                <a:cs typeface="Calibri" panose="020F0502020204030204" pitchFamily="34" charset="0"/>
              </a:rPr>
              <a:t>(ניתן להוסיף או לעדכן נתונים בטבלה גם בצורה גרפית – דוגמא בהמשך).</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EB73B72-1BE3-4C31-A013-37CD77E1A0F1}"/>
              </a:ext>
            </a:extLst>
          </p:cNvPr>
          <p:cNvSpPr>
            <a:spLocks noGrp="1"/>
          </p:cNvSpPr>
          <p:nvPr>
            <p:ph type="title"/>
          </p:nvPr>
        </p:nvSpPr>
        <p:spPr/>
        <p:txBody>
          <a:bodyPr/>
          <a:lstStyle/>
          <a:p>
            <a:pPr rtl="1"/>
            <a:r>
              <a:rPr lang="he-IL" dirty="0"/>
              <a:t>עבודה עם מסד נתונים ב </a:t>
            </a:r>
            <a:r>
              <a:rPr lang="en-US" dirty="0"/>
              <a:t>SQL</a:t>
            </a:r>
            <a:endParaRPr lang="he-IL" dirty="0"/>
          </a:p>
        </p:txBody>
      </p:sp>
      <p:sp>
        <p:nvSpPr>
          <p:cNvPr id="6" name="מציין מיקום של מספר שקופית 5">
            <a:extLst>
              <a:ext uri="{FF2B5EF4-FFF2-40B4-BE49-F238E27FC236}">
                <a16:creationId xmlns:a16="http://schemas.microsoft.com/office/drawing/2014/main" id="{267D52CE-56EF-4DA2-9A1F-9B658B9CD11C}"/>
              </a:ext>
            </a:extLst>
          </p:cNvPr>
          <p:cNvSpPr>
            <a:spLocks noGrp="1"/>
          </p:cNvSpPr>
          <p:nvPr>
            <p:ph type="sldNum" sz="quarter" idx="11"/>
          </p:nvPr>
        </p:nvSpPr>
        <p:spPr/>
        <p:txBody>
          <a:bodyPr/>
          <a:lstStyle/>
          <a:p>
            <a:fld id="{746FD205-8D79-439C-A802-2377436AEC8A}" type="slidenum">
              <a:rPr lang="he-IL" smtClean="0"/>
              <a:pPr/>
              <a:t>17</a:t>
            </a:fld>
            <a:endParaRPr lang="he-IL"/>
          </a:p>
        </p:txBody>
      </p:sp>
    </p:spTree>
    <p:extLst>
      <p:ext uri="{BB962C8B-B14F-4D97-AF65-F5344CB8AC3E}">
        <p14:creationId xmlns:p14="http://schemas.microsoft.com/office/powerpoint/2010/main" val="3598468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39EE0452-B780-43D4-B4A9-F35E45B94D32}"/>
              </a:ext>
            </a:extLst>
          </p:cNvPr>
          <p:cNvSpPr>
            <a:spLocks noGrp="1"/>
          </p:cNvSpPr>
          <p:nvPr>
            <p:ph idx="1"/>
          </p:nvPr>
        </p:nvSpPr>
        <p:spPr/>
        <p:txBody>
          <a:bodyPr/>
          <a:lstStyle/>
          <a:p>
            <a:pPr marL="64008" indent="0" rtl="1">
              <a:buNone/>
            </a:pPr>
            <a:r>
              <a:rPr lang="he-IL" sz="1800" b="1" dirty="0">
                <a:cs typeface="Calibri" panose="020F0502020204030204" pitchFamily="34" charset="0"/>
              </a:rPr>
              <a:t>בצורה גרפית:</a:t>
            </a:r>
          </a:p>
          <a:p>
            <a:pPr marL="64008" indent="0" rtl="1">
              <a:buNone/>
            </a:pPr>
            <a:r>
              <a:rPr lang="en-US" sz="1800" dirty="0">
                <a:cs typeface="Calibri" panose="020F0502020204030204" pitchFamily="34" charset="0"/>
              </a:rPr>
              <a:t>Tables (right click)-&gt; new-&gt; Table</a:t>
            </a:r>
            <a:endParaRPr lang="he-IL" sz="1800" dirty="0">
              <a:cs typeface="Calibri" panose="020F0502020204030204" pitchFamily="34" charset="0"/>
            </a:endParaRPr>
          </a:p>
          <a:p>
            <a:pPr marL="64008" indent="0" rtl="1">
              <a:buNone/>
            </a:pPr>
            <a:r>
              <a:rPr lang="he-IL" sz="1800" dirty="0">
                <a:cs typeface="Calibri" panose="020F0502020204030204" pitchFamily="34" charset="0"/>
              </a:rPr>
              <a:t>הכנסת שמות העמודות, בחירת ה </a:t>
            </a:r>
            <a:r>
              <a:rPr lang="en-US" sz="1800" dirty="0">
                <a:cs typeface="Calibri" panose="020F0502020204030204" pitchFamily="34" charset="0"/>
              </a:rPr>
              <a:t>type</a:t>
            </a:r>
            <a:r>
              <a:rPr lang="he-IL" sz="1800" dirty="0">
                <a:cs typeface="Calibri" panose="020F0502020204030204" pitchFamily="34" charset="0"/>
              </a:rPr>
              <a:t> שלהן, וסימון עבור כל אחת מהן האם היא יכולה להיות </a:t>
            </a:r>
            <a:r>
              <a:rPr lang="en-US" sz="1800" dirty="0">
                <a:cs typeface="Calibri" panose="020F0502020204030204" pitchFamily="34" charset="0"/>
              </a:rPr>
              <a:t>null</a:t>
            </a:r>
            <a:r>
              <a:rPr lang="he-IL" sz="1800" dirty="0">
                <a:cs typeface="Calibri" panose="020F0502020204030204" pitchFamily="34" charset="0"/>
              </a:rPr>
              <a:t>:</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סימון המפתח הראשי:</a:t>
            </a:r>
          </a:p>
          <a:p>
            <a:pPr marL="64008" indent="0" rtl="1">
              <a:buNone/>
            </a:pPr>
            <a:r>
              <a:rPr lang="en-US" sz="1800" dirty="0">
                <a:cs typeface="Calibri" panose="020F0502020204030204" pitchFamily="34" charset="0"/>
              </a:rPr>
              <a:t>Right click on the column-&gt; Set Primary Key</a:t>
            </a:r>
            <a:endParaRPr lang="he-IL" sz="1800" dirty="0">
              <a:cs typeface="Calibri" panose="020F0502020204030204" pitchFamily="34" charset="0"/>
            </a:endParaRPr>
          </a:p>
          <a:p>
            <a:pPr marL="64008" indent="0">
              <a:buNone/>
            </a:pPr>
            <a:r>
              <a:rPr lang="he-IL" sz="1800" dirty="0">
                <a:cs typeface="Calibri" panose="020F0502020204030204" pitchFamily="34" charset="0"/>
              </a:rPr>
              <a:t>סימון הקשרים:</a:t>
            </a:r>
            <a:endParaRPr lang="en-US" sz="1800" dirty="0">
              <a:cs typeface="Calibri" panose="020F0502020204030204" pitchFamily="34" charset="0"/>
            </a:endParaRPr>
          </a:p>
          <a:p>
            <a:pPr marL="64008" indent="0">
              <a:buNone/>
            </a:pPr>
            <a:r>
              <a:rPr lang="en-US" sz="1800" dirty="0">
                <a:cs typeface="Calibri" panose="020F0502020204030204" pitchFamily="34" charset="0"/>
              </a:rPr>
              <a:t>Right click on the column in the foreign table-&gt; Relationships-&gt; Add-&gt;</a:t>
            </a: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CEC2490-B72E-4DA4-87EF-2C9F6192CAEB}"/>
              </a:ext>
            </a:extLst>
          </p:cNvPr>
          <p:cNvSpPr>
            <a:spLocks noGrp="1"/>
          </p:cNvSpPr>
          <p:nvPr>
            <p:ph type="title"/>
          </p:nvPr>
        </p:nvSpPr>
        <p:spPr/>
        <p:txBody>
          <a:bodyPr/>
          <a:lstStyle/>
          <a:p>
            <a:r>
              <a:rPr lang="he-IL" dirty="0"/>
              <a:t>יצירת טבלה חדשה – צורה גרפית</a:t>
            </a:r>
          </a:p>
        </p:txBody>
      </p:sp>
      <p:pic>
        <p:nvPicPr>
          <p:cNvPr id="5" name="תמונה 4">
            <a:extLst>
              <a:ext uri="{FF2B5EF4-FFF2-40B4-BE49-F238E27FC236}">
                <a16:creationId xmlns:a16="http://schemas.microsoft.com/office/drawing/2014/main" id="{55FA7B99-EFA0-4B40-B164-99B81A8A7B46}"/>
              </a:ext>
            </a:extLst>
          </p:cNvPr>
          <p:cNvPicPr>
            <a:picLocks noChangeAspect="1"/>
          </p:cNvPicPr>
          <p:nvPr/>
        </p:nvPicPr>
        <p:blipFill>
          <a:blip r:embed="rId2"/>
          <a:stretch>
            <a:fillRect/>
          </a:stretch>
        </p:blipFill>
        <p:spPr>
          <a:xfrm>
            <a:off x="4419600" y="2895600"/>
            <a:ext cx="4152900" cy="755715"/>
          </a:xfrm>
          <a:prstGeom prst="rect">
            <a:avLst/>
          </a:prstGeom>
        </p:spPr>
      </p:pic>
      <p:pic>
        <p:nvPicPr>
          <p:cNvPr id="6" name="תמונה 5">
            <a:extLst>
              <a:ext uri="{FF2B5EF4-FFF2-40B4-BE49-F238E27FC236}">
                <a16:creationId xmlns:a16="http://schemas.microsoft.com/office/drawing/2014/main" id="{D98DF318-2365-47C4-9B70-E9913F9B2597}"/>
              </a:ext>
            </a:extLst>
          </p:cNvPr>
          <p:cNvPicPr>
            <a:picLocks noChangeAspect="1"/>
          </p:cNvPicPr>
          <p:nvPr/>
        </p:nvPicPr>
        <p:blipFill>
          <a:blip r:embed="rId3"/>
          <a:stretch>
            <a:fillRect/>
          </a:stretch>
        </p:blipFill>
        <p:spPr>
          <a:xfrm>
            <a:off x="533400" y="5237856"/>
            <a:ext cx="2583779" cy="1415553"/>
          </a:xfrm>
          <a:prstGeom prst="rect">
            <a:avLst/>
          </a:prstGeom>
        </p:spPr>
      </p:pic>
      <p:pic>
        <p:nvPicPr>
          <p:cNvPr id="8" name="תמונה 7">
            <a:extLst>
              <a:ext uri="{FF2B5EF4-FFF2-40B4-BE49-F238E27FC236}">
                <a16:creationId xmlns:a16="http://schemas.microsoft.com/office/drawing/2014/main" id="{C4F11BB2-3DBB-4B80-AEFB-8531F36BADC1}"/>
              </a:ext>
            </a:extLst>
          </p:cNvPr>
          <p:cNvPicPr>
            <a:picLocks noChangeAspect="1"/>
          </p:cNvPicPr>
          <p:nvPr/>
        </p:nvPicPr>
        <p:blipFill>
          <a:blip r:embed="rId4"/>
          <a:stretch>
            <a:fillRect/>
          </a:stretch>
        </p:blipFill>
        <p:spPr>
          <a:xfrm>
            <a:off x="3352800" y="5233795"/>
            <a:ext cx="3508462" cy="1131953"/>
          </a:xfrm>
          <a:prstGeom prst="rect">
            <a:avLst/>
          </a:prstGeom>
        </p:spPr>
      </p:pic>
      <p:sp>
        <p:nvSpPr>
          <p:cNvPr id="10" name="מציין מיקום של מספר שקופית 9">
            <a:extLst>
              <a:ext uri="{FF2B5EF4-FFF2-40B4-BE49-F238E27FC236}">
                <a16:creationId xmlns:a16="http://schemas.microsoft.com/office/drawing/2014/main" id="{2A1802C0-9736-43F6-AC83-1F55AD5931CB}"/>
              </a:ext>
            </a:extLst>
          </p:cNvPr>
          <p:cNvSpPr>
            <a:spLocks noGrp="1"/>
          </p:cNvSpPr>
          <p:nvPr>
            <p:ph type="sldNum" sz="quarter" idx="11"/>
          </p:nvPr>
        </p:nvSpPr>
        <p:spPr/>
        <p:txBody>
          <a:bodyPr/>
          <a:lstStyle/>
          <a:p>
            <a:fld id="{746FD205-8D79-439C-A802-2377436AEC8A}" type="slidenum">
              <a:rPr lang="he-IL" smtClean="0"/>
              <a:pPr/>
              <a:t>18</a:t>
            </a:fld>
            <a:endParaRPr lang="he-IL"/>
          </a:p>
        </p:txBody>
      </p:sp>
    </p:spTree>
    <p:extLst>
      <p:ext uri="{BB962C8B-B14F-4D97-AF65-F5344CB8AC3E}">
        <p14:creationId xmlns:p14="http://schemas.microsoft.com/office/powerpoint/2010/main" val="3543933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04E3FE4A-AE78-438B-8F36-E0B02FDF21F4}"/>
              </a:ext>
            </a:extLst>
          </p:cNvPr>
          <p:cNvPicPr>
            <a:picLocks noGrp="1" noChangeAspect="1"/>
          </p:cNvPicPr>
          <p:nvPr>
            <p:ph idx="1"/>
          </p:nvPr>
        </p:nvPicPr>
        <p:blipFill>
          <a:blip r:embed="rId2"/>
          <a:stretch>
            <a:fillRect/>
          </a:stretch>
        </p:blipFill>
        <p:spPr>
          <a:xfrm>
            <a:off x="3839969" y="1714233"/>
            <a:ext cx="4286250" cy="1257300"/>
          </a:xfrm>
          <a:prstGeom prst="rect">
            <a:avLst/>
          </a:prstGeom>
        </p:spPr>
      </p:pic>
      <p:sp>
        <p:nvSpPr>
          <p:cNvPr id="3" name="כותרת 2">
            <a:extLst>
              <a:ext uri="{FF2B5EF4-FFF2-40B4-BE49-F238E27FC236}">
                <a16:creationId xmlns:a16="http://schemas.microsoft.com/office/drawing/2014/main" id="{0356EBE7-4D8F-4666-8BCD-75FE5B0ECAB7}"/>
              </a:ext>
            </a:extLst>
          </p:cNvPr>
          <p:cNvSpPr>
            <a:spLocks noGrp="1"/>
          </p:cNvSpPr>
          <p:nvPr>
            <p:ph type="title"/>
          </p:nvPr>
        </p:nvSpPr>
        <p:spPr/>
        <p:txBody>
          <a:bodyPr>
            <a:normAutofit/>
          </a:bodyPr>
          <a:lstStyle/>
          <a:p>
            <a:r>
              <a:rPr lang="he-IL" dirty="0"/>
              <a:t>יצירת טבלה חדשה – ע"י סקריפט</a:t>
            </a:r>
          </a:p>
        </p:txBody>
      </p:sp>
      <p:pic>
        <p:nvPicPr>
          <p:cNvPr id="6" name="תמונה 5">
            <a:extLst>
              <a:ext uri="{FF2B5EF4-FFF2-40B4-BE49-F238E27FC236}">
                <a16:creationId xmlns:a16="http://schemas.microsoft.com/office/drawing/2014/main" id="{D81C89A8-D74B-482D-98A5-C8CD63C3BAFC}"/>
              </a:ext>
            </a:extLst>
          </p:cNvPr>
          <p:cNvPicPr>
            <a:picLocks noChangeAspect="1"/>
          </p:cNvPicPr>
          <p:nvPr/>
        </p:nvPicPr>
        <p:blipFill>
          <a:blip r:embed="rId3"/>
          <a:stretch>
            <a:fillRect/>
          </a:stretch>
        </p:blipFill>
        <p:spPr>
          <a:xfrm>
            <a:off x="804381" y="3523174"/>
            <a:ext cx="7353300" cy="2857500"/>
          </a:xfrm>
          <a:prstGeom prst="rect">
            <a:avLst/>
          </a:prstGeom>
        </p:spPr>
      </p:pic>
      <p:sp>
        <p:nvSpPr>
          <p:cNvPr id="7" name="תיבת טקסט 6">
            <a:extLst>
              <a:ext uri="{FF2B5EF4-FFF2-40B4-BE49-F238E27FC236}">
                <a16:creationId xmlns:a16="http://schemas.microsoft.com/office/drawing/2014/main" id="{6B4AB04E-F327-4155-A6AA-4B3C0496A8A3}"/>
              </a:ext>
            </a:extLst>
          </p:cNvPr>
          <p:cNvSpPr txBox="1"/>
          <p:nvPr/>
        </p:nvSpPr>
        <p:spPr>
          <a:xfrm>
            <a:off x="4343400" y="4648200"/>
            <a:ext cx="1219200" cy="461665"/>
          </a:xfrm>
          <a:prstGeom prst="rect">
            <a:avLst/>
          </a:prstGeom>
          <a:noFill/>
        </p:spPr>
        <p:txBody>
          <a:bodyPr wrap="square" rtlCol="1">
            <a:spAutoFit/>
          </a:bodyPr>
          <a:lstStyle/>
          <a:p>
            <a:r>
              <a:rPr lang="en-US" sz="1200" dirty="0">
                <a:solidFill>
                  <a:srgbClr val="FF0000"/>
                </a:solidFill>
              </a:rPr>
              <a:t>Relationship name</a:t>
            </a:r>
            <a:endParaRPr lang="he-IL" sz="1200" dirty="0">
              <a:solidFill>
                <a:srgbClr val="FF0000"/>
              </a:solidFill>
            </a:endParaRPr>
          </a:p>
        </p:txBody>
      </p:sp>
      <p:sp>
        <p:nvSpPr>
          <p:cNvPr id="8" name="תיבת טקסט 7">
            <a:extLst>
              <a:ext uri="{FF2B5EF4-FFF2-40B4-BE49-F238E27FC236}">
                <a16:creationId xmlns:a16="http://schemas.microsoft.com/office/drawing/2014/main" id="{AD3588E9-DAFF-49E1-8457-6A1A4235890D}"/>
              </a:ext>
            </a:extLst>
          </p:cNvPr>
          <p:cNvSpPr txBox="1"/>
          <p:nvPr/>
        </p:nvSpPr>
        <p:spPr>
          <a:xfrm>
            <a:off x="6781800" y="4597464"/>
            <a:ext cx="807720" cy="461665"/>
          </a:xfrm>
          <a:prstGeom prst="rect">
            <a:avLst/>
          </a:prstGeom>
          <a:noFill/>
        </p:spPr>
        <p:txBody>
          <a:bodyPr wrap="square" rtlCol="1">
            <a:spAutoFit/>
          </a:bodyPr>
          <a:lstStyle/>
          <a:p>
            <a:r>
              <a:rPr lang="en-US" sz="1200" dirty="0">
                <a:solidFill>
                  <a:srgbClr val="FF0000"/>
                </a:solidFill>
              </a:rPr>
              <a:t>Local field</a:t>
            </a:r>
            <a:endParaRPr lang="he-IL" sz="1200" dirty="0">
              <a:solidFill>
                <a:srgbClr val="FF0000"/>
              </a:solidFill>
            </a:endParaRPr>
          </a:p>
        </p:txBody>
      </p:sp>
      <p:sp>
        <p:nvSpPr>
          <p:cNvPr id="9" name="תיבת טקסט 8">
            <a:extLst>
              <a:ext uri="{FF2B5EF4-FFF2-40B4-BE49-F238E27FC236}">
                <a16:creationId xmlns:a16="http://schemas.microsoft.com/office/drawing/2014/main" id="{734B1108-A119-4E95-9F03-B4DEB8E0F2E4}"/>
              </a:ext>
            </a:extLst>
          </p:cNvPr>
          <p:cNvSpPr txBox="1"/>
          <p:nvPr/>
        </p:nvSpPr>
        <p:spPr>
          <a:xfrm>
            <a:off x="2362200" y="6181082"/>
            <a:ext cx="1371600" cy="276999"/>
          </a:xfrm>
          <a:prstGeom prst="rect">
            <a:avLst/>
          </a:prstGeom>
          <a:noFill/>
        </p:spPr>
        <p:txBody>
          <a:bodyPr wrap="square" rtlCol="1">
            <a:spAutoFit/>
          </a:bodyPr>
          <a:lstStyle/>
          <a:p>
            <a:r>
              <a:rPr lang="en-US" sz="1200" dirty="0">
                <a:solidFill>
                  <a:srgbClr val="FF0000"/>
                </a:solidFill>
              </a:rPr>
              <a:t>Foreign table</a:t>
            </a:r>
            <a:endParaRPr lang="he-IL" sz="1200" dirty="0">
              <a:solidFill>
                <a:srgbClr val="FF0000"/>
              </a:solidFill>
            </a:endParaRPr>
          </a:p>
        </p:txBody>
      </p:sp>
      <p:sp>
        <p:nvSpPr>
          <p:cNvPr id="10" name="תיבת טקסט 9">
            <a:extLst>
              <a:ext uri="{FF2B5EF4-FFF2-40B4-BE49-F238E27FC236}">
                <a16:creationId xmlns:a16="http://schemas.microsoft.com/office/drawing/2014/main" id="{749EAE2D-B812-4BF1-9F9A-F5F7A7D92A4C}"/>
              </a:ext>
            </a:extLst>
          </p:cNvPr>
          <p:cNvSpPr txBox="1"/>
          <p:nvPr/>
        </p:nvSpPr>
        <p:spPr>
          <a:xfrm>
            <a:off x="4191000" y="6181082"/>
            <a:ext cx="1219200" cy="276999"/>
          </a:xfrm>
          <a:prstGeom prst="rect">
            <a:avLst/>
          </a:prstGeom>
          <a:noFill/>
        </p:spPr>
        <p:txBody>
          <a:bodyPr wrap="square" rtlCol="1">
            <a:spAutoFit/>
          </a:bodyPr>
          <a:lstStyle/>
          <a:p>
            <a:r>
              <a:rPr lang="en-US" sz="1200" dirty="0">
                <a:solidFill>
                  <a:srgbClr val="FF0000"/>
                </a:solidFill>
              </a:rPr>
              <a:t>Foreign key</a:t>
            </a:r>
            <a:endParaRPr lang="he-IL" sz="1200" dirty="0">
              <a:solidFill>
                <a:srgbClr val="FF0000"/>
              </a:solidFill>
            </a:endParaRPr>
          </a:p>
        </p:txBody>
      </p:sp>
      <p:sp>
        <p:nvSpPr>
          <p:cNvPr id="11" name="תיבת טקסט 10">
            <a:extLst>
              <a:ext uri="{FF2B5EF4-FFF2-40B4-BE49-F238E27FC236}">
                <a16:creationId xmlns:a16="http://schemas.microsoft.com/office/drawing/2014/main" id="{B077C421-CDAF-4CCB-A9BC-A1DB41607AC9}"/>
              </a:ext>
            </a:extLst>
          </p:cNvPr>
          <p:cNvSpPr txBox="1"/>
          <p:nvPr/>
        </p:nvSpPr>
        <p:spPr>
          <a:xfrm>
            <a:off x="4648200" y="3076435"/>
            <a:ext cx="3509481" cy="369332"/>
          </a:xfrm>
          <a:prstGeom prst="rect">
            <a:avLst/>
          </a:prstGeom>
          <a:noFill/>
        </p:spPr>
        <p:txBody>
          <a:bodyPr wrap="square" rtlCol="1">
            <a:spAutoFit/>
          </a:bodyPr>
          <a:lstStyle/>
          <a:p>
            <a:pPr algn="r" rtl="1"/>
            <a:r>
              <a:rPr lang="he-IL" dirty="0"/>
              <a:t>יצירת טבלה עם קשרי גומלין:</a:t>
            </a:r>
          </a:p>
        </p:txBody>
      </p:sp>
      <p:sp>
        <p:nvSpPr>
          <p:cNvPr id="12" name="תיבת טקסט 11">
            <a:extLst>
              <a:ext uri="{FF2B5EF4-FFF2-40B4-BE49-F238E27FC236}">
                <a16:creationId xmlns:a16="http://schemas.microsoft.com/office/drawing/2014/main" id="{1DFEB1EE-1E6A-45BF-AE34-52838C967AFC}"/>
              </a:ext>
            </a:extLst>
          </p:cNvPr>
          <p:cNvSpPr txBox="1"/>
          <p:nvPr/>
        </p:nvSpPr>
        <p:spPr>
          <a:xfrm>
            <a:off x="4561041" y="1335060"/>
            <a:ext cx="3596640" cy="369332"/>
          </a:xfrm>
          <a:prstGeom prst="rect">
            <a:avLst/>
          </a:prstGeom>
          <a:noFill/>
        </p:spPr>
        <p:txBody>
          <a:bodyPr wrap="square" rtlCol="1">
            <a:spAutoFit/>
          </a:bodyPr>
          <a:lstStyle/>
          <a:p>
            <a:pPr algn="r"/>
            <a:r>
              <a:rPr lang="he-IL" dirty="0"/>
              <a:t>יצירת טבלה כולל מפתח ראשי:</a:t>
            </a:r>
          </a:p>
        </p:txBody>
      </p:sp>
      <p:sp>
        <p:nvSpPr>
          <p:cNvPr id="14" name="מציין מיקום של מספר שקופית 13">
            <a:extLst>
              <a:ext uri="{FF2B5EF4-FFF2-40B4-BE49-F238E27FC236}">
                <a16:creationId xmlns:a16="http://schemas.microsoft.com/office/drawing/2014/main" id="{B48B7AC2-5276-4472-90A0-4A4EC45A782E}"/>
              </a:ext>
            </a:extLst>
          </p:cNvPr>
          <p:cNvSpPr>
            <a:spLocks noGrp="1"/>
          </p:cNvSpPr>
          <p:nvPr>
            <p:ph type="sldNum" sz="quarter" idx="11"/>
          </p:nvPr>
        </p:nvSpPr>
        <p:spPr/>
        <p:txBody>
          <a:bodyPr/>
          <a:lstStyle/>
          <a:p>
            <a:fld id="{746FD205-8D79-439C-A802-2377436AEC8A}" type="slidenum">
              <a:rPr lang="he-IL" smtClean="0"/>
              <a:pPr/>
              <a:t>19</a:t>
            </a:fld>
            <a:endParaRPr lang="he-IL"/>
          </a:p>
        </p:txBody>
      </p:sp>
    </p:spTree>
    <p:extLst>
      <p:ext uri="{BB962C8B-B14F-4D97-AF65-F5344CB8AC3E}">
        <p14:creationId xmlns:p14="http://schemas.microsoft.com/office/powerpoint/2010/main" val="4043502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7955069-46B2-4047-9B61-B73B15EEE103}"/>
              </a:ext>
            </a:extLst>
          </p:cNvPr>
          <p:cNvSpPr>
            <a:spLocks noGrp="1"/>
          </p:cNvSpPr>
          <p:nvPr>
            <p:ph idx="1"/>
          </p:nvPr>
        </p:nvSpPr>
        <p:spPr/>
        <p:txBody>
          <a:bodyPr/>
          <a:lstStyle/>
          <a:p>
            <a:pPr marL="64008" indent="0">
              <a:buNone/>
            </a:pPr>
            <a:r>
              <a:rPr lang="he-IL" sz="1800" dirty="0">
                <a:cs typeface="Calibri" panose="020F0502020204030204" pitchFamily="34" charset="0"/>
              </a:rPr>
              <a:t>צורה גרפית:</a:t>
            </a:r>
          </a:p>
          <a:p>
            <a:pPr marL="64008" indent="0">
              <a:buNone/>
            </a:pPr>
            <a:r>
              <a:rPr lang="en-US" sz="1800" dirty="0">
                <a:cs typeface="Calibri" panose="020F0502020204030204" pitchFamily="34" charset="0"/>
              </a:rPr>
              <a:t>Right click on the table-&gt; Delete</a:t>
            </a:r>
          </a:p>
          <a:p>
            <a:pPr marL="64008" indent="0">
              <a:buNone/>
            </a:pPr>
            <a:r>
              <a:rPr lang="he-IL" sz="1800" dirty="0">
                <a:cs typeface="Calibri" panose="020F0502020204030204" pitchFamily="34" charset="0"/>
              </a:rPr>
              <a:t>ע"י סקריפט:</a:t>
            </a:r>
          </a:p>
          <a:p>
            <a:pPr marL="64008" indent="0">
              <a:buNone/>
            </a:pPr>
            <a:r>
              <a:rPr lang="en-US" sz="1800" dirty="0">
                <a:cs typeface="Calibri" panose="020F0502020204030204" pitchFamily="34" charset="0"/>
              </a:rPr>
              <a:t>Right click on the table-&gt; Script Table as-&gt;Drop:</a:t>
            </a:r>
          </a:p>
          <a:p>
            <a:pPr marL="64008" indent="0">
              <a:buNone/>
            </a:pPr>
            <a:endParaRPr lang="en-US" sz="1800" dirty="0">
              <a:cs typeface="Calibri" panose="020F0502020204030204" pitchFamily="34" charset="0"/>
            </a:endParaRPr>
          </a:p>
          <a:p>
            <a:pPr marL="64008" indent="0">
              <a:buNone/>
            </a:pPr>
            <a:r>
              <a:rPr lang="he-IL" sz="1800" dirty="0">
                <a:cs typeface="Calibri" panose="020F0502020204030204" pitchFamily="34" charset="0"/>
              </a:rPr>
              <a:t>שימי לב: במידה ואת מנסה למחוק טבלה שמקושרת אליה טבלה אחרת בקשר גומלין (כאשר הטבלה הזאת היא הטבלה הראשית), תתקלי בבעיה. עליך למחוק קודם את הקשר ורק אח"כ לבצע את המחיקה.</a:t>
            </a:r>
          </a:p>
        </p:txBody>
      </p:sp>
      <p:sp>
        <p:nvSpPr>
          <p:cNvPr id="3" name="כותרת 2">
            <a:extLst>
              <a:ext uri="{FF2B5EF4-FFF2-40B4-BE49-F238E27FC236}">
                <a16:creationId xmlns:a16="http://schemas.microsoft.com/office/drawing/2014/main" id="{08995EDF-C47B-4CBF-9A02-AC68D25BE2F7}"/>
              </a:ext>
            </a:extLst>
          </p:cNvPr>
          <p:cNvSpPr>
            <a:spLocks noGrp="1"/>
          </p:cNvSpPr>
          <p:nvPr>
            <p:ph type="title"/>
          </p:nvPr>
        </p:nvSpPr>
        <p:spPr/>
        <p:txBody>
          <a:bodyPr>
            <a:normAutofit/>
          </a:bodyPr>
          <a:lstStyle/>
          <a:p>
            <a:r>
              <a:rPr lang="he-IL" dirty="0"/>
              <a:t>מחיקת טבלה</a:t>
            </a:r>
          </a:p>
        </p:txBody>
      </p:sp>
      <p:sp>
        <p:nvSpPr>
          <p:cNvPr id="4" name="מציין מיקום של מספר שקופית 3">
            <a:extLst>
              <a:ext uri="{FF2B5EF4-FFF2-40B4-BE49-F238E27FC236}">
                <a16:creationId xmlns:a16="http://schemas.microsoft.com/office/drawing/2014/main" id="{E100BBF5-B4AD-48D6-8B69-3CE775545F6C}"/>
              </a:ext>
            </a:extLst>
          </p:cNvPr>
          <p:cNvSpPr>
            <a:spLocks noGrp="1"/>
          </p:cNvSpPr>
          <p:nvPr>
            <p:ph type="sldNum" sz="quarter" idx="11"/>
          </p:nvPr>
        </p:nvSpPr>
        <p:spPr/>
        <p:txBody>
          <a:bodyPr/>
          <a:lstStyle/>
          <a:p>
            <a:fld id="{746FD205-8D79-439C-A802-2377436AEC8A}" type="slidenum">
              <a:rPr lang="he-IL" smtClean="0"/>
              <a:pPr/>
              <a:t>20</a:t>
            </a:fld>
            <a:endParaRPr lang="he-IL"/>
          </a:p>
        </p:txBody>
      </p:sp>
      <p:pic>
        <p:nvPicPr>
          <p:cNvPr id="5" name="תמונה 4">
            <a:extLst>
              <a:ext uri="{FF2B5EF4-FFF2-40B4-BE49-F238E27FC236}">
                <a16:creationId xmlns:a16="http://schemas.microsoft.com/office/drawing/2014/main" id="{D21F1C76-BC87-4CAB-AC95-653D9276CA12}"/>
              </a:ext>
            </a:extLst>
          </p:cNvPr>
          <p:cNvPicPr>
            <a:picLocks noChangeAspect="1"/>
          </p:cNvPicPr>
          <p:nvPr/>
        </p:nvPicPr>
        <p:blipFill>
          <a:blip r:embed="rId2"/>
          <a:stretch>
            <a:fillRect/>
          </a:stretch>
        </p:blipFill>
        <p:spPr>
          <a:xfrm>
            <a:off x="6858000" y="2895600"/>
            <a:ext cx="1724025" cy="228600"/>
          </a:xfrm>
          <a:prstGeom prst="rect">
            <a:avLst/>
          </a:prstGeom>
        </p:spPr>
      </p:pic>
    </p:spTree>
    <p:extLst>
      <p:ext uri="{BB962C8B-B14F-4D97-AF65-F5344CB8AC3E}">
        <p14:creationId xmlns:p14="http://schemas.microsoft.com/office/powerpoint/2010/main" val="2802371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755AA85-7A44-4331-8502-25D4B8571B73}"/>
              </a:ext>
            </a:extLst>
          </p:cNvPr>
          <p:cNvSpPr>
            <a:spLocks noGrp="1"/>
          </p:cNvSpPr>
          <p:nvPr>
            <p:ph idx="1"/>
          </p:nvPr>
        </p:nvSpPr>
        <p:spPr/>
        <p:txBody>
          <a:bodyPr>
            <a:normAutofit lnSpcReduction="10000"/>
          </a:bodyPr>
          <a:lstStyle/>
          <a:p>
            <a:pPr marL="64008" indent="0" rtl="1">
              <a:buNone/>
            </a:pPr>
            <a:r>
              <a:rPr lang="he-IL" sz="1800" dirty="0">
                <a:cs typeface="Calibri" panose="020F0502020204030204" pitchFamily="34" charset="0"/>
              </a:rPr>
              <a:t>צורה גרפית:</a:t>
            </a:r>
          </a:p>
          <a:p>
            <a:pPr marL="64008" indent="0" rtl="1">
              <a:buNone/>
            </a:pPr>
            <a:r>
              <a:rPr lang="en-US" sz="1800" dirty="0">
                <a:cs typeface="Calibri" panose="020F0502020204030204" pitchFamily="34" charset="0"/>
              </a:rPr>
              <a:t>Right click on the table-&gt; Design</a:t>
            </a:r>
            <a:br>
              <a:rPr lang="en-US" sz="1800" dirty="0">
                <a:cs typeface="Calibri" panose="020F0502020204030204" pitchFamily="34" charset="0"/>
              </a:rPr>
            </a:br>
            <a:r>
              <a:rPr lang="he-IL" sz="1800" dirty="0">
                <a:cs typeface="Calibri" panose="020F0502020204030204" pitchFamily="34" charset="0"/>
              </a:rPr>
              <a:t>(עריכה ושמירה)</a:t>
            </a:r>
          </a:p>
          <a:p>
            <a:pPr marL="64008" indent="0" rtl="1">
              <a:buNone/>
            </a:pPr>
            <a:r>
              <a:rPr lang="he-IL" sz="1800" dirty="0">
                <a:cs typeface="Calibri" panose="020F0502020204030204" pitchFamily="34" charset="0"/>
              </a:rPr>
              <a:t>שימי לב: במידה ואת מוסיפה שורה שערכה לא יכול להיות </a:t>
            </a:r>
            <a:r>
              <a:rPr lang="en-US" sz="1800" dirty="0">
                <a:cs typeface="Calibri" panose="020F0502020204030204" pitchFamily="34" charset="0"/>
              </a:rPr>
              <a:t>NULL</a:t>
            </a:r>
            <a:r>
              <a:rPr lang="he-IL" sz="1800" dirty="0">
                <a:cs typeface="Calibri" panose="020F0502020204030204" pitchFamily="34" charset="0"/>
              </a:rPr>
              <a:t>, תצטרכי למחוק את כל תוכן הטבלה, כי לא יתכן שלשורות שקיימות כבר בטבלה לא יהיה ערך בעמודה זו.</a:t>
            </a:r>
          </a:p>
          <a:p>
            <a:pPr marL="64008" indent="0" rtl="1">
              <a:buNone/>
            </a:pPr>
            <a:r>
              <a:rPr lang="he-IL" sz="1800" dirty="0">
                <a:cs typeface="Calibri" panose="020F0502020204030204" pitchFamily="34" charset="0"/>
              </a:rPr>
              <a:t>כמו"כ אם את מוסיפה קשר גומלין, יתכן ותתקלי בשגיאות כי הערכים שכבר קיימים בטבלה לא תואמים לטבלה המקושרת, צריך קודם להתאים את הערכים ואז לשנות.</a:t>
            </a:r>
          </a:p>
          <a:p>
            <a:pPr marL="64008" indent="0" rtl="1">
              <a:buNone/>
            </a:pPr>
            <a:r>
              <a:rPr lang="he-IL" sz="1800" dirty="0">
                <a:cs typeface="Calibri" panose="020F0502020204030204" pitchFamily="34" charset="0"/>
              </a:rPr>
              <a:t>ע"י סקריפט:</a:t>
            </a:r>
          </a:p>
          <a:p>
            <a:pPr marL="64008" indent="0" rtl="1">
              <a:buNone/>
            </a:pPr>
            <a:r>
              <a:rPr lang="en-US" sz="1800" dirty="0">
                <a:cs typeface="Calibri" panose="020F0502020204030204" pitchFamily="34" charset="0"/>
              </a:rPr>
              <a:t>Right Click on the table-&gt; Script Table as-&gt; Drop And Create:</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r>
              <a:rPr lang="he-IL" sz="1800" dirty="0">
                <a:cs typeface="Calibri" panose="020F0502020204030204" pitchFamily="34" charset="0"/>
              </a:rPr>
              <a:t>בצורה זו, מתבצעת מחיקה של הטבלה ויצירה מחדש (יש לשים לב להערות שנכתבו לעיל במחיקת טבלה)</a:t>
            </a:r>
            <a:endParaRPr lang="en-US" sz="1800" dirty="0">
              <a:cs typeface="Calibri" panose="020F0502020204030204" pitchFamily="34" charset="0"/>
            </a:endParaRPr>
          </a:p>
          <a:p>
            <a:pPr marL="64008" indent="0" rtl="1">
              <a:buNone/>
            </a:pPr>
            <a:r>
              <a:rPr lang="en-US" sz="1800" dirty="0">
                <a:cs typeface="Calibri" panose="020F0502020204030204" pitchFamily="34" charset="0"/>
              </a:rPr>
              <a:t> </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D1857832-B254-4D35-8A49-0EB63830E510}"/>
              </a:ext>
            </a:extLst>
          </p:cNvPr>
          <p:cNvSpPr>
            <a:spLocks noGrp="1"/>
          </p:cNvSpPr>
          <p:nvPr>
            <p:ph type="title"/>
          </p:nvPr>
        </p:nvSpPr>
        <p:spPr/>
        <p:txBody>
          <a:bodyPr/>
          <a:lstStyle/>
          <a:p>
            <a:r>
              <a:rPr lang="he-IL" dirty="0"/>
              <a:t>עדכון מבנה טבלה קיימת</a:t>
            </a:r>
          </a:p>
        </p:txBody>
      </p:sp>
      <p:sp>
        <p:nvSpPr>
          <p:cNvPr id="4" name="מציין מיקום של מספר שקופית 3">
            <a:extLst>
              <a:ext uri="{FF2B5EF4-FFF2-40B4-BE49-F238E27FC236}">
                <a16:creationId xmlns:a16="http://schemas.microsoft.com/office/drawing/2014/main" id="{47C4C0FB-5681-4433-B64C-5DFE88F3170D}"/>
              </a:ext>
            </a:extLst>
          </p:cNvPr>
          <p:cNvSpPr>
            <a:spLocks noGrp="1"/>
          </p:cNvSpPr>
          <p:nvPr>
            <p:ph type="sldNum" sz="quarter" idx="11"/>
          </p:nvPr>
        </p:nvSpPr>
        <p:spPr/>
        <p:txBody>
          <a:bodyPr/>
          <a:lstStyle/>
          <a:p>
            <a:fld id="{746FD205-8D79-439C-A802-2377436AEC8A}" type="slidenum">
              <a:rPr lang="he-IL" smtClean="0"/>
              <a:pPr/>
              <a:t>21</a:t>
            </a:fld>
            <a:endParaRPr lang="he-IL"/>
          </a:p>
        </p:txBody>
      </p:sp>
      <p:pic>
        <p:nvPicPr>
          <p:cNvPr id="5" name="תמונה 4">
            <a:extLst>
              <a:ext uri="{FF2B5EF4-FFF2-40B4-BE49-F238E27FC236}">
                <a16:creationId xmlns:a16="http://schemas.microsoft.com/office/drawing/2014/main" id="{798841A9-9330-47B6-B358-CDC9958B69D3}"/>
              </a:ext>
            </a:extLst>
          </p:cNvPr>
          <p:cNvPicPr>
            <a:picLocks noChangeAspect="1"/>
          </p:cNvPicPr>
          <p:nvPr/>
        </p:nvPicPr>
        <p:blipFill>
          <a:blip r:embed="rId2"/>
          <a:stretch>
            <a:fillRect/>
          </a:stretch>
        </p:blipFill>
        <p:spPr>
          <a:xfrm>
            <a:off x="3104518" y="4114800"/>
            <a:ext cx="5419791" cy="1143000"/>
          </a:xfrm>
          <a:prstGeom prst="rect">
            <a:avLst/>
          </a:prstGeom>
        </p:spPr>
      </p:pic>
    </p:spTree>
    <p:extLst>
      <p:ext uri="{BB962C8B-B14F-4D97-AF65-F5344CB8AC3E}">
        <p14:creationId xmlns:p14="http://schemas.microsoft.com/office/powerpoint/2010/main" val="3132240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a:extLst>
              <a:ext uri="{FF2B5EF4-FFF2-40B4-BE49-F238E27FC236}">
                <a16:creationId xmlns:a16="http://schemas.microsoft.com/office/drawing/2014/main" id="{A512D0FC-21D5-43B6-B4F6-D9039987F926}"/>
              </a:ext>
            </a:extLst>
          </p:cNvPr>
          <p:cNvSpPr>
            <a:spLocks noGrp="1"/>
          </p:cNvSpPr>
          <p:nvPr>
            <p:ph type="title"/>
          </p:nvPr>
        </p:nvSpPr>
        <p:spPr/>
        <p:txBody>
          <a:bodyPr/>
          <a:lstStyle/>
          <a:p>
            <a:r>
              <a:rPr lang="he-IL" dirty="0"/>
              <a:t>הגדרת שדה המפתח כמפתח רץ</a:t>
            </a:r>
          </a:p>
        </p:txBody>
      </p:sp>
      <p:sp>
        <p:nvSpPr>
          <p:cNvPr id="4" name="מציין מיקום של מספר שקופית 3">
            <a:extLst>
              <a:ext uri="{FF2B5EF4-FFF2-40B4-BE49-F238E27FC236}">
                <a16:creationId xmlns:a16="http://schemas.microsoft.com/office/drawing/2014/main" id="{6CB31C9A-4AE3-460D-9398-45E7A5E29CC1}"/>
              </a:ext>
            </a:extLst>
          </p:cNvPr>
          <p:cNvSpPr>
            <a:spLocks noGrp="1"/>
          </p:cNvSpPr>
          <p:nvPr>
            <p:ph type="sldNum" sz="quarter" idx="11"/>
          </p:nvPr>
        </p:nvSpPr>
        <p:spPr/>
        <p:txBody>
          <a:bodyPr/>
          <a:lstStyle/>
          <a:p>
            <a:fld id="{746FD205-8D79-439C-A802-2377436AEC8A}" type="slidenum">
              <a:rPr lang="he-IL" smtClean="0"/>
              <a:pPr/>
              <a:t>22</a:t>
            </a:fld>
            <a:endParaRPr lang="he-IL"/>
          </a:p>
        </p:txBody>
      </p:sp>
      <p:pic>
        <p:nvPicPr>
          <p:cNvPr id="9" name="מציין מיקום תוכן 8">
            <a:extLst>
              <a:ext uri="{FF2B5EF4-FFF2-40B4-BE49-F238E27FC236}">
                <a16:creationId xmlns:a16="http://schemas.microsoft.com/office/drawing/2014/main" id="{54FA1665-C309-4963-82C4-91537B82EB5C}"/>
              </a:ext>
            </a:extLst>
          </p:cNvPr>
          <p:cNvPicPr>
            <a:picLocks noGrp="1" noChangeAspect="1"/>
          </p:cNvPicPr>
          <p:nvPr>
            <p:ph idx="1"/>
          </p:nvPr>
        </p:nvPicPr>
        <p:blipFill>
          <a:blip r:embed="rId2"/>
          <a:stretch>
            <a:fillRect/>
          </a:stretch>
        </p:blipFill>
        <p:spPr>
          <a:xfrm>
            <a:off x="2273335" y="1524000"/>
            <a:ext cx="4597330" cy="4648200"/>
          </a:xfrm>
          <a:prstGeom prst="rect">
            <a:avLst/>
          </a:prstGeom>
        </p:spPr>
      </p:pic>
    </p:spTree>
    <p:extLst>
      <p:ext uri="{BB962C8B-B14F-4D97-AF65-F5344CB8AC3E}">
        <p14:creationId xmlns:p14="http://schemas.microsoft.com/office/powerpoint/2010/main" val="2262443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300BEC3A-FFC5-4B43-B69B-1EF54EE6EB99}"/>
              </a:ext>
            </a:extLst>
          </p:cNvPr>
          <p:cNvSpPr>
            <a:spLocks noGrp="1"/>
          </p:cNvSpPr>
          <p:nvPr>
            <p:ph idx="1"/>
          </p:nvPr>
        </p:nvSpPr>
        <p:spPr/>
        <p:txBody>
          <a:bodyPr/>
          <a:lstStyle/>
          <a:p>
            <a:pPr marL="64008" indent="0">
              <a:buNone/>
            </a:pPr>
            <a:r>
              <a:rPr lang="he-IL" sz="1800" dirty="0">
                <a:cs typeface="Calibri" panose="020F0502020204030204" pitchFamily="34" charset="0"/>
              </a:rPr>
              <a:t>הוספת נתונים לטבלה/ שינוי הנתונים בצורה גרפית:</a:t>
            </a:r>
          </a:p>
          <a:p>
            <a:pPr marL="64008" indent="0">
              <a:buNone/>
            </a:pPr>
            <a:r>
              <a:rPr lang="en-US" sz="1800" dirty="0">
                <a:cs typeface="Calibri" panose="020F0502020204030204" pitchFamily="34" charset="0"/>
              </a:rPr>
              <a:t>Right click on the table - &gt; Edit Top 200 Rows</a:t>
            </a:r>
          </a:p>
          <a:p>
            <a:pPr marL="64008" indent="0">
              <a:buNone/>
            </a:pPr>
            <a:r>
              <a:rPr lang="he-IL" sz="1800" dirty="0">
                <a:cs typeface="Calibri" panose="020F0502020204030204" pitchFamily="34" charset="0"/>
              </a:rPr>
              <a:t>צפייה בנתונים שהוכנסו:</a:t>
            </a:r>
            <a:endParaRPr lang="en-US" sz="1800" dirty="0">
              <a:cs typeface="Calibri" panose="020F0502020204030204" pitchFamily="34" charset="0"/>
            </a:endParaRPr>
          </a:p>
          <a:p>
            <a:pPr marL="64008" indent="0">
              <a:buNone/>
            </a:pPr>
            <a:r>
              <a:rPr lang="en-US" sz="1800" dirty="0">
                <a:cs typeface="Calibri" panose="020F0502020204030204" pitchFamily="34" charset="0"/>
              </a:rPr>
              <a:t>Right click on the table - &gt; Select Top 1000 Rows</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הוספת נתונים ע"י משפט </a:t>
            </a:r>
            <a:r>
              <a:rPr lang="en-US" sz="1800" dirty="0">
                <a:cs typeface="Calibri" panose="020F0502020204030204" pitchFamily="34" charset="0"/>
              </a:rPr>
              <a:t>INSERT</a:t>
            </a:r>
            <a:r>
              <a:rPr lang="he-IL" sz="1800" dirty="0">
                <a:cs typeface="Calibri" panose="020F0502020204030204" pitchFamily="34" charset="0"/>
              </a:rPr>
              <a:t>:</a:t>
            </a:r>
          </a:p>
          <a:p>
            <a:pPr marL="64008" indent="0" rtl="1">
              <a:buNone/>
            </a:pPr>
            <a:r>
              <a:rPr lang="en-US" sz="1800" dirty="0">
                <a:cs typeface="Calibri" panose="020F0502020204030204" pitchFamily="34" charset="0"/>
              </a:rPr>
              <a:t>INSERT INTO </a:t>
            </a:r>
            <a:r>
              <a:rPr lang="en-US" sz="1800" i="1" dirty="0" err="1">
                <a:cs typeface="Calibri" panose="020F0502020204030204" pitchFamily="34" charset="0"/>
              </a:rPr>
              <a:t>TableName</a:t>
            </a:r>
            <a:r>
              <a:rPr lang="en-US" sz="1800" dirty="0">
                <a:cs typeface="Calibri" panose="020F0502020204030204" pitchFamily="34" charset="0"/>
              </a:rPr>
              <a:t> (</a:t>
            </a:r>
            <a:r>
              <a:rPr lang="en-US" sz="1800" i="1" dirty="0">
                <a:cs typeface="Calibri" panose="020F0502020204030204" pitchFamily="34" charset="0"/>
              </a:rPr>
              <a:t>ColumnName1</a:t>
            </a:r>
            <a:r>
              <a:rPr lang="en-US" sz="1800" dirty="0">
                <a:cs typeface="Calibri" panose="020F0502020204030204" pitchFamily="34" charset="0"/>
              </a:rPr>
              <a:t>, </a:t>
            </a:r>
            <a:r>
              <a:rPr lang="en-US" sz="1800" i="1" dirty="0">
                <a:cs typeface="Calibri" panose="020F0502020204030204" pitchFamily="34" charset="0"/>
              </a:rPr>
              <a:t>ColumnName2</a:t>
            </a:r>
            <a:r>
              <a:rPr lang="en-US" sz="1800" dirty="0">
                <a:cs typeface="Calibri" panose="020F0502020204030204" pitchFamily="34" charset="0"/>
              </a:rPr>
              <a:t>…)</a:t>
            </a:r>
          </a:p>
          <a:p>
            <a:pPr marL="64008" indent="0" rtl="1">
              <a:buNone/>
            </a:pPr>
            <a:r>
              <a:rPr lang="en-US" sz="1800" dirty="0">
                <a:cs typeface="Calibri" panose="020F0502020204030204" pitchFamily="34" charset="0"/>
              </a:rPr>
              <a:t>Values(</a:t>
            </a:r>
            <a:r>
              <a:rPr lang="en-US" sz="1800" i="1" dirty="0">
                <a:cs typeface="Calibri" panose="020F0502020204030204" pitchFamily="34" charset="0"/>
              </a:rPr>
              <a:t>Value1</a:t>
            </a:r>
            <a:r>
              <a:rPr lang="en-US" sz="1800" dirty="0">
                <a:cs typeface="Calibri" panose="020F0502020204030204" pitchFamily="34" charset="0"/>
              </a:rPr>
              <a:t>, </a:t>
            </a:r>
            <a:r>
              <a:rPr lang="en-US" sz="1800" i="1" dirty="0">
                <a:cs typeface="Calibri" panose="020F0502020204030204" pitchFamily="34" charset="0"/>
              </a:rPr>
              <a:t>value2</a:t>
            </a:r>
            <a:r>
              <a:rPr lang="en-US" sz="1800" dirty="0">
                <a:cs typeface="Calibri" panose="020F0502020204030204" pitchFamily="34" charset="0"/>
              </a:rPr>
              <a:t>…)</a:t>
            </a:r>
          </a:p>
          <a:p>
            <a:pPr marL="64008" indent="0" rtl="1">
              <a:buNone/>
            </a:pPr>
            <a:r>
              <a:rPr lang="he-IL" sz="1800" dirty="0">
                <a:cs typeface="Calibri" panose="020F0502020204030204" pitchFamily="34" charset="0"/>
              </a:rPr>
              <a:t>שליפת נתונים בשאילתה ע"י משפט ה </a:t>
            </a:r>
            <a:r>
              <a:rPr lang="en-US" sz="1800" dirty="0">
                <a:cs typeface="Calibri" panose="020F0502020204030204" pitchFamily="34" charset="0"/>
              </a:rPr>
              <a:t>select</a:t>
            </a:r>
            <a:r>
              <a:rPr lang="he-IL" sz="1800" dirty="0">
                <a:cs typeface="Calibri" panose="020F0502020204030204" pitchFamily="34" charset="0"/>
              </a:rPr>
              <a:t>, בהמשך....</a:t>
            </a: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837B1CA8-B348-4E01-94CA-E4203AAB56D5}"/>
              </a:ext>
            </a:extLst>
          </p:cNvPr>
          <p:cNvSpPr>
            <a:spLocks noGrp="1"/>
          </p:cNvSpPr>
          <p:nvPr>
            <p:ph type="title"/>
          </p:nvPr>
        </p:nvSpPr>
        <p:spPr/>
        <p:txBody>
          <a:bodyPr>
            <a:normAutofit fontScale="90000"/>
          </a:bodyPr>
          <a:lstStyle/>
          <a:p>
            <a:r>
              <a:rPr lang="he-IL" dirty="0"/>
              <a:t>הוספת נתונים לטבלה/ צפיה בנתוני הטבלה</a:t>
            </a:r>
          </a:p>
        </p:txBody>
      </p:sp>
      <p:sp>
        <p:nvSpPr>
          <p:cNvPr id="5" name="מציין מיקום של מספר שקופית 4">
            <a:extLst>
              <a:ext uri="{FF2B5EF4-FFF2-40B4-BE49-F238E27FC236}">
                <a16:creationId xmlns:a16="http://schemas.microsoft.com/office/drawing/2014/main" id="{B74C7E3A-69CF-4F71-9DA4-0AEDC6F1FA88}"/>
              </a:ext>
            </a:extLst>
          </p:cNvPr>
          <p:cNvSpPr>
            <a:spLocks noGrp="1"/>
          </p:cNvSpPr>
          <p:nvPr>
            <p:ph type="sldNum" sz="quarter" idx="11"/>
          </p:nvPr>
        </p:nvSpPr>
        <p:spPr/>
        <p:txBody>
          <a:bodyPr/>
          <a:lstStyle/>
          <a:p>
            <a:fld id="{746FD205-8D79-439C-A802-2377436AEC8A}" type="slidenum">
              <a:rPr lang="he-IL" smtClean="0"/>
              <a:pPr/>
              <a:t>23</a:t>
            </a:fld>
            <a:endParaRPr lang="he-IL"/>
          </a:p>
        </p:txBody>
      </p:sp>
    </p:spTree>
    <p:extLst>
      <p:ext uri="{BB962C8B-B14F-4D97-AF65-F5344CB8AC3E}">
        <p14:creationId xmlns:p14="http://schemas.microsoft.com/office/powerpoint/2010/main" val="2768323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F8F94C16-82F4-4170-B0C5-7D3686F27486}"/>
              </a:ext>
            </a:extLst>
          </p:cNvPr>
          <p:cNvSpPr>
            <a:spLocks noGrp="1"/>
          </p:cNvSpPr>
          <p:nvPr>
            <p:ph idx="1"/>
          </p:nvPr>
        </p:nvSpPr>
        <p:spPr/>
        <p:txBody>
          <a:bodyPr/>
          <a:lstStyle/>
          <a:p>
            <a:pPr marL="64008" indent="0" algn="l">
              <a:buNone/>
            </a:pPr>
            <a:r>
              <a:rPr lang="en-US" sz="1800" dirty="0">
                <a:cs typeface="Calibri" panose="020F0502020204030204" pitchFamily="34" charset="0"/>
              </a:rPr>
              <a:t>Right click on the foreign key table -&gt; Relationships</a:t>
            </a: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E8D2CB3F-CDD5-4EE7-A65D-662AB640193F}"/>
              </a:ext>
            </a:extLst>
          </p:cNvPr>
          <p:cNvSpPr>
            <a:spLocks noGrp="1"/>
          </p:cNvSpPr>
          <p:nvPr>
            <p:ph type="title"/>
          </p:nvPr>
        </p:nvSpPr>
        <p:spPr/>
        <p:txBody>
          <a:bodyPr/>
          <a:lstStyle/>
          <a:p>
            <a:r>
              <a:rPr lang="he-IL" dirty="0"/>
              <a:t>יצירת קשרי גומלין בין טבלאות</a:t>
            </a:r>
          </a:p>
        </p:txBody>
      </p:sp>
      <p:sp>
        <p:nvSpPr>
          <p:cNvPr id="4" name="מציין מיקום של מספר שקופית 3">
            <a:extLst>
              <a:ext uri="{FF2B5EF4-FFF2-40B4-BE49-F238E27FC236}">
                <a16:creationId xmlns:a16="http://schemas.microsoft.com/office/drawing/2014/main" id="{A4FC4B7E-D648-4259-A918-18431CF680BC}"/>
              </a:ext>
            </a:extLst>
          </p:cNvPr>
          <p:cNvSpPr>
            <a:spLocks noGrp="1"/>
          </p:cNvSpPr>
          <p:nvPr>
            <p:ph type="sldNum" sz="quarter" idx="11"/>
          </p:nvPr>
        </p:nvSpPr>
        <p:spPr/>
        <p:txBody>
          <a:bodyPr/>
          <a:lstStyle/>
          <a:p>
            <a:fld id="{746FD205-8D79-439C-A802-2377436AEC8A}" type="slidenum">
              <a:rPr lang="he-IL" smtClean="0"/>
              <a:pPr/>
              <a:t>24</a:t>
            </a:fld>
            <a:endParaRPr lang="he-IL"/>
          </a:p>
        </p:txBody>
      </p:sp>
      <p:pic>
        <p:nvPicPr>
          <p:cNvPr id="5" name="תמונה 4">
            <a:extLst>
              <a:ext uri="{FF2B5EF4-FFF2-40B4-BE49-F238E27FC236}">
                <a16:creationId xmlns:a16="http://schemas.microsoft.com/office/drawing/2014/main" id="{9C9045E5-299A-4FA6-B7FB-1B028FC5B835}"/>
              </a:ext>
            </a:extLst>
          </p:cNvPr>
          <p:cNvPicPr>
            <a:picLocks noChangeAspect="1"/>
          </p:cNvPicPr>
          <p:nvPr/>
        </p:nvPicPr>
        <p:blipFill>
          <a:blip r:embed="rId2"/>
          <a:stretch>
            <a:fillRect/>
          </a:stretch>
        </p:blipFill>
        <p:spPr>
          <a:xfrm>
            <a:off x="1600200" y="2059021"/>
            <a:ext cx="2575617" cy="1875049"/>
          </a:xfrm>
          <a:prstGeom prst="rect">
            <a:avLst/>
          </a:prstGeom>
        </p:spPr>
      </p:pic>
      <p:pic>
        <p:nvPicPr>
          <p:cNvPr id="6" name="תמונה 5">
            <a:extLst>
              <a:ext uri="{FF2B5EF4-FFF2-40B4-BE49-F238E27FC236}">
                <a16:creationId xmlns:a16="http://schemas.microsoft.com/office/drawing/2014/main" id="{661AB5FA-A27A-4C03-A5FD-2899E978560F}"/>
              </a:ext>
            </a:extLst>
          </p:cNvPr>
          <p:cNvPicPr>
            <a:picLocks noChangeAspect="1"/>
          </p:cNvPicPr>
          <p:nvPr/>
        </p:nvPicPr>
        <p:blipFill>
          <a:blip r:embed="rId3"/>
          <a:stretch>
            <a:fillRect/>
          </a:stretch>
        </p:blipFill>
        <p:spPr>
          <a:xfrm>
            <a:off x="4897409" y="2057400"/>
            <a:ext cx="2575616" cy="1876670"/>
          </a:xfrm>
          <a:prstGeom prst="rect">
            <a:avLst/>
          </a:prstGeom>
        </p:spPr>
      </p:pic>
      <p:pic>
        <p:nvPicPr>
          <p:cNvPr id="7" name="תמונה 6">
            <a:extLst>
              <a:ext uri="{FF2B5EF4-FFF2-40B4-BE49-F238E27FC236}">
                <a16:creationId xmlns:a16="http://schemas.microsoft.com/office/drawing/2014/main" id="{0A9B569C-3AEB-47A4-B9FC-DDA5BC41FEFF}"/>
              </a:ext>
            </a:extLst>
          </p:cNvPr>
          <p:cNvPicPr>
            <a:picLocks noChangeAspect="1"/>
          </p:cNvPicPr>
          <p:nvPr/>
        </p:nvPicPr>
        <p:blipFill>
          <a:blip r:embed="rId4"/>
          <a:stretch>
            <a:fillRect/>
          </a:stretch>
        </p:blipFill>
        <p:spPr>
          <a:xfrm>
            <a:off x="3276600" y="4197286"/>
            <a:ext cx="2743200" cy="2401424"/>
          </a:xfrm>
          <a:prstGeom prst="rect">
            <a:avLst/>
          </a:prstGeom>
        </p:spPr>
      </p:pic>
    </p:spTree>
    <p:extLst>
      <p:ext uri="{BB962C8B-B14F-4D97-AF65-F5344CB8AC3E}">
        <p14:creationId xmlns:p14="http://schemas.microsoft.com/office/powerpoint/2010/main" val="1678176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B8DD2B6-CB11-437D-AD96-71A60D683FA4}"/>
              </a:ext>
            </a:extLst>
          </p:cNvPr>
          <p:cNvSpPr>
            <a:spLocks noGrp="1"/>
          </p:cNvSpPr>
          <p:nvPr>
            <p:ph idx="1"/>
          </p:nvPr>
        </p:nvSpPr>
        <p:spPr/>
        <p:txBody>
          <a:bodyPr>
            <a:normAutofit/>
          </a:bodyPr>
          <a:lstStyle/>
          <a:p>
            <a:pPr rtl="1">
              <a:buFont typeface="Courier New" panose="02070309020205020404" pitchFamily="49" charset="0"/>
              <a:buChar char="o"/>
            </a:pPr>
            <a:r>
              <a:rPr lang="en-US" sz="1700" dirty="0">
                <a:cs typeface="Calibri" panose="020F0502020204030204" pitchFamily="34" charset="0"/>
              </a:rPr>
              <a:t>Int/</a:t>
            </a:r>
            <a:r>
              <a:rPr lang="en-US" sz="1700" dirty="0" err="1">
                <a:cs typeface="Calibri" panose="020F0502020204030204" pitchFamily="34" charset="0"/>
              </a:rPr>
              <a:t>bigint</a:t>
            </a:r>
            <a:r>
              <a:rPr lang="en-US" sz="1700" dirty="0">
                <a:cs typeface="Calibri" panose="020F0502020204030204" pitchFamily="34" charset="0"/>
              </a:rPr>
              <a:t> </a:t>
            </a:r>
            <a:r>
              <a:rPr lang="he-IL" sz="1700" dirty="0">
                <a:cs typeface="Calibri" panose="020F0502020204030204" pitchFamily="34" charset="0"/>
              </a:rPr>
              <a:t>– ערך מספרי שלם, לדוגמא: 5 (</a:t>
            </a:r>
            <a:r>
              <a:rPr lang="en-US" sz="1700" dirty="0" err="1">
                <a:cs typeface="Calibri" panose="020F0502020204030204" pitchFamily="34" charset="0"/>
              </a:rPr>
              <a:t>Bigint</a:t>
            </a:r>
            <a:r>
              <a:rPr lang="he-IL" sz="1700" dirty="0">
                <a:cs typeface="Calibri" panose="020F0502020204030204" pitchFamily="34" charset="0"/>
              </a:rPr>
              <a:t> עבור מספר גדול (לדוגמא ת"ז של בן אדם), </a:t>
            </a:r>
            <a:r>
              <a:rPr lang="en-US" sz="1700" dirty="0">
                <a:cs typeface="Calibri" panose="020F0502020204030204" pitchFamily="34" charset="0"/>
              </a:rPr>
              <a:t>int </a:t>
            </a:r>
            <a:r>
              <a:rPr lang="he-IL" sz="1700" dirty="0">
                <a:cs typeface="Calibri" panose="020F0502020204030204" pitchFamily="34" charset="0"/>
              </a:rPr>
              <a:t> עבור מספר רגיל (לדוגמא: קוד כתובת, כמות))</a:t>
            </a:r>
            <a:endParaRPr lang="en-US" sz="1700" dirty="0">
              <a:cs typeface="Calibri" panose="020F0502020204030204" pitchFamily="34" charset="0"/>
            </a:endParaRPr>
          </a:p>
          <a:p>
            <a:pPr rtl="1">
              <a:buFont typeface="Courier New" panose="02070309020205020404" pitchFamily="49" charset="0"/>
              <a:buChar char="o"/>
            </a:pPr>
            <a:r>
              <a:rPr lang="en-US" sz="1700" dirty="0">
                <a:cs typeface="Calibri" panose="020F0502020204030204" pitchFamily="34" charset="0"/>
              </a:rPr>
              <a:t>float/double </a:t>
            </a:r>
            <a:r>
              <a:rPr lang="he-IL" sz="1700" dirty="0">
                <a:cs typeface="Calibri" panose="020F0502020204030204" pitchFamily="34" charset="0"/>
              </a:rPr>
              <a:t>– ערך מספרי, גם לא שלם, לדוגמא: 5.2 (</a:t>
            </a:r>
            <a:r>
              <a:rPr lang="en-US" sz="1700" dirty="0">
                <a:cs typeface="Calibri" panose="020F0502020204030204" pitchFamily="34" charset="0"/>
              </a:rPr>
              <a:t>float</a:t>
            </a:r>
            <a:r>
              <a:rPr lang="he-IL" sz="1700" dirty="0">
                <a:cs typeface="Calibri" panose="020F0502020204030204" pitchFamily="34" charset="0"/>
              </a:rPr>
              <a:t> – רגיל, </a:t>
            </a:r>
            <a:r>
              <a:rPr lang="en-US" sz="1700" dirty="0">
                <a:cs typeface="Calibri" panose="020F0502020204030204" pitchFamily="34" charset="0"/>
              </a:rPr>
              <a:t>double</a:t>
            </a:r>
            <a:r>
              <a:rPr lang="he-IL" sz="1700" dirty="0">
                <a:cs typeface="Calibri" panose="020F0502020204030204" pitchFamily="34" charset="0"/>
              </a:rPr>
              <a:t> – גדול</a:t>
            </a:r>
            <a:r>
              <a:rPr lang="en-US" sz="1700" dirty="0">
                <a:cs typeface="Calibri" panose="020F0502020204030204" pitchFamily="34" charset="0"/>
              </a:rPr>
              <a:t>(</a:t>
            </a:r>
          </a:p>
          <a:p>
            <a:pPr rtl="1">
              <a:buFont typeface="Courier New" panose="02070309020205020404" pitchFamily="49" charset="0"/>
              <a:buChar char="o"/>
            </a:pPr>
            <a:r>
              <a:rPr lang="en-US" sz="1700" dirty="0" err="1">
                <a:cs typeface="Calibri" panose="020F0502020204030204" pitchFamily="34" charset="0"/>
              </a:rPr>
              <a:t>nchar</a:t>
            </a:r>
            <a:r>
              <a:rPr lang="en-US" sz="1700" dirty="0">
                <a:cs typeface="Calibri" panose="020F0502020204030204" pitchFamily="34" charset="0"/>
              </a:rPr>
              <a:t>/varchar </a:t>
            </a:r>
            <a:r>
              <a:rPr lang="he-IL" sz="1700" dirty="0">
                <a:cs typeface="Calibri" panose="020F0502020204030204" pitchFamily="34" charset="0"/>
              </a:rPr>
              <a:t>– ערך מחרוזתי, לדוגמא: </a:t>
            </a:r>
            <a:r>
              <a:rPr lang="en-US" sz="1700" dirty="0" err="1">
                <a:cs typeface="Calibri" panose="020F0502020204030204" pitchFamily="34" charset="0"/>
              </a:rPr>
              <a:t>nchar</a:t>
            </a:r>
            <a:r>
              <a:rPr lang="en-US" sz="1700" dirty="0">
                <a:cs typeface="Calibri" panose="020F0502020204030204" pitchFamily="34" charset="0"/>
              </a:rPr>
              <a:t>(10) </a:t>
            </a:r>
            <a:r>
              <a:rPr lang="he-IL" sz="1700" dirty="0">
                <a:cs typeface="Calibri" panose="020F0502020204030204" pitchFamily="34" charset="0"/>
              </a:rPr>
              <a:t>– מחרוזת שאורכה עד 10 תווים</a:t>
            </a:r>
            <a:endParaRPr lang="en-US" sz="1700" dirty="0">
              <a:cs typeface="Calibri" panose="020F0502020204030204" pitchFamily="34" charset="0"/>
            </a:endParaRPr>
          </a:p>
          <a:p>
            <a:pPr rtl="1">
              <a:buFont typeface="Courier New" panose="02070309020205020404" pitchFamily="49" charset="0"/>
              <a:buChar char="o"/>
            </a:pPr>
            <a:r>
              <a:rPr lang="en-US" sz="1700" dirty="0">
                <a:cs typeface="Calibri" panose="020F0502020204030204" pitchFamily="34" charset="0"/>
              </a:rPr>
              <a:t>bit </a:t>
            </a:r>
            <a:r>
              <a:rPr lang="he-IL" sz="1700" dirty="0">
                <a:cs typeface="Calibri" panose="020F0502020204030204" pitchFamily="34" charset="0"/>
              </a:rPr>
              <a:t>– ערך בוליאני – </a:t>
            </a:r>
            <a:r>
              <a:rPr lang="en-US" sz="1700" dirty="0">
                <a:cs typeface="Calibri" panose="020F0502020204030204" pitchFamily="34" charset="0"/>
              </a:rPr>
              <a:t>true</a:t>
            </a:r>
            <a:r>
              <a:rPr lang="he-IL" sz="1700" dirty="0">
                <a:cs typeface="Calibri" panose="020F0502020204030204" pitchFamily="34" charset="0"/>
              </a:rPr>
              <a:t> או </a:t>
            </a:r>
            <a:r>
              <a:rPr lang="en-US" sz="1700" dirty="0">
                <a:cs typeface="Calibri" panose="020F0502020204030204" pitchFamily="34" charset="0"/>
              </a:rPr>
              <a:t>false</a:t>
            </a:r>
            <a:r>
              <a:rPr lang="he-IL" sz="1700" dirty="0">
                <a:cs typeface="Calibri" panose="020F0502020204030204" pitchFamily="34" charset="0"/>
              </a:rPr>
              <a:t> (0/1)</a:t>
            </a:r>
            <a:endParaRPr lang="en-US" sz="1700" dirty="0">
              <a:cs typeface="Calibri" panose="020F0502020204030204" pitchFamily="34" charset="0"/>
            </a:endParaRPr>
          </a:p>
          <a:p>
            <a:pPr rtl="1">
              <a:buFont typeface="Courier New" panose="02070309020205020404" pitchFamily="49" charset="0"/>
              <a:buChar char="o"/>
            </a:pPr>
            <a:r>
              <a:rPr lang="en-US" sz="1700" dirty="0">
                <a:cs typeface="Calibri" panose="020F0502020204030204" pitchFamily="34" charset="0"/>
              </a:rPr>
              <a:t>datetime </a:t>
            </a:r>
            <a:r>
              <a:rPr lang="he-IL" sz="1700" dirty="0">
                <a:cs typeface="Calibri" panose="020F0502020204030204" pitchFamily="34" charset="0"/>
              </a:rPr>
              <a:t>– תאריך (שימי לב להשתמש ב </a:t>
            </a:r>
            <a:r>
              <a:rPr lang="en-US" sz="1700" dirty="0">
                <a:cs typeface="Calibri" panose="020F0502020204030204" pitchFamily="34" charset="0"/>
              </a:rPr>
              <a:t>datetime</a:t>
            </a:r>
            <a:r>
              <a:rPr lang="he-IL" sz="1700" dirty="0">
                <a:cs typeface="Calibri" panose="020F0502020204030204" pitchFamily="34" charset="0"/>
              </a:rPr>
              <a:t> ולא ב </a:t>
            </a:r>
            <a:r>
              <a:rPr lang="en-US" sz="1700" dirty="0">
                <a:cs typeface="Calibri" panose="020F0502020204030204" pitchFamily="34" charset="0"/>
              </a:rPr>
              <a:t>date</a:t>
            </a:r>
            <a:r>
              <a:rPr lang="he-IL" sz="1700" dirty="0">
                <a:cs typeface="Calibri" panose="020F0502020204030204" pitchFamily="34" charset="0"/>
              </a:rPr>
              <a:t>, ע"מ לאפשר לבצע על שדה זה פונקציות מסוימות)</a:t>
            </a:r>
            <a:endParaRPr lang="en-US" sz="1700" dirty="0">
              <a:cs typeface="Calibri" panose="020F0502020204030204" pitchFamily="34" charset="0"/>
            </a:endParaRPr>
          </a:p>
          <a:p>
            <a:pPr marL="64008" indent="0" rtl="1">
              <a:buNone/>
            </a:pPr>
            <a:endParaRPr lang="he-IL" sz="1700" dirty="0">
              <a:cs typeface="Calibri" panose="020F0502020204030204" pitchFamily="34" charset="0"/>
            </a:endParaRPr>
          </a:p>
        </p:txBody>
      </p:sp>
      <p:sp>
        <p:nvSpPr>
          <p:cNvPr id="3" name="כותרת 2">
            <a:extLst>
              <a:ext uri="{FF2B5EF4-FFF2-40B4-BE49-F238E27FC236}">
                <a16:creationId xmlns:a16="http://schemas.microsoft.com/office/drawing/2014/main" id="{9C885348-B06E-43A3-B44A-1CF51803900B}"/>
              </a:ext>
            </a:extLst>
          </p:cNvPr>
          <p:cNvSpPr>
            <a:spLocks noGrp="1"/>
          </p:cNvSpPr>
          <p:nvPr>
            <p:ph type="title"/>
          </p:nvPr>
        </p:nvSpPr>
        <p:spPr/>
        <p:txBody>
          <a:bodyPr/>
          <a:lstStyle/>
          <a:p>
            <a:r>
              <a:rPr lang="he-IL" dirty="0"/>
              <a:t>סוגי משתנים</a:t>
            </a:r>
          </a:p>
        </p:txBody>
      </p:sp>
      <p:sp>
        <p:nvSpPr>
          <p:cNvPr id="4" name="מציין מיקום של מספר שקופית 3">
            <a:extLst>
              <a:ext uri="{FF2B5EF4-FFF2-40B4-BE49-F238E27FC236}">
                <a16:creationId xmlns:a16="http://schemas.microsoft.com/office/drawing/2014/main" id="{3203A280-9D51-42A5-BEE3-37D6BC67E05F}"/>
              </a:ext>
            </a:extLst>
          </p:cNvPr>
          <p:cNvSpPr>
            <a:spLocks noGrp="1"/>
          </p:cNvSpPr>
          <p:nvPr>
            <p:ph type="sldNum" sz="quarter" idx="11"/>
          </p:nvPr>
        </p:nvSpPr>
        <p:spPr/>
        <p:txBody>
          <a:bodyPr/>
          <a:lstStyle/>
          <a:p>
            <a:fld id="{746FD205-8D79-439C-A802-2377436AEC8A}" type="slidenum">
              <a:rPr lang="he-IL" smtClean="0"/>
              <a:pPr/>
              <a:t>25</a:t>
            </a:fld>
            <a:endParaRPr lang="he-IL"/>
          </a:p>
        </p:txBody>
      </p:sp>
    </p:spTree>
    <p:extLst>
      <p:ext uri="{BB962C8B-B14F-4D97-AF65-F5344CB8AC3E}">
        <p14:creationId xmlns:p14="http://schemas.microsoft.com/office/powerpoint/2010/main" val="4260999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A8C9BCA2-5898-4165-BBAF-F860FAF72C72}"/>
              </a:ext>
            </a:extLst>
          </p:cNvPr>
          <p:cNvSpPr>
            <a:spLocks noGrp="1"/>
          </p:cNvSpPr>
          <p:nvPr>
            <p:ph idx="1"/>
          </p:nvPr>
        </p:nvSpPr>
        <p:spPr/>
        <p:txBody>
          <a:bodyPr>
            <a:normAutofit fontScale="92500" lnSpcReduction="20000"/>
          </a:bodyPr>
          <a:lstStyle/>
          <a:p>
            <a:pPr marL="64008" indent="0">
              <a:buNone/>
            </a:pPr>
            <a:r>
              <a:rPr lang="he-IL" sz="1800" dirty="0">
                <a:cs typeface="Calibri" panose="020F0502020204030204" pitchFamily="34" charset="0"/>
              </a:rPr>
              <a:t>לעיתים בעת מילוי הנתונים צפות שגיאות. שגיאות אפשריות ופתרונן:</a:t>
            </a:r>
          </a:p>
          <a:p>
            <a:pPr rtl="1">
              <a:buFont typeface="Courier New" panose="02070309020205020404" pitchFamily="49" charset="0"/>
              <a:buChar char="o"/>
            </a:pPr>
            <a:r>
              <a:rPr lang="he-IL" sz="1800" dirty="0">
                <a:cs typeface="Calibri" panose="020F0502020204030204" pitchFamily="34" charset="0"/>
              </a:rPr>
              <a:t>את מנסה למלא בעמודה מסוימת סוג נתונים שונה ממה שהגדרת – פתחי את ה </a:t>
            </a:r>
            <a:r>
              <a:rPr lang="en-US" sz="1800" dirty="0">
                <a:cs typeface="Calibri" panose="020F0502020204030204" pitchFamily="34" charset="0"/>
              </a:rPr>
              <a:t>design</a:t>
            </a:r>
            <a:r>
              <a:rPr lang="he-IL" sz="1800" dirty="0">
                <a:cs typeface="Calibri" panose="020F0502020204030204" pitchFamily="34" charset="0"/>
              </a:rPr>
              <a:t> של הטבלה והשווי.</a:t>
            </a:r>
          </a:p>
          <a:p>
            <a:pPr rtl="1">
              <a:buFont typeface="Courier New" panose="02070309020205020404" pitchFamily="49" charset="0"/>
              <a:buChar char="o"/>
            </a:pPr>
            <a:r>
              <a:rPr lang="he-IL" sz="1800" dirty="0">
                <a:cs typeface="Calibri" panose="020F0502020204030204" pitchFamily="34" charset="0"/>
              </a:rPr>
              <a:t>את מנסה למלא עמודת </a:t>
            </a:r>
            <a:r>
              <a:rPr lang="en-US" sz="1800" dirty="0">
                <a:cs typeface="Calibri" panose="020F0502020204030204" pitchFamily="34" charset="0"/>
              </a:rPr>
              <a:t>foreign key</a:t>
            </a:r>
            <a:r>
              <a:rPr lang="he-IL" sz="1800" dirty="0">
                <a:cs typeface="Calibri" panose="020F0502020204030204" pitchFamily="34" charset="0"/>
              </a:rPr>
              <a:t> שמקושרת לעמודת </a:t>
            </a:r>
            <a:r>
              <a:rPr lang="en-US" sz="1800" dirty="0">
                <a:cs typeface="Calibri" panose="020F0502020204030204" pitchFamily="34" charset="0"/>
              </a:rPr>
              <a:t>primary key</a:t>
            </a:r>
            <a:r>
              <a:rPr lang="he-IL" sz="1800" dirty="0">
                <a:cs typeface="Calibri" panose="020F0502020204030204" pitchFamily="34" charset="0"/>
              </a:rPr>
              <a:t> בטבלה אחרת, ועוד לא מילאת את הטבלה השנייה – שימי לב: יש למלא קודם כל את הטבלאות הראשיות ורק אח"כ את הטבלאות שמקושרות אליהן.</a:t>
            </a:r>
          </a:p>
          <a:p>
            <a:pPr rtl="1">
              <a:buFont typeface="Courier New" panose="02070309020205020404" pitchFamily="49" charset="0"/>
              <a:buChar char="o"/>
            </a:pPr>
            <a:r>
              <a:rPr lang="he-IL" sz="1800" dirty="0">
                <a:cs typeface="Calibri" panose="020F0502020204030204" pitchFamily="34" charset="0"/>
              </a:rPr>
              <a:t>את מנסה למלא טבלה שמקושרת לטבלה אחרת ולא מצליחה – יתכן שקישרת את השדות הלא נכונים.</a:t>
            </a:r>
          </a:p>
          <a:p>
            <a:pPr rtl="1">
              <a:buFont typeface="Courier New" panose="02070309020205020404" pitchFamily="49" charset="0"/>
              <a:buChar char="o"/>
            </a:pPr>
            <a:r>
              <a:rPr lang="he-IL" sz="1800" dirty="0">
                <a:cs typeface="Calibri" panose="020F0502020204030204" pitchFamily="34" charset="0"/>
              </a:rPr>
              <a:t>את מנסה למחוק תוכן עמודה שהיא </a:t>
            </a:r>
            <a:r>
              <a:rPr lang="en-US" sz="1800" dirty="0">
                <a:cs typeface="Calibri" panose="020F0502020204030204" pitchFamily="34" charset="0"/>
              </a:rPr>
              <a:t>primary key</a:t>
            </a:r>
            <a:r>
              <a:rPr lang="he-IL" sz="1800" dirty="0">
                <a:cs typeface="Calibri" panose="020F0502020204030204" pitchFamily="34" charset="0"/>
              </a:rPr>
              <a:t> ויש עמודת </a:t>
            </a:r>
            <a:r>
              <a:rPr lang="en-US" sz="1800" dirty="0">
                <a:cs typeface="Calibri" panose="020F0502020204030204" pitchFamily="34" charset="0"/>
              </a:rPr>
              <a:t>foreign key</a:t>
            </a:r>
            <a:r>
              <a:rPr lang="he-IL" sz="1800" dirty="0">
                <a:cs typeface="Calibri" panose="020F0502020204030204" pitchFamily="34" charset="0"/>
              </a:rPr>
              <a:t> שמקושרת אליה בטבלה אחרת – קודם כל מחקי את העמודות המקושרות ואח"כ את הראשיות (הפוך מבעת המילוי)</a:t>
            </a:r>
          </a:p>
          <a:p>
            <a:pPr rtl="1">
              <a:buFont typeface="Courier New" panose="02070309020205020404" pitchFamily="49" charset="0"/>
              <a:buChar char="o"/>
            </a:pPr>
            <a:r>
              <a:rPr lang="he-IL" sz="1800" dirty="0">
                <a:cs typeface="Calibri" panose="020F0502020204030204" pitchFamily="34" charset="0"/>
              </a:rPr>
              <a:t>את מנסה לשנות </a:t>
            </a:r>
            <a:r>
              <a:rPr lang="en-US" sz="1800" dirty="0">
                <a:cs typeface="Calibri" panose="020F0502020204030204" pitchFamily="34" charset="0"/>
              </a:rPr>
              <a:t>design </a:t>
            </a:r>
            <a:r>
              <a:rPr lang="he-IL" sz="1800" dirty="0">
                <a:cs typeface="Calibri" panose="020F0502020204030204" pitchFamily="34" charset="0"/>
              </a:rPr>
              <a:t> של טבלה וזה לא נשמר – יתכן שזה כיוון שמקשורות אליה טבלאות אחרות, נסי למחוק את הקשר, למחוק את התוכן המקושר </a:t>
            </a:r>
            <a:r>
              <a:rPr lang="he-IL" sz="1800" dirty="0" err="1">
                <a:cs typeface="Calibri" panose="020F0502020204030204" pitchFamily="34" charset="0"/>
              </a:rPr>
              <a:t>וכו</a:t>
            </a:r>
            <a:r>
              <a:rPr lang="he-IL" sz="1800" dirty="0">
                <a:cs typeface="Calibri" panose="020F0502020204030204" pitchFamily="34" charset="0"/>
              </a:rPr>
              <a:t>.</a:t>
            </a:r>
          </a:p>
          <a:p>
            <a:pPr rtl="1">
              <a:buFont typeface="Courier New" panose="02070309020205020404" pitchFamily="49" charset="0"/>
              <a:buChar char="o"/>
            </a:pPr>
            <a:r>
              <a:rPr lang="he-IL" sz="1800" dirty="0">
                <a:cs typeface="Calibri" panose="020F0502020204030204" pitchFamily="34" charset="0"/>
              </a:rPr>
              <a:t>את מנסה לקשר בין שתי טבלאות ולא מצליחה: 1. יתכן שהשדות שאת מנסה לקשר ביניהן לא הוגדרו מאותו סוג... 2. יתכן ששכחת לסמן את השדה בטבלה הראשית (שאליו את מצביעה) כמפתח ראשי.</a:t>
            </a:r>
          </a:p>
          <a:p>
            <a:pPr rtl="1">
              <a:buFont typeface="Courier New" panose="02070309020205020404" pitchFamily="49" charset="0"/>
              <a:buChar char="o"/>
            </a:pPr>
            <a:r>
              <a:rPr lang="he-IL" sz="1800" dirty="0">
                <a:cs typeface="Calibri" panose="020F0502020204030204" pitchFamily="34" charset="0"/>
              </a:rPr>
              <a:t>את מנסה לשמור שינויים והתכנה לא נותנת – בצעי את מה שכתוב בעמוד 27</a:t>
            </a:r>
          </a:p>
          <a:p>
            <a:pPr rtl="1">
              <a:buFont typeface="Courier New" panose="02070309020205020404" pitchFamily="49" charset="0"/>
              <a:buChar char="o"/>
            </a:pPr>
            <a:r>
              <a:rPr lang="he-IL" sz="1800" dirty="0">
                <a:cs typeface="Calibri" panose="020F0502020204030204" pitchFamily="34" charset="0"/>
              </a:rPr>
              <a:t>במידה ואת מנסה לצאת מהטבלה ולמחוק את הנתונים ולא מצליחה – נסי ללחוץ מספר פעמים על המקש </a:t>
            </a:r>
            <a:r>
              <a:rPr lang="en-US" sz="1800" dirty="0">
                <a:cs typeface="Calibri" panose="020F0502020204030204" pitchFamily="34" charset="0"/>
              </a:rPr>
              <a:t>Esc</a:t>
            </a:r>
            <a:r>
              <a:rPr lang="he-IL" sz="1800" dirty="0">
                <a:cs typeface="Calibri" panose="020F0502020204030204" pitchFamily="34" charset="0"/>
              </a:rPr>
              <a:t> (הכי שמאלי למעלה </a:t>
            </a:r>
            <a:r>
              <a:rPr lang="he-IL" sz="1800" dirty="0" err="1">
                <a:cs typeface="Calibri" panose="020F0502020204030204" pitchFamily="34" charset="0"/>
              </a:rPr>
              <a:t>מבמקלדת</a:t>
            </a:r>
            <a:r>
              <a:rPr lang="he-IL" sz="1800" dirty="0">
                <a:cs typeface="Calibri" panose="020F0502020204030204" pitchFamily="34" charset="0"/>
              </a:rPr>
              <a:t>)</a:t>
            </a:r>
          </a:p>
          <a:p>
            <a:pPr marL="64008" indent="0" rtl="1">
              <a:buNone/>
            </a:pPr>
            <a:r>
              <a:rPr lang="he-IL" sz="1800" dirty="0">
                <a:cs typeface="Calibri" panose="020F0502020204030204" pitchFamily="34" charset="0"/>
              </a:rPr>
              <a:t>  </a:t>
            </a:r>
          </a:p>
        </p:txBody>
      </p:sp>
      <p:sp>
        <p:nvSpPr>
          <p:cNvPr id="3" name="כותרת 2">
            <a:extLst>
              <a:ext uri="{FF2B5EF4-FFF2-40B4-BE49-F238E27FC236}">
                <a16:creationId xmlns:a16="http://schemas.microsoft.com/office/drawing/2014/main" id="{D064A921-9E10-443E-B67F-B73F82FFFC3D}"/>
              </a:ext>
            </a:extLst>
          </p:cNvPr>
          <p:cNvSpPr>
            <a:spLocks noGrp="1"/>
          </p:cNvSpPr>
          <p:nvPr>
            <p:ph type="title"/>
          </p:nvPr>
        </p:nvSpPr>
        <p:spPr/>
        <p:txBody>
          <a:bodyPr>
            <a:normAutofit fontScale="90000"/>
          </a:bodyPr>
          <a:lstStyle/>
          <a:p>
            <a:r>
              <a:rPr lang="he-IL" dirty="0"/>
              <a:t>בעיות אפשריות בעת מילוי נתונים/ שינוי מבנה טבלה</a:t>
            </a:r>
          </a:p>
        </p:txBody>
      </p:sp>
      <p:sp>
        <p:nvSpPr>
          <p:cNvPr id="4" name="מציין מיקום של מספר שקופית 3">
            <a:extLst>
              <a:ext uri="{FF2B5EF4-FFF2-40B4-BE49-F238E27FC236}">
                <a16:creationId xmlns:a16="http://schemas.microsoft.com/office/drawing/2014/main" id="{92B7C6DE-5112-4945-8CD6-4275A1A73B82}"/>
              </a:ext>
            </a:extLst>
          </p:cNvPr>
          <p:cNvSpPr>
            <a:spLocks noGrp="1"/>
          </p:cNvSpPr>
          <p:nvPr>
            <p:ph type="sldNum" sz="quarter" idx="11"/>
          </p:nvPr>
        </p:nvSpPr>
        <p:spPr/>
        <p:txBody>
          <a:bodyPr/>
          <a:lstStyle/>
          <a:p>
            <a:fld id="{746FD205-8D79-439C-A802-2377436AEC8A}" type="slidenum">
              <a:rPr lang="he-IL" smtClean="0"/>
              <a:pPr/>
              <a:t>26</a:t>
            </a:fld>
            <a:endParaRPr lang="he-IL"/>
          </a:p>
        </p:txBody>
      </p:sp>
    </p:spTree>
    <p:extLst>
      <p:ext uri="{BB962C8B-B14F-4D97-AF65-F5344CB8AC3E}">
        <p14:creationId xmlns:p14="http://schemas.microsoft.com/office/powerpoint/2010/main" val="368680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041EE3D-1FAF-44B6-9882-18FACE2D11BC}"/>
              </a:ext>
            </a:extLst>
          </p:cNvPr>
          <p:cNvSpPr>
            <a:spLocks noGrp="1"/>
          </p:cNvSpPr>
          <p:nvPr>
            <p:ph idx="1"/>
          </p:nvPr>
        </p:nvSpPr>
        <p:spPr/>
        <p:txBody>
          <a:bodyPr>
            <a:normAutofit lnSpcReduction="10000"/>
          </a:bodyPr>
          <a:lstStyle/>
          <a:p>
            <a:pPr marL="64008" indent="0">
              <a:buNone/>
            </a:pPr>
            <a:r>
              <a:rPr lang="he-IL" sz="1800" dirty="0">
                <a:cs typeface="Calibri" panose="020F0502020204030204" pitchFamily="34" charset="0"/>
              </a:rPr>
              <a:t>במידה ושינית את מבנה הטבלה והתכנה לא מאפשרת לך לשמור את השינויים...</a:t>
            </a:r>
            <a:endParaRPr lang="en-US" sz="1800" dirty="0">
              <a:cs typeface="Calibri" panose="020F0502020204030204" pitchFamily="34" charset="0"/>
            </a:endParaRPr>
          </a:p>
          <a:p>
            <a:pPr marL="64008" indent="0" algn="l">
              <a:buNone/>
            </a:pPr>
            <a:endParaRPr lang="en-US" sz="1800" dirty="0">
              <a:cs typeface="Calibri" panose="020F0502020204030204" pitchFamily="34" charset="0"/>
            </a:endParaRPr>
          </a:p>
          <a:p>
            <a:pPr marL="64008" indent="0" algn="l">
              <a:buNone/>
            </a:pPr>
            <a:r>
              <a:rPr lang="en-US" sz="1800">
                <a:cs typeface="Calibri" panose="020F0502020204030204" pitchFamily="34" charset="0"/>
              </a:rPr>
              <a:t>Tools-</a:t>
            </a:r>
            <a:r>
              <a:rPr lang="en-US" sz="1800" dirty="0">
                <a:cs typeface="Calibri" panose="020F0502020204030204" pitchFamily="34" charset="0"/>
              </a:rPr>
              <a:t>&gt; Options-&gt;Designers:</a:t>
            </a:r>
          </a:p>
          <a:p>
            <a:pPr marL="64008" indent="0" algn="l" rtl="1">
              <a:buNone/>
            </a:pPr>
            <a:endParaRPr lang="he-IL" sz="1800" dirty="0">
              <a:cs typeface="Calibri" panose="020F0502020204030204" pitchFamily="34" charset="0"/>
            </a:endParaRPr>
          </a:p>
          <a:p>
            <a:pPr marL="64008" indent="0">
              <a:buNone/>
            </a:pPr>
            <a:endParaRPr lang="en-US" b="1" dirty="0"/>
          </a:p>
          <a:p>
            <a:pPr marL="64008" indent="0">
              <a:buNone/>
            </a:pPr>
            <a:endParaRPr lang="en-US" b="1" dirty="0"/>
          </a:p>
          <a:p>
            <a:pPr marL="64008" indent="0">
              <a:buNone/>
            </a:pPr>
            <a:endParaRPr lang="en-US" b="1" dirty="0"/>
          </a:p>
          <a:p>
            <a:pPr marL="64008" indent="0">
              <a:buNone/>
            </a:pPr>
            <a:endParaRPr lang="en-US" b="1" dirty="0"/>
          </a:p>
          <a:p>
            <a:pPr marL="64008" indent="0">
              <a:buNone/>
            </a:pPr>
            <a:endParaRPr lang="en-US" b="1" dirty="0"/>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 </a:t>
            </a:r>
            <a:r>
              <a:rPr lang="en-US" sz="1800" dirty="0">
                <a:cs typeface="Calibri" panose="020F0502020204030204" pitchFamily="34" charset="0"/>
              </a:rPr>
              <a:t>V</a:t>
            </a:r>
            <a:r>
              <a:rPr lang="he-IL" sz="1800" dirty="0">
                <a:cs typeface="Calibri" panose="020F0502020204030204" pitchFamily="34" charset="0"/>
              </a:rPr>
              <a:t> צריך להיות לא מסומן....</a:t>
            </a:r>
          </a:p>
        </p:txBody>
      </p:sp>
      <p:sp>
        <p:nvSpPr>
          <p:cNvPr id="3" name="כותרת 2">
            <a:extLst>
              <a:ext uri="{FF2B5EF4-FFF2-40B4-BE49-F238E27FC236}">
                <a16:creationId xmlns:a16="http://schemas.microsoft.com/office/drawing/2014/main" id="{C66C65FD-EF37-4AF6-A585-C944A7336041}"/>
              </a:ext>
            </a:extLst>
          </p:cNvPr>
          <p:cNvSpPr>
            <a:spLocks noGrp="1"/>
          </p:cNvSpPr>
          <p:nvPr>
            <p:ph type="title"/>
          </p:nvPr>
        </p:nvSpPr>
        <p:spPr/>
        <p:txBody>
          <a:bodyPr/>
          <a:lstStyle/>
          <a:p>
            <a:r>
              <a:rPr lang="he-IL" dirty="0"/>
              <a:t>שמירת שינויים</a:t>
            </a:r>
          </a:p>
        </p:txBody>
      </p:sp>
      <p:sp>
        <p:nvSpPr>
          <p:cNvPr id="4" name="מציין מיקום של מספר שקופית 3">
            <a:extLst>
              <a:ext uri="{FF2B5EF4-FFF2-40B4-BE49-F238E27FC236}">
                <a16:creationId xmlns:a16="http://schemas.microsoft.com/office/drawing/2014/main" id="{5E9F0F27-DC08-4710-A229-65FA0C227FDB}"/>
              </a:ext>
            </a:extLst>
          </p:cNvPr>
          <p:cNvSpPr>
            <a:spLocks noGrp="1"/>
          </p:cNvSpPr>
          <p:nvPr>
            <p:ph type="sldNum" sz="quarter" idx="11"/>
          </p:nvPr>
        </p:nvSpPr>
        <p:spPr/>
        <p:txBody>
          <a:bodyPr/>
          <a:lstStyle/>
          <a:p>
            <a:fld id="{746FD205-8D79-439C-A802-2377436AEC8A}" type="slidenum">
              <a:rPr lang="he-IL" smtClean="0"/>
              <a:pPr/>
              <a:t>27</a:t>
            </a:fld>
            <a:endParaRPr lang="he-IL"/>
          </a:p>
        </p:txBody>
      </p:sp>
      <p:pic>
        <p:nvPicPr>
          <p:cNvPr id="5" name="תמונה 4">
            <a:extLst>
              <a:ext uri="{FF2B5EF4-FFF2-40B4-BE49-F238E27FC236}">
                <a16:creationId xmlns:a16="http://schemas.microsoft.com/office/drawing/2014/main" id="{532AB52A-65DF-4BEE-A1C3-7B8A91A0D26A}"/>
              </a:ext>
            </a:extLst>
          </p:cNvPr>
          <p:cNvPicPr>
            <a:picLocks noChangeAspect="1"/>
          </p:cNvPicPr>
          <p:nvPr/>
        </p:nvPicPr>
        <p:blipFill>
          <a:blip r:embed="rId2"/>
          <a:stretch>
            <a:fillRect/>
          </a:stretch>
        </p:blipFill>
        <p:spPr>
          <a:xfrm>
            <a:off x="1600200" y="2514600"/>
            <a:ext cx="5114925" cy="2966379"/>
          </a:xfrm>
          <a:prstGeom prst="rect">
            <a:avLst/>
          </a:prstGeom>
        </p:spPr>
      </p:pic>
    </p:spTree>
    <p:extLst>
      <p:ext uri="{BB962C8B-B14F-4D97-AF65-F5344CB8AC3E}">
        <p14:creationId xmlns:p14="http://schemas.microsoft.com/office/powerpoint/2010/main" val="3184755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7D8841E-233E-4499-BD36-A5F7467B3EA2}"/>
              </a:ext>
            </a:extLst>
          </p:cNvPr>
          <p:cNvSpPr>
            <a:spLocks noGrp="1"/>
          </p:cNvSpPr>
          <p:nvPr>
            <p:ph idx="1"/>
          </p:nvPr>
        </p:nvSpPr>
        <p:spPr/>
        <p:txBody>
          <a:bodyPr>
            <a:normAutofit/>
          </a:bodyPr>
          <a:lstStyle/>
          <a:p>
            <a:pPr marL="64008" indent="0">
              <a:buNone/>
            </a:pPr>
            <a:r>
              <a:rPr lang="he-IL" sz="1800" dirty="0">
                <a:cs typeface="Calibri" panose="020F0502020204030204" pitchFamily="34" charset="0"/>
              </a:rPr>
              <a:t>צרי מסד נתונים של בית ספר. מסד הנתונים יכלול את הטבלאות הבאות (</a:t>
            </a:r>
            <a:r>
              <a:rPr lang="he-IL" sz="1800" dirty="0">
                <a:highlight>
                  <a:srgbClr val="FFFF00"/>
                </a:highlight>
                <a:cs typeface="Calibri" panose="020F0502020204030204" pitchFamily="34" charset="0"/>
              </a:rPr>
              <a:t>השדה המודגש יוגדר כמפתח ראשי</a:t>
            </a:r>
            <a:r>
              <a:rPr lang="he-IL" sz="1800" dirty="0">
                <a:cs typeface="Calibri" panose="020F0502020204030204" pitchFamily="34" charset="0"/>
              </a:rPr>
              <a:t>)</a:t>
            </a:r>
          </a:p>
          <a:p>
            <a:pPr marL="64008" indent="0">
              <a:buNone/>
            </a:pPr>
            <a:r>
              <a:rPr lang="he-IL" sz="1800" b="1" dirty="0">
                <a:cs typeface="Calibri" panose="020F0502020204030204" pitchFamily="34" charset="0"/>
              </a:rPr>
              <a:t>תלמידות</a:t>
            </a:r>
            <a:r>
              <a:rPr lang="he-IL" sz="1800" dirty="0">
                <a:cs typeface="Calibri" panose="020F0502020204030204" pitchFamily="34" charset="0"/>
              </a:rPr>
              <a:t> – </a:t>
            </a:r>
            <a:r>
              <a:rPr lang="he-IL" sz="1800" dirty="0">
                <a:highlight>
                  <a:srgbClr val="FFFF00"/>
                </a:highlight>
                <a:cs typeface="Calibri" panose="020F0502020204030204" pitchFamily="34" charset="0"/>
              </a:rPr>
              <a:t>ת"ז</a:t>
            </a:r>
            <a:r>
              <a:rPr lang="he-IL" sz="1800" dirty="0">
                <a:cs typeface="Calibri" panose="020F0502020204030204" pitchFamily="34" charset="0"/>
              </a:rPr>
              <a:t>, שם פרטי, שם משפחה, מספר טלפון, קוד כתובת, קוד כיתה, שנת התחלת לימודים, </a:t>
            </a:r>
            <a:r>
              <a:rPr lang="he-IL" sz="1800" dirty="0">
                <a:highlight>
                  <a:srgbClr val="00FF00"/>
                </a:highlight>
                <a:cs typeface="Calibri" panose="020F0502020204030204" pitchFamily="34" charset="0"/>
              </a:rPr>
              <a:t>תאריך לידה</a:t>
            </a:r>
          </a:p>
          <a:p>
            <a:pPr marL="64008" indent="0">
              <a:buNone/>
            </a:pPr>
            <a:r>
              <a:rPr lang="he-IL" sz="1800" b="1" dirty="0">
                <a:cs typeface="Calibri" panose="020F0502020204030204" pitchFamily="34" charset="0"/>
              </a:rPr>
              <a:t>מורות</a:t>
            </a:r>
            <a:r>
              <a:rPr lang="he-IL" sz="1800" dirty="0">
                <a:cs typeface="Calibri" panose="020F0502020204030204" pitchFamily="34" charset="0"/>
              </a:rPr>
              <a:t> – </a:t>
            </a:r>
            <a:r>
              <a:rPr lang="he-IL" sz="1800" dirty="0">
                <a:highlight>
                  <a:srgbClr val="FFFF00"/>
                </a:highlight>
                <a:cs typeface="Calibri" panose="020F0502020204030204" pitchFamily="34" charset="0"/>
              </a:rPr>
              <a:t>ת"ז</a:t>
            </a:r>
            <a:r>
              <a:rPr lang="he-IL" sz="1800" dirty="0">
                <a:cs typeface="Calibri" panose="020F0502020204030204" pitchFamily="34" charset="0"/>
              </a:rPr>
              <a:t>, שם פרטי, שם משפחה, מספר טלפון, קוד כתובת, שנת התחלת עבודה, שכר לשעה</a:t>
            </a:r>
          </a:p>
          <a:p>
            <a:pPr marL="64008" indent="0">
              <a:buNone/>
            </a:pPr>
            <a:r>
              <a:rPr lang="he-IL" sz="1800" b="1" dirty="0">
                <a:cs typeface="Calibri" panose="020F0502020204030204" pitchFamily="34" charset="0"/>
              </a:rPr>
              <a:t>כיתות</a:t>
            </a:r>
            <a:r>
              <a:rPr lang="he-IL" sz="1800" dirty="0">
                <a:cs typeface="Calibri" panose="020F0502020204030204" pitchFamily="34" charset="0"/>
              </a:rPr>
              <a:t> – </a:t>
            </a:r>
            <a:r>
              <a:rPr lang="he-IL" sz="1800" dirty="0">
                <a:highlight>
                  <a:srgbClr val="FFFF00"/>
                </a:highlight>
                <a:cs typeface="Calibri" panose="020F0502020204030204" pitchFamily="34" charset="0"/>
              </a:rPr>
              <a:t>קוד כיתה</a:t>
            </a:r>
            <a:r>
              <a:rPr lang="he-IL" sz="1800" dirty="0">
                <a:cs typeface="Calibri" panose="020F0502020204030204" pitchFamily="34" charset="0"/>
              </a:rPr>
              <a:t>, שם כיתה (לדוגמא: א, ב...), מספר כיתה </a:t>
            </a:r>
          </a:p>
          <a:p>
            <a:pPr marL="64008" indent="0">
              <a:buNone/>
            </a:pPr>
            <a:r>
              <a:rPr lang="he-IL" sz="1800" b="1" dirty="0">
                <a:cs typeface="Calibri" panose="020F0502020204030204" pitchFamily="34" charset="0"/>
              </a:rPr>
              <a:t>כתובות</a:t>
            </a:r>
            <a:r>
              <a:rPr lang="he-IL" sz="1800" dirty="0">
                <a:cs typeface="Calibri" panose="020F0502020204030204" pitchFamily="34" charset="0"/>
              </a:rPr>
              <a:t> – </a:t>
            </a:r>
            <a:r>
              <a:rPr lang="he-IL" sz="1800" dirty="0">
                <a:highlight>
                  <a:srgbClr val="FFFF00"/>
                </a:highlight>
                <a:cs typeface="Calibri" panose="020F0502020204030204" pitchFamily="34" charset="0"/>
              </a:rPr>
              <a:t>קוד כתובת – מפתח רץ</a:t>
            </a:r>
            <a:r>
              <a:rPr lang="he-IL" sz="1800" dirty="0">
                <a:cs typeface="Calibri" panose="020F0502020204030204" pitchFamily="34" charset="0"/>
              </a:rPr>
              <a:t>, שם עיר, שם רחוב, מספר בנין</a:t>
            </a:r>
          </a:p>
          <a:p>
            <a:pPr marL="64008" indent="0">
              <a:buNone/>
            </a:pPr>
            <a:r>
              <a:rPr lang="he-IL" sz="1800" b="1" dirty="0">
                <a:cs typeface="Calibri" panose="020F0502020204030204" pitchFamily="34" charset="0"/>
              </a:rPr>
              <a:t>מקצועות</a:t>
            </a:r>
            <a:r>
              <a:rPr lang="he-IL" sz="1800" dirty="0">
                <a:cs typeface="Calibri" panose="020F0502020204030204" pitchFamily="34" charset="0"/>
              </a:rPr>
              <a:t> – </a:t>
            </a:r>
            <a:r>
              <a:rPr lang="he-IL" sz="1800" dirty="0">
                <a:highlight>
                  <a:srgbClr val="FFFF00"/>
                </a:highlight>
                <a:cs typeface="Calibri" panose="020F0502020204030204" pitchFamily="34" charset="0"/>
              </a:rPr>
              <a:t>קוד מקצוע</a:t>
            </a:r>
            <a:r>
              <a:rPr lang="he-IL" sz="1800" dirty="0">
                <a:cs typeface="Calibri" panose="020F0502020204030204" pitchFamily="34" charset="0"/>
              </a:rPr>
              <a:t>, שם מקצוע</a:t>
            </a:r>
          </a:p>
          <a:p>
            <a:pPr marL="64008" indent="0">
              <a:buNone/>
            </a:pPr>
            <a:r>
              <a:rPr lang="he-IL" sz="1800" b="1" dirty="0">
                <a:cs typeface="Calibri" panose="020F0502020204030204" pitchFamily="34" charset="0"/>
              </a:rPr>
              <a:t>מורות למקצועות</a:t>
            </a:r>
            <a:r>
              <a:rPr lang="he-IL" sz="1800" dirty="0">
                <a:cs typeface="Calibri" panose="020F0502020204030204" pitchFamily="34" charset="0"/>
              </a:rPr>
              <a:t> – </a:t>
            </a:r>
            <a:r>
              <a:rPr lang="he-IL" sz="1800" dirty="0">
                <a:highlight>
                  <a:srgbClr val="FFFF00"/>
                </a:highlight>
                <a:cs typeface="Calibri" panose="020F0502020204030204" pitchFamily="34" charset="0"/>
              </a:rPr>
              <a:t>קוד</a:t>
            </a:r>
            <a:r>
              <a:rPr lang="he-IL" sz="1800" dirty="0">
                <a:cs typeface="Calibri" panose="020F0502020204030204" pitchFamily="34" charset="0"/>
              </a:rPr>
              <a:t>, ת"ז מורה, קוד מקצוע   </a:t>
            </a:r>
          </a:p>
          <a:p>
            <a:pPr marL="64008" indent="0">
              <a:buNone/>
            </a:pPr>
            <a:r>
              <a:rPr lang="he-IL" sz="1800" b="1" dirty="0">
                <a:cs typeface="Calibri" panose="020F0502020204030204" pitchFamily="34" charset="0"/>
              </a:rPr>
              <a:t>מורות לכיתות </a:t>
            </a:r>
            <a:r>
              <a:rPr lang="he-IL" sz="1800" dirty="0">
                <a:cs typeface="Calibri" panose="020F0502020204030204" pitchFamily="34" charset="0"/>
              </a:rPr>
              <a:t>– </a:t>
            </a:r>
            <a:r>
              <a:rPr lang="he-IL" sz="1800" dirty="0">
                <a:highlight>
                  <a:srgbClr val="FFFF00"/>
                </a:highlight>
                <a:cs typeface="Calibri" panose="020F0502020204030204" pitchFamily="34" charset="0"/>
              </a:rPr>
              <a:t>קוד</a:t>
            </a:r>
            <a:r>
              <a:rPr lang="he-IL" sz="1800" dirty="0">
                <a:cs typeface="Calibri" panose="020F0502020204030204" pitchFamily="34" charset="0"/>
              </a:rPr>
              <a:t>, ת"ז מורה, קוד כיתה, קוד מקצוע</a:t>
            </a:r>
          </a:p>
          <a:p>
            <a:pPr marL="64008" indent="0">
              <a:buNone/>
            </a:pPr>
            <a:r>
              <a:rPr lang="he-IL" sz="1800" b="1" dirty="0">
                <a:cs typeface="Calibri" panose="020F0502020204030204" pitchFamily="34" charset="0"/>
              </a:rPr>
              <a:t>ציונים</a:t>
            </a:r>
            <a:r>
              <a:rPr lang="he-IL" sz="1800" dirty="0">
                <a:cs typeface="Calibri" panose="020F0502020204030204" pitchFamily="34" charset="0"/>
              </a:rPr>
              <a:t> – </a:t>
            </a:r>
            <a:r>
              <a:rPr lang="he-IL" sz="1800" dirty="0">
                <a:highlight>
                  <a:srgbClr val="FFFF00"/>
                </a:highlight>
                <a:cs typeface="Calibri" panose="020F0502020204030204" pitchFamily="34" charset="0"/>
              </a:rPr>
              <a:t>קוד – מפתח רץ</a:t>
            </a:r>
            <a:r>
              <a:rPr lang="he-IL" sz="1800" dirty="0">
                <a:cs typeface="Calibri" panose="020F0502020204030204" pitchFamily="34" charset="0"/>
              </a:rPr>
              <a:t>, ת"ז תלמידה, קוד מקצוע, מספר מחצית, ציון</a:t>
            </a:r>
          </a:p>
          <a:p>
            <a:pPr marL="64008" indent="0">
              <a:buNone/>
            </a:pPr>
            <a:endParaRPr lang="he-IL" sz="1800" dirty="0">
              <a:cs typeface="Calibri" panose="020F0502020204030204" pitchFamily="34" charset="0"/>
            </a:endParaRPr>
          </a:p>
          <a:p>
            <a:pPr marL="64008" indent="0">
              <a:buNone/>
            </a:pPr>
            <a:r>
              <a:rPr lang="he-IL" sz="1800" dirty="0">
                <a:cs typeface="Calibri" panose="020F0502020204030204" pitchFamily="34" charset="0"/>
              </a:rPr>
              <a:t>שימי לב ליצור את קשרי הגומלין בין הטבלאות המתאימות (אם את נתקלת בבעיות בשמירת הקשרים או הטבלאות, הסתכלי בעמודים 25,26....)</a:t>
            </a:r>
          </a:p>
        </p:txBody>
      </p:sp>
      <p:sp>
        <p:nvSpPr>
          <p:cNvPr id="3" name="כותרת 2">
            <a:extLst>
              <a:ext uri="{FF2B5EF4-FFF2-40B4-BE49-F238E27FC236}">
                <a16:creationId xmlns:a16="http://schemas.microsoft.com/office/drawing/2014/main" id="{0C3B0879-9B63-4E3B-8639-80942EAE0D1E}"/>
              </a:ext>
            </a:extLst>
          </p:cNvPr>
          <p:cNvSpPr>
            <a:spLocks noGrp="1"/>
          </p:cNvSpPr>
          <p:nvPr>
            <p:ph type="title"/>
          </p:nvPr>
        </p:nvSpPr>
        <p:spPr/>
        <p:txBody>
          <a:bodyPr>
            <a:normAutofit fontScale="90000"/>
          </a:bodyPr>
          <a:lstStyle/>
          <a:p>
            <a:pPr rtl="1"/>
            <a:r>
              <a:rPr lang="he-IL" dirty="0"/>
              <a:t>יצירת טבלאות וקשרי גומלין ב </a:t>
            </a:r>
            <a:r>
              <a:rPr lang="en-US" dirty="0"/>
              <a:t>SQL</a:t>
            </a:r>
            <a:r>
              <a:rPr lang="he-IL" dirty="0"/>
              <a:t> – תרגיל</a:t>
            </a:r>
          </a:p>
        </p:txBody>
      </p:sp>
      <p:sp>
        <p:nvSpPr>
          <p:cNvPr id="4" name="מציין מיקום של מספר שקופית 3">
            <a:extLst>
              <a:ext uri="{FF2B5EF4-FFF2-40B4-BE49-F238E27FC236}">
                <a16:creationId xmlns:a16="http://schemas.microsoft.com/office/drawing/2014/main" id="{57F091CB-9B8B-4E66-B62C-CE69ECE53FED}"/>
              </a:ext>
            </a:extLst>
          </p:cNvPr>
          <p:cNvSpPr>
            <a:spLocks noGrp="1"/>
          </p:cNvSpPr>
          <p:nvPr>
            <p:ph type="sldNum" sz="quarter" idx="11"/>
          </p:nvPr>
        </p:nvSpPr>
        <p:spPr/>
        <p:txBody>
          <a:bodyPr/>
          <a:lstStyle/>
          <a:p>
            <a:fld id="{746FD205-8D79-439C-A802-2377436AEC8A}" type="slidenum">
              <a:rPr lang="he-IL" smtClean="0"/>
              <a:pPr/>
              <a:t>28</a:t>
            </a:fld>
            <a:endParaRPr lang="he-IL"/>
          </a:p>
        </p:txBody>
      </p:sp>
    </p:spTree>
    <p:extLst>
      <p:ext uri="{BB962C8B-B14F-4D97-AF65-F5344CB8AC3E}">
        <p14:creationId xmlns:p14="http://schemas.microsoft.com/office/powerpoint/2010/main" val="1500025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3E93D1F1-863F-4DF4-B07E-5EE039B46F2C}"/>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פקודות </a:t>
            </a:r>
            <a:r>
              <a:rPr lang="en-US" sz="1800" dirty="0">
                <a:cs typeface="Calibri" panose="020F0502020204030204" pitchFamily="34" charset="0"/>
              </a:rPr>
              <a:t>CRUD</a:t>
            </a:r>
            <a:r>
              <a:rPr lang="he-IL" sz="1800" dirty="0">
                <a:cs typeface="Calibri" panose="020F0502020204030204" pitchFamily="34" charset="0"/>
              </a:rPr>
              <a:t> הן הפקודות שדרכן פונים למסד הנתונים ומבצעים עליו פעולות.</a:t>
            </a:r>
          </a:p>
          <a:p>
            <a:pPr marL="64008" indent="0" rtl="1">
              <a:buNone/>
            </a:pPr>
            <a:r>
              <a:rPr lang="en-US" sz="1800" dirty="0">
                <a:cs typeface="Calibri" panose="020F0502020204030204" pitchFamily="34" charset="0"/>
              </a:rPr>
              <a:t>CRUD</a:t>
            </a:r>
            <a:r>
              <a:rPr lang="he-IL" sz="1800" dirty="0">
                <a:cs typeface="Calibri" panose="020F0502020204030204" pitchFamily="34" charset="0"/>
              </a:rPr>
              <a:t>:</a:t>
            </a:r>
          </a:p>
          <a:p>
            <a:pPr marL="64008" indent="0" rtl="1">
              <a:buNone/>
            </a:pPr>
            <a:r>
              <a:rPr lang="en-US" sz="1800" b="1" dirty="0">
                <a:cs typeface="Calibri" panose="020F0502020204030204" pitchFamily="34" charset="0"/>
              </a:rPr>
              <a:t>Create</a:t>
            </a:r>
            <a:r>
              <a:rPr lang="he-IL" sz="1800" dirty="0">
                <a:cs typeface="Calibri" panose="020F0502020204030204" pitchFamily="34" charset="0"/>
              </a:rPr>
              <a:t> – הוספת נתונים לטבלה (</a:t>
            </a:r>
            <a:r>
              <a:rPr lang="en-US" sz="1800" dirty="0">
                <a:cs typeface="Calibri" panose="020F0502020204030204" pitchFamily="34" charset="0"/>
              </a:rPr>
              <a:t>insert</a:t>
            </a:r>
            <a:r>
              <a:rPr lang="he-IL" sz="1800" dirty="0">
                <a:cs typeface="Calibri" panose="020F0502020204030204" pitchFamily="34" charset="0"/>
              </a:rPr>
              <a:t>)</a:t>
            </a:r>
          </a:p>
          <a:p>
            <a:pPr marL="64008" indent="0" rtl="1">
              <a:buNone/>
            </a:pPr>
            <a:r>
              <a:rPr lang="en-US" sz="1800" b="1" dirty="0">
                <a:cs typeface="Calibri" panose="020F0502020204030204" pitchFamily="34" charset="0"/>
              </a:rPr>
              <a:t>Read</a:t>
            </a:r>
            <a:r>
              <a:rPr lang="he-IL" sz="1800" dirty="0">
                <a:cs typeface="Calibri" panose="020F0502020204030204" pitchFamily="34" charset="0"/>
              </a:rPr>
              <a:t> – קריאה מטבלה (ב </a:t>
            </a:r>
            <a:r>
              <a:rPr lang="en-US" sz="1800" dirty="0">
                <a:cs typeface="Calibri" panose="020F0502020204030204" pitchFamily="34" charset="0"/>
              </a:rPr>
              <a:t>SQL</a:t>
            </a:r>
            <a:r>
              <a:rPr lang="he-IL" sz="1800" dirty="0">
                <a:cs typeface="Calibri" panose="020F0502020204030204" pitchFamily="34" charset="0"/>
              </a:rPr>
              <a:t>: </a:t>
            </a:r>
            <a:r>
              <a:rPr lang="en-US" sz="1800" dirty="0">
                <a:cs typeface="Calibri" panose="020F0502020204030204" pitchFamily="34" charset="0"/>
              </a:rPr>
              <a:t>Select</a:t>
            </a:r>
            <a:r>
              <a:rPr lang="he-IL" sz="1800" dirty="0">
                <a:cs typeface="Calibri" panose="020F0502020204030204" pitchFamily="34" charset="0"/>
              </a:rPr>
              <a:t>)</a:t>
            </a:r>
          </a:p>
          <a:p>
            <a:pPr marL="64008" indent="0" rtl="1">
              <a:buNone/>
            </a:pPr>
            <a:r>
              <a:rPr lang="en-US" sz="1800" b="1" dirty="0">
                <a:cs typeface="Calibri" panose="020F0502020204030204" pitchFamily="34" charset="0"/>
              </a:rPr>
              <a:t>Update</a:t>
            </a:r>
            <a:r>
              <a:rPr lang="he-IL" sz="1800" dirty="0">
                <a:cs typeface="Calibri" panose="020F0502020204030204" pitchFamily="34" charset="0"/>
              </a:rPr>
              <a:t> – עדכון נתוני טבלה</a:t>
            </a:r>
          </a:p>
          <a:p>
            <a:pPr marL="64008" indent="0" rtl="1">
              <a:buNone/>
            </a:pPr>
            <a:r>
              <a:rPr lang="en-US" sz="1800" b="1" dirty="0">
                <a:cs typeface="Calibri" panose="020F0502020204030204" pitchFamily="34" charset="0"/>
              </a:rPr>
              <a:t>Delete</a:t>
            </a:r>
            <a:r>
              <a:rPr lang="he-IL" sz="1800" dirty="0">
                <a:cs typeface="Calibri" panose="020F0502020204030204" pitchFamily="34" charset="0"/>
              </a:rPr>
              <a:t> – מחיקת ערכים מטבלה</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A2C8F759-8C48-4249-8692-C240E66C735C}"/>
              </a:ext>
            </a:extLst>
          </p:cNvPr>
          <p:cNvSpPr>
            <a:spLocks noGrp="1"/>
          </p:cNvSpPr>
          <p:nvPr>
            <p:ph type="title"/>
          </p:nvPr>
        </p:nvSpPr>
        <p:spPr/>
        <p:txBody>
          <a:bodyPr/>
          <a:lstStyle/>
          <a:p>
            <a:pPr rtl="1"/>
            <a:r>
              <a:rPr lang="he-IL" dirty="0"/>
              <a:t>פקודות </a:t>
            </a:r>
            <a:r>
              <a:rPr lang="en-US" dirty="0"/>
              <a:t>CRUD</a:t>
            </a:r>
            <a:endParaRPr lang="he-IL" dirty="0"/>
          </a:p>
        </p:txBody>
      </p:sp>
      <p:sp>
        <p:nvSpPr>
          <p:cNvPr id="4" name="מציין מיקום של מספר שקופית 3">
            <a:extLst>
              <a:ext uri="{FF2B5EF4-FFF2-40B4-BE49-F238E27FC236}">
                <a16:creationId xmlns:a16="http://schemas.microsoft.com/office/drawing/2014/main" id="{DC1F81BF-A355-49E4-8769-CF7B2F8FF271}"/>
              </a:ext>
            </a:extLst>
          </p:cNvPr>
          <p:cNvSpPr>
            <a:spLocks noGrp="1"/>
          </p:cNvSpPr>
          <p:nvPr>
            <p:ph type="sldNum" sz="quarter" idx="11"/>
          </p:nvPr>
        </p:nvSpPr>
        <p:spPr/>
        <p:txBody>
          <a:bodyPr/>
          <a:lstStyle/>
          <a:p>
            <a:fld id="{746FD205-8D79-439C-A802-2377436AEC8A}" type="slidenum">
              <a:rPr lang="he-IL" smtClean="0"/>
              <a:pPr/>
              <a:t>29</a:t>
            </a:fld>
            <a:endParaRPr lang="he-IL"/>
          </a:p>
        </p:txBody>
      </p:sp>
    </p:spTree>
    <p:extLst>
      <p:ext uri="{BB962C8B-B14F-4D97-AF65-F5344CB8AC3E}">
        <p14:creationId xmlns:p14="http://schemas.microsoft.com/office/powerpoint/2010/main" val="3861904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4DFEA72-DB94-4D66-9859-D342DF57A702}"/>
              </a:ext>
            </a:extLst>
          </p:cNvPr>
          <p:cNvSpPr>
            <a:spLocks noGrp="1"/>
          </p:cNvSpPr>
          <p:nvPr>
            <p:ph idx="1"/>
          </p:nvPr>
        </p:nvSpPr>
        <p:spPr/>
        <p:txBody>
          <a:bodyPr/>
          <a:lstStyle/>
          <a:p>
            <a:pPr marL="64008" indent="0" rtl="1">
              <a:buNone/>
            </a:pPr>
            <a:r>
              <a:rPr lang="he-IL" sz="1800" dirty="0">
                <a:cs typeface="Calibri" panose="020F0502020204030204" pitchFamily="34" charset="0"/>
              </a:rPr>
              <a:t>פקודת ה</a:t>
            </a:r>
            <a:r>
              <a:rPr lang="en-US" sz="1800" dirty="0">
                <a:cs typeface="Calibri" panose="020F0502020204030204" pitchFamily="34" charset="0"/>
              </a:rPr>
              <a:t> Create </a:t>
            </a:r>
            <a:r>
              <a:rPr lang="he-IL" sz="1800" dirty="0">
                <a:cs typeface="Calibri" panose="020F0502020204030204" pitchFamily="34" charset="0"/>
              </a:rPr>
              <a:t>מאפשרת להוסיף שורות חדשות לטבלה.</a:t>
            </a:r>
            <a:br>
              <a:rPr lang="en-US" sz="1800" dirty="0">
                <a:cs typeface="Calibri" panose="020F0502020204030204" pitchFamily="34" charset="0"/>
              </a:rPr>
            </a:br>
            <a:r>
              <a:rPr lang="he-IL" sz="1800" dirty="0">
                <a:cs typeface="Calibri" panose="020F0502020204030204" pitchFamily="34" charset="0"/>
              </a:rPr>
              <a:t>ניתן להוסיף רשומות חדשות באמצעות הפקודה</a:t>
            </a:r>
            <a:r>
              <a:rPr lang="en-US" sz="1800" dirty="0">
                <a:cs typeface="Calibri" panose="020F0502020204030204" pitchFamily="34" charset="0"/>
              </a:rPr>
              <a:t>INSERT INTO </a:t>
            </a:r>
            <a:r>
              <a:rPr lang="he-IL" sz="1800" dirty="0">
                <a:cs typeface="Calibri" panose="020F0502020204030204" pitchFamily="34" charset="0"/>
              </a:rPr>
              <a:t>.</a:t>
            </a:r>
            <a:br>
              <a:rPr lang="en-US" sz="1800" dirty="0">
                <a:cs typeface="Calibri" panose="020F0502020204030204" pitchFamily="34" charset="0"/>
              </a:rPr>
            </a:br>
            <a:r>
              <a:rPr lang="he-IL" sz="1800" dirty="0">
                <a:cs typeface="Calibri" panose="020F0502020204030204" pitchFamily="34" charset="0"/>
              </a:rPr>
              <a:t>הפקודה מתחילה במילת המפתח </a:t>
            </a:r>
            <a:r>
              <a:rPr lang="en-US" sz="1800" dirty="0">
                <a:cs typeface="Calibri" panose="020F0502020204030204" pitchFamily="34" charset="0"/>
              </a:rPr>
              <a:t>INSERT INTO</a:t>
            </a:r>
            <a:r>
              <a:rPr lang="he-IL" sz="1800" dirty="0">
                <a:cs typeface="Calibri" panose="020F0502020204030204" pitchFamily="34" charset="0"/>
              </a:rPr>
              <a:t> ואחריה שם הטבלה, שמות העמודות, והערכים שיש להוסיף.</a:t>
            </a:r>
          </a:p>
          <a:p>
            <a:pPr marL="64008" indent="0" rtl="1">
              <a:buNone/>
            </a:pPr>
            <a:r>
              <a:rPr lang="en-US" sz="1800" dirty="0">
                <a:cs typeface="Calibri" panose="020F0502020204030204" pitchFamily="34" charset="0"/>
              </a:rPr>
              <a:t>Syntax:</a:t>
            </a:r>
          </a:p>
          <a:p>
            <a:pPr marL="64008" indent="0" rtl="1">
              <a:buNone/>
            </a:pPr>
            <a:r>
              <a:rPr lang="he-IL" sz="1800" dirty="0">
                <a:cs typeface="Calibri" panose="020F0502020204030204" pitchFamily="34" charset="0"/>
              </a:rPr>
              <a:t>הוספת ערכים לכל העמודות בטבלה מסוימת:</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הוספת ערכים לעמודות ספציפיות בטבלה מסוימת:</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הוספה של יותר משורה אחת לטבלה:</a:t>
            </a: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 </a:t>
            </a:r>
          </a:p>
        </p:txBody>
      </p:sp>
      <p:sp>
        <p:nvSpPr>
          <p:cNvPr id="3" name="כותרת 2">
            <a:extLst>
              <a:ext uri="{FF2B5EF4-FFF2-40B4-BE49-F238E27FC236}">
                <a16:creationId xmlns:a16="http://schemas.microsoft.com/office/drawing/2014/main" id="{2F632C70-C1A3-474D-BB59-9481134A65C9}"/>
              </a:ext>
            </a:extLst>
          </p:cNvPr>
          <p:cNvSpPr>
            <a:spLocks noGrp="1"/>
          </p:cNvSpPr>
          <p:nvPr>
            <p:ph type="title"/>
          </p:nvPr>
        </p:nvSpPr>
        <p:spPr/>
        <p:txBody>
          <a:bodyPr/>
          <a:lstStyle/>
          <a:p>
            <a:pPr rtl="1"/>
            <a:r>
              <a:rPr lang="en-US" dirty="0"/>
              <a:t>Create</a:t>
            </a:r>
            <a:r>
              <a:rPr lang="he-IL" dirty="0"/>
              <a:t> – הוספת נתונים לטבלה</a:t>
            </a:r>
          </a:p>
        </p:txBody>
      </p:sp>
      <p:sp>
        <p:nvSpPr>
          <p:cNvPr id="4" name="מציין מיקום של מספר שקופית 3">
            <a:extLst>
              <a:ext uri="{FF2B5EF4-FFF2-40B4-BE49-F238E27FC236}">
                <a16:creationId xmlns:a16="http://schemas.microsoft.com/office/drawing/2014/main" id="{26049DD3-7E4F-4AB4-8D7F-F2339187B4CE}"/>
              </a:ext>
            </a:extLst>
          </p:cNvPr>
          <p:cNvSpPr>
            <a:spLocks noGrp="1"/>
          </p:cNvSpPr>
          <p:nvPr>
            <p:ph type="sldNum" sz="quarter" idx="11"/>
          </p:nvPr>
        </p:nvSpPr>
        <p:spPr/>
        <p:txBody>
          <a:bodyPr/>
          <a:lstStyle/>
          <a:p>
            <a:fld id="{746FD205-8D79-439C-A802-2377436AEC8A}" type="slidenum">
              <a:rPr lang="he-IL" smtClean="0"/>
              <a:pPr/>
              <a:t>30</a:t>
            </a:fld>
            <a:endParaRPr lang="he-IL"/>
          </a:p>
        </p:txBody>
      </p:sp>
      <p:pic>
        <p:nvPicPr>
          <p:cNvPr id="7" name="תמונה 6">
            <a:extLst>
              <a:ext uri="{FF2B5EF4-FFF2-40B4-BE49-F238E27FC236}">
                <a16:creationId xmlns:a16="http://schemas.microsoft.com/office/drawing/2014/main" id="{2D58F412-F02B-4444-953E-262C54C87848}"/>
              </a:ext>
            </a:extLst>
          </p:cNvPr>
          <p:cNvPicPr>
            <a:picLocks noChangeAspect="1"/>
          </p:cNvPicPr>
          <p:nvPr/>
        </p:nvPicPr>
        <p:blipFill>
          <a:blip r:embed="rId2"/>
          <a:stretch>
            <a:fillRect/>
          </a:stretch>
        </p:blipFill>
        <p:spPr>
          <a:xfrm>
            <a:off x="5791200" y="5356240"/>
            <a:ext cx="2754786" cy="875881"/>
          </a:xfrm>
          <a:prstGeom prst="rect">
            <a:avLst/>
          </a:prstGeom>
        </p:spPr>
      </p:pic>
      <p:pic>
        <p:nvPicPr>
          <p:cNvPr id="8" name="תמונה 7">
            <a:extLst>
              <a:ext uri="{FF2B5EF4-FFF2-40B4-BE49-F238E27FC236}">
                <a16:creationId xmlns:a16="http://schemas.microsoft.com/office/drawing/2014/main" id="{12F7257E-36F7-4679-85BB-32A49BC180B1}"/>
              </a:ext>
            </a:extLst>
          </p:cNvPr>
          <p:cNvPicPr>
            <a:picLocks noChangeAspect="1"/>
          </p:cNvPicPr>
          <p:nvPr/>
        </p:nvPicPr>
        <p:blipFill>
          <a:blip r:embed="rId3"/>
          <a:stretch>
            <a:fillRect/>
          </a:stretch>
        </p:blipFill>
        <p:spPr>
          <a:xfrm>
            <a:off x="4791075" y="4352586"/>
            <a:ext cx="3724275" cy="466725"/>
          </a:xfrm>
          <a:prstGeom prst="rect">
            <a:avLst/>
          </a:prstGeom>
        </p:spPr>
      </p:pic>
      <p:pic>
        <p:nvPicPr>
          <p:cNvPr id="9" name="תמונה 8">
            <a:extLst>
              <a:ext uri="{FF2B5EF4-FFF2-40B4-BE49-F238E27FC236}">
                <a16:creationId xmlns:a16="http://schemas.microsoft.com/office/drawing/2014/main" id="{1192803F-4BF8-4D52-ADDB-2FDC01F45E1B}"/>
              </a:ext>
            </a:extLst>
          </p:cNvPr>
          <p:cNvPicPr>
            <a:picLocks noChangeAspect="1"/>
          </p:cNvPicPr>
          <p:nvPr/>
        </p:nvPicPr>
        <p:blipFill>
          <a:blip r:embed="rId4"/>
          <a:stretch>
            <a:fillRect/>
          </a:stretch>
        </p:blipFill>
        <p:spPr>
          <a:xfrm>
            <a:off x="5991225" y="3394102"/>
            <a:ext cx="2524125" cy="428625"/>
          </a:xfrm>
          <a:prstGeom prst="rect">
            <a:avLst/>
          </a:prstGeom>
        </p:spPr>
      </p:pic>
    </p:spTree>
    <p:extLst>
      <p:ext uri="{BB962C8B-B14F-4D97-AF65-F5344CB8AC3E}">
        <p14:creationId xmlns:p14="http://schemas.microsoft.com/office/powerpoint/2010/main" val="2733078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FB14E7CF-4DE0-4C4C-BEBC-26B81F43FC50}"/>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הוספת נתונים לטבלת עובד:</a:t>
            </a:r>
          </a:p>
          <a:p>
            <a:pPr marL="64008" indent="0" rtl="1">
              <a:buNone/>
            </a:pPr>
            <a:r>
              <a:rPr lang="he-IL" sz="1800" dirty="0">
                <a:cs typeface="Calibri" panose="020F0502020204030204" pitchFamily="34" charset="0"/>
              </a:rPr>
              <a:t>להלן ה </a:t>
            </a:r>
            <a:r>
              <a:rPr lang="en-US" sz="1800" dirty="0">
                <a:cs typeface="Calibri" panose="020F0502020204030204" pitchFamily="34" charset="0"/>
              </a:rPr>
              <a:t>Design</a:t>
            </a:r>
            <a:r>
              <a:rPr lang="he-IL" sz="1800" dirty="0">
                <a:cs typeface="Calibri" panose="020F0502020204030204" pitchFamily="34" charset="0"/>
              </a:rPr>
              <a:t> של הטבלה:</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הוספת ערכים לכל העמודות בטבלה:</a:t>
            </a:r>
          </a:p>
          <a:p>
            <a:pPr marL="64008" indent="0" rtl="1">
              <a:buNone/>
            </a:pPr>
            <a:br>
              <a:rPr lang="en-US" sz="1800" dirty="0">
                <a:cs typeface="Calibri" panose="020F0502020204030204" pitchFamily="34" charset="0"/>
              </a:rPr>
            </a:br>
            <a:endParaRPr lang="he-IL" sz="1800" dirty="0">
              <a:cs typeface="Calibri" panose="020F0502020204030204" pitchFamily="34" charset="0"/>
            </a:endParaRPr>
          </a:p>
          <a:p>
            <a:pPr marL="64008" indent="0" rtl="1">
              <a:buNone/>
            </a:pPr>
            <a:r>
              <a:rPr lang="he-IL" sz="1800" dirty="0">
                <a:cs typeface="Calibri" panose="020F0502020204030204" pitchFamily="34" charset="0"/>
              </a:rPr>
              <a:t>הוספת ערכים לעמודות ספציפיות בטבלה</a:t>
            </a:r>
            <a:r>
              <a:rPr lang="en-US" sz="1800" dirty="0">
                <a:cs typeface="Calibri" panose="020F0502020204030204" pitchFamily="34" charset="0"/>
              </a:rPr>
              <a:t> </a:t>
            </a:r>
            <a:r>
              <a:rPr lang="he-IL" sz="1800" dirty="0">
                <a:cs typeface="Calibri" panose="020F0502020204030204" pitchFamily="34" charset="0"/>
              </a:rPr>
              <a:t>(הערכים צריכים להיות מותאמים לסדר בו נכתוב העמודות בשורה הראשונה):</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הוספת מספר שורות לטבלה:</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23BB330-15C6-466C-8612-EDE3FECC6C7C}"/>
              </a:ext>
            </a:extLst>
          </p:cNvPr>
          <p:cNvSpPr>
            <a:spLocks noGrp="1"/>
          </p:cNvSpPr>
          <p:nvPr>
            <p:ph type="title"/>
          </p:nvPr>
        </p:nvSpPr>
        <p:spPr/>
        <p:txBody>
          <a:bodyPr/>
          <a:lstStyle/>
          <a:p>
            <a:pPr algn="l" rtl="1"/>
            <a:r>
              <a:rPr lang="en-US" dirty="0"/>
              <a:t>Create - Example</a:t>
            </a:r>
            <a:endParaRPr lang="he-IL" dirty="0"/>
          </a:p>
        </p:txBody>
      </p:sp>
      <p:sp>
        <p:nvSpPr>
          <p:cNvPr id="4" name="מציין מיקום של מספר שקופית 3">
            <a:extLst>
              <a:ext uri="{FF2B5EF4-FFF2-40B4-BE49-F238E27FC236}">
                <a16:creationId xmlns:a16="http://schemas.microsoft.com/office/drawing/2014/main" id="{F33A9A2B-EC2F-4E5D-AFAF-4DF54892241A}"/>
              </a:ext>
            </a:extLst>
          </p:cNvPr>
          <p:cNvSpPr>
            <a:spLocks noGrp="1"/>
          </p:cNvSpPr>
          <p:nvPr>
            <p:ph type="sldNum" sz="quarter" idx="11"/>
          </p:nvPr>
        </p:nvSpPr>
        <p:spPr/>
        <p:txBody>
          <a:bodyPr/>
          <a:lstStyle/>
          <a:p>
            <a:fld id="{746FD205-8D79-439C-A802-2377436AEC8A}" type="slidenum">
              <a:rPr lang="he-IL" smtClean="0"/>
              <a:pPr/>
              <a:t>31</a:t>
            </a:fld>
            <a:endParaRPr lang="he-IL"/>
          </a:p>
        </p:txBody>
      </p:sp>
      <p:pic>
        <p:nvPicPr>
          <p:cNvPr id="6" name="תמונה 5">
            <a:extLst>
              <a:ext uri="{FF2B5EF4-FFF2-40B4-BE49-F238E27FC236}">
                <a16:creationId xmlns:a16="http://schemas.microsoft.com/office/drawing/2014/main" id="{1834E719-71DD-4C6D-9F65-6A9A4CD85F42}"/>
              </a:ext>
            </a:extLst>
          </p:cNvPr>
          <p:cNvPicPr>
            <a:picLocks noChangeAspect="1"/>
          </p:cNvPicPr>
          <p:nvPr/>
        </p:nvPicPr>
        <p:blipFill>
          <a:blip r:embed="rId2"/>
          <a:stretch>
            <a:fillRect/>
          </a:stretch>
        </p:blipFill>
        <p:spPr>
          <a:xfrm>
            <a:off x="6096000" y="2286000"/>
            <a:ext cx="2438400" cy="880649"/>
          </a:xfrm>
          <a:prstGeom prst="rect">
            <a:avLst/>
          </a:prstGeom>
        </p:spPr>
      </p:pic>
      <p:pic>
        <p:nvPicPr>
          <p:cNvPr id="7" name="תמונה 6">
            <a:extLst>
              <a:ext uri="{FF2B5EF4-FFF2-40B4-BE49-F238E27FC236}">
                <a16:creationId xmlns:a16="http://schemas.microsoft.com/office/drawing/2014/main" id="{5278E415-D57A-403F-9E19-D02FD4A70D4D}"/>
              </a:ext>
            </a:extLst>
          </p:cNvPr>
          <p:cNvPicPr>
            <a:picLocks noChangeAspect="1"/>
          </p:cNvPicPr>
          <p:nvPr/>
        </p:nvPicPr>
        <p:blipFill>
          <a:blip r:embed="rId3"/>
          <a:stretch>
            <a:fillRect/>
          </a:stretch>
        </p:blipFill>
        <p:spPr>
          <a:xfrm>
            <a:off x="3200400" y="3490725"/>
            <a:ext cx="5334786" cy="357026"/>
          </a:xfrm>
          <a:prstGeom prst="rect">
            <a:avLst/>
          </a:prstGeom>
        </p:spPr>
      </p:pic>
      <p:pic>
        <p:nvPicPr>
          <p:cNvPr id="8" name="תמונה 7">
            <a:extLst>
              <a:ext uri="{FF2B5EF4-FFF2-40B4-BE49-F238E27FC236}">
                <a16:creationId xmlns:a16="http://schemas.microsoft.com/office/drawing/2014/main" id="{00326796-B137-4EF3-97A0-46F471B10522}"/>
              </a:ext>
            </a:extLst>
          </p:cNvPr>
          <p:cNvPicPr>
            <a:picLocks noChangeAspect="1"/>
          </p:cNvPicPr>
          <p:nvPr/>
        </p:nvPicPr>
        <p:blipFill>
          <a:blip r:embed="rId4"/>
          <a:stretch>
            <a:fillRect/>
          </a:stretch>
        </p:blipFill>
        <p:spPr>
          <a:xfrm>
            <a:off x="4542148" y="4834343"/>
            <a:ext cx="3962400" cy="296424"/>
          </a:xfrm>
          <a:prstGeom prst="rect">
            <a:avLst/>
          </a:prstGeom>
        </p:spPr>
      </p:pic>
      <p:pic>
        <p:nvPicPr>
          <p:cNvPr id="5" name="תמונה 4">
            <a:extLst>
              <a:ext uri="{FF2B5EF4-FFF2-40B4-BE49-F238E27FC236}">
                <a16:creationId xmlns:a16="http://schemas.microsoft.com/office/drawing/2014/main" id="{644DEAD1-E7DF-4A62-A4BA-7BF5656BD984}"/>
              </a:ext>
            </a:extLst>
          </p:cNvPr>
          <p:cNvPicPr>
            <a:picLocks noChangeAspect="1"/>
          </p:cNvPicPr>
          <p:nvPr/>
        </p:nvPicPr>
        <p:blipFill>
          <a:blip r:embed="rId5"/>
          <a:stretch>
            <a:fillRect/>
          </a:stretch>
        </p:blipFill>
        <p:spPr>
          <a:xfrm>
            <a:off x="5004111" y="5822247"/>
            <a:ext cx="3500437" cy="502353"/>
          </a:xfrm>
          <a:prstGeom prst="rect">
            <a:avLst/>
          </a:prstGeom>
        </p:spPr>
      </p:pic>
    </p:spTree>
    <p:extLst>
      <p:ext uri="{BB962C8B-B14F-4D97-AF65-F5344CB8AC3E}">
        <p14:creationId xmlns:p14="http://schemas.microsoft.com/office/powerpoint/2010/main" val="230612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A0CAD25-967A-4C8D-9496-A9D435794287}"/>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פקודת </a:t>
            </a:r>
            <a:r>
              <a:rPr lang="en-US" sz="1800" dirty="0">
                <a:cs typeface="Calibri" panose="020F0502020204030204" pitchFamily="34" charset="0"/>
              </a:rPr>
              <a:t>Read</a:t>
            </a:r>
            <a:r>
              <a:rPr lang="he-IL" sz="1800" dirty="0">
                <a:cs typeface="Calibri" panose="020F0502020204030204" pitchFamily="34" charset="0"/>
              </a:rPr>
              <a:t> ב </a:t>
            </a:r>
            <a:r>
              <a:rPr lang="en-US" sz="1800" dirty="0">
                <a:cs typeface="Calibri" panose="020F0502020204030204" pitchFamily="34" charset="0"/>
              </a:rPr>
              <a:t>SQL</a:t>
            </a:r>
            <a:r>
              <a:rPr lang="he-IL" sz="1800" dirty="0">
                <a:cs typeface="Calibri" panose="020F0502020204030204" pitchFamily="34" charset="0"/>
              </a:rPr>
              <a:t> היא פקודת ה </a:t>
            </a:r>
            <a:r>
              <a:rPr lang="en-US" sz="1800" dirty="0">
                <a:cs typeface="Calibri" panose="020F0502020204030204" pitchFamily="34" charset="0"/>
              </a:rPr>
              <a:t>Select</a:t>
            </a:r>
            <a:r>
              <a:rPr lang="he-IL" sz="1800" dirty="0">
                <a:cs typeface="Calibri" panose="020F0502020204030204" pitchFamily="34" charset="0"/>
              </a:rPr>
              <a:t>.</a:t>
            </a:r>
          </a:p>
          <a:p>
            <a:pPr marL="64008" indent="0" rtl="1">
              <a:buNone/>
            </a:pPr>
            <a:r>
              <a:rPr lang="he-IL" sz="1800" dirty="0">
                <a:cs typeface="Calibri" panose="020F0502020204030204" pitchFamily="34" charset="0"/>
              </a:rPr>
              <a:t>באמצעות פקודת ה </a:t>
            </a:r>
            <a:r>
              <a:rPr lang="en-US" sz="1800" dirty="0">
                <a:cs typeface="Calibri" panose="020F0502020204030204" pitchFamily="34" charset="0"/>
              </a:rPr>
              <a:t>Select</a:t>
            </a:r>
            <a:r>
              <a:rPr lang="he-IL" sz="1800" dirty="0">
                <a:cs typeface="Calibri" panose="020F0502020204030204" pitchFamily="34" charset="0"/>
              </a:rPr>
              <a:t> ניתן לשלוף נתונים מטבלה ולהציג אותם. </a:t>
            </a:r>
          </a:p>
          <a:p>
            <a:pPr marL="64008" indent="0" rtl="1">
              <a:buNone/>
            </a:pPr>
            <a:r>
              <a:rPr lang="he-IL" sz="1800" dirty="0">
                <a:cs typeface="Calibri" panose="020F0502020204030204" pitchFamily="34" charset="0"/>
              </a:rPr>
              <a:t>פקודה זו כוללת אפשרויות רבות של: איזה עמודות להציג, איזה רשומות מתוך הטבלה, באיזו צורה להציג, איך למיין את הרשומות המוצגות ועוד.</a:t>
            </a:r>
          </a:p>
          <a:p>
            <a:pPr marL="64008" indent="0" rtl="1">
              <a:buNone/>
            </a:pPr>
            <a:r>
              <a:rPr lang="he-IL" sz="1800" dirty="0">
                <a:cs typeface="Calibri" panose="020F0502020204030204" pitchFamily="34" charset="0"/>
              </a:rPr>
              <a:t>יפורט בהמשך....</a:t>
            </a:r>
          </a:p>
        </p:txBody>
      </p:sp>
      <p:sp>
        <p:nvSpPr>
          <p:cNvPr id="3" name="כותרת 2">
            <a:extLst>
              <a:ext uri="{FF2B5EF4-FFF2-40B4-BE49-F238E27FC236}">
                <a16:creationId xmlns:a16="http://schemas.microsoft.com/office/drawing/2014/main" id="{ABA448A7-FC0C-4DCB-B15C-0B1C027B247E}"/>
              </a:ext>
            </a:extLst>
          </p:cNvPr>
          <p:cNvSpPr>
            <a:spLocks noGrp="1"/>
          </p:cNvSpPr>
          <p:nvPr>
            <p:ph type="title"/>
          </p:nvPr>
        </p:nvSpPr>
        <p:spPr/>
        <p:txBody>
          <a:bodyPr/>
          <a:lstStyle/>
          <a:p>
            <a:pPr rtl="1"/>
            <a:r>
              <a:rPr lang="en-US" dirty="0"/>
              <a:t>Read</a:t>
            </a:r>
            <a:r>
              <a:rPr lang="he-IL" dirty="0"/>
              <a:t> – עדכון נתוני טבלה</a:t>
            </a:r>
          </a:p>
        </p:txBody>
      </p:sp>
      <p:sp>
        <p:nvSpPr>
          <p:cNvPr id="4" name="מציין מיקום של מספר שקופית 3">
            <a:extLst>
              <a:ext uri="{FF2B5EF4-FFF2-40B4-BE49-F238E27FC236}">
                <a16:creationId xmlns:a16="http://schemas.microsoft.com/office/drawing/2014/main" id="{A16AE68C-0904-492B-9FA5-4B9C53B941A2}"/>
              </a:ext>
            </a:extLst>
          </p:cNvPr>
          <p:cNvSpPr>
            <a:spLocks noGrp="1"/>
          </p:cNvSpPr>
          <p:nvPr>
            <p:ph type="sldNum" sz="quarter" idx="11"/>
          </p:nvPr>
        </p:nvSpPr>
        <p:spPr/>
        <p:txBody>
          <a:bodyPr/>
          <a:lstStyle/>
          <a:p>
            <a:fld id="{746FD205-8D79-439C-A802-2377436AEC8A}" type="slidenum">
              <a:rPr lang="he-IL" smtClean="0"/>
              <a:pPr/>
              <a:t>32</a:t>
            </a:fld>
            <a:endParaRPr lang="he-IL"/>
          </a:p>
        </p:txBody>
      </p:sp>
    </p:spTree>
    <p:extLst>
      <p:ext uri="{BB962C8B-B14F-4D97-AF65-F5344CB8AC3E}">
        <p14:creationId xmlns:p14="http://schemas.microsoft.com/office/powerpoint/2010/main" val="1604015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B98BF99-75BC-4082-8D82-EA59C06030B9}"/>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פעולת ה-</a:t>
            </a:r>
            <a:r>
              <a:rPr lang="en-US" sz="1800" dirty="0">
                <a:cs typeface="Calibri" panose="020F0502020204030204" pitchFamily="34" charset="0"/>
              </a:rPr>
              <a:t> UPDATE </a:t>
            </a:r>
            <a:r>
              <a:rPr lang="he-IL" sz="1800" dirty="0">
                <a:cs typeface="Calibri" panose="020F0502020204030204" pitchFamily="34" charset="0"/>
              </a:rPr>
              <a:t>היא האופן שבו אנו משנים רשומה קיימת בטבלה. ניתן להשתמש בה כדי לשנות רשומות שכבר קיימות במסד הנתונים. </a:t>
            </a:r>
            <a:br>
              <a:rPr lang="en-US" sz="1800" dirty="0">
                <a:cs typeface="Calibri" panose="020F0502020204030204" pitchFamily="34" charset="0"/>
              </a:rPr>
            </a:br>
            <a:r>
              <a:rPr lang="he-IL" sz="1800" dirty="0">
                <a:cs typeface="Calibri" panose="020F0502020204030204" pitchFamily="34" charset="0"/>
              </a:rPr>
              <a:t>בעת ביצוע עדכון, יש להגדיר את טבלת היעד, העמודות אותן אנו רוצים לעדכן והערכים החדשים אותם אנו רוצים למלא. (ע"י פקודת ה </a:t>
            </a:r>
            <a:r>
              <a:rPr lang="en-US" sz="1800" dirty="0">
                <a:cs typeface="Calibri" panose="020F0502020204030204" pitchFamily="34" charset="0"/>
              </a:rPr>
              <a:t>Where</a:t>
            </a:r>
            <a:r>
              <a:rPr lang="he-IL" sz="1800" dirty="0">
                <a:cs typeface="Calibri" panose="020F0502020204030204" pitchFamily="34" charset="0"/>
              </a:rPr>
              <a:t>, התכנה תדע איזה שורות לעדכן – השורות שעומדות בתנאי, במידה ולא נכתוב </a:t>
            </a:r>
            <a:r>
              <a:rPr lang="en-US" sz="1800" dirty="0">
                <a:cs typeface="Calibri" panose="020F0502020204030204" pitchFamily="34" charset="0"/>
              </a:rPr>
              <a:t>Where</a:t>
            </a:r>
            <a:r>
              <a:rPr lang="he-IL" sz="1800" dirty="0">
                <a:cs typeface="Calibri" panose="020F0502020204030204" pitchFamily="34" charset="0"/>
              </a:rPr>
              <a:t> יתעדכנו כל השורות) – </a:t>
            </a:r>
            <a:r>
              <a:rPr lang="he-IL" sz="1800">
                <a:cs typeface="Calibri" panose="020F0502020204030204" pitchFamily="34" charset="0"/>
              </a:rPr>
              <a:t>יפורט בהמשך...</a:t>
            </a:r>
            <a:endParaRPr lang="he-IL" sz="1800" dirty="0">
              <a:cs typeface="Calibri" panose="020F0502020204030204" pitchFamily="34" charset="0"/>
            </a:endParaRPr>
          </a:p>
          <a:p>
            <a:pPr marL="64008" indent="0" rtl="1">
              <a:buNone/>
            </a:pP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בטבלת שכר לעובדים - עדכון ערך עמודת ה </a:t>
            </a:r>
            <a:r>
              <a:rPr lang="en-US" sz="1800" dirty="0" err="1">
                <a:cs typeface="Calibri" panose="020F0502020204030204" pitchFamily="34" charset="0"/>
              </a:rPr>
              <a:t>PayRate</a:t>
            </a:r>
            <a:r>
              <a:rPr lang="he-IL" sz="1800" dirty="0">
                <a:cs typeface="Calibri" panose="020F0502020204030204" pitchFamily="34" charset="0"/>
              </a:rPr>
              <a:t> ל 2000 עבור כל הרשומות:</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עדכון ערך עמודת ה </a:t>
            </a:r>
            <a:r>
              <a:rPr lang="en-US" sz="1800" dirty="0">
                <a:cs typeface="Calibri" panose="020F0502020204030204" pitchFamily="34" charset="0"/>
              </a:rPr>
              <a:t>Bonus</a:t>
            </a:r>
            <a:r>
              <a:rPr lang="he-IL" sz="1800" dirty="0">
                <a:cs typeface="Calibri" panose="020F0502020204030204" pitchFamily="34" charset="0"/>
              </a:rPr>
              <a:t> ל 1500 עבור כל הרשומות שערך המשכורת שלהן הוא החל מ 10000:</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25189CCB-DD0D-44B3-89B4-E2BA26963A37}"/>
              </a:ext>
            </a:extLst>
          </p:cNvPr>
          <p:cNvSpPr>
            <a:spLocks noGrp="1"/>
          </p:cNvSpPr>
          <p:nvPr>
            <p:ph type="title"/>
          </p:nvPr>
        </p:nvSpPr>
        <p:spPr/>
        <p:txBody>
          <a:bodyPr/>
          <a:lstStyle/>
          <a:p>
            <a:r>
              <a:rPr lang="en-US" dirty="0"/>
              <a:t>Update</a:t>
            </a:r>
            <a:endParaRPr lang="he-IL" dirty="0"/>
          </a:p>
        </p:txBody>
      </p:sp>
      <p:sp>
        <p:nvSpPr>
          <p:cNvPr id="4" name="מציין מיקום של מספר שקופית 3">
            <a:extLst>
              <a:ext uri="{FF2B5EF4-FFF2-40B4-BE49-F238E27FC236}">
                <a16:creationId xmlns:a16="http://schemas.microsoft.com/office/drawing/2014/main" id="{0C1B1BF3-340D-4774-8345-4D7C2855338E}"/>
              </a:ext>
            </a:extLst>
          </p:cNvPr>
          <p:cNvSpPr>
            <a:spLocks noGrp="1"/>
          </p:cNvSpPr>
          <p:nvPr>
            <p:ph type="sldNum" sz="quarter" idx="11"/>
          </p:nvPr>
        </p:nvSpPr>
        <p:spPr/>
        <p:txBody>
          <a:bodyPr/>
          <a:lstStyle/>
          <a:p>
            <a:fld id="{746FD205-8D79-439C-A802-2377436AEC8A}" type="slidenum">
              <a:rPr lang="he-IL" smtClean="0"/>
              <a:pPr/>
              <a:t>33</a:t>
            </a:fld>
            <a:endParaRPr lang="he-IL"/>
          </a:p>
        </p:txBody>
      </p:sp>
      <p:pic>
        <p:nvPicPr>
          <p:cNvPr id="6" name="תמונה 5">
            <a:extLst>
              <a:ext uri="{FF2B5EF4-FFF2-40B4-BE49-F238E27FC236}">
                <a16:creationId xmlns:a16="http://schemas.microsoft.com/office/drawing/2014/main" id="{E91FA71F-6DBA-410D-8D5C-69F4D90093BC}"/>
              </a:ext>
            </a:extLst>
          </p:cNvPr>
          <p:cNvPicPr>
            <a:picLocks noChangeAspect="1"/>
          </p:cNvPicPr>
          <p:nvPr/>
        </p:nvPicPr>
        <p:blipFill>
          <a:blip r:embed="rId2"/>
          <a:stretch>
            <a:fillRect/>
          </a:stretch>
        </p:blipFill>
        <p:spPr>
          <a:xfrm>
            <a:off x="6629400" y="4724400"/>
            <a:ext cx="1902644" cy="385558"/>
          </a:xfrm>
          <a:prstGeom prst="rect">
            <a:avLst/>
          </a:prstGeom>
        </p:spPr>
      </p:pic>
      <p:pic>
        <p:nvPicPr>
          <p:cNvPr id="7" name="תמונה 6">
            <a:extLst>
              <a:ext uri="{FF2B5EF4-FFF2-40B4-BE49-F238E27FC236}">
                <a16:creationId xmlns:a16="http://schemas.microsoft.com/office/drawing/2014/main" id="{8641B587-7510-4863-A5E4-81A65B1D8FF4}"/>
              </a:ext>
            </a:extLst>
          </p:cNvPr>
          <p:cNvPicPr>
            <a:picLocks noChangeAspect="1"/>
          </p:cNvPicPr>
          <p:nvPr/>
        </p:nvPicPr>
        <p:blipFill>
          <a:blip r:embed="rId3"/>
          <a:stretch>
            <a:fillRect/>
          </a:stretch>
        </p:blipFill>
        <p:spPr>
          <a:xfrm>
            <a:off x="6800039" y="5619750"/>
            <a:ext cx="1732005" cy="552450"/>
          </a:xfrm>
          <a:prstGeom prst="rect">
            <a:avLst/>
          </a:prstGeom>
        </p:spPr>
      </p:pic>
      <p:pic>
        <p:nvPicPr>
          <p:cNvPr id="8" name="תמונה 7">
            <a:extLst>
              <a:ext uri="{FF2B5EF4-FFF2-40B4-BE49-F238E27FC236}">
                <a16:creationId xmlns:a16="http://schemas.microsoft.com/office/drawing/2014/main" id="{89F36565-A4A6-4ACC-BA54-5BD688097555}"/>
              </a:ext>
            </a:extLst>
          </p:cNvPr>
          <p:cNvPicPr>
            <a:picLocks noChangeAspect="1"/>
          </p:cNvPicPr>
          <p:nvPr/>
        </p:nvPicPr>
        <p:blipFill>
          <a:blip r:embed="rId4"/>
          <a:stretch>
            <a:fillRect/>
          </a:stretch>
        </p:blipFill>
        <p:spPr>
          <a:xfrm>
            <a:off x="5550719" y="3347833"/>
            <a:ext cx="2981325" cy="628650"/>
          </a:xfrm>
          <a:prstGeom prst="rect">
            <a:avLst/>
          </a:prstGeom>
        </p:spPr>
      </p:pic>
    </p:spTree>
    <p:extLst>
      <p:ext uri="{BB962C8B-B14F-4D97-AF65-F5344CB8AC3E}">
        <p14:creationId xmlns:p14="http://schemas.microsoft.com/office/powerpoint/2010/main" val="1963284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C642CF2-A324-430A-9F4F-8161A117E503}"/>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פקודת </a:t>
            </a:r>
            <a:r>
              <a:rPr lang="en-US" sz="1800" dirty="0">
                <a:cs typeface="Calibri" panose="020F0502020204030204" pitchFamily="34" charset="0"/>
              </a:rPr>
              <a:t> DELETE </a:t>
            </a:r>
            <a:r>
              <a:rPr lang="he-IL" sz="1800" dirty="0">
                <a:cs typeface="Calibri" panose="020F0502020204030204" pitchFamily="34" charset="0"/>
              </a:rPr>
              <a:t>משמשת למחיקת רשומות קיימות בטבלה.</a:t>
            </a:r>
          </a:p>
          <a:p>
            <a:pPr marL="64008" indent="0" rtl="1">
              <a:buNone/>
            </a:pPr>
            <a:r>
              <a:rPr lang="en-US" sz="1800" dirty="0">
                <a:cs typeface="Calibri" panose="020F0502020204030204" pitchFamily="34" charset="0"/>
              </a:rPr>
              <a:t>Syntax:</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מחיקת כל התלמידים שסיימו את לימודיהם – תלמידים שהתחילו ללמוד לפני למעלה מ 3 שנים:</a:t>
            </a: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499EDCEE-311D-450E-9353-E5FFC77A1FB7}"/>
              </a:ext>
            </a:extLst>
          </p:cNvPr>
          <p:cNvSpPr>
            <a:spLocks noGrp="1"/>
          </p:cNvSpPr>
          <p:nvPr>
            <p:ph type="title"/>
          </p:nvPr>
        </p:nvSpPr>
        <p:spPr/>
        <p:txBody>
          <a:bodyPr/>
          <a:lstStyle/>
          <a:p>
            <a:r>
              <a:rPr lang="en-US" dirty="0"/>
              <a:t>Delete</a:t>
            </a:r>
            <a:endParaRPr lang="he-IL" dirty="0"/>
          </a:p>
        </p:txBody>
      </p:sp>
      <p:sp>
        <p:nvSpPr>
          <p:cNvPr id="4" name="מציין מיקום של מספר שקופית 3">
            <a:extLst>
              <a:ext uri="{FF2B5EF4-FFF2-40B4-BE49-F238E27FC236}">
                <a16:creationId xmlns:a16="http://schemas.microsoft.com/office/drawing/2014/main" id="{300224E4-45C8-42A5-B9F2-A4729B422EBE}"/>
              </a:ext>
            </a:extLst>
          </p:cNvPr>
          <p:cNvSpPr>
            <a:spLocks noGrp="1"/>
          </p:cNvSpPr>
          <p:nvPr>
            <p:ph type="sldNum" sz="quarter" idx="11"/>
          </p:nvPr>
        </p:nvSpPr>
        <p:spPr/>
        <p:txBody>
          <a:bodyPr/>
          <a:lstStyle/>
          <a:p>
            <a:fld id="{746FD205-8D79-439C-A802-2377436AEC8A}" type="slidenum">
              <a:rPr lang="he-IL" smtClean="0"/>
              <a:pPr/>
              <a:t>34</a:t>
            </a:fld>
            <a:endParaRPr lang="he-IL"/>
          </a:p>
        </p:txBody>
      </p:sp>
      <p:pic>
        <p:nvPicPr>
          <p:cNvPr id="5" name="תמונה 4">
            <a:extLst>
              <a:ext uri="{FF2B5EF4-FFF2-40B4-BE49-F238E27FC236}">
                <a16:creationId xmlns:a16="http://schemas.microsoft.com/office/drawing/2014/main" id="{461C3988-C399-435B-8454-0780383A2D0D}"/>
              </a:ext>
            </a:extLst>
          </p:cNvPr>
          <p:cNvPicPr>
            <a:picLocks noChangeAspect="1"/>
          </p:cNvPicPr>
          <p:nvPr/>
        </p:nvPicPr>
        <p:blipFill>
          <a:blip r:embed="rId2"/>
          <a:stretch>
            <a:fillRect/>
          </a:stretch>
        </p:blipFill>
        <p:spPr>
          <a:xfrm>
            <a:off x="5867400" y="2286000"/>
            <a:ext cx="2667000" cy="247650"/>
          </a:xfrm>
          <a:prstGeom prst="rect">
            <a:avLst/>
          </a:prstGeom>
        </p:spPr>
      </p:pic>
      <p:pic>
        <p:nvPicPr>
          <p:cNvPr id="6" name="תמונה 5">
            <a:extLst>
              <a:ext uri="{FF2B5EF4-FFF2-40B4-BE49-F238E27FC236}">
                <a16:creationId xmlns:a16="http://schemas.microsoft.com/office/drawing/2014/main" id="{5B321567-5000-4241-875A-08DADDD845DC}"/>
              </a:ext>
            </a:extLst>
          </p:cNvPr>
          <p:cNvPicPr>
            <a:picLocks noChangeAspect="1"/>
          </p:cNvPicPr>
          <p:nvPr/>
        </p:nvPicPr>
        <p:blipFill>
          <a:blip r:embed="rId3"/>
          <a:stretch>
            <a:fillRect/>
          </a:stretch>
        </p:blipFill>
        <p:spPr>
          <a:xfrm>
            <a:off x="4495800" y="3614737"/>
            <a:ext cx="4038600" cy="466725"/>
          </a:xfrm>
          <a:prstGeom prst="rect">
            <a:avLst/>
          </a:prstGeom>
        </p:spPr>
      </p:pic>
    </p:spTree>
    <p:extLst>
      <p:ext uri="{BB962C8B-B14F-4D97-AF65-F5344CB8AC3E}">
        <p14:creationId xmlns:p14="http://schemas.microsoft.com/office/powerpoint/2010/main" val="653587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14A27DB9-087F-43ED-B0E7-3647834198F9}"/>
              </a:ext>
            </a:extLst>
          </p:cNvPr>
          <p:cNvSpPr>
            <a:spLocks noGrp="1"/>
          </p:cNvSpPr>
          <p:nvPr>
            <p:ph idx="1"/>
          </p:nvPr>
        </p:nvSpPr>
        <p:spPr/>
        <p:txBody>
          <a:bodyPr>
            <a:normAutofit/>
          </a:bodyPr>
          <a:lstStyle/>
          <a:p>
            <a:pPr marL="64008" indent="0">
              <a:buNone/>
            </a:pPr>
            <a:r>
              <a:rPr lang="he-IL" sz="1800" dirty="0">
                <a:cs typeface="Calibri" panose="020F0502020204030204" pitchFamily="34" charset="0"/>
              </a:rPr>
              <a:t>במסד הנתונים של בית הספר שיצרת:</a:t>
            </a:r>
          </a:p>
          <a:p>
            <a:pPr rtl="1">
              <a:buFont typeface="Courier New" panose="02070309020205020404" pitchFamily="49" charset="0"/>
              <a:buChar char="o"/>
            </a:pPr>
            <a:r>
              <a:rPr lang="he-IL" sz="1800" dirty="0">
                <a:cs typeface="Calibri" panose="020F0502020204030204" pitchFamily="34" charset="0"/>
              </a:rPr>
              <a:t>מלאי נתונים (לפחות כמה שורות בכל טבלה).</a:t>
            </a:r>
            <a:br>
              <a:rPr lang="en-US" sz="1800" dirty="0">
                <a:cs typeface="Calibri" panose="020F0502020204030204" pitchFamily="34" charset="0"/>
              </a:rPr>
            </a:br>
            <a:r>
              <a:rPr lang="he-IL" sz="1800" i="1" dirty="0">
                <a:cs typeface="Calibri" panose="020F0502020204030204" pitchFamily="34" charset="0"/>
              </a:rPr>
              <a:t>שימי לב: אם את ממלאה נתונים בשדה שהוא מפתח זר שמצביע לשדה מפתח ראשי בטבלה אחרת, עליך למלא קודם כל את הטבלה הראשית.... (לדוגמא: תלמידות לכיתות, יש למלא קודם כל קודי כיתה בטבלת כיתות ורק אח"כ לקשר את התלמידים לכיתות בטבלת תלמידים)</a:t>
            </a:r>
            <a:br>
              <a:rPr lang="en-US" sz="1800" i="1" dirty="0">
                <a:cs typeface="Calibri" panose="020F0502020204030204" pitchFamily="34" charset="0"/>
              </a:rPr>
            </a:br>
            <a:r>
              <a:rPr lang="he-IL" sz="1800" dirty="0">
                <a:cs typeface="Calibri" panose="020F0502020204030204" pitchFamily="34" charset="0"/>
              </a:rPr>
              <a:t>מלאי חלק מהנתונים לפחות בצורה של סקריפט 	 </a:t>
            </a:r>
          </a:p>
          <a:p>
            <a:pPr rtl="1">
              <a:buFont typeface="Courier New" panose="02070309020205020404" pitchFamily="49" charset="0"/>
              <a:buChar char="o"/>
            </a:pPr>
            <a:r>
              <a:rPr lang="he-IL" sz="1800" dirty="0">
                <a:cs typeface="Calibri" panose="020F0502020204030204" pitchFamily="34" charset="0"/>
              </a:rPr>
              <a:t>עדכני את השכר לשעה של כל המורות ב 10% נוספים</a:t>
            </a:r>
          </a:p>
          <a:p>
            <a:pPr rtl="1">
              <a:buFont typeface="Courier New" panose="02070309020205020404" pitchFamily="49" charset="0"/>
              <a:buChar char="o"/>
            </a:pPr>
            <a:r>
              <a:rPr lang="he-IL" sz="1800" dirty="0">
                <a:cs typeface="Calibri" panose="020F0502020204030204" pitchFamily="34" charset="0"/>
              </a:rPr>
              <a:t>שלפי מטבלת תלמידות את ת"ז ושמות כל התלמידות</a:t>
            </a:r>
          </a:p>
          <a:p>
            <a:pPr rtl="1">
              <a:buFont typeface="Courier New" panose="02070309020205020404" pitchFamily="49" charset="0"/>
              <a:buChar char="o"/>
            </a:pPr>
            <a:r>
              <a:rPr lang="he-IL" sz="1800" dirty="0">
                <a:cs typeface="Calibri" panose="020F0502020204030204" pitchFamily="34" charset="0"/>
              </a:rPr>
              <a:t>שלפי את כל הערכים מטבלת כיתות</a:t>
            </a: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שמרי את השאילתות כקובץ והגישי.</a:t>
            </a: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1A028356-2BBC-470E-B3FF-1C514222C49B}"/>
              </a:ext>
            </a:extLst>
          </p:cNvPr>
          <p:cNvSpPr>
            <a:spLocks noGrp="1"/>
          </p:cNvSpPr>
          <p:nvPr>
            <p:ph type="title"/>
          </p:nvPr>
        </p:nvSpPr>
        <p:spPr/>
        <p:txBody>
          <a:bodyPr/>
          <a:lstStyle/>
          <a:p>
            <a:pPr rtl="1"/>
            <a:r>
              <a:rPr lang="he-IL" dirty="0"/>
              <a:t>פקודות </a:t>
            </a:r>
            <a:r>
              <a:rPr lang="en-US" dirty="0"/>
              <a:t>CRUD</a:t>
            </a:r>
            <a:r>
              <a:rPr lang="he-IL" dirty="0"/>
              <a:t> - תרגיל</a:t>
            </a:r>
          </a:p>
        </p:txBody>
      </p:sp>
      <p:sp>
        <p:nvSpPr>
          <p:cNvPr id="4" name="מציין מיקום של מספר שקופית 3">
            <a:extLst>
              <a:ext uri="{FF2B5EF4-FFF2-40B4-BE49-F238E27FC236}">
                <a16:creationId xmlns:a16="http://schemas.microsoft.com/office/drawing/2014/main" id="{B64D9E5D-DB01-48A0-B97F-F1CBFB8EC0EB}"/>
              </a:ext>
            </a:extLst>
          </p:cNvPr>
          <p:cNvSpPr>
            <a:spLocks noGrp="1"/>
          </p:cNvSpPr>
          <p:nvPr>
            <p:ph type="sldNum" sz="quarter" idx="11"/>
          </p:nvPr>
        </p:nvSpPr>
        <p:spPr/>
        <p:txBody>
          <a:bodyPr/>
          <a:lstStyle/>
          <a:p>
            <a:fld id="{746FD205-8D79-439C-A802-2377436AEC8A}" type="slidenum">
              <a:rPr lang="he-IL" smtClean="0"/>
              <a:pPr/>
              <a:t>35</a:t>
            </a:fld>
            <a:endParaRPr lang="he-IL"/>
          </a:p>
        </p:txBody>
      </p:sp>
    </p:spTree>
    <p:extLst>
      <p:ext uri="{BB962C8B-B14F-4D97-AF65-F5344CB8AC3E}">
        <p14:creationId xmlns:p14="http://schemas.microsoft.com/office/powerpoint/2010/main" val="2273535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5E6B669-B33E-4C50-B811-BF3C5FC4F1C8}"/>
              </a:ext>
            </a:extLst>
          </p:cNvPr>
          <p:cNvSpPr>
            <a:spLocks noGrp="1"/>
          </p:cNvSpPr>
          <p:nvPr>
            <p:ph idx="1"/>
          </p:nvPr>
        </p:nvSpPr>
        <p:spPr/>
        <p:txBody>
          <a:bodyPr/>
          <a:lstStyle/>
          <a:p>
            <a:pPr marL="64008" indent="0" rtl="1">
              <a:buNone/>
            </a:pPr>
            <a:r>
              <a:rPr lang="he-IL" sz="1800" dirty="0">
                <a:cs typeface="Calibri" panose="020F0502020204030204" pitchFamily="34" charset="0"/>
              </a:rPr>
              <a:t>שאילתה היא הדרך לפנות למסד הנתונים ע"מ לשלוף ממנו נתונים או לעדכן בו נתונים, זאת עפ"י תנאים מסוימים שנציין בשאילתה כגון: איזה עמודות נרצה לשלוף, איזה רשומות בטבלה (רשומות שעונות על תנאים מסוימים וכו').</a:t>
            </a:r>
          </a:p>
          <a:p>
            <a:pPr marL="64008" indent="0" rtl="1">
              <a:buNone/>
            </a:pPr>
            <a:r>
              <a:rPr lang="he-IL" sz="1800" dirty="0">
                <a:cs typeface="Calibri" panose="020F0502020204030204" pitchFamily="34" charset="0"/>
              </a:rPr>
              <a:t>(הרצת השאילתה ע"י הדגשת החלק שאותו אנו רוצים להריץ [או ללא הדגשה במידה ונרצה להריץ את כל מה שכתוב ב </a:t>
            </a:r>
            <a:r>
              <a:rPr lang="en-US" sz="1800" dirty="0">
                <a:cs typeface="Calibri" panose="020F0502020204030204" pitchFamily="34" charset="0"/>
              </a:rPr>
              <a:t>script</a:t>
            </a:r>
            <a:r>
              <a:rPr lang="he-IL" sz="1800" dirty="0">
                <a:cs typeface="Calibri" panose="020F0502020204030204" pitchFamily="34" charset="0"/>
              </a:rPr>
              <a:t>] ולחיצה על כפתור ה </a:t>
            </a:r>
            <a:r>
              <a:rPr lang="en-US" sz="1800" dirty="0">
                <a:cs typeface="Calibri" panose="020F0502020204030204" pitchFamily="34" charset="0"/>
              </a:rPr>
              <a:t>execute</a:t>
            </a:r>
            <a:r>
              <a:rPr lang="he-IL" sz="1800" dirty="0">
                <a:cs typeface="Calibri" panose="020F0502020204030204" pitchFamily="34" charset="0"/>
              </a:rPr>
              <a:t> או ה </a:t>
            </a:r>
            <a:r>
              <a:rPr lang="en-US" sz="1800" dirty="0">
                <a:cs typeface="Calibri" panose="020F0502020204030204" pitchFamily="34" charset="0"/>
              </a:rPr>
              <a:t>F5</a:t>
            </a:r>
            <a:r>
              <a:rPr lang="he-IL" sz="1800" dirty="0">
                <a:cs typeface="Calibri" panose="020F0502020204030204" pitchFamily="34" charset="0"/>
              </a:rPr>
              <a:t>)</a:t>
            </a:r>
          </a:p>
          <a:p>
            <a:pPr marL="64008" indent="0" rtl="1">
              <a:buNone/>
            </a:pPr>
            <a:r>
              <a:rPr lang="he-IL" sz="1800" dirty="0">
                <a:cs typeface="Calibri" panose="020F0502020204030204" pitchFamily="34" charset="0"/>
              </a:rPr>
              <a:t>שימי לב: את רוב הדוגמאות והתנאים נראה עם פקודת ה </a:t>
            </a:r>
            <a:r>
              <a:rPr lang="en-US" sz="1800" dirty="0">
                <a:cs typeface="Calibri" panose="020F0502020204030204" pitchFamily="34" charset="0"/>
              </a:rPr>
              <a:t>SELECT</a:t>
            </a:r>
            <a:r>
              <a:rPr lang="he-IL" sz="1800" dirty="0">
                <a:cs typeface="Calibri" panose="020F0502020204030204" pitchFamily="34" charset="0"/>
              </a:rPr>
              <a:t> – שליפת נתונים מטבלה. אך צריך להבין שעפ"י אותם תנאים ניתן גם לעדכן או למחוק עמודות)</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CA5A947-30CD-4B2A-8612-C1150E298E5C}"/>
              </a:ext>
            </a:extLst>
          </p:cNvPr>
          <p:cNvSpPr>
            <a:spLocks noGrp="1"/>
          </p:cNvSpPr>
          <p:nvPr>
            <p:ph type="title"/>
          </p:nvPr>
        </p:nvSpPr>
        <p:spPr/>
        <p:txBody>
          <a:bodyPr/>
          <a:lstStyle/>
          <a:p>
            <a:r>
              <a:rPr lang="he-IL" dirty="0"/>
              <a:t>שאילתות </a:t>
            </a:r>
          </a:p>
        </p:txBody>
      </p:sp>
      <p:sp>
        <p:nvSpPr>
          <p:cNvPr id="6" name="מציין מיקום של מספר שקופית 5">
            <a:extLst>
              <a:ext uri="{FF2B5EF4-FFF2-40B4-BE49-F238E27FC236}">
                <a16:creationId xmlns:a16="http://schemas.microsoft.com/office/drawing/2014/main" id="{6A54FCA7-1B1A-4FEF-8F8E-9011C3E0BBA5}"/>
              </a:ext>
            </a:extLst>
          </p:cNvPr>
          <p:cNvSpPr>
            <a:spLocks noGrp="1"/>
          </p:cNvSpPr>
          <p:nvPr>
            <p:ph type="sldNum" sz="quarter" idx="11"/>
          </p:nvPr>
        </p:nvSpPr>
        <p:spPr/>
        <p:txBody>
          <a:bodyPr/>
          <a:lstStyle/>
          <a:p>
            <a:fld id="{746FD205-8D79-439C-A802-2377436AEC8A}" type="slidenum">
              <a:rPr lang="he-IL" smtClean="0"/>
              <a:pPr/>
              <a:t>36</a:t>
            </a:fld>
            <a:endParaRPr lang="he-IL"/>
          </a:p>
        </p:txBody>
      </p:sp>
    </p:spTree>
    <p:extLst>
      <p:ext uri="{BB962C8B-B14F-4D97-AF65-F5344CB8AC3E}">
        <p14:creationId xmlns:p14="http://schemas.microsoft.com/office/powerpoint/2010/main" val="3717524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52FCD59-EDCE-43D2-9112-357419BC7249}"/>
              </a:ext>
            </a:extLst>
          </p:cNvPr>
          <p:cNvSpPr>
            <a:spLocks noGrp="1"/>
          </p:cNvSpPr>
          <p:nvPr>
            <p:ph idx="1"/>
          </p:nvPr>
        </p:nvSpPr>
        <p:spPr/>
        <p:txBody>
          <a:bodyPr/>
          <a:lstStyle/>
          <a:p>
            <a:pPr marL="64008" indent="0" rtl="1">
              <a:buNone/>
            </a:pPr>
            <a:r>
              <a:rPr lang="he-IL" sz="1800" dirty="0">
                <a:cs typeface="Calibri" panose="020F0502020204030204" pitchFamily="34" charset="0"/>
              </a:rPr>
              <a:t>פקודת ה </a:t>
            </a:r>
            <a:r>
              <a:rPr lang="en-US" sz="1800" dirty="0">
                <a:cs typeface="Calibri" panose="020F0502020204030204" pitchFamily="34" charset="0"/>
              </a:rPr>
              <a:t>select</a:t>
            </a:r>
            <a:r>
              <a:rPr lang="he-IL" sz="1800" dirty="0">
                <a:cs typeface="Calibri" panose="020F0502020204030204" pitchFamily="34" charset="0"/>
              </a:rPr>
              <a:t> מאפשרת לנו להציג את נתוני הטבלה. </a:t>
            </a:r>
          </a:p>
          <a:p>
            <a:pPr marL="64008" indent="0" rtl="1">
              <a:buNone/>
            </a:pPr>
            <a:r>
              <a:rPr lang="he-IL" sz="1800" dirty="0">
                <a:cs typeface="Calibri" panose="020F0502020204030204" pitchFamily="34" charset="0"/>
              </a:rPr>
              <a:t>מבנה הפקודה:</a:t>
            </a:r>
          </a:p>
          <a:p>
            <a:pPr marL="64008" indent="0" rtl="1">
              <a:buNone/>
            </a:pPr>
            <a:r>
              <a:rPr lang="en-US" sz="1800" dirty="0">
                <a:cs typeface="Calibri" panose="020F0502020204030204" pitchFamily="34" charset="0"/>
              </a:rPr>
              <a:t>select </a:t>
            </a:r>
            <a:r>
              <a:rPr lang="en-US" sz="1800" i="1" dirty="0" err="1">
                <a:cs typeface="Calibri" panose="020F0502020204030204" pitchFamily="34" charset="0"/>
              </a:rPr>
              <a:t>columnName</a:t>
            </a:r>
            <a:r>
              <a:rPr lang="en-US" sz="1800" dirty="0">
                <a:cs typeface="Calibri" panose="020F0502020204030204" pitchFamily="34" charset="0"/>
              </a:rPr>
              <a:t>, </a:t>
            </a:r>
            <a:r>
              <a:rPr lang="en-US" sz="1800" i="1" dirty="0" err="1">
                <a:cs typeface="Calibri" panose="020F0502020204030204" pitchFamily="34" charset="0"/>
              </a:rPr>
              <a:t>columnName</a:t>
            </a:r>
            <a:r>
              <a:rPr lang="en-US" sz="1800" i="1" dirty="0">
                <a:cs typeface="Calibri" panose="020F0502020204030204" pitchFamily="34" charset="0"/>
              </a:rPr>
              <a:t>….. </a:t>
            </a:r>
            <a:r>
              <a:rPr lang="en-US" sz="1800" dirty="0">
                <a:cs typeface="Calibri" panose="020F0502020204030204" pitchFamily="34" charset="0"/>
              </a:rPr>
              <a:t>(* for all the columns)</a:t>
            </a:r>
          </a:p>
          <a:p>
            <a:pPr marL="64008" indent="0" rtl="1">
              <a:buNone/>
            </a:pPr>
            <a:r>
              <a:rPr lang="en-US" sz="1800" dirty="0">
                <a:cs typeface="Calibri" panose="020F0502020204030204" pitchFamily="34" charset="0"/>
              </a:rPr>
              <a:t>from </a:t>
            </a:r>
            <a:r>
              <a:rPr lang="en-US" sz="1800" i="1" dirty="0" err="1">
                <a:cs typeface="Calibri" panose="020F0502020204030204" pitchFamily="34" charset="0"/>
              </a:rPr>
              <a:t>tableName</a:t>
            </a:r>
            <a:endParaRPr lang="he-IL" sz="1800" i="1" dirty="0">
              <a:cs typeface="Calibri" panose="020F0502020204030204" pitchFamily="34" charset="0"/>
            </a:endParaRPr>
          </a:p>
          <a:p>
            <a:pPr marL="64008" indent="0" rtl="1">
              <a:buNone/>
            </a:pPr>
            <a:r>
              <a:rPr lang="he-IL" sz="1800" i="1" dirty="0">
                <a:cs typeface="Calibri" panose="020F0502020204030204" pitchFamily="34" charset="0"/>
              </a:rPr>
              <a:t>לדוגמא:</a:t>
            </a:r>
          </a:p>
          <a:p>
            <a:pPr marL="64008" indent="0" rtl="1">
              <a:buNone/>
            </a:pPr>
            <a:r>
              <a:rPr lang="he-IL" sz="1800" dirty="0">
                <a:cs typeface="Calibri" panose="020F0502020204030204" pitchFamily="34" charset="0"/>
              </a:rPr>
              <a:t>הצגת כל פרטי העובדים שבטבלת </a:t>
            </a:r>
            <a:r>
              <a:rPr lang="en-US" sz="1800" dirty="0" err="1">
                <a:cs typeface="Calibri" panose="020F0502020204030204" pitchFamily="34" charset="0"/>
              </a:rPr>
              <a:t>Employee_tbl</a:t>
            </a:r>
            <a:r>
              <a:rPr lang="he-IL" sz="1800" dirty="0">
                <a:cs typeface="Calibri" panose="020F0502020204030204" pitchFamily="34" charset="0"/>
              </a:rPr>
              <a:t>:</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הצגת שם פרטי ושם משפחה של העובדים שבטבלת </a:t>
            </a:r>
            <a:r>
              <a:rPr lang="en-US" sz="1800" dirty="0" err="1">
                <a:cs typeface="Calibri" panose="020F0502020204030204" pitchFamily="34" charset="0"/>
              </a:rPr>
              <a:t>Employee_tbl</a:t>
            </a:r>
            <a:r>
              <a:rPr lang="he-IL" sz="1800" dirty="0">
                <a:cs typeface="Calibri" panose="020F0502020204030204" pitchFamily="34" charset="0"/>
              </a:rPr>
              <a:t>:</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i="1" dirty="0">
              <a:cs typeface="Calibri" panose="020F0502020204030204" pitchFamily="34" charset="0"/>
            </a:endParaRPr>
          </a:p>
        </p:txBody>
      </p:sp>
      <p:sp>
        <p:nvSpPr>
          <p:cNvPr id="3" name="כותרת 2">
            <a:extLst>
              <a:ext uri="{FF2B5EF4-FFF2-40B4-BE49-F238E27FC236}">
                <a16:creationId xmlns:a16="http://schemas.microsoft.com/office/drawing/2014/main" id="{62BBF635-4861-4325-9392-3512DD4FCD03}"/>
              </a:ext>
            </a:extLst>
          </p:cNvPr>
          <p:cNvSpPr>
            <a:spLocks noGrp="1"/>
          </p:cNvSpPr>
          <p:nvPr>
            <p:ph type="title"/>
          </p:nvPr>
        </p:nvSpPr>
        <p:spPr/>
        <p:txBody>
          <a:bodyPr/>
          <a:lstStyle/>
          <a:p>
            <a:pPr algn="l"/>
            <a:r>
              <a:rPr lang="en-US" dirty="0"/>
              <a:t>Select… From</a:t>
            </a:r>
            <a:endParaRPr lang="he-IL" dirty="0"/>
          </a:p>
        </p:txBody>
      </p:sp>
      <p:pic>
        <p:nvPicPr>
          <p:cNvPr id="5" name="תמונה 4">
            <a:extLst>
              <a:ext uri="{FF2B5EF4-FFF2-40B4-BE49-F238E27FC236}">
                <a16:creationId xmlns:a16="http://schemas.microsoft.com/office/drawing/2014/main" id="{EB019724-4A81-47D8-AFA2-DA1B23B640FB}"/>
              </a:ext>
            </a:extLst>
          </p:cNvPr>
          <p:cNvPicPr>
            <a:picLocks noChangeAspect="1"/>
          </p:cNvPicPr>
          <p:nvPr/>
        </p:nvPicPr>
        <p:blipFill>
          <a:blip r:embed="rId2"/>
          <a:stretch>
            <a:fillRect/>
          </a:stretch>
        </p:blipFill>
        <p:spPr>
          <a:xfrm>
            <a:off x="2360256" y="3607543"/>
            <a:ext cx="2228850" cy="545357"/>
          </a:xfrm>
          <a:prstGeom prst="rect">
            <a:avLst/>
          </a:prstGeom>
        </p:spPr>
      </p:pic>
      <p:pic>
        <p:nvPicPr>
          <p:cNvPr id="6" name="תמונה 5">
            <a:extLst>
              <a:ext uri="{FF2B5EF4-FFF2-40B4-BE49-F238E27FC236}">
                <a16:creationId xmlns:a16="http://schemas.microsoft.com/office/drawing/2014/main" id="{635F4CFF-0825-4C0C-A57E-334AD9C6C1FB}"/>
              </a:ext>
            </a:extLst>
          </p:cNvPr>
          <p:cNvPicPr>
            <a:picLocks noChangeAspect="1"/>
          </p:cNvPicPr>
          <p:nvPr/>
        </p:nvPicPr>
        <p:blipFill>
          <a:blip r:embed="rId3"/>
          <a:stretch>
            <a:fillRect/>
          </a:stretch>
        </p:blipFill>
        <p:spPr>
          <a:xfrm>
            <a:off x="5029200" y="3581400"/>
            <a:ext cx="3442448" cy="1143000"/>
          </a:xfrm>
          <a:prstGeom prst="rect">
            <a:avLst/>
          </a:prstGeom>
        </p:spPr>
      </p:pic>
      <p:pic>
        <p:nvPicPr>
          <p:cNvPr id="7" name="תמונה 6">
            <a:extLst>
              <a:ext uri="{FF2B5EF4-FFF2-40B4-BE49-F238E27FC236}">
                <a16:creationId xmlns:a16="http://schemas.microsoft.com/office/drawing/2014/main" id="{D9785590-53C3-4A83-8125-CDD29A2B2FE9}"/>
              </a:ext>
            </a:extLst>
          </p:cNvPr>
          <p:cNvPicPr>
            <a:picLocks noChangeAspect="1"/>
          </p:cNvPicPr>
          <p:nvPr/>
        </p:nvPicPr>
        <p:blipFill>
          <a:blip r:embed="rId4"/>
          <a:stretch>
            <a:fillRect/>
          </a:stretch>
        </p:blipFill>
        <p:spPr>
          <a:xfrm>
            <a:off x="2360256" y="5544313"/>
            <a:ext cx="3158412" cy="548222"/>
          </a:xfrm>
          <a:prstGeom prst="rect">
            <a:avLst/>
          </a:prstGeom>
        </p:spPr>
      </p:pic>
      <p:pic>
        <p:nvPicPr>
          <p:cNvPr id="8" name="תמונה 7">
            <a:extLst>
              <a:ext uri="{FF2B5EF4-FFF2-40B4-BE49-F238E27FC236}">
                <a16:creationId xmlns:a16="http://schemas.microsoft.com/office/drawing/2014/main" id="{44AFD4F0-5D3D-438F-91F5-8AAFEB98FA2B}"/>
              </a:ext>
            </a:extLst>
          </p:cNvPr>
          <p:cNvPicPr>
            <a:picLocks noChangeAspect="1"/>
          </p:cNvPicPr>
          <p:nvPr/>
        </p:nvPicPr>
        <p:blipFill>
          <a:blip r:embed="rId5"/>
          <a:stretch>
            <a:fillRect/>
          </a:stretch>
        </p:blipFill>
        <p:spPr>
          <a:xfrm>
            <a:off x="6303645" y="5363414"/>
            <a:ext cx="1285875" cy="1227092"/>
          </a:xfrm>
          <a:prstGeom prst="rect">
            <a:avLst/>
          </a:prstGeom>
        </p:spPr>
      </p:pic>
      <p:sp>
        <p:nvSpPr>
          <p:cNvPr id="10" name="מציין מיקום של מספר שקופית 9">
            <a:extLst>
              <a:ext uri="{FF2B5EF4-FFF2-40B4-BE49-F238E27FC236}">
                <a16:creationId xmlns:a16="http://schemas.microsoft.com/office/drawing/2014/main" id="{9C43EEEA-EFFB-4A24-8FD4-8A7077624F5F}"/>
              </a:ext>
            </a:extLst>
          </p:cNvPr>
          <p:cNvSpPr>
            <a:spLocks noGrp="1"/>
          </p:cNvSpPr>
          <p:nvPr>
            <p:ph type="sldNum" sz="quarter" idx="11"/>
          </p:nvPr>
        </p:nvSpPr>
        <p:spPr/>
        <p:txBody>
          <a:bodyPr/>
          <a:lstStyle/>
          <a:p>
            <a:fld id="{746FD205-8D79-439C-A802-2377436AEC8A}" type="slidenum">
              <a:rPr lang="he-IL" smtClean="0"/>
              <a:pPr/>
              <a:t>37</a:t>
            </a:fld>
            <a:endParaRPr lang="he-IL"/>
          </a:p>
        </p:txBody>
      </p:sp>
    </p:spTree>
    <p:extLst>
      <p:ext uri="{BB962C8B-B14F-4D97-AF65-F5344CB8AC3E}">
        <p14:creationId xmlns:p14="http://schemas.microsoft.com/office/powerpoint/2010/main" val="14759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08CB8A7-24A6-4F31-A4C8-B3D06CE60EE4}"/>
              </a:ext>
            </a:extLst>
          </p:cNvPr>
          <p:cNvSpPr>
            <a:spLocks noGrp="1"/>
          </p:cNvSpPr>
          <p:nvPr>
            <p:ph idx="1"/>
          </p:nvPr>
        </p:nvSpPr>
        <p:spPr/>
        <p:txBody>
          <a:bodyPr>
            <a:normAutofit/>
          </a:bodyPr>
          <a:lstStyle/>
          <a:p>
            <a:pPr rtl="1">
              <a:buFont typeface="Courier New" panose="02070309020205020404" pitchFamily="49" charset="0"/>
              <a:buChar char="o"/>
            </a:pPr>
            <a:r>
              <a:rPr lang="he-IL" sz="1900" dirty="0">
                <a:cs typeface="Calibri" panose="020F0502020204030204" pitchFamily="34" charset="0"/>
              </a:rPr>
              <a:t>כל פקודת שליפה של </a:t>
            </a:r>
            <a:r>
              <a:rPr lang="en-US" sz="1900" dirty="0">
                <a:cs typeface="Calibri" panose="020F0502020204030204" pitchFamily="34" charset="0"/>
              </a:rPr>
              <a:t>SQL</a:t>
            </a:r>
            <a:r>
              <a:rPr lang="he-IL" sz="1900" dirty="0">
                <a:cs typeface="Calibri" panose="020F0502020204030204" pitchFamily="34" charset="0"/>
              </a:rPr>
              <a:t> חייבת שיהיה לה </a:t>
            </a:r>
            <a:r>
              <a:rPr lang="en-US" sz="1900" dirty="0">
                <a:cs typeface="Calibri" panose="020F0502020204030204" pitchFamily="34" charset="0"/>
              </a:rPr>
              <a:t>select </a:t>
            </a:r>
            <a:r>
              <a:rPr lang="he-IL" sz="1900" dirty="0">
                <a:cs typeface="Calibri" panose="020F0502020204030204" pitchFamily="34" charset="0"/>
              </a:rPr>
              <a:t> ו </a:t>
            </a:r>
            <a:r>
              <a:rPr lang="en-US" sz="1900" dirty="0">
                <a:cs typeface="Calibri" panose="020F0502020204030204" pitchFamily="34" charset="0"/>
              </a:rPr>
              <a:t>from</a:t>
            </a:r>
            <a:endParaRPr lang="he-IL" sz="1900" dirty="0">
              <a:cs typeface="Calibri" panose="020F0502020204030204" pitchFamily="34" charset="0"/>
            </a:endParaRPr>
          </a:p>
          <a:p>
            <a:pPr rtl="1">
              <a:buFont typeface="Courier New" panose="02070309020205020404" pitchFamily="49" charset="0"/>
              <a:buChar char="o"/>
            </a:pPr>
            <a:r>
              <a:rPr lang="he-IL" sz="1900" dirty="0">
                <a:cs typeface="Calibri" panose="020F0502020204030204" pitchFamily="34" charset="0"/>
              </a:rPr>
              <a:t>הסדר של פקודות ה </a:t>
            </a:r>
            <a:r>
              <a:rPr lang="en-US" sz="1900" dirty="0">
                <a:cs typeface="Calibri" panose="020F0502020204030204" pitchFamily="34" charset="0"/>
              </a:rPr>
              <a:t>select</a:t>
            </a:r>
            <a:r>
              <a:rPr lang="he-IL" sz="1900" dirty="0">
                <a:cs typeface="Calibri" panose="020F0502020204030204" pitchFamily="34" charset="0"/>
              </a:rPr>
              <a:t> </a:t>
            </a:r>
            <a:r>
              <a:rPr lang="he-IL" sz="1900" dirty="0" err="1">
                <a:cs typeface="Calibri" panose="020F0502020204030204" pitchFamily="34" charset="0"/>
              </a:rPr>
              <a:t>וה</a:t>
            </a:r>
            <a:r>
              <a:rPr lang="en-US" sz="1900" dirty="0">
                <a:cs typeface="Calibri" panose="020F0502020204030204" pitchFamily="34" charset="0"/>
              </a:rPr>
              <a:t>from </a:t>
            </a:r>
            <a:r>
              <a:rPr lang="he-IL" sz="1900" dirty="0">
                <a:cs typeface="Calibri" panose="020F0502020204030204" pitchFamily="34" charset="0"/>
              </a:rPr>
              <a:t> חייב להיות קודם </a:t>
            </a:r>
            <a:r>
              <a:rPr lang="en-US" sz="1900" dirty="0">
                <a:cs typeface="Calibri" panose="020F0502020204030204" pitchFamily="34" charset="0"/>
              </a:rPr>
              <a:t>select</a:t>
            </a:r>
            <a:r>
              <a:rPr lang="he-IL" sz="1900" dirty="0">
                <a:cs typeface="Calibri" panose="020F0502020204030204" pitchFamily="34" charset="0"/>
              </a:rPr>
              <a:t> ואח"כ </a:t>
            </a:r>
            <a:r>
              <a:rPr lang="en-US" sz="1900" dirty="0">
                <a:cs typeface="Calibri" panose="020F0502020204030204" pitchFamily="34" charset="0"/>
              </a:rPr>
              <a:t>from</a:t>
            </a:r>
            <a:endParaRPr lang="he-IL" sz="1900" dirty="0">
              <a:cs typeface="Calibri" panose="020F0502020204030204" pitchFamily="34" charset="0"/>
            </a:endParaRPr>
          </a:p>
          <a:p>
            <a:pPr rtl="1">
              <a:buFont typeface="Courier New" panose="02070309020205020404" pitchFamily="49" charset="0"/>
              <a:buChar char="o"/>
            </a:pPr>
            <a:r>
              <a:rPr lang="he-IL" sz="1900" dirty="0">
                <a:cs typeface="Calibri" panose="020F0502020204030204" pitchFamily="34" charset="0"/>
              </a:rPr>
              <a:t>ניתן לשלוף את אותה עמודה פעמים</a:t>
            </a:r>
          </a:p>
          <a:p>
            <a:pPr rtl="1">
              <a:buFont typeface="Courier New" panose="02070309020205020404" pitchFamily="49" charset="0"/>
              <a:buChar char="o"/>
            </a:pPr>
            <a:r>
              <a:rPr lang="en-US" sz="1900" dirty="0">
                <a:cs typeface="Calibri" panose="020F0502020204030204" pitchFamily="34" charset="0"/>
              </a:rPr>
              <a:t>SQL</a:t>
            </a:r>
            <a:r>
              <a:rPr lang="he-IL" sz="1900" dirty="0">
                <a:cs typeface="Calibri" panose="020F0502020204030204" pitchFamily="34" charset="0"/>
              </a:rPr>
              <a:t> היא לא </a:t>
            </a:r>
            <a:r>
              <a:rPr lang="en-US" sz="1900" dirty="0">
                <a:cs typeface="Calibri" panose="020F0502020204030204" pitchFamily="34" charset="0"/>
              </a:rPr>
              <a:t>case sensitive</a:t>
            </a:r>
            <a:r>
              <a:rPr lang="he-IL" sz="1900" dirty="0">
                <a:cs typeface="Calibri" panose="020F0502020204030204" pitchFamily="34" charset="0"/>
              </a:rPr>
              <a:t> (רגישות לאותיות גדולות וקטנות), ולא רגישה לרווחים בין מילים, שורות </a:t>
            </a:r>
            <a:r>
              <a:rPr lang="he-IL" sz="1900" dirty="0" err="1">
                <a:cs typeface="Calibri" panose="020F0502020204030204" pitchFamily="34" charset="0"/>
              </a:rPr>
              <a:t>וכו</a:t>
            </a:r>
            <a:r>
              <a:rPr lang="he-IL" sz="1900" dirty="0">
                <a:cs typeface="Calibri" panose="020F0502020204030204" pitchFamily="34" charset="0"/>
              </a:rPr>
              <a:t>. </a:t>
            </a:r>
            <a:br>
              <a:rPr lang="en-US" sz="1900" dirty="0">
                <a:cs typeface="Calibri" panose="020F0502020204030204" pitchFamily="34" charset="0"/>
              </a:rPr>
            </a:br>
            <a:r>
              <a:rPr lang="he-IL" sz="1900" dirty="0">
                <a:cs typeface="Calibri" panose="020F0502020204030204" pitchFamily="34" charset="0"/>
              </a:rPr>
              <a:t>למרות זאת כדאי מאד לכתוב את השאילתות בצורה מסודרת, לכתוב את הפקודות באותיות גדולות ואת השמות של הטבלאות </a:t>
            </a:r>
            <a:r>
              <a:rPr lang="he-IL" sz="1900" dirty="0" err="1">
                <a:cs typeface="Calibri" panose="020F0502020204030204" pitchFamily="34" charset="0"/>
              </a:rPr>
              <a:t>וכו</a:t>
            </a:r>
            <a:r>
              <a:rPr lang="he-IL" sz="1900" dirty="0">
                <a:cs typeface="Calibri" panose="020F0502020204030204" pitchFamily="34" charset="0"/>
              </a:rPr>
              <a:t> באותיות קטנות, ע"מ שהשאילתות יהיו ברורות...</a:t>
            </a:r>
          </a:p>
          <a:p>
            <a:pPr marL="64008" indent="0">
              <a:buNone/>
            </a:pPr>
            <a:endParaRPr lang="he-IL" dirty="0"/>
          </a:p>
        </p:txBody>
      </p:sp>
      <p:sp>
        <p:nvSpPr>
          <p:cNvPr id="3" name="כותרת 2">
            <a:extLst>
              <a:ext uri="{FF2B5EF4-FFF2-40B4-BE49-F238E27FC236}">
                <a16:creationId xmlns:a16="http://schemas.microsoft.com/office/drawing/2014/main" id="{1586516D-87E6-4B5F-8847-A06457989339}"/>
              </a:ext>
            </a:extLst>
          </p:cNvPr>
          <p:cNvSpPr>
            <a:spLocks noGrp="1"/>
          </p:cNvSpPr>
          <p:nvPr>
            <p:ph type="title"/>
          </p:nvPr>
        </p:nvSpPr>
        <p:spPr/>
        <p:txBody>
          <a:bodyPr/>
          <a:lstStyle/>
          <a:p>
            <a:pPr algn="l"/>
            <a:r>
              <a:rPr lang="en-US" dirty="0"/>
              <a:t>Select… From</a:t>
            </a:r>
            <a:endParaRPr lang="he-IL" dirty="0"/>
          </a:p>
        </p:txBody>
      </p:sp>
      <p:sp>
        <p:nvSpPr>
          <p:cNvPr id="6" name="מציין מיקום של מספר שקופית 5">
            <a:extLst>
              <a:ext uri="{FF2B5EF4-FFF2-40B4-BE49-F238E27FC236}">
                <a16:creationId xmlns:a16="http://schemas.microsoft.com/office/drawing/2014/main" id="{2980BA82-6BE8-4A9C-AB92-DD2F0C72EE5B}"/>
              </a:ext>
            </a:extLst>
          </p:cNvPr>
          <p:cNvSpPr>
            <a:spLocks noGrp="1"/>
          </p:cNvSpPr>
          <p:nvPr>
            <p:ph type="sldNum" sz="quarter" idx="11"/>
          </p:nvPr>
        </p:nvSpPr>
        <p:spPr/>
        <p:txBody>
          <a:bodyPr/>
          <a:lstStyle/>
          <a:p>
            <a:fld id="{746FD205-8D79-439C-A802-2377436AEC8A}" type="slidenum">
              <a:rPr lang="he-IL" smtClean="0"/>
              <a:pPr/>
              <a:t>38</a:t>
            </a:fld>
            <a:endParaRPr lang="he-IL"/>
          </a:p>
        </p:txBody>
      </p:sp>
    </p:spTree>
    <p:extLst>
      <p:ext uri="{BB962C8B-B14F-4D97-AF65-F5344CB8AC3E}">
        <p14:creationId xmlns:p14="http://schemas.microsoft.com/office/powerpoint/2010/main" val="2477294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6EC3B6A-F92A-4ADC-AF22-746A11065471}"/>
              </a:ext>
            </a:extLst>
          </p:cNvPr>
          <p:cNvSpPr>
            <a:spLocks noGrp="1"/>
          </p:cNvSpPr>
          <p:nvPr>
            <p:ph idx="1"/>
          </p:nvPr>
        </p:nvSpPr>
        <p:spPr>
          <a:xfrm>
            <a:off x="457200" y="1524000"/>
            <a:ext cx="8229600" cy="4953000"/>
          </a:xfrm>
        </p:spPr>
        <p:txBody>
          <a:bodyPr>
            <a:normAutofit/>
          </a:bodyPr>
          <a:lstStyle/>
          <a:p>
            <a:pPr marL="64008" indent="0">
              <a:buNone/>
            </a:pPr>
            <a:r>
              <a:rPr lang="he-IL" sz="1800" dirty="0">
                <a:cs typeface="Calibri" panose="020F0502020204030204" pitchFamily="34" charset="0"/>
              </a:rPr>
              <a:t>ניתן לבצע פעולות מתמטיות על עמודות בטבלה ולהחזיר את התוצאה בעמודה חדשה.</a:t>
            </a:r>
            <a:endParaRPr lang="en-US" sz="1800" dirty="0">
              <a:cs typeface="Calibri" panose="020F0502020204030204" pitchFamily="34" charset="0"/>
            </a:endParaRPr>
          </a:p>
          <a:p>
            <a:pPr marL="64008" indent="0">
              <a:buNone/>
            </a:pPr>
            <a:endParaRPr lang="he-IL" sz="1800" b="1" dirty="0">
              <a:cs typeface="Calibri" panose="020F0502020204030204" pitchFamily="34" charset="0"/>
            </a:endParaRPr>
          </a:p>
          <a:p>
            <a:pPr marL="64008" indent="0">
              <a:buNone/>
            </a:pPr>
            <a:r>
              <a:rPr lang="he-IL" sz="1800" b="1" dirty="0">
                <a:cs typeface="Calibri" panose="020F0502020204030204" pitchFamily="34" charset="0"/>
              </a:rPr>
              <a:t>חישובים על עמודות מסוג מספר:</a:t>
            </a:r>
            <a:endParaRPr lang="en-US" sz="1800" b="1" dirty="0">
              <a:cs typeface="Calibri" panose="020F0502020204030204" pitchFamily="34" charset="0"/>
            </a:endParaRPr>
          </a:p>
          <a:p>
            <a:pPr marL="64008" indent="0">
              <a:buNone/>
            </a:pPr>
            <a:r>
              <a:rPr lang="he-IL" sz="1800" dirty="0">
                <a:cs typeface="Calibri" panose="020F0502020204030204" pitchFamily="34" charset="0"/>
              </a:rPr>
              <a:t>דוגמא: בטבלת מוצרים – החזרת מחיר המוצר עם שמונים אחוז הנחה:</a:t>
            </a: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r>
              <a:rPr lang="he-IL" sz="1800" b="1" dirty="0">
                <a:cs typeface="Calibri" panose="020F0502020204030204" pitchFamily="34" charset="0"/>
              </a:rPr>
              <a:t>חישובים על עמודות מסוג מחרוזת:</a:t>
            </a:r>
          </a:p>
          <a:p>
            <a:pPr marL="64008" indent="0">
              <a:buNone/>
            </a:pPr>
            <a:r>
              <a:rPr lang="he-IL" sz="1800" dirty="0">
                <a:cs typeface="Calibri" panose="020F0502020204030204" pitchFamily="34" charset="0"/>
              </a:rPr>
              <a:t>לא ניתן לבצע חישובים מתמטיים על עמודות מסוג מחרוזת.</a:t>
            </a:r>
          </a:p>
          <a:p>
            <a:pPr marL="64008" indent="0">
              <a:buNone/>
            </a:pPr>
            <a:endParaRPr lang="he-IL" sz="1800" dirty="0">
              <a:cs typeface="Calibri" panose="020F0502020204030204" pitchFamily="34" charset="0"/>
            </a:endParaRPr>
          </a:p>
          <a:p>
            <a:pPr marL="64008" indent="0">
              <a:buNone/>
            </a:pPr>
            <a:r>
              <a:rPr lang="he-IL" sz="1800" dirty="0">
                <a:cs typeface="Calibri" panose="020F0502020204030204" pitchFamily="34" charset="0"/>
              </a:rPr>
              <a:t>קיימות גם פעולות חישוב מורכבות יותר – יילמד בהמשך.</a:t>
            </a: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F8BB4AF-0AF9-47AB-A5D9-88722D95E314}"/>
              </a:ext>
            </a:extLst>
          </p:cNvPr>
          <p:cNvSpPr>
            <a:spLocks noGrp="1"/>
          </p:cNvSpPr>
          <p:nvPr>
            <p:ph type="title"/>
          </p:nvPr>
        </p:nvSpPr>
        <p:spPr/>
        <p:txBody>
          <a:bodyPr/>
          <a:lstStyle/>
          <a:p>
            <a:r>
              <a:rPr lang="he-IL" dirty="0"/>
              <a:t>חישובים על עמודות</a:t>
            </a:r>
          </a:p>
        </p:txBody>
      </p:sp>
      <p:sp>
        <p:nvSpPr>
          <p:cNvPr id="6" name="מציין מיקום של מספר שקופית 5">
            <a:extLst>
              <a:ext uri="{FF2B5EF4-FFF2-40B4-BE49-F238E27FC236}">
                <a16:creationId xmlns:a16="http://schemas.microsoft.com/office/drawing/2014/main" id="{0F9252CD-847B-41ED-90EA-742FDABE7E4A}"/>
              </a:ext>
            </a:extLst>
          </p:cNvPr>
          <p:cNvSpPr>
            <a:spLocks noGrp="1"/>
          </p:cNvSpPr>
          <p:nvPr>
            <p:ph type="sldNum" sz="quarter" idx="11"/>
          </p:nvPr>
        </p:nvSpPr>
        <p:spPr/>
        <p:txBody>
          <a:bodyPr/>
          <a:lstStyle/>
          <a:p>
            <a:fld id="{746FD205-8D79-439C-A802-2377436AEC8A}" type="slidenum">
              <a:rPr lang="he-IL" smtClean="0"/>
              <a:pPr/>
              <a:t>39</a:t>
            </a:fld>
            <a:endParaRPr lang="he-IL"/>
          </a:p>
        </p:txBody>
      </p:sp>
      <p:pic>
        <p:nvPicPr>
          <p:cNvPr id="7" name="תמונה 6">
            <a:extLst>
              <a:ext uri="{FF2B5EF4-FFF2-40B4-BE49-F238E27FC236}">
                <a16:creationId xmlns:a16="http://schemas.microsoft.com/office/drawing/2014/main" id="{481FBA47-823F-4D02-8942-C951FF43BA13}"/>
              </a:ext>
            </a:extLst>
          </p:cNvPr>
          <p:cNvPicPr>
            <a:picLocks noChangeAspect="1"/>
          </p:cNvPicPr>
          <p:nvPr/>
        </p:nvPicPr>
        <p:blipFill>
          <a:blip r:embed="rId2"/>
          <a:stretch>
            <a:fillRect/>
          </a:stretch>
        </p:blipFill>
        <p:spPr>
          <a:xfrm>
            <a:off x="3479375" y="2882571"/>
            <a:ext cx="3295650" cy="546429"/>
          </a:xfrm>
          <a:prstGeom prst="rect">
            <a:avLst/>
          </a:prstGeom>
        </p:spPr>
      </p:pic>
      <p:pic>
        <p:nvPicPr>
          <p:cNvPr id="11" name="תמונה 10">
            <a:extLst>
              <a:ext uri="{FF2B5EF4-FFF2-40B4-BE49-F238E27FC236}">
                <a16:creationId xmlns:a16="http://schemas.microsoft.com/office/drawing/2014/main" id="{B7BF621A-78DF-418A-A38B-E69D0BAEDD5F}"/>
              </a:ext>
            </a:extLst>
          </p:cNvPr>
          <p:cNvPicPr>
            <a:picLocks noChangeAspect="1"/>
          </p:cNvPicPr>
          <p:nvPr/>
        </p:nvPicPr>
        <p:blipFill>
          <a:blip r:embed="rId3"/>
          <a:stretch>
            <a:fillRect/>
          </a:stretch>
        </p:blipFill>
        <p:spPr>
          <a:xfrm>
            <a:off x="6887950" y="2882571"/>
            <a:ext cx="1685925" cy="622273"/>
          </a:xfrm>
          <a:prstGeom prst="rect">
            <a:avLst/>
          </a:prstGeom>
        </p:spPr>
      </p:pic>
    </p:spTree>
    <p:extLst>
      <p:ext uri="{BB962C8B-B14F-4D97-AF65-F5344CB8AC3E}">
        <p14:creationId xmlns:p14="http://schemas.microsoft.com/office/powerpoint/2010/main" val="3915989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23D7B536-2A2F-4671-82A2-0CF2C950D3D5}"/>
              </a:ext>
            </a:extLst>
          </p:cNvPr>
          <p:cNvSpPr>
            <a:spLocks noGrp="1"/>
          </p:cNvSpPr>
          <p:nvPr>
            <p:ph idx="1"/>
          </p:nvPr>
        </p:nvSpPr>
        <p:spPr/>
        <p:txBody>
          <a:bodyPr>
            <a:normAutofit lnSpcReduction="10000"/>
          </a:bodyPr>
          <a:lstStyle/>
          <a:p>
            <a:pPr marL="64008" indent="0">
              <a:buNone/>
            </a:pPr>
            <a:r>
              <a:rPr lang="he-IL" sz="1800" b="1" dirty="0">
                <a:cs typeface="Calibri" panose="020F0502020204030204" pitchFamily="34" charset="0"/>
              </a:rPr>
              <a:t>חישובים על עמודות מסוג תאריך:</a:t>
            </a:r>
          </a:p>
          <a:p>
            <a:pPr marL="64008" indent="0">
              <a:buNone/>
            </a:pPr>
            <a:r>
              <a:rPr lang="he-IL" sz="1800" dirty="0">
                <a:cs typeface="Calibri" panose="020F0502020204030204" pitchFamily="34" charset="0"/>
              </a:rPr>
              <a:t>חיבור וחיסור על תאריך יתבצעו על היום שבתאריך (כפל וחילוק לא אפשריים על תאריך).</a:t>
            </a:r>
          </a:p>
          <a:p>
            <a:pPr marL="64008" indent="0">
              <a:buNone/>
            </a:pPr>
            <a:r>
              <a:rPr lang="he-IL" sz="1800" dirty="0">
                <a:cs typeface="Calibri" panose="020F0502020204030204" pitchFamily="34" charset="0"/>
              </a:rPr>
              <a:t>דוגמא: סטודנטים זכאים לתעודה לאחר 100 ימי לימוד. צפייה בתאריך בו כל סטודנט זכאי לתעודה:</a:t>
            </a: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r>
              <a:rPr lang="he-IL" sz="1800" dirty="0">
                <a:cs typeface="Calibri" panose="020F0502020204030204" pitchFamily="34" charset="0"/>
              </a:rPr>
              <a:t>השוואה בין תאריכים:</a:t>
            </a:r>
          </a:p>
          <a:p>
            <a:pPr marL="64008" indent="0">
              <a:buNone/>
            </a:pPr>
            <a:r>
              <a:rPr lang="en-US" sz="1800" dirty="0">
                <a:cs typeface="Calibri" panose="020F0502020204030204" pitchFamily="34" charset="0"/>
              </a:rPr>
              <a:t>DATEDIFF(Interval (day, month, year..), </a:t>
            </a:r>
            <a:r>
              <a:rPr lang="en-US" sz="1800" dirty="0" err="1">
                <a:cs typeface="Calibri" panose="020F0502020204030204" pitchFamily="34" charset="0"/>
              </a:rPr>
              <a:t>StartingDate</a:t>
            </a:r>
            <a:r>
              <a:rPr lang="en-US" sz="1800" dirty="0">
                <a:cs typeface="Calibri" panose="020F0502020204030204" pitchFamily="34" charset="0"/>
              </a:rPr>
              <a:t>, </a:t>
            </a:r>
            <a:r>
              <a:rPr lang="en-US" sz="1800" dirty="0" err="1">
                <a:cs typeface="Calibri" panose="020F0502020204030204" pitchFamily="34" charset="0"/>
              </a:rPr>
              <a:t>EndingDate</a:t>
            </a:r>
            <a:r>
              <a:rPr lang="en-US" sz="1800" dirty="0">
                <a:cs typeface="Calibri" panose="020F0502020204030204" pitchFamily="34" charset="0"/>
              </a:rPr>
              <a:t>)</a:t>
            </a:r>
          </a:p>
          <a:p>
            <a:pPr marL="64008" indent="0">
              <a:buNone/>
            </a:pPr>
            <a:r>
              <a:rPr lang="he-IL" sz="1800" dirty="0">
                <a:cs typeface="Calibri" panose="020F0502020204030204" pitchFamily="34" charset="0"/>
              </a:rPr>
              <a:t>לדוגמא:</a:t>
            </a:r>
          </a:p>
          <a:p>
            <a:pPr marL="64008" indent="0">
              <a:buNone/>
            </a:pPr>
            <a:r>
              <a:rPr lang="he-IL" sz="1800" dirty="0">
                <a:cs typeface="Calibri" panose="020F0502020204030204" pitchFamily="34" charset="0"/>
              </a:rPr>
              <a:t>בדיקה כמה חודשי לימוד היו לכל סטודנט עד כה:</a:t>
            </a:r>
          </a:p>
          <a:p>
            <a:pPr marL="64008" indent="0">
              <a:buNone/>
            </a:pPr>
            <a:r>
              <a:rPr lang="en-US" sz="1800" dirty="0">
                <a:cs typeface="Calibri" panose="020F0502020204030204" pitchFamily="34" charset="0"/>
              </a:rPr>
              <a:t>Select FirstName, </a:t>
            </a:r>
            <a:r>
              <a:rPr lang="en-US" sz="1800" dirty="0" err="1">
                <a:cs typeface="Calibri" panose="020F0502020204030204" pitchFamily="34" charset="0"/>
              </a:rPr>
              <a:t>LastName</a:t>
            </a:r>
            <a:r>
              <a:rPr lang="en-US" sz="1800" dirty="0">
                <a:cs typeface="Calibri" panose="020F0502020204030204" pitchFamily="34" charset="0"/>
              </a:rPr>
              <a:t>, DATEDIFF(month, </a:t>
            </a:r>
            <a:r>
              <a:rPr lang="en-US" sz="1800" dirty="0" err="1">
                <a:cs typeface="Calibri" panose="020F0502020204030204" pitchFamily="34" charset="0"/>
              </a:rPr>
              <a:t>StartDate,GETDATE</a:t>
            </a:r>
            <a:r>
              <a:rPr lang="en-US" sz="1800" dirty="0">
                <a:cs typeface="Calibri" panose="020F0502020204030204" pitchFamily="34" charset="0"/>
              </a:rPr>
              <a:t>())</a:t>
            </a:r>
            <a:br>
              <a:rPr lang="en-US" sz="1800" dirty="0">
                <a:cs typeface="Calibri" panose="020F0502020204030204" pitchFamily="34" charset="0"/>
              </a:rPr>
            </a:br>
            <a:r>
              <a:rPr lang="en-US" sz="1800" dirty="0">
                <a:cs typeface="Calibri" panose="020F0502020204030204" pitchFamily="34" charset="0"/>
              </a:rPr>
              <a:t>From Students</a:t>
            </a:r>
          </a:p>
          <a:p>
            <a:pPr marL="64008" indent="0" rtl="1">
              <a:buNone/>
            </a:pPr>
            <a:r>
              <a:rPr lang="en-US" sz="1800" dirty="0">
                <a:cs typeface="Calibri" panose="020F0502020204030204" pitchFamily="34" charset="0"/>
              </a:rPr>
              <a:t>GETDATE()]</a:t>
            </a:r>
            <a:r>
              <a:rPr lang="he-IL" sz="1800" dirty="0">
                <a:cs typeface="Calibri" panose="020F0502020204030204" pitchFamily="34" charset="0"/>
              </a:rPr>
              <a:t> זוהי פונקציה שמחזירה את התאריך הנוכחי]</a:t>
            </a:r>
          </a:p>
          <a:p>
            <a:pPr marL="64008" indent="0" rtl="1">
              <a:buNone/>
            </a:pPr>
            <a:r>
              <a:rPr lang="he-IL" sz="1800" dirty="0">
                <a:cs typeface="Calibri" panose="020F0502020204030204" pitchFamily="34" charset="0"/>
              </a:rPr>
              <a:t>על מנת להוסיף או להפחית ימים/חודשים/ שנים מתאריך </a:t>
            </a:r>
            <a:r>
              <a:rPr lang="he-IL" sz="1800" dirty="0" err="1">
                <a:cs typeface="Calibri" panose="020F0502020204030204" pitchFamily="34" charset="0"/>
              </a:rPr>
              <a:t>מסויים</a:t>
            </a:r>
            <a:r>
              <a:rPr lang="he-IL" sz="1800" dirty="0">
                <a:cs typeface="Calibri" panose="020F0502020204030204" pitchFamily="34" charset="0"/>
              </a:rPr>
              <a:t>, נשתמש בפונקציה </a:t>
            </a:r>
            <a:r>
              <a:rPr lang="en-US" sz="1800" dirty="0">
                <a:cs typeface="Calibri" panose="020F0502020204030204" pitchFamily="34" charset="0"/>
              </a:rPr>
              <a:t>DATEADD</a:t>
            </a:r>
            <a:br>
              <a:rPr lang="en-US" sz="1800" dirty="0">
                <a:cs typeface="Calibri" panose="020F0502020204030204" pitchFamily="34" charset="0"/>
              </a:rPr>
            </a:br>
            <a:r>
              <a:rPr lang="he-IL" sz="1800" dirty="0">
                <a:cs typeface="Calibri" panose="020F0502020204030204" pitchFamily="34" charset="0"/>
              </a:rPr>
              <a:t>(ראי בעמוד 73)</a:t>
            </a:r>
          </a:p>
          <a:p>
            <a:endParaRPr lang="he-IL" dirty="0"/>
          </a:p>
        </p:txBody>
      </p:sp>
      <p:sp>
        <p:nvSpPr>
          <p:cNvPr id="3" name="כותרת 2">
            <a:extLst>
              <a:ext uri="{FF2B5EF4-FFF2-40B4-BE49-F238E27FC236}">
                <a16:creationId xmlns:a16="http://schemas.microsoft.com/office/drawing/2014/main" id="{5C749A78-CA56-4410-8F9D-D327A2B8712F}"/>
              </a:ext>
            </a:extLst>
          </p:cNvPr>
          <p:cNvSpPr>
            <a:spLocks noGrp="1"/>
          </p:cNvSpPr>
          <p:nvPr>
            <p:ph type="title"/>
          </p:nvPr>
        </p:nvSpPr>
        <p:spPr/>
        <p:txBody>
          <a:bodyPr/>
          <a:lstStyle/>
          <a:p>
            <a:r>
              <a:rPr lang="he-IL" dirty="0"/>
              <a:t>חישובים על עמודות</a:t>
            </a:r>
          </a:p>
        </p:txBody>
      </p:sp>
      <p:sp>
        <p:nvSpPr>
          <p:cNvPr id="4" name="מציין מיקום של מספר שקופית 3">
            <a:extLst>
              <a:ext uri="{FF2B5EF4-FFF2-40B4-BE49-F238E27FC236}">
                <a16:creationId xmlns:a16="http://schemas.microsoft.com/office/drawing/2014/main" id="{1D243600-33CF-41EB-9106-41BB3CA91510}"/>
              </a:ext>
            </a:extLst>
          </p:cNvPr>
          <p:cNvSpPr>
            <a:spLocks noGrp="1"/>
          </p:cNvSpPr>
          <p:nvPr>
            <p:ph type="sldNum" sz="quarter" idx="11"/>
          </p:nvPr>
        </p:nvSpPr>
        <p:spPr/>
        <p:txBody>
          <a:bodyPr/>
          <a:lstStyle/>
          <a:p>
            <a:fld id="{746FD205-8D79-439C-A802-2377436AEC8A}" type="slidenum">
              <a:rPr lang="he-IL" smtClean="0"/>
              <a:pPr/>
              <a:t>40</a:t>
            </a:fld>
            <a:endParaRPr lang="he-IL"/>
          </a:p>
        </p:txBody>
      </p:sp>
      <p:pic>
        <p:nvPicPr>
          <p:cNvPr id="5" name="תמונה 4">
            <a:extLst>
              <a:ext uri="{FF2B5EF4-FFF2-40B4-BE49-F238E27FC236}">
                <a16:creationId xmlns:a16="http://schemas.microsoft.com/office/drawing/2014/main" id="{B9F43A96-27F9-40F9-A535-7936EFB2F68C}"/>
              </a:ext>
            </a:extLst>
          </p:cNvPr>
          <p:cNvPicPr>
            <a:picLocks noChangeAspect="1"/>
          </p:cNvPicPr>
          <p:nvPr/>
        </p:nvPicPr>
        <p:blipFill>
          <a:blip r:embed="rId2"/>
          <a:stretch>
            <a:fillRect/>
          </a:stretch>
        </p:blipFill>
        <p:spPr>
          <a:xfrm>
            <a:off x="5562600" y="2743200"/>
            <a:ext cx="3053671" cy="425784"/>
          </a:xfrm>
          <a:prstGeom prst="rect">
            <a:avLst/>
          </a:prstGeom>
        </p:spPr>
      </p:pic>
      <p:pic>
        <p:nvPicPr>
          <p:cNvPr id="6" name="תמונה 5">
            <a:extLst>
              <a:ext uri="{FF2B5EF4-FFF2-40B4-BE49-F238E27FC236}">
                <a16:creationId xmlns:a16="http://schemas.microsoft.com/office/drawing/2014/main" id="{BA1DA49D-853F-40C3-A5B7-4AC3DFA713A9}"/>
              </a:ext>
            </a:extLst>
          </p:cNvPr>
          <p:cNvPicPr>
            <a:picLocks noChangeAspect="1"/>
          </p:cNvPicPr>
          <p:nvPr/>
        </p:nvPicPr>
        <p:blipFill>
          <a:blip r:embed="rId3"/>
          <a:stretch>
            <a:fillRect/>
          </a:stretch>
        </p:blipFill>
        <p:spPr>
          <a:xfrm>
            <a:off x="685800" y="2754429"/>
            <a:ext cx="4538663" cy="414555"/>
          </a:xfrm>
          <a:prstGeom prst="rect">
            <a:avLst/>
          </a:prstGeom>
        </p:spPr>
      </p:pic>
    </p:spTree>
    <p:extLst>
      <p:ext uri="{BB962C8B-B14F-4D97-AF65-F5344CB8AC3E}">
        <p14:creationId xmlns:p14="http://schemas.microsoft.com/office/powerpoint/2010/main" val="973764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2D0B2205-9F1C-4825-825A-3DDFEB33886D}"/>
              </a:ext>
            </a:extLst>
          </p:cNvPr>
          <p:cNvSpPr>
            <a:spLocks noGrp="1"/>
          </p:cNvSpPr>
          <p:nvPr>
            <p:ph idx="1"/>
          </p:nvPr>
        </p:nvSpPr>
        <p:spPr/>
        <p:txBody>
          <a:bodyPr/>
          <a:lstStyle/>
          <a:p>
            <a:pPr rtl="1">
              <a:buFont typeface="Courier New" panose="02070309020205020404" pitchFamily="49" charset="0"/>
              <a:buChar char="o"/>
            </a:pPr>
            <a:r>
              <a:rPr lang="he-IL" sz="1900" b="1" dirty="0">
                <a:cs typeface="Calibri" panose="020F0502020204030204" pitchFamily="34" charset="0"/>
              </a:rPr>
              <a:t>פעולות חישוביות לא משנות את הנתונים בתוך הטבלה, הן רק מחזירות את התוצאות המחושבות במשפט ה </a:t>
            </a:r>
            <a:r>
              <a:rPr lang="en-US" sz="1900" b="1" dirty="0">
                <a:cs typeface="Calibri" panose="020F0502020204030204" pitchFamily="34" charset="0"/>
              </a:rPr>
              <a:t>Select</a:t>
            </a:r>
            <a:r>
              <a:rPr lang="he-IL" sz="1900" b="1" dirty="0">
                <a:cs typeface="Calibri" panose="020F0502020204030204" pitchFamily="34" charset="0"/>
              </a:rPr>
              <a:t> (אא"כ השתמשתי במשפט </a:t>
            </a:r>
            <a:r>
              <a:rPr lang="en-US" sz="1900" b="1" dirty="0">
                <a:cs typeface="Calibri" panose="020F0502020204030204" pitchFamily="34" charset="0"/>
              </a:rPr>
              <a:t>Update</a:t>
            </a:r>
            <a:r>
              <a:rPr lang="he-IL" sz="1900" b="1" dirty="0">
                <a:cs typeface="Calibri" panose="020F0502020204030204" pitchFamily="34" charset="0"/>
              </a:rPr>
              <a:t>ועבור עדכון נתונים בטבלה ולא במשפט </a:t>
            </a:r>
            <a:r>
              <a:rPr lang="en-US" sz="1900" b="1" dirty="0">
                <a:cs typeface="Calibri" panose="020F0502020204030204" pitchFamily="34" charset="0"/>
              </a:rPr>
              <a:t>Select</a:t>
            </a:r>
            <a:r>
              <a:rPr lang="he-IL" sz="1900" b="1" dirty="0">
                <a:cs typeface="Calibri" panose="020F0502020204030204" pitchFamily="34" charset="0"/>
              </a:rPr>
              <a:t>).</a:t>
            </a:r>
            <a:endParaRPr lang="en-US" sz="1900" b="1" dirty="0">
              <a:cs typeface="Calibri" panose="020F0502020204030204" pitchFamily="34" charset="0"/>
            </a:endParaRPr>
          </a:p>
          <a:p>
            <a:pPr rtl="1">
              <a:buFont typeface="Courier New" panose="02070309020205020404" pitchFamily="49" charset="0"/>
              <a:buChar char="o"/>
            </a:pPr>
            <a:r>
              <a:rPr lang="he-IL" sz="1900" dirty="0">
                <a:cs typeface="Calibri" panose="020F0502020204030204" pitchFamily="34" charset="0"/>
              </a:rPr>
              <a:t>פעולה חישובית על עמודה עם ערך </a:t>
            </a:r>
            <a:r>
              <a:rPr lang="en-US" sz="1900" dirty="0">
                <a:cs typeface="Calibri" panose="020F0502020204030204" pitchFamily="34" charset="0"/>
              </a:rPr>
              <a:t>NULL</a:t>
            </a:r>
            <a:r>
              <a:rPr lang="he-IL" sz="1900" dirty="0">
                <a:cs typeface="Calibri" panose="020F0502020204030204" pitchFamily="34" charset="0"/>
              </a:rPr>
              <a:t> תחזיר את התוצאה </a:t>
            </a:r>
            <a:r>
              <a:rPr lang="en-US" sz="1900" dirty="0">
                <a:cs typeface="Calibri" panose="020F0502020204030204" pitchFamily="34" charset="0"/>
              </a:rPr>
              <a:t>NULL</a:t>
            </a:r>
          </a:p>
          <a:p>
            <a:pPr rtl="1">
              <a:buFont typeface="Courier New" panose="02070309020205020404" pitchFamily="49" charset="0"/>
              <a:buChar char="o"/>
            </a:pPr>
            <a:r>
              <a:rPr lang="he-IL" sz="1900" dirty="0">
                <a:cs typeface="Calibri" panose="020F0502020204030204" pitchFamily="34" charset="0"/>
              </a:rPr>
              <a:t>כאשר מתבצעת פעולה חישובית על עמודה, מתקבלת עמודה ללא כותרת (</a:t>
            </a:r>
            <a:r>
              <a:rPr lang="en-US" sz="1900" dirty="0">
                <a:cs typeface="Calibri" panose="020F0502020204030204" pitchFamily="34" charset="0"/>
              </a:rPr>
              <a:t>no column name…</a:t>
            </a:r>
            <a:r>
              <a:rPr lang="he-IL" sz="1900" dirty="0">
                <a:cs typeface="Calibri" panose="020F0502020204030204" pitchFamily="34" charset="0"/>
              </a:rPr>
              <a:t>). עבור זאת נשתמש ב </a:t>
            </a:r>
            <a:r>
              <a:rPr lang="en-US" sz="1900" dirty="0">
                <a:cs typeface="Calibri" panose="020F0502020204030204" pitchFamily="34" charset="0"/>
              </a:rPr>
              <a:t>alias</a:t>
            </a:r>
            <a:r>
              <a:rPr lang="he-IL" sz="1900" dirty="0">
                <a:cs typeface="Calibri" panose="020F0502020204030204" pitchFamily="34" charset="0"/>
              </a:rPr>
              <a:t>.</a:t>
            </a:r>
          </a:p>
          <a:p>
            <a:pPr rtl="1"/>
            <a:endParaRPr lang="he-IL" sz="1900" dirty="0">
              <a:cs typeface="Calibri" panose="020F0502020204030204" pitchFamily="34" charset="0"/>
            </a:endParaRPr>
          </a:p>
        </p:txBody>
      </p:sp>
      <p:sp>
        <p:nvSpPr>
          <p:cNvPr id="3" name="כותרת 2">
            <a:extLst>
              <a:ext uri="{FF2B5EF4-FFF2-40B4-BE49-F238E27FC236}">
                <a16:creationId xmlns:a16="http://schemas.microsoft.com/office/drawing/2014/main" id="{69E06452-6193-4818-8156-CFCF825B266D}"/>
              </a:ext>
            </a:extLst>
          </p:cNvPr>
          <p:cNvSpPr>
            <a:spLocks noGrp="1"/>
          </p:cNvSpPr>
          <p:nvPr>
            <p:ph type="title"/>
          </p:nvPr>
        </p:nvSpPr>
        <p:spPr/>
        <p:txBody>
          <a:bodyPr/>
          <a:lstStyle/>
          <a:p>
            <a:r>
              <a:rPr lang="he-IL" dirty="0"/>
              <a:t>חישובים על עמודות</a:t>
            </a:r>
          </a:p>
        </p:txBody>
      </p:sp>
      <p:sp>
        <p:nvSpPr>
          <p:cNvPr id="4" name="מציין מיקום של מספר שקופית 3">
            <a:extLst>
              <a:ext uri="{FF2B5EF4-FFF2-40B4-BE49-F238E27FC236}">
                <a16:creationId xmlns:a16="http://schemas.microsoft.com/office/drawing/2014/main" id="{CDC20C5F-4DEB-4142-9B01-A5F97463A7DE}"/>
              </a:ext>
            </a:extLst>
          </p:cNvPr>
          <p:cNvSpPr>
            <a:spLocks noGrp="1"/>
          </p:cNvSpPr>
          <p:nvPr>
            <p:ph type="sldNum" sz="quarter" idx="11"/>
          </p:nvPr>
        </p:nvSpPr>
        <p:spPr/>
        <p:txBody>
          <a:bodyPr/>
          <a:lstStyle/>
          <a:p>
            <a:fld id="{746FD205-8D79-439C-A802-2377436AEC8A}" type="slidenum">
              <a:rPr lang="he-IL" smtClean="0"/>
              <a:pPr/>
              <a:t>41</a:t>
            </a:fld>
            <a:endParaRPr lang="he-IL"/>
          </a:p>
        </p:txBody>
      </p:sp>
    </p:spTree>
    <p:extLst>
      <p:ext uri="{BB962C8B-B14F-4D97-AF65-F5344CB8AC3E}">
        <p14:creationId xmlns:p14="http://schemas.microsoft.com/office/powerpoint/2010/main" val="18417138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12887A2C-F264-41F4-AD70-D1296743A846}"/>
              </a:ext>
            </a:extLst>
          </p:cNvPr>
          <p:cNvSpPr>
            <a:spLocks noGrp="1"/>
          </p:cNvSpPr>
          <p:nvPr>
            <p:ph idx="1"/>
          </p:nvPr>
        </p:nvSpPr>
        <p:spPr/>
        <p:txBody>
          <a:bodyPr/>
          <a:lstStyle/>
          <a:p>
            <a:pPr marL="64008" indent="0">
              <a:buNone/>
            </a:pPr>
            <a:r>
              <a:rPr lang="he-IL" sz="1900" dirty="0">
                <a:cs typeface="Calibri" panose="020F0502020204030204" pitchFamily="34" charset="0"/>
              </a:rPr>
              <a:t>באופן </a:t>
            </a:r>
            <a:r>
              <a:rPr lang="he-IL" sz="1900" dirty="0" err="1">
                <a:cs typeface="Calibri" panose="020F0502020204030204" pitchFamily="34" charset="0"/>
              </a:rPr>
              <a:t>דיפולטיבי</a:t>
            </a:r>
            <a:r>
              <a:rPr lang="he-IL" sz="1900" dirty="0">
                <a:cs typeface="Calibri" panose="020F0502020204030204" pitchFamily="34" charset="0"/>
              </a:rPr>
              <a:t>, בעת שליפה ממסד הנתונים, שם העמודה יופיע כפי שהוא הוגדר בעת יצירת הטבלה.</a:t>
            </a:r>
          </a:p>
          <a:p>
            <a:pPr marL="64008" indent="0">
              <a:buNone/>
            </a:pPr>
            <a:r>
              <a:rPr lang="he-IL" sz="1900" dirty="0">
                <a:cs typeface="Calibri" panose="020F0502020204030204" pitchFamily="34" charset="0"/>
              </a:rPr>
              <a:t>לעיתים נרצה להגדיר כינויים חדשים עבור העמודות. מספר סיבות שיכולות לגרום לכך:</a:t>
            </a:r>
          </a:p>
          <a:p>
            <a:pPr rtl="1">
              <a:buFont typeface="Courier New" panose="02070309020205020404" pitchFamily="49" charset="0"/>
              <a:buChar char="o"/>
            </a:pPr>
            <a:r>
              <a:rPr lang="he-IL" sz="1900" dirty="0">
                <a:cs typeface="Calibri" panose="020F0502020204030204" pitchFamily="34" charset="0"/>
              </a:rPr>
              <a:t>במקרים מסוימים השמות לעמודות הם לא מספיק ברורים ולכן נרצה להגדיר שמות ברורים יותר.</a:t>
            </a:r>
          </a:p>
          <a:p>
            <a:pPr rtl="1">
              <a:buFont typeface="Courier New" panose="02070309020205020404" pitchFamily="49" charset="0"/>
              <a:buChar char="o"/>
            </a:pPr>
            <a:r>
              <a:rPr lang="he-IL" sz="1900" dirty="0">
                <a:cs typeface="Calibri" panose="020F0502020204030204" pitchFamily="34" charset="0"/>
              </a:rPr>
              <a:t>כאשר מבצעים חישובים על עמודה ומחזירים את הערך בעמודה נוספת, אם לא נוסיף כינוי לעמודה החדשה היא תופיע ללא שם.</a:t>
            </a:r>
          </a:p>
          <a:p>
            <a:pPr rtl="1">
              <a:buFont typeface="Courier New" panose="02070309020205020404" pitchFamily="49" charset="0"/>
              <a:buChar char="o"/>
            </a:pPr>
            <a:r>
              <a:rPr lang="he-IL" sz="1900" dirty="0">
                <a:cs typeface="Calibri" panose="020F0502020204030204" pitchFamily="34" charset="0"/>
              </a:rPr>
              <a:t>כנ"ל כאשר מבצעים שרשור של עמודות.</a:t>
            </a:r>
          </a:p>
        </p:txBody>
      </p:sp>
      <p:sp>
        <p:nvSpPr>
          <p:cNvPr id="3" name="כותרת 2">
            <a:extLst>
              <a:ext uri="{FF2B5EF4-FFF2-40B4-BE49-F238E27FC236}">
                <a16:creationId xmlns:a16="http://schemas.microsoft.com/office/drawing/2014/main" id="{414B3C98-F5BB-44A0-B499-DC2475721DFE}"/>
              </a:ext>
            </a:extLst>
          </p:cNvPr>
          <p:cNvSpPr>
            <a:spLocks noGrp="1"/>
          </p:cNvSpPr>
          <p:nvPr>
            <p:ph type="title"/>
          </p:nvPr>
        </p:nvSpPr>
        <p:spPr/>
        <p:txBody>
          <a:bodyPr/>
          <a:lstStyle/>
          <a:p>
            <a:pPr algn="l"/>
            <a:r>
              <a:rPr lang="en-US" dirty="0"/>
              <a:t>Column Alias</a:t>
            </a:r>
            <a:endParaRPr lang="he-IL" dirty="0"/>
          </a:p>
        </p:txBody>
      </p:sp>
      <p:sp>
        <p:nvSpPr>
          <p:cNvPr id="4" name="מציין מיקום של מספר שקופית 3">
            <a:extLst>
              <a:ext uri="{FF2B5EF4-FFF2-40B4-BE49-F238E27FC236}">
                <a16:creationId xmlns:a16="http://schemas.microsoft.com/office/drawing/2014/main" id="{BFF6C4F8-7DA5-4616-B4D9-B6B89DDF3AA9}"/>
              </a:ext>
            </a:extLst>
          </p:cNvPr>
          <p:cNvSpPr>
            <a:spLocks noGrp="1"/>
          </p:cNvSpPr>
          <p:nvPr>
            <p:ph type="sldNum" sz="quarter" idx="11"/>
          </p:nvPr>
        </p:nvSpPr>
        <p:spPr/>
        <p:txBody>
          <a:bodyPr/>
          <a:lstStyle/>
          <a:p>
            <a:fld id="{746FD205-8D79-439C-A802-2377436AEC8A}" type="slidenum">
              <a:rPr lang="he-IL" smtClean="0"/>
              <a:pPr/>
              <a:t>42</a:t>
            </a:fld>
            <a:endParaRPr lang="he-IL"/>
          </a:p>
        </p:txBody>
      </p:sp>
    </p:spTree>
    <p:extLst>
      <p:ext uri="{BB962C8B-B14F-4D97-AF65-F5344CB8AC3E}">
        <p14:creationId xmlns:p14="http://schemas.microsoft.com/office/powerpoint/2010/main" val="1224021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1C4DBAEB-C864-4A80-AC1B-E4F109405A6A}"/>
              </a:ext>
            </a:extLst>
          </p:cNvPr>
          <p:cNvSpPr>
            <a:spLocks noGrp="1"/>
          </p:cNvSpPr>
          <p:nvPr>
            <p:ph idx="1"/>
          </p:nvPr>
        </p:nvSpPr>
        <p:spPr/>
        <p:txBody>
          <a:bodyPr/>
          <a:lstStyle/>
          <a:p>
            <a:pPr marL="64008" indent="0" rtl="1">
              <a:buNone/>
            </a:pPr>
            <a:r>
              <a:rPr lang="he-IL" sz="1900" dirty="0">
                <a:cs typeface="Calibri" panose="020F0502020204030204" pitchFamily="34" charset="0"/>
              </a:rPr>
              <a:t>הוספת </a:t>
            </a:r>
            <a:r>
              <a:rPr lang="en-US" sz="1900" dirty="0">
                <a:cs typeface="Calibri" panose="020F0502020204030204" pitchFamily="34" charset="0"/>
              </a:rPr>
              <a:t>alias</a:t>
            </a:r>
            <a:r>
              <a:rPr lang="he-IL" sz="1900" dirty="0">
                <a:cs typeface="Calibri" panose="020F0502020204030204" pitchFamily="34" charset="0"/>
              </a:rPr>
              <a:t>:</a:t>
            </a: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ובצורות מקוצרות יותר:</a:t>
            </a: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בשביל הקריאות נעדיף את הצורה הראשונה.</a:t>
            </a: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p:txBody>
      </p:sp>
      <p:sp>
        <p:nvSpPr>
          <p:cNvPr id="3" name="כותרת 2">
            <a:extLst>
              <a:ext uri="{FF2B5EF4-FFF2-40B4-BE49-F238E27FC236}">
                <a16:creationId xmlns:a16="http://schemas.microsoft.com/office/drawing/2014/main" id="{9040E2F9-CD3D-424A-BF2C-FC9B095B88A7}"/>
              </a:ext>
            </a:extLst>
          </p:cNvPr>
          <p:cNvSpPr>
            <a:spLocks noGrp="1"/>
          </p:cNvSpPr>
          <p:nvPr>
            <p:ph type="title"/>
          </p:nvPr>
        </p:nvSpPr>
        <p:spPr/>
        <p:txBody>
          <a:bodyPr/>
          <a:lstStyle/>
          <a:p>
            <a:pPr algn="l"/>
            <a:r>
              <a:rPr lang="en-US" dirty="0"/>
              <a:t>Column Aliases</a:t>
            </a:r>
            <a:endParaRPr lang="he-IL" dirty="0"/>
          </a:p>
        </p:txBody>
      </p:sp>
      <p:sp>
        <p:nvSpPr>
          <p:cNvPr id="4" name="מציין מיקום של מספר שקופית 3">
            <a:extLst>
              <a:ext uri="{FF2B5EF4-FFF2-40B4-BE49-F238E27FC236}">
                <a16:creationId xmlns:a16="http://schemas.microsoft.com/office/drawing/2014/main" id="{248A4C8E-4E59-4A99-8EA5-89AED22F9647}"/>
              </a:ext>
            </a:extLst>
          </p:cNvPr>
          <p:cNvSpPr>
            <a:spLocks noGrp="1"/>
          </p:cNvSpPr>
          <p:nvPr>
            <p:ph type="sldNum" sz="quarter" idx="11"/>
          </p:nvPr>
        </p:nvSpPr>
        <p:spPr/>
        <p:txBody>
          <a:bodyPr/>
          <a:lstStyle/>
          <a:p>
            <a:fld id="{746FD205-8D79-439C-A802-2377436AEC8A}" type="slidenum">
              <a:rPr lang="he-IL" smtClean="0"/>
              <a:pPr/>
              <a:t>43</a:t>
            </a:fld>
            <a:endParaRPr lang="he-IL"/>
          </a:p>
        </p:txBody>
      </p:sp>
      <p:pic>
        <p:nvPicPr>
          <p:cNvPr id="6" name="תמונה 5">
            <a:extLst>
              <a:ext uri="{FF2B5EF4-FFF2-40B4-BE49-F238E27FC236}">
                <a16:creationId xmlns:a16="http://schemas.microsoft.com/office/drawing/2014/main" id="{D49D6DF5-3A2C-4BC2-AC3E-6F49A70437CB}"/>
              </a:ext>
            </a:extLst>
          </p:cNvPr>
          <p:cNvPicPr>
            <a:picLocks noChangeAspect="1"/>
          </p:cNvPicPr>
          <p:nvPr/>
        </p:nvPicPr>
        <p:blipFill>
          <a:blip r:embed="rId3"/>
          <a:stretch>
            <a:fillRect/>
          </a:stretch>
        </p:blipFill>
        <p:spPr>
          <a:xfrm>
            <a:off x="2819400" y="2248459"/>
            <a:ext cx="676275" cy="942975"/>
          </a:xfrm>
          <a:prstGeom prst="rect">
            <a:avLst/>
          </a:prstGeom>
        </p:spPr>
      </p:pic>
      <p:pic>
        <p:nvPicPr>
          <p:cNvPr id="8" name="תמונה 7">
            <a:extLst>
              <a:ext uri="{FF2B5EF4-FFF2-40B4-BE49-F238E27FC236}">
                <a16:creationId xmlns:a16="http://schemas.microsoft.com/office/drawing/2014/main" id="{E25AF5FA-9E92-44C7-8103-89E093737333}"/>
              </a:ext>
            </a:extLst>
          </p:cNvPr>
          <p:cNvPicPr>
            <a:picLocks noChangeAspect="1"/>
          </p:cNvPicPr>
          <p:nvPr/>
        </p:nvPicPr>
        <p:blipFill>
          <a:blip r:embed="rId4"/>
          <a:stretch>
            <a:fillRect/>
          </a:stretch>
        </p:blipFill>
        <p:spPr>
          <a:xfrm>
            <a:off x="3810000" y="2248459"/>
            <a:ext cx="4737853" cy="570382"/>
          </a:xfrm>
          <a:prstGeom prst="rect">
            <a:avLst/>
          </a:prstGeom>
        </p:spPr>
      </p:pic>
      <p:pic>
        <p:nvPicPr>
          <p:cNvPr id="9" name="תמונה 8">
            <a:extLst>
              <a:ext uri="{FF2B5EF4-FFF2-40B4-BE49-F238E27FC236}">
                <a16:creationId xmlns:a16="http://schemas.microsoft.com/office/drawing/2014/main" id="{9C4382E6-31C0-40CE-A14D-9EF61AD3F1CB}"/>
              </a:ext>
            </a:extLst>
          </p:cNvPr>
          <p:cNvPicPr>
            <a:picLocks noChangeAspect="1"/>
          </p:cNvPicPr>
          <p:nvPr/>
        </p:nvPicPr>
        <p:blipFill>
          <a:blip r:embed="rId5"/>
          <a:stretch>
            <a:fillRect/>
          </a:stretch>
        </p:blipFill>
        <p:spPr>
          <a:xfrm>
            <a:off x="3937753" y="3657600"/>
            <a:ext cx="4610100" cy="571500"/>
          </a:xfrm>
          <a:prstGeom prst="rect">
            <a:avLst/>
          </a:prstGeom>
        </p:spPr>
      </p:pic>
      <p:pic>
        <p:nvPicPr>
          <p:cNvPr id="11" name="תמונה 10">
            <a:extLst>
              <a:ext uri="{FF2B5EF4-FFF2-40B4-BE49-F238E27FC236}">
                <a16:creationId xmlns:a16="http://schemas.microsoft.com/office/drawing/2014/main" id="{8D5584F1-8F56-4DAD-93D8-199EA0CCF32D}"/>
              </a:ext>
            </a:extLst>
          </p:cNvPr>
          <p:cNvPicPr>
            <a:picLocks noChangeAspect="1"/>
          </p:cNvPicPr>
          <p:nvPr/>
        </p:nvPicPr>
        <p:blipFill>
          <a:blip r:embed="rId6"/>
          <a:stretch>
            <a:fillRect/>
          </a:stretch>
        </p:blipFill>
        <p:spPr>
          <a:xfrm>
            <a:off x="4023478" y="4495800"/>
            <a:ext cx="4524375" cy="552450"/>
          </a:xfrm>
          <a:prstGeom prst="rect">
            <a:avLst/>
          </a:prstGeom>
        </p:spPr>
      </p:pic>
    </p:spTree>
    <p:extLst>
      <p:ext uri="{BB962C8B-B14F-4D97-AF65-F5344CB8AC3E}">
        <p14:creationId xmlns:p14="http://schemas.microsoft.com/office/powerpoint/2010/main" val="3009581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181AEE8-4DFD-4BDF-AED6-9330FFE461FB}"/>
              </a:ext>
            </a:extLst>
          </p:cNvPr>
          <p:cNvSpPr>
            <a:spLocks noGrp="1"/>
          </p:cNvSpPr>
          <p:nvPr>
            <p:ph idx="1"/>
          </p:nvPr>
        </p:nvSpPr>
        <p:spPr/>
        <p:txBody>
          <a:bodyPr/>
          <a:lstStyle/>
          <a:p>
            <a:pPr marL="64008" indent="0">
              <a:buNone/>
            </a:pPr>
            <a:r>
              <a:rPr lang="he-IL" sz="1900" dirty="0">
                <a:cs typeface="Calibri" panose="020F0502020204030204" pitchFamily="34" charset="0"/>
              </a:rPr>
              <a:t>ניתן לשרשר עמודות מסוג מחרוזת ולהציגן כעמודה אחת בעת השליפה.</a:t>
            </a:r>
          </a:p>
          <a:p>
            <a:pPr marL="64008" indent="0">
              <a:buNone/>
            </a:pPr>
            <a:r>
              <a:rPr lang="he-IL" sz="1900" dirty="0">
                <a:cs typeface="Calibri" panose="020F0502020204030204" pitchFamily="34" charset="0"/>
              </a:rPr>
              <a:t>השרשור נעשה ע"י הסימן + (ניתן להוסיף רווח באמצע ע"י ' ').</a:t>
            </a:r>
          </a:p>
          <a:p>
            <a:pPr marL="64008" indent="0">
              <a:buNone/>
            </a:pPr>
            <a:r>
              <a:rPr lang="he-IL" sz="1900" dirty="0">
                <a:cs typeface="Calibri" panose="020F0502020204030204" pitchFamily="34" charset="0"/>
              </a:rPr>
              <a:t>לדוגמא:</a:t>
            </a:r>
          </a:p>
          <a:p>
            <a:pPr marL="64008" indent="0">
              <a:buNone/>
            </a:pP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rtl="1">
              <a:buFont typeface="Courier New" panose="02070309020205020404" pitchFamily="49" charset="0"/>
              <a:buChar char="o"/>
            </a:pPr>
            <a:endParaRPr lang="he-IL" sz="1900" dirty="0">
              <a:cs typeface="Calibri" panose="020F0502020204030204" pitchFamily="34" charset="0"/>
            </a:endParaRPr>
          </a:p>
          <a:p>
            <a:pPr rtl="1">
              <a:buFont typeface="Courier New" panose="02070309020205020404" pitchFamily="49" charset="0"/>
              <a:buChar char="o"/>
            </a:pPr>
            <a:r>
              <a:rPr lang="he-IL" sz="1900" dirty="0">
                <a:cs typeface="Calibri" panose="020F0502020204030204" pitchFamily="34" charset="0"/>
              </a:rPr>
              <a:t>ניתן לשרשר שתי עמודות או יותר</a:t>
            </a:r>
          </a:p>
          <a:p>
            <a:pPr rtl="1">
              <a:buFont typeface="Courier New" panose="02070309020205020404" pitchFamily="49" charset="0"/>
              <a:buChar char="o"/>
            </a:pPr>
            <a:r>
              <a:rPr lang="he-IL" sz="1900" dirty="0">
                <a:cs typeface="Calibri" panose="020F0502020204030204" pitchFamily="34" charset="0"/>
              </a:rPr>
              <a:t>ניתן לשלוף עמודות נוספות בעת השליפה (עם פסיקים, בדיוק כמו בשליפה רגילה)</a:t>
            </a:r>
          </a:p>
          <a:p>
            <a:pPr rtl="1">
              <a:buFont typeface="Courier New" panose="02070309020205020404" pitchFamily="49" charset="0"/>
              <a:buChar char="o"/>
            </a:pPr>
            <a:r>
              <a:rPr lang="he-IL" sz="1900" dirty="0">
                <a:cs typeface="Calibri" panose="020F0502020204030204" pitchFamily="34" charset="0"/>
              </a:rPr>
              <a:t>כדאי לתת כינוי (</a:t>
            </a:r>
            <a:r>
              <a:rPr lang="en-US" sz="1900" dirty="0">
                <a:cs typeface="Calibri" panose="020F0502020204030204" pitchFamily="34" charset="0"/>
              </a:rPr>
              <a:t>alias</a:t>
            </a:r>
            <a:r>
              <a:rPr lang="he-IL" sz="1900" dirty="0">
                <a:cs typeface="Calibri" panose="020F0502020204030204" pitchFamily="34" charset="0"/>
              </a:rPr>
              <a:t>) לעמודה שתיווצר מן השרשור </a:t>
            </a:r>
          </a:p>
        </p:txBody>
      </p:sp>
      <p:sp>
        <p:nvSpPr>
          <p:cNvPr id="3" name="כותרת 2">
            <a:extLst>
              <a:ext uri="{FF2B5EF4-FFF2-40B4-BE49-F238E27FC236}">
                <a16:creationId xmlns:a16="http://schemas.microsoft.com/office/drawing/2014/main" id="{2FBE551C-4E3D-4CF2-B7D0-FCDF08F91E67}"/>
              </a:ext>
            </a:extLst>
          </p:cNvPr>
          <p:cNvSpPr>
            <a:spLocks noGrp="1"/>
          </p:cNvSpPr>
          <p:nvPr>
            <p:ph type="title"/>
          </p:nvPr>
        </p:nvSpPr>
        <p:spPr/>
        <p:txBody>
          <a:bodyPr/>
          <a:lstStyle/>
          <a:p>
            <a:pPr algn="l"/>
            <a:r>
              <a:rPr lang="en-US" dirty="0"/>
              <a:t>String Concatenation</a:t>
            </a:r>
            <a:endParaRPr lang="he-IL" dirty="0"/>
          </a:p>
        </p:txBody>
      </p:sp>
      <p:sp>
        <p:nvSpPr>
          <p:cNvPr id="4" name="מציין מיקום של מספר שקופית 3">
            <a:extLst>
              <a:ext uri="{FF2B5EF4-FFF2-40B4-BE49-F238E27FC236}">
                <a16:creationId xmlns:a16="http://schemas.microsoft.com/office/drawing/2014/main" id="{3B95112A-6226-45A0-82F6-2007F8D7051D}"/>
              </a:ext>
            </a:extLst>
          </p:cNvPr>
          <p:cNvSpPr>
            <a:spLocks noGrp="1"/>
          </p:cNvSpPr>
          <p:nvPr>
            <p:ph type="sldNum" sz="quarter" idx="11"/>
          </p:nvPr>
        </p:nvSpPr>
        <p:spPr/>
        <p:txBody>
          <a:bodyPr/>
          <a:lstStyle/>
          <a:p>
            <a:fld id="{746FD205-8D79-439C-A802-2377436AEC8A}" type="slidenum">
              <a:rPr lang="he-IL" smtClean="0"/>
              <a:pPr/>
              <a:t>44</a:t>
            </a:fld>
            <a:endParaRPr lang="he-IL"/>
          </a:p>
        </p:txBody>
      </p:sp>
      <p:pic>
        <p:nvPicPr>
          <p:cNvPr id="5" name="תמונה 4">
            <a:extLst>
              <a:ext uri="{FF2B5EF4-FFF2-40B4-BE49-F238E27FC236}">
                <a16:creationId xmlns:a16="http://schemas.microsoft.com/office/drawing/2014/main" id="{FF599452-499B-4933-BD3A-4B57E27DA115}"/>
              </a:ext>
            </a:extLst>
          </p:cNvPr>
          <p:cNvPicPr>
            <a:picLocks noChangeAspect="1"/>
          </p:cNvPicPr>
          <p:nvPr/>
        </p:nvPicPr>
        <p:blipFill>
          <a:blip r:embed="rId2"/>
          <a:stretch>
            <a:fillRect/>
          </a:stretch>
        </p:blipFill>
        <p:spPr>
          <a:xfrm>
            <a:off x="3886200" y="2743200"/>
            <a:ext cx="4737853" cy="570382"/>
          </a:xfrm>
          <a:prstGeom prst="rect">
            <a:avLst/>
          </a:prstGeom>
        </p:spPr>
      </p:pic>
      <p:pic>
        <p:nvPicPr>
          <p:cNvPr id="6" name="תמונה 5">
            <a:extLst>
              <a:ext uri="{FF2B5EF4-FFF2-40B4-BE49-F238E27FC236}">
                <a16:creationId xmlns:a16="http://schemas.microsoft.com/office/drawing/2014/main" id="{3FA39206-AB08-45C9-9ED5-B57700E7F749}"/>
              </a:ext>
            </a:extLst>
          </p:cNvPr>
          <p:cNvPicPr>
            <a:picLocks noChangeAspect="1"/>
          </p:cNvPicPr>
          <p:nvPr/>
        </p:nvPicPr>
        <p:blipFill>
          <a:blip r:embed="rId3"/>
          <a:stretch>
            <a:fillRect/>
          </a:stretch>
        </p:blipFill>
        <p:spPr>
          <a:xfrm>
            <a:off x="2819400" y="2743200"/>
            <a:ext cx="676275" cy="942975"/>
          </a:xfrm>
          <a:prstGeom prst="rect">
            <a:avLst/>
          </a:prstGeom>
        </p:spPr>
      </p:pic>
    </p:spTree>
    <p:extLst>
      <p:ext uri="{BB962C8B-B14F-4D97-AF65-F5344CB8AC3E}">
        <p14:creationId xmlns:p14="http://schemas.microsoft.com/office/powerpoint/2010/main" val="3362632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3F6AF79-0E68-497D-9EDF-C464E45B43B6}"/>
              </a:ext>
            </a:extLst>
          </p:cNvPr>
          <p:cNvSpPr>
            <a:spLocks noGrp="1"/>
          </p:cNvSpPr>
          <p:nvPr>
            <p:ph idx="1"/>
          </p:nvPr>
        </p:nvSpPr>
        <p:spPr/>
        <p:txBody>
          <a:bodyPr>
            <a:normAutofit fontScale="92500" lnSpcReduction="20000"/>
          </a:bodyPr>
          <a:lstStyle/>
          <a:p>
            <a:pPr marL="64008" indent="0" rtl="1">
              <a:buNone/>
            </a:pPr>
            <a:r>
              <a:rPr lang="he-IL" sz="1900" dirty="0">
                <a:cs typeface="Calibri" panose="020F0502020204030204" pitchFamily="34" charset="0"/>
              </a:rPr>
              <a:t>הפקודה </a:t>
            </a:r>
            <a:r>
              <a:rPr lang="en-US" sz="1900" dirty="0">
                <a:cs typeface="Calibri" panose="020F0502020204030204" pitchFamily="34" charset="0"/>
              </a:rPr>
              <a:t>Distinct</a:t>
            </a:r>
            <a:r>
              <a:rPr lang="he-IL" sz="1900" dirty="0">
                <a:cs typeface="Calibri" panose="020F0502020204030204" pitchFamily="34" charset="0"/>
              </a:rPr>
              <a:t> מאפשרת לנו לצמצם את תוצאות השליפה כך שאותו ערך לא יחזור ע"ע פעמיים.</a:t>
            </a:r>
          </a:p>
          <a:p>
            <a:pPr marL="64008" indent="0" rtl="1">
              <a:buNone/>
            </a:pPr>
            <a:r>
              <a:rPr lang="he-IL" sz="1900" dirty="0">
                <a:cs typeface="Calibri" panose="020F0502020204030204" pitchFamily="34" charset="0"/>
              </a:rPr>
              <a:t>לדוגמא: אם נרצה לשלוף מטבלת </a:t>
            </a:r>
            <a:r>
              <a:rPr lang="en-US" sz="1900" dirty="0" err="1">
                <a:cs typeface="Calibri" panose="020F0502020204030204" pitchFamily="34" charset="0"/>
              </a:rPr>
              <a:t>Employee_pay</a:t>
            </a:r>
            <a:r>
              <a:rPr lang="he-IL" sz="1900" dirty="0">
                <a:cs typeface="Calibri" panose="020F0502020204030204" pitchFamily="34" charset="0"/>
              </a:rPr>
              <a:t> את כל דרגות הבונוס הקיימות, כאשר לא משנה לנו איזה בונוס מקבל כל עובד, נשתמש בפקודת ה </a:t>
            </a:r>
            <a:r>
              <a:rPr lang="en-US" sz="1900" dirty="0">
                <a:cs typeface="Calibri" panose="020F0502020204030204" pitchFamily="34" charset="0"/>
              </a:rPr>
              <a:t>distinct</a:t>
            </a:r>
            <a:r>
              <a:rPr lang="he-IL" sz="1900" dirty="0">
                <a:cs typeface="Calibri" panose="020F0502020204030204" pitchFamily="34" charset="0"/>
              </a:rPr>
              <a:t>, כך נקבל כל דרגת סכום בונוס פעם אחת בלבד.</a:t>
            </a: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(בטבלה יש 6 רשומות, אך הערכים 300 ו 400 חוזרים על עצמם ופקודת ה </a:t>
            </a:r>
            <a:r>
              <a:rPr lang="en-US" sz="1900" dirty="0">
                <a:cs typeface="Calibri" panose="020F0502020204030204" pitchFamily="34" charset="0"/>
              </a:rPr>
              <a:t>distinct</a:t>
            </a:r>
            <a:r>
              <a:rPr lang="he-IL" sz="1900" dirty="0">
                <a:cs typeface="Calibri" panose="020F0502020204030204" pitchFamily="34" charset="0"/>
              </a:rPr>
              <a:t> צמצמה אותם ולכן בתוצאה מופיעות ארבעה רשומות בלבד) </a:t>
            </a: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ניתן להשתמש בפקודת ה </a:t>
            </a:r>
            <a:r>
              <a:rPr lang="en-US" sz="1900" dirty="0">
                <a:cs typeface="Calibri" panose="020F0502020204030204" pitchFamily="34" charset="0"/>
              </a:rPr>
              <a:t>distinct</a:t>
            </a:r>
            <a:r>
              <a:rPr lang="he-IL" sz="1900" dirty="0">
                <a:cs typeface="Calibri" panose="020F0502020204030204" pitchFamily="34" charset="0"/>
              </a:rPr>
              <a:t> גם עבור מספר עמודות יחד, ז"א שהשילוב של שתי העמודות יחד לא יחזור ע"ע.</a:t>
            </a:r>
          </a:p>
          <a:p>
            <a:pPr marL="64008" indent="0" rtl="1">
              <a:buNone/>
            </a:pPr>
            <a:r>
              <a:rPr lang="he-IL" sz="1900" dirty="0">
                <a:cs typeface="Calibri" panose="020F0502020204030204" pitchFamily="34" charset="0"/>
              </a:rPr>
              <a:t>לדוגמא:</a:t>
            </a:r>
            <a:br>
              <a:rPr lang="en-US" sz="1900" dirty="0">
                <a:cs typeface="Calibri" panose="020F0502020204030204" pitchFamily="34" charset="0"/>
              </a:rPr>
            </a:br>
            <a:r>
              <a:rPr lang="en-US" sz="1900" dirty="0">
                <a:cs typeface="Calibri" panose="020F0502020204030204" pitchFamily="34" charset="0"/>
              </a:rPr>
              <a:t>select distinct </a:t>
            </a:r>
            <a:r>
              <a:rPr lang="en-US" sz="1900" dirty="0" err="1">
                <a:cs typeface="Calibri" panose="020F0502020204030204" pitchFamily="34" charset="0"/>
              </a:rPr>
              <a:t>start_year</a:t>
            </a:r>
            <a:r>
              <a:rPr lang="en-US" sz="1900" dirty="0">
                <a:cs typeface="Calibri" panose="020F0502020204030204" pitchFamily="34" charset="0"/>
              </a:rPr>
              <a:t>, age from students</a:t>
            </a:r>
            <a:endParaRPr lang="he-IL" sz="1900" dirty="0">
              <a:cs typeface="Calibri" panose="020F0502020204030204" pitchFamily="34" charset="0"/>
            </a:endParaRPr>
          </a:p>
          <a:p>
            <a:pPr marL="64008" indent="0" rtl="1">
              <a:buNone/>
            </a:pPr>
            <a:r>
              <a:rPr lang="he-IL" sz="1900" dirty="0">
                <a:cs typeface="Calibri" panose="020F0502020204030204" pitchFamily="34" charset="0"/>
              </a:rPr>
              <a:t>אם יש מספר תלמידים בני אותו גיל שהתחילו באותה שנה, השילוב שלהם יופיע פעם אחת בלבד.</a:t>
            </a: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p:txBody>
      </p:sp>
      <p:sp>
        <p:nvSpPr>
          <p:cNvPr id="3" name="כותרת 2">
            <a:extLst>
              <a:ext uri="{FF2B5EF4-FFF2-40B4-BE49-F238E27FC236}">
                <a16:creationId xmlns:a16="http://schemas.microsoft.com/office/drawing/2014/main" id="{7FD3413A-38B0-4B37-8126-3594FFF2618C}"/>
              </a:ext>
            </a:extLst>
          </p:cNvPr>
          <p:cNvSpPr>
            <a:spLocks noGrp="1"/>
          </p:cNvSpPr>
          <p:nvPr>
            <p:ph type="title"/>
          </p:nvPr>
        </p:nvSpPr>
        <p:spPr/>
        <p:txBody>
          <a:bodyPr/>
          <a:lstStyle/>
          <a:p>
            <a:pPr algn="l"/>
            <a:r>
              <a:rPr lang="en-US" dirty="0"/>
              <a:t>Distinct</a:t>
            </a:r>
            <a:endParaRPr lang="he-IL" dirty="0"/>
          </a:p>
        </p:txBody>
      </p:sp>
      <p:sp>
        <p:nvSpPr>
          <p:cNvPr id="4" name="מציין מיקום של מספר שקופית 3">
            <a:extLst>
              <a:ext uri="{FF2B5EF4-FFF2-40B4-BE49-F238E27FC236}">
                <a16:creationId xmlns:a16="http://schemas.microsoft.com/office/drawing/2014/main" id="{5BCCAED7-18A1-49EC-B0BA-D1DFFA79C105}"/>
              </a:ext>
            </a:extLst>
          </p:cNvPr>
          <p:cNvSpPr>
            <a:spLocks noGrp="1"/>
          </p:cNvSpPr>
          <p:nvPr>
            <p:ph type="sldNum" sz="quarter" idx="11"/>
          </p:nvPr>
        </p:nvSpPr>
        <p:spPr/>
        <p:txBody>
          <a:bodyPr/>
          <a:lstStyle/>
          <a:p>
            <a:fld id="{746FD205-8D79-439C-A802-2377436AEC8A}" type="slidenum">
              <a:rPr lang="he-IL" smtClean="0"/>
              <a:pPr/>
              <a:t>45</a:t>
            </a:fld>
            <a:endParaRPr lang="he-IL"/>
          </a:p>
        </p:txBody>
      </p:sp>
      <p:pic>
        <p:nvPicPr>
          <p:cNvPr id="5" name="תמונה 4">
            <a:extLst>
              <a:ext uri="{FF2B5EF4-FFF2-40B4-BE49-F238E27FC236}">
                <a16:creationId xmlns:a16="http://schemas.microsoft.com/office/drawing/2014/main" id="{C7FF6C18-7201-45A6-BD6D-61EB7FB04239}"/>
              </a:ext>
            </a:extLst>
          </p:cNvPr>
          <p:cNvPicPr>
            <a:picLocks noChangeAspect="1"/>
          </p:cNvPicPr>
          <p:nvPr/>
        </p:nvPicPr>
        <p:blipFill>
          <a:blip r:embed="rId2"/>
          <a:stretch>
            <a:fillRect/>
          </a:stretch>
        </p:blipFill>
        <p:spPr>
          <a:xfrm>
            <a:off x="685800" y="2914649"/>
            <a:ext cx="2657475" cy="561975"/>
          </a:xfrm>
          <a:prstGeom prst="rect">
            <a:avLst/>
          </a:prstGeom>
        </p:spPr>
      </p:pic>
      <p:pic>
        <p:nvPicPr>
          <p:cNvPr id="7" name="תמונה 6">
            <a:extLst>
              <a:ext uri="{FF2B5EF4-FFF2-40B4-BE49-F238E27FC236}">
                <a16:creationId xmlns:a16="http://schemas.microsoft.com/office/drawing/2014/main" id="{821CD12C-A889-47C7-8542-6FEF62FFFE8C}"/>
              </a:ext>
            </a:extLst>
          </p:cNvPr>
          <p:cNvPicPr>
            <a:picLocks noChangeAspect="1"/>
          </p:cNvPicPr>
          <p:nvPr/>
        </p:nvPicPr>
        <p:blipFill>
          <a:blip r:embed="rId3"/>
          <a:stretch>
            <a:fillRect/>
          </a:stretch>
        </p:blipFill>
        <p:spPr>
          <a:xfrm>
            <a:off x="3810000" y="2924175"/>
            <a:ext cx="552450" cy="923925"/>
          </a:xfrm>
          <a:prstGeom prst="rect">
            <a:avLst/>
          </a:prstGeom>
        </p:spPr>
      </p:pic>
    </p:spTree>
    <p:extLst>
      <p:ext uri="{BB962C8B-B14F-4D97-AF65-F5344CB8AC3E}">
        <p14:creationId xmlns:p14="http://schemas.microsoft.com/office/powerpoint/2010/main" val="8176171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24847A5F-29A8-47BB-BED5-9233EA68A3D6}"/>
              </a:ext>
            </a:extLst>
          </p:cNvPr>
          <p:cNvSpPr>
            <a:spLocks noGrp="1"/>
          </p:cNvSpPr>
          <p:nvPr>
            <p:ph idx="1"/>
          </p:nvPr>
        </p:nvSpPr>
        <p:spPr/>
        <p:txBody>
          <a:bodyPr>
            <a:normAutofit/>
          </a:bodyPr>
          <a:lstStyle/>
          <a:p>
            <a:pPr marL="64008" indent="0" rtl="1">
              <a:buNone/>
            </a:pPr>
            <a:r>
              <a:rPr lang="he-IL" sz="1900" dirty="0">
                <a:cs typeface="Calibri" panose="020F0502020204030204" pitchFamily="34" charset="0"/>
              </a:rPr>
              <a:t>על מסד הנתונים של בית הספר שיצרת בצעי את הפעולות הבאות:</a:t>
            </a:r>
          </a:p>
          <a:p>
            <a:pPr rtl="1">
              <a:buFont typeface="Courier New" panose="02070309020205020404" pitchFamily="49" charset="0"/>
              <a:buChar char="o"/>
            </a:pPr>
            <a:r>
              <a:rPr lang="he-IL" sz="1900" dirty="0">
                <a:cs typeface="Calibri" panose="020F0502020204030204" pitchFamily="34" charset="0"/>
              </a:rPr>
              <a:t>שלפי את שמות התלמידות ומספר הטלפון שלהם, שם תלמידה יופיע בשדה אחד – שם פרטי + שם משפחה</a:t>
            </a:r>
          </a:p>
          <a:p>
            <a:pPr rtl="1">
              <a:buFont typeface="Courier New" panose="02070309020205020404" pitchFamily="49" charset="0"/>
              <a:buChar char="o"/>
            </a:pPr>
            <a:r>
              <a:rPr lang="he-IL" sz="1900" dirty="0">
                <a:cs typeface="Calibri" panose="020F0502020204030204" pitchFamily="34" charset="0"/>
              </a:rPr>
              <a:t>עדכני את השדה שכר לשעה של כל מורה – עבור כל שנת וותק היא תקבל 5% (0.05) נוסף (השתמשי עבור כך בערך הקודם של השכר לשעה ובערך שדה שנת תחילת עבודה שעל ידו תחשבי מספר שנות עבודה)</a:t>
            </a:r>
          </a:p>
          <a:p>
            <a:pPr rtl="1">
              <a:buFont typeface="Courier New" panose="02070309020205020404" pitchFamily="49" charset="0"/>
              <a:buChar char="o"/>
            </a:pPr>
            <a:r>
              <a:rPr lang="he-IL" sz="1900" dirty="0">
                <a:cs typeface="Calibri" panose="020F0502020204030204" pitchFamily="34" charset="0"/>
              </a:rPr>
              <a:t>הוסיפי שדה תאריך לידה עבור כל תלמידה (פתחי את ה </a:t>
            </a:r>
            <a:r>
              <a:rPr lang="en-US" sz="1900" dirty="0">
                <a:cs typeface="Calibri" panose="020F0502020204030204" pitchFamily="34" charset="0"/>
              </a:rPr>
              <a:t>design</a:t>
            </a:r>
            <a:r>
              <a:rPr lang="he-IL" sz="1900" dirty="0">
                <a:cs typeface="Calibri" panose="020F0502020204030204" pitchFamily="34" charset="0"/>
              </a:rPr>
              <a:t>, הוסיפי את השדה , אפשרי בו </a:t>
            </a:r>
            <a:r>
              <a:rPr lang="en-US" sz="1900" dirty="0">
                <a:cs typeface="Calibri" panose="020F0502020204030204" pitchFamily="34" charset="0"/>
              </a:rPr>
              <a:t>null</a:t>
            </a:r>
            <a:r>
              <a:rPr lang="he-IL" sz="1900" dirty="0">
                <a:cs typeface="Calibri" panose="020F0502020204030204" pitchFamily="34" charset="0"/>
              </a:rPr>
              <a:t> ע"מ שתוכלי לשמור, לאחר מכן מלאי בו ערכים)</a:t>
            </a:r>
            <a:br>
              <a:rPr lang="en-US" sz="1900" dirty="0">
                <a:cs typeface="Calibri" panose="020F0502020204030204" pitchFamily="34" charset="0"/>
              </a:rPr>
            </a:br>
            <a:r>
              <a:rPr lang="he-IL" sz="1900" dirty="0">
                <a:cs typeface="Calibri" panose="020F0502020204030204" pitchFamily="34" charset="0"/>
              </a:rPr>
              <a:t>בשאילתה הדפיסי את השם והגיל של כל תלמידה</a:t>
            </a:r>
          </a:p>
          <a:p>
            <a:pPr rtl="1">
              <a:buFont typeface="Courier New" panose="02070309020205020404" pitchFamily="49" charset="0"/>
              <a:buChar char="o"/>
            </a:pPr>
            <a:r>
              <a:rPr lang="he-IL" sz="1900" b="1" dirty="0">
                <a:cs typeface="Calibri" panose="020F0502020204030204" pitchFamily="34" charset="0"/>
              </a:rPr>
              <a:t>מטבלת מורות - שלפי את כל שנות התחלת העבודה שקיימות, כל שנה תופיע פעם אחת בלבד</a:t>
            </a:r>
          </a:p>
          <a:p>
            <a:pPr marL="64008" indent="0" rtl="1">
              <a:buNone/>
            </a:pPr>
            <a:endParaRPr lang="he-IL" sz="1900" dirty="0">
              <a:cs typeface="Calibri" panose="020F0502020204030204" pitchFamily="34" charset="0"/>
            </a:endParaRPr>
          </a:p>
        </p:txBody>
      </p:sp>
      <p:sp>
        <p:nvSpPr>
          <p:cNvPr id="3" name="כותרת 2">
            <a:extLst>
              <a:ext uri="{FF2B5EF4-FFF2-40B4-BE49-F238E27FC236}">
                <a16:creationId xmlns:a16="http://schemas.microsoft.com/office/drawing/2014/main" id="{84415DDF-6017-4970-9B1F-2B84D80B4AA6}"/>
              </a:ext>
            </a:extLst>
          </p:cNvPr>
          <p:cNvSpPr>
            <a:spLocks noGrp="1"/>
          </p:cNvSpPr>
          <p:nvPr>
            <p:ph type="title"/>
          </p:nvPr>
        </p:nvSpPr>
        <p:spPr/>
        <p:txBody>
          <a:bodyPr/>
          <a:lstStyle/>
          <a:p>
            <a:r>
              <a:rPr lang="he-IL" dirty="0"/>
              <a:t>שליפות – תרגיל</a:t>
            </a:r>
          </a:p>
        </p:txBody>
      </p:sp>
      <p:sp>
        <p:nvSpPr>
          <p:cNvPr id="4" name="מציין מיקום של מספר שקופית 3">
            <a:extLst>
              <a:ext uri="{FF2B5EF4-FFF2-40B4-BE49-F238E27FC236}">
                <a16:creationId xmlns:a16="http://schemas.microsoft.com/office/drawing/2014/main" id="{FC8AA10F-6790-4F78-AD2A-5ACBFC949F47}"/>
              </a:ext>
            </a:extLst>
          </p:cNvPr>
          <p:cNvSpPr>
            <a:spLocks noGrp="1"/>
          </p:cNvSpPr>
          <p:nvPr>
            <p:ph type="sldNum" sz="quarter" idx="11"/>
          </p:nvPr>
        </p:nvSpPr>
        <p:spPr/>
        <p:txBody>
          <a:bodyPr/>
          <a:lstStyle/>
          <a:p>
            <a:fld id="{746FD205-8D79-439C-A802-2377436AEC8A}" type="slidenum">
              <a:rPr lang="he-IL" smtClean="0"/>
              <a:pPr/>
              <a:t>46</a:t>
            </a:fld>
            <a:endParaRPr lang="he-IL"/>
          </a:p>
        </p:txBody>
      </p:sp>
    </p:spTree>
    <p:extLst>
      <p:ext uri="{BB962C8B-B14F-4D97-AF65-F5344CB8AC3E}">
        <p14:creationId xmlns:p14="http://schemas.microsoft.com/office/powerpoint/2010/main" val="3385627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FE216972-AF2F-4953-9D7A-7B2458F3FDEC}"/>
              </a:ext>
            </a:extLst>
          </p:cNvPr>
          <p:cNvSpPr>
            <a:spLocks noGrp="1"/>
          </p:cNvSpPr>
          <p:nvPr>
            <p:ph idx="1"/>
          </p:nvPr>
        </p:nvSpPr>
        <p:spPr>
          <a:xfrm>
            <a:off x="457200" y="1447800"/>
            <a:ext cx="8229600" cy="4648200"/>
          </a:xfrm>
        </p:spPr>
        <p:txBody>
          <a:bodyPr/>
          <a:lstStyle/>
          <a:p>
            <a:pPr marL="64008" indent="0" rtl="1">
              <a:buNone/>
            </a:pPr>
            <a:r>
              <a:rPr lang="he-IL" sz="1900" dirty="0">
                <a:cs typeface="Calibri" panose="020F0502020204030204" pitchFamily="34" charset="0"/>
              </a:rPr>
              <a:t>פקודת ה </a:t>
            </a:r>
            <a:r>
              <a:rPr lang="en-US" sz="1900" dirty="0">
                <a:cs typeface="Calibri" panose="020F0502020204030204" pitchFamily="34" charset="0"/>
              </a:rPr>
              <a:t>where</a:t>
            </a:r>
            <a:r>
              <a:rPr lang="he-IL" sz="1900" dirty="0">
                <a:cs typeface="Calibri" panose="020F0502020204030204" pitchFamily="34" charset="0"/>
              </a:rPr>
              <a:t> מאפשרת לנו לסנן נתונים. היא משמשת עבור שליפת רשומות שעונות על התנאי המוגדר בלבד.</a:t>
            </a: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מבנה הפקודה:</a:t>
            </a: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לדוגמא: </a:t>
            </a:r>
          </a:p>
          <a:p>
            <a:pPr marL="64008" indent="0" rtl="1">
              <a:buNone/>
            </a:pPr>
            <a:r>
              <a:rPr lang="he-IL" sz="1900" dirty="0">
                <a:cs typeface="Calibri" panose="020F0502020204030204" pitchFamily="34" charset="0"/>
              </a:rPr>
              <a:t>שליפת כל העובדים שגרים בירושלים:</a:t>
            </a: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a:p>
            <a:pPr marL="64008" indent="0" rtl="1">
              <a:buNone/>
            </a:pPr>
            <a:endParaRPr lang="he-IL" sz="1900" dirty="0">
              <a:cs typeface="Calibri" panose="020F0502020204030204" pitchFamily="34" charset="0"/>
            </a:endParaRPr>
          </a:p>
        </p:txBody>
      </p:sp>
      <p:sp>
        <p:nvSpPr>
          <p:cNvPr id="3" name="כותרת 2">
            <a:extLst>
              <a:ext uri="{FF2B5EF4-FFF2-40B4-BE49-F238E27FC236}">
                <a16:creationId xmlns:a16="http://schemas.microsoft.com/office/drawing/2014/main" id="{7B7BABAE-FC19-413A-B0E6-B7C35A5B3360}"/>
              </a:ext>
            </a:extLst>
          </p:cNvPr>
          <p:cNvSpPr>
            <a:spLocks noGrp="1"/>
          </p:cNvSpPr>
          <p:nvPr>
            <p:ph type="title"/>
          </p:nvPr>
        </p:nvSpPr>
        <p:spPr/>
        <p:txBody>
          <a:bodyPr/>
          <a:lstStyle/>
          <a:p>
            <a:pPr algn="l"/>
            <a:r>
              <a:rPr lang="en-US" dirty="0"/>
              <a:t>Where</a:t>
            </a:r>
            <a:endParaRPr lang="he-IL" dirty="0"/>
          </a:p>
        </p:txBody>
      </p:sp>
      <p:sp>
        <p:nvSpPr>
          <p:cNvPr id="4" name="מציין מיקום של מספר שקופית 3">
            <a:extLst>
              <a:ext uri="{FF2B5EF4-FFF2-40B4-BE49-F238E27FC236}">
                <a16:creationId xmlns:a16="http://schemas.microsoft.com/office/drawing/2014/main" id="{3DC030B3-C9BE-4F97-A39C-35A75A8C2B5D}"/>
              </a:ext>
            </a:extLst>
          </p:cNvPr>
          <p:cNvSpPr>
            <a:spLocks noGrp="1"/>
          </p:cNvSpPr>
          <p:nvPr>
            <p:ph type="sldNum" sz="quarter" idx="11"/>
          </p:nvPr>
        </p:nvSpPr>
        <p:spPr/>
        <p:txBody>
          <a:bodyPr/>
          <a:lstStyle/>
          <a:p>
            <a:fld id="{746FD205-8D79-439C-A802-2377436AEC8A}" type="slidenum">
              <a:rPr lang="he-IL" smtClean="0"/>
              <a:pPr/>
              <a:t>47</a:t>
            </a:fld>
            <a:endParaRPr lang="he-IL"/>
          </a:p>
        </p:txBody>
      </p:sp>
      <p:pic>
        <p:nvPicPr>
          <p:cNvPr id="5" name="תמונה 4">
            <a:extLst>
              <a:ext uri="{FF2B5EF4-FFF2-40B4-BE49-F238E27FC236}">
                <a16:creationId xmlns:a16="http://schemas.microsoft.com/office/drawing/2014/main" id="{4570E4F7-B03B-47D0-B91B-AD564A6E0818}"/>
              </a:ext>
            </a:extLst>
          </p:cNvPr>
          <p:cNvPicPr>
            <a:picLocks noChangeAspect="1"/>
          </p:cNvPicPr>
          <p:nvPr/>
        </p:nvPicPr>
        <p:blipFill>
          <a:blip r:embed="rId2"/>
          <a:stretch>
            <a:fillRect/>
          </a:stretch>
        </p:blipFill>
        <p:spPr>
          <a:xfrm>
            <a:off x="6096000" y="2971800"/>
            <a:ext cx="2333625" cy="704850"/>
          </a:xfrm>
          <a:prstGeom prst="rect">
            <a:avLst/>
          </a:prstGeom>
        </p:spPr>
      </p:pic>
      <p:pic>
        <p:nvPicPr>
          <p:cNvPr id="6" name="תמונה 5">
            <a:extLst>
              <a:ext uri="{FF2B5EF4-FFF2-40B4-BE49-F238E27FC236}">
                <a16:creationId xmlns:a16="http://schemas.microsoft.com/office/drawing/2014/main" id="{F9E18E71-E895-4F72-9854-1661094F9D81}"/>
              </a:ext>
            </a:extLst>
          </p:cNvPr>
          <p:cNvPicPr>
            <a:picLocks noChangeAspect="1"/>
          </p:cNvPicPr>
          <p:nvPr/>
        </p:nvPicPr>
        <p:blipFill>
          <a:blip r:embed="rId3"/>
          <a:stretch>
            <a:fillRect/>
          </a:stretch>
        </p:blipFill>
        <p:spPr>
          <a:xfrm>
            <a:off x="914400" y="5105400"/>
            <a:ext cx="3800475" cy="914400"/>
          </a:xfrm>
          <a:prstGeom prst="rect">
            <a:avLst/>
          </a:prstGeom>
        </p:spPr>
      </p:pic>
      <p:pic>
        <p:nvPicPr>
          <p:cNvPr id="7" name="תמונה 6">
            <a:extLst>
              <a:ext uri="{FF2B5EF4-FFF2-40B4-BE49-F238E27FC236}">
                <a16:creationId xmlns:a16="http://schemas.microsoft.com/office/drawing/2014/main" id="{E1183A61-7BE4-41CB-B208-4576322EF5F3}"/>
              </a:ext>
            </a:extLst>
          </p:cNvPr>
          <p:cNvPicPr>
            <a:picLocks noChangeAspect="1"/>
          </p:cNvPicPr>
          <p:nvPr/>
        </p:nvPicPr>
        <p:blipFill>
          <a:blip r:embed="rId4"/>
          <a:stretch>
            <a:fillRect/>
          </a:stretch>
        </p:blipFill>
        <p:spPr>
          <a:xfrm>
            <a:off x="4953000" y="5129163"/>
            <a:ext cx="1885950" cy="600075"/>
          </a:xfrm>
          <a:prstGeom prst="rect">
            <a:avLst/>
          </a:prstGeom>
        </p:spPr>
      </p:pic>
    </p:spTree>
    <p:extLst>
      <p:ext uri="{BB962C8B-B14F-4D97-AF65-F5344CB8AC3E}">
        <p14:creationId xmlns:p14="http://schemas.microsoft.com/office/powerpoint/2010/main" val="4535643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8B37239-7F0B-4C34-9F0A-8C75E8F9684E}"/>
              </a:ext>
            </a:extLst>
          </p:cNvPr>
          <p:cNvSpPr>
            <a:spLocks noGrp="1"/>
          </p:cNvSpPr>
          <p:nvPr>
            <p:ph idx="1"/>
          </p:nvPr>
        </p:nvSpPr>
        <p:spPr/>
        <p:txBody>
          <a:bodyPr/>
          <a:lstStyle/>
          <a:p>
            <a:pPr rtl="1">
              <a:buFont typeface="Courier New" panose="02070309020205020404" pitchFamily="49" charset="0"/>
              <a:buChar char="o"/>
            </a:pPr>
            <a:r>
              <a:rPr lang="he-IL" sz="1900" dirty="0">
                <a:cs typeface="Calibri" panose="020F0502020204030204" pitchFamily="34" charset="0"/>
              </a:rPr>
              <a:t>משפט ה </a:t>
            </a:r>
            <a:r>
              <a:rPr lang="en-US" sz="1900" dirty="0">
                <a:cs typeface="Calibri" panose="020F0502020204030204" pitchFamily="34" charset="0"/>
              </a:rPr>
              <a:t>where</a:t>
            </a:r>
            <a:r>
              <a:rPr lang="he-IL" sz="1900" dirty="0">
                <a:cs typeface="Calibri" panose="020F0502020204030204" pitchFamily="34" charset="0"/>
              </a:rPr>
              <a:t> יופיע תמיד לאחר משפט ה </a:t>
            </a:r>
            <a:r>
              <a:rPr lang="en-US" sz="1900" dirty="0">
                <a:cs typeface="Calibri" panose="020F0502020204030204" pitchFamily="34" charset="0"/>
              </a:rPr>
              <a:t>from</a:t>
            </a:r>
            <a:r>
              <a:rPr lang="he-IL" sz="1900" dirty="0">
                <a:cs typeface="Calibri" panose="020F0502020204030204" pitchFamily="34" charset="0"/>
              </a:rPr>
              <a:t>. הסדר הוא קבוע כך: </a:t>
            </a:r>
            <a:r>
              <a:rPr lang="en-US" sz="1900" dirty="0">
                <a:cs typeface="Calibri" panose="020F0502020204030204" pitchFamily="34" charset="0"/>
              </a:rPr>
              <a:t>select…from…where</a:t>
            </a:r>
            <a:r>
              <a:rPr lang="he-IL" sz="1900" dirty="0">
                <a:cs typeface="Calibri" panose="020F0502020204030204" pitchFamily="34" charset="0"/>
              </a:rPr>
              <a:t> (לוגית, מאחורי הקלעים – תבצע קודם כל ה </a:t>
            </a:r>
            <a:r>
              <a:rPr lang="en-US" sz="1900" dirty="0">
                <a:cs typeface="Calibri" panose="020F0502020204030204" pitchFamily="34" charset="0"/>
              </a:rPr>
              <a:t>from</a:t>
            </a:r>
            <a:r>
              <a:rPr lang="he-IL" sz="1900" dirty="0">
                <a:cs typeface="Calibri" panose="020F0502020204030204" pitchFamily="34" charset="0"/>
              </a:rPr>
              <a:t> – לאיזה טבלה תלך, אח"כ ה </a:t>
            </a:r>
            <a:r>
              <a:rPr lang="en-US" sz="1900" dirty="0">
                <a:cs typeface="Calibri" panose="020F0502020204030204" pitchFamily="34" charset="0"/>
              </a:rPr>
              <a:t>where</a:t>
            </a:r>
            <a:r>
              <a:rPr lang="he-IL" sz="1900" dirty="0">
                <a:cs typeface="Calibri" panose="020F0502020204030204" pitchFamily="34" charset="0"/>
              </a:rPr>
              <a:t> – איזה רשומות תשלוף, ואח"כ ה </a:t>
            </a:r>
            <a:r>
              <a:rPr lang="en-US" sz="1900" dirty="0">
                <a:cs typeface="Calibri" panose="020F0502020204030204" pitchFamily="34" charset="0"/>
              </a:rPr>
              <a:t>select</a:t>
            </a:r>
            <a:r>
              <a:rPr lang="he-IL" sz="1900" dirty="0">
                <a:cs typeface="Calibri" panose="020F0502020204030204" pitchFamily="34" charset="0"/>
              </a:rPr>
              <a:t> – שליפה בפועל של העמודות שביקשנו)</a:t>
            </a:r>
            <a:endParaRPr lang="en-US" sz="1900" dirty="0">
              <a:cs typeface="Calibri" panose="020F0502020204030204" pitchFamily="34" charset="0"/>
            </a:endParaRPr>
          </a:p>
          <a:p>
            <a:pPr rtl="1">
              <a:buFont typeface="Courier New" panose="02070309020205020404" pitchFamily="49" charset="0"/>
              <a:buChar char="o"/>
            </a:pPr>
            <a:r>
              <a:rPr lang="he-IL" sz="1900" dirty="0">
                <a:cs typeface="Calibri" panose="020F0502020204030204" pitchFamily="34" charset="0"/>
              </a:rPr>
              <a:t>משפט ה </a:t>
            </a:r>
            <a:r>
              <a:rPr lang="en-US" sz="1900" dirty="0">
                <a:cs typeface="Calibri" panose="020F0502020204030204" pitchFamily="34" charset="0"/>
              </a:rPr>
              <a:t>where</a:t>
            </a:r>
            <a:r>
              <a:rPr lang="he-IL" sz="1900" dirty="0">
                <a:cs typeface="Calibri" panose="020F0502020204030204" pitchFamily="34" charset="0"/>
              </a:rPr>
              <a:t> הוא אופציונלי, רק במידה ואנו זקוקים לסינון. זאת לעומת משפטי ה </a:t>
            </a:r>
            <a:r>
              <a:rPr lang="en-US" sz="1900" dirty="0">
                <a:cs typeface="Calibri" panose="020F0502020204030204" pitchFamily="34" charset="0"/>
              </a:rPr>
              <a:t>select</a:t>
            </a:r>
            <a:r>
              <a:rPr lang="he-IL" sz="1900" dirty="0">
                <a:cs typeface="Calibri" panose="020F0502020204030204" pitchFamily="34" charset="0"/>
              </a:rPr>
              <a:t> </a:t>
            </a:r>
            <a:r>
              <a:rPr lang="he-IL" sz="1900" dirty="0" err="1">
                <a:cs typeface="Calibri" panose="020F0502020204030204" pitchFamily="34" charset="0"/>
              </a:rPr>
              <a:t>וה</a:t>
            </a:r>
            <a:r>
              <a:rPr lang="he-IL" sz="1900" dirty="0">
                <a:cs typeface="Calibri" panose="020F0502020204030204" pitchFamily="34" charset="0"/>
              </a:rPr>
              <a:t> </a:t>
            </a:r>
            <a:r>
              <a:rPr lang="en-US" sz="1900" dirty="0">
                <a:cs typeface="Calibri" panose="020F0502020204030204" pitchFamily="34" charset="0"/>
              </a:rPr>
              <a:t>from</a:t>
            </a:r>
            <a:r>
              <a:rPr lang="he-IL" sz="1900" dirty="0">
                <a:cs typeface="Calibri" panose="020F0502020204030204" pitchFamily="34" charset="0"/>
              </a:rPr>
              <a:t> שהם מנדטוריים בפקודת שליפה.</a:t>
            </a:r>
          </a:p>
          <a:p>
            <a:pPr rtl="1">
              <a:buFont typeface="Courier New" panose="02070309020205020404" pitchFamily="49" charset="0"/>
              <a:buChar char="o"/>
            </a:pPr>
            <a:r>
              <a:rPr lang="he-IL" sz="1900" dirty="0">
                <a:cs typeface="Calibri" panose="020F0502020204030204" pitchFamily="34" charset="0"/>
              </a:rPr>
              <a:t>במשפט התנאי, סוג הערך שאנו משווים לעמודה חייב להיות כמובן זהה לסוג שהוגדרה העמודה.</a:t>
            </a:r>
          </a:p>
          <a:p>
            <a:pPr rtl="1">
              <a:buFont typeface="Courier New" panose="02070309020205020404" pitchFamily="49" charset="0"/>
              <a:buChar char="o"/>
            </a:pPr>
            <a:r>
              <a:rPr lang="he-IL" sz="1900" dirty="0">
                <a:cs typeface="Calibri" panose="020F0502020204030204" pitchFamily="34" charset="0"/>
              </a:rPr>
              <a:t>אם אף רשומה אינה עונה על התנאי שכתבנו, לא נקבל הודעת שגיאה, אלא </a:t>
            </a:r>
            <a:r>
              <a:rPr lang="en-US" sz="1900" dirty="0">
                <a:cs typeface="Calibri" panose="020F0502020204030204" pitchFamily="34" charset="0"/>
              </a:rPr>
              <a:t>SQL</a:t>
            </a:r>
            <a:r>
              <a:rPr lang="he-IL" sz="1900" dirty="0">
                <a:cs typeface="Calibri" panose="020F0502020204030204" pitchFamily="34" charset="0"/>
              </a:rPr>
              <a:t> לא תחזיר אף תוצאה (זו בעצם התוצאה – 0 רשומות).</a:t>
            </a:r>
          </a:p>
          <a:p>
            <a:pPr rtl="1">
              <a:buFont typeface="Courier New" panose="02070309020205020404" pitchFamily="49" charset="0"/>
              <a:buChar char="o"/>
            </a:pPr>
            <a:endParaRPr lang="he-IL" sz="1900" dirty="0">
              <a:cs typeface="Calibri" panose="020F0502020204030204" pitchFamily="34" charset="0"/>
            </a:endParaRPr>
          </a:p>
        </p:txBody>
      </p:sp>
      <p:sp>
        <p:nvSpPr>
          <p:cNvPr id="3" name="כותרת 2">
            <a:extLst>
              <a:ext uri="{FF2B5EF4-FFF2-40B4-BE49-F238E27FC236}">
                <a16:creationId xmlns:a16="http://schemas.microsoft.com/office/drawing/2014/main" id="{298E60E4-E679-406E-861D-E3146DC5CBC9}"/>
              </a:ext>
            </a:extLst>
          </p:cNvPr>
          <p:cNvSpPr>
            <a:spLocks noGrp="1"/>
          </p:cNvSpPr>
          <p:nvPr>
            <p:ph type="title"/>
          </p:nvPr>
        </p:nvSpPr>
        <p:spPr/>
        <p:txBody>
          <a:bodyPr/>
          <a:lstStyle/>
          <a:p>
            <a:pPr algn="l"/>
            <a:r>
              <a:rPr lang="en-US" dirty="0"/>
              <a:t>Where</a:t>
            </a:r>
            <a:endParaRPr lang="he-IL" dirty="0"/>
          </a:p>
        </p:txBody>
      </p:sp>
      <p:sp>
        <p:nvSpPr>
          <p:cNvPr id="4" name="מציין מיקום של מספר שקופית 3">
            <a:extLst>
              <a:ext uri="{FF2B5EF4-FFF2-40B4-BE49-F238E27FC236}">
                <a16:creationId xmlns:a16="http://schemas.microsoft.com/office/drawing/2014/main" id="{D892EAA2-F06A-41D7-8FB8-00B5018C4E9D}"/>
              </a:ext>
            </a:extLst>
          </p:cNvPr>
          <p:cNvSpPr>
            <a:spLocks noGrp="1"/>
          </p:cNvSpPr>
          <p:nvPr>
            <p:ph type="sldNum" sz="quarter" idx="11"/>
          </p:nvPr>
        </p:nvSpPr>
        <p:spPr/>
        <p:txBody>
          <a:bodyPr/>
          <a:lstStyle/>
          <a:p>
            <a:fld id="{746FD205-8D79-439C-A802-2377436AEC8A}" type="slidenum">
              <a:rPr lang="he-IL" smtClean="0"/>
              <a:pPr/>
              <a:t>48</a:t>
            </a:fld>
            <a:endParaRPr lang="he-IL" dirty="0"/>
          </a:p>
        </p:txBody>
      </p:sp>
    </p:spTree>
    <p:extLst>
      <p:ext uri="{BB962C8B-B14F-4D97-AF65-F5344CB8AC3E}">
        <p14:creationId xmlns:p14="http://schemas.microsoft.com/office/powerpoint/2010/main" val="3533224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37606F3-941F-4538-A45E-CB3467C09D4C}"/>
              </a:ext>
            </a:extLst>
          </p:cNvPr>
          <p:cNvSpPr>
            <a:spLocks noGrp="1"/>
          </p:cNvSpPr>
          <p:nvPr>
            <p:ph idx="1"/>
          </p:nvPr>
        </p:nvSpPr>
        <p:spPr/>
        <p:txBody>
          <a:bodyPr/>
          <a:lstStyle/>
          <a:p>
            <a:pPr marL="64008" indent="0" rtl="1">
              <a:buNone/>
            </a:pPr>
            <a:r>
              <a:rPr lang="he-IL" sz="1900" dirty="0">
                <a:cs typeface="Calibri" panose="020F0502020204030204" pitchFamily="34" charset="0"/>
              </a:rPr>
              <a:t>ניתן לשלב את משפט ה </a:t>
            </a:r>
            <a:r>
              <a:rPr lang="en-US" sz="1900" dirty="0">
                <a:cs typeface="Calibri" panose="020F0502020204030204" pitchFamily="34" charset="0"/>
              </a:rPr>
              <a:t>WHERE </a:t>
            </a:r>
            <a:r>
              <a:rPr lang="he-IL" sz="1900" dirty="0">
                <a:cs typeface="Calibri" panose="020F0502020204030204" pitchFamily="34" charset="0"/>
              </a:rPr>
              <a:t> עם האופרטורים</a:t>
            </a:r>
            <a:r>
              <a:rPr lang="en-US" sz="1900" dirty="0">
                <a:cs typeface="Calibri" panose="020F0502020204030204" pitchFamily="34" charset="0"/>
              </a:rPr>
              <a:t>AND, OR  </a:t>
            </a:r>
            <a:r>
              <a:rPr lang="he-IL" sz="1900" dirty="0">
                <a:cs typeface="Calibri" panose="020F0502020204030204" pitchFamily="34" charset="0"/>
              </a:rPr>
              <a:t> ו </a:t>
            </a:r>
            <a:r>
              <a:rPr lang="en-US" sz="1900" dirty="0">
                <a:cs typeface="Calibri" panose="020F0502020204030204" pitchFamily="34" charset="0"/>
              </a:rPr>
              <a:t>NOT</a:t>
            </a:r>
            <a:r>
              <a:rPr lang="he-IL" sz="1900" dirty="0">
                <a:cs typeface="Calibri" panose="020F0502020204030204" pitchFamily="34" charset="0"/>
              </a:rPr>
              <a:t>.</a:t>
            </a: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האופרטורים</a:t>
            </a:r>
            <a:r>
              <a:rPr lang="en-US" sz="1900" dirty="0">
                <a:cs typeface="Calibri" panose="020F0502020204030204" pitchFamily="34" charset="0"/>
              </a:rPr>
              <a:t>AND </a:t>
            </a:r>
            <a:r>
              <a:rPr lang="he-IL" sz="1900" dirty="0">
                <a:cs typeface="Calibri" panose="020F0502020204030204" pitchFamily="34" charset="0"/>
              </a:rPr>
              <a:t> ו-</a:t>
            </a:r>
            <a:r>
              <a:rPr lang="en-US" sz="1900" dirty="0">
                <a:cs typeface="Calibri" panose="020F0502020204030204" pitchFamily="34" charset="0"/>
              </a:rPr>
              <a:t>OR </a:t>
            </a:r>
            <a:r>
              <a:rPr lang="he-IL" sz="1900" dirty="0">
                <a:cs typeface="Calibri" panose="020F0502020204030204" pitchFamily="34" charset="0"/>
              </a:rPr>
              <a:t> משמשים לסינון רשומות על סמך יותר מתנאי אחד:</a:t>
            </a:r>
          </a:p>
          <a:p>
            <a:pPr rtl="1">
              <a:buFont typeface="Courier New" panose="02070309020205020404" pitchFamily="49" charset="0"/>
              <a:buChar char="o"/>
            </a:pPr>
            <a:r>
              <a:rPr lang="he-IL" sz="1900" dirty="0">
                <a:cs typeface="Calibri" panose="020F0502020204030204" pitchFamily="34" charset="0"/>
              </a:rPr>
              <a:t>האופרטור </a:t>
            </a:r>
            <a:r>
              <a:rPr lang="en-US" sz="1900" dirty="0">
                <a:cs typeface="Calibri" panose="020F0502020204030204" pitchFamily="34" charset="0"/>
              </a:rPr>
              <a:t> AND </a:t>
            </a:r>
            <a:r>
              <a:rPr lang="he-IL" sz="1900" dirty="0">
                <a:cs typeface="Calibri" panose="020F0502020204030204" pitchFamily="34" charset="0"/>
              </a:rPr>
              <a:t>מציג רשומה אם כל התנאים המופרדים ב-</a:t>
            </a:r>
            <a:r>
              <a:rPr lang="en-US" sz="1900" dirty="0">
                <a:cs typeface="Calibri" panose="020F0502020204030204" pitchFamily="34" charset="0"/>
              </a:rPr>
              <a:t> AND </a:t>
            </a:r>
            <a:r>
              <a:rPr lang="he-IL" sz="1900" dirty="0">
                <a:cs typeface="Calibri" panose="020F0502020204030204" pitchFamily="34" charset="0"/>
              </a:rPr>
              <a:t>הם </a:t>
            </a:r>
            <a:r>
              <a:rPr lang="en-US" sz="1900" dirty="0">
                <a:cs typeface="Calibri" panose="020F0502020204030204" pitchFamily="34" charset="0"/>
              </a:rPr>
              <a:t>.TRUE</a:t>
            </a:r>
            <a:r>
              <a:rPr lang="he-IL" sz="1900" dirty="0">
                <a:cs typeface="Calibri" panose="020F0502020204030204" pitchFamily="34" charset="0"/>
              </a:rPr>
              <a:t> </a:t>
            </a:r>
          </a:p>
          <a:p>
            <a:pPr rtl="1">
              <a:buFont typeface="Courier New" panose="02070309020205020404" pitchFamily="49" charset="0"/>
              <a:buChar char="o"/>
            </a:pPr>
            <a:r>
              <a:rPr lang="he-IL" sz="1900" dirty="0">
                <a:cs typeface="Calibri" panose="020F0502020204030204" pitchFamily="34" charset="0"/>
              </a:rPr>
              <a:t>האופרטור </a:t>
            </a:r>
            <a:r>
              <a:rPr lang="en-US" sz="1900" dirty="0">
                <a:cs typeface="Calibri" panose="020F0502020204030204" pitchFamily="34" charset="0"/>
              </a:rPr>
              <a:t>OR </a:t>
            </a:r>
            <a:r>
              <a:rPr lang="he-IL" sz="1900" dirty="0">
                <a:cs typeface="Calibri" panose="020F0502020204030204" pitchFamily="34" charset="0"/>
              </a:rPr>
              <a:t> מציג רשומה אם אחד מהתנאים המופרדים ב-</a:t>
            </a:r>
            <a:r>
              <a:rPr lang="en-US" sz="1900" dirty="0">
                <a:cs typeface="Calibri" panose="020F0502020204030204" pitchFamily="34" charset="0"/>
              </a:rPr>
              <a:t>OR</a:t>
            </a:r>
            <a:r>
              <a:rPr lang="he-IL" sz="1900" dirty="0">
                <a:cs typeface="Calibri" panose="020F0502020204030204" pitchFamily="34" charset="0"/>
              </a:rPr>
              <a:t> הוא </a:t>
            </a:r>
            <a:r>
              <a:rPr lang="en-US" sz="1900" dirty="0">
                <a:cs typeface="Calibri" panose="020F0502020204030204" pitchFamily="34" charset="0"/>
              </a:rPr>
              <a:t>TRUE</a:t>
            </a:r>
            <a:r>
              <a:rPr lang="he-IL" sz="1900" dirty="0">
                <a:cs typeface="Calibri" panose="020F0502020204030204" pitchFamily="34" charset="0"/>
              </a:rPr>
              <a:t>.</a:t>
            </a:r>
          </a:p>
          <a:p>
            <a:pPr marL="64008" indent="0" rtl="1">
              <a:buNone/>
            </a:pPr>
            <a:endParaRPr lang="he-IL" sz="1900" dirty="0">
              <a:cs typeface="Calibri" panose="020F0502020204030204" pitchFamily="34" charset="0"/>
            </a:endParaRPr>
          </a:p>
          <a:p>
            <a:pPr marL="64008" indent="0" rtl="1">
              <a:buNone/>
            </a:pPr>
            <a:r>
              <a:rPr lang="he-IL" sz="1900" dirty="0">
                <a:cs typeface="Calibri" panose="020F0502020204030204" pitchFamily="34" charset="0"/>
              </a:rPr>
              <a:t>האופרטור</a:t>
            </a:r>
            <a:r>
              <a:rPr lang="en-US" sz="1900" dirty="0">
                <a:cs typeface="Calibri" panose="020F0502020204030204" pitchFamily="34" charset="0"/>
              </a:rPr>
              <a:t>NOT </a:t>
            </a:r>
            <a:r>
              <a:rPr lang="he-IL" sz="1900" dirty="0">
                <a:cs typeface="Calibri" panose="020F0502020204030204" pitchFamily="34" charset="0"/>
              </a:rPr>
              <a:t> מציג רשומה אם התנאים אינם </a:t>
            </a:r>
            <a:r>
              <a:rPr lang="en-US" sz="1900" dirty="0">
                <a:cs typeface="Calibri" panose="020F0502020204030204" pitchFamily="34" charset="0"/>
              </a:rPr>
              <a:t>TRUE</a:t>
            </a:r>
            <a:r>
              <a:rPr lang="he-IL" sz="1900" dirty="0">
                <a:cs typeface="Calibri" panose="020F0502020204030204" pitchFamily="34" charset="0"/>
              </a:rPr>
              <a:t>.</a:t>
            </a:r>
          </a:p>
        </p:txBody>
      </p:sp>
      <p:sp>
        <p:nvSpPr>
          <p:cNvPr id="3" name="כותרת 2">
            <a:extLst>
              <a:ext uri="{FF2B5EF4-FFF2-40B4-BE49-F238E27FC236}">
                <a16:creationId xmlns:a16="http://schemas.microsoft.com/office/drawing/2014/main" id="{5FCF5CF4-C320-4A1E-A186-3E86CBDE2AE6}"/>
              </a:ext>
            </a:extLst>
          </p:cNvPr>
          <p:cNvSpPr>
            <a:spLocks noGrp="1"/>
          </p:cNvSpPr>
          <p:nvPr>
            <p:ph type="title"/>
          </p:nvPr>
        </p:nvSpPr>
        <p:spPr/>
        <p:txBody>
          <a:bodyPr>
            <a:normAutofit/>
          </a:bodyPr>
          <a:lstStyle/>
          <a:p>
            <a:r>
              <a:rPr lang="en-US" dirty="0"/>
              <a:t>AND, OR and NOT Operator</a:t>
            </a:r>
          </a:p>
        </p:txBody>
      </p:sp>
      <p:sp>
        <p:nvSpPr>
          <p:cNvPr id="4" name="מציין מיקום של מספר שקופית 3">
            <a:extLst>
              <a:ext uri="{FF2B5EF4-FFF2-40B4-BE49-F238E27FC236}">
                <a16:creationId xmlns:a16="http://schemas.microsoft.com/office/drawing/2014/main" id="{59007914-CBF2-4594-896F-AC9639C6C649}"/>
              </a:ext>
            </a:extLst>
          </p:cNvPr>
          <p:cNvSpPr>
            <a:spLocks noGrp="1"/>
          </p:cNvSpPr>
          <p:nvPr>
            <p:ph type="sldNum" sz="quarter" idx="11"/>
          </p:nvPr>
        </p:nvSpPr>
        <p:spPr/>
        <p:txBody>
          <a:bodyPr/>
          <a:lstStyle/>
          <a:p>
            <a:fld id="{746FD205-8D79-439C-A802-2377436AEC8A}" type="slidenum">
              <a:rPr lang="he-IL" smtClean="0"/>
              <a:pPr/>
              <a:t>49</a:t>
            </a:fld>
            <a:endParaRPr lang="he-IL"/>
          </a:p>
        </p:txBody>
      </p:sp>
    </p:spTree>
    <p:extLst>
      <p:ext uri="{BB962C8B-B14F-4D97-AF65-F5344CB8AC3E}">
        <p14:creationId xmlns:p14="http://schemas.microsoft.com/office/powerpoint/2010/main" val="2432199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03B42C8-0699-4A5D-8493-F06DE006DE40}"/>
              </a:ext>
            </a:extLst>
          </p:cNvPr>
          <p:cNvSpPr>
            <a:spLocks noGrp="1"/>
          </p:cNvSpPr>
          <p:nvPr>
            <p:ph idx="1"/>
          </p:nvPr>
        </p:nvSpPr>
        <p:spPr/>
        <p:txBody>
          <a:bodyPr/>
          <a:lstStyle/>
          <a:p>
            <a:pPr marL="64008" indent="0">
              <a:buNone/>
            </a:pPr>
            <a:r>
              <a:rPr lang="en-US" sz="1900" dirty="0">
                <a:cs typeface="Calibri" panose="020F0502020204030204" pitchFamily="34" charset="0"/>
              </a:rPr>
              <a:t>Syntax:</a:t>
            </a: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r>
              <a:rPr lang="he-IL" sz="1900" dirty="0">
                <a:cs typeface="Calibri" panose="020F0502020204030204" pitchFamily="34" charset="0"/>
              </a:rPr>
              <a:t>דוגמא:</a:t>
            </a:r>
            <a:endParaRPr lang="en-US" sz="1900" dirty="0">
              <a:cs typeface="Calibri" panose="020F0502020204030204" pitchFamily="34" charset="0"/>
            </a:endParaRPr>
          </a:p>
          <a:p>
            <a:pPr marL="64008" indent="0">
              <a:buNone/>
            </a:pPr>
            <a:r>
              <a:rPr lang="he-IL" sz="1900" dirty="0">
                <a:cs typeface="Calibri" panose="020F0502020204030204" pitchFamily="34" charset="0"/>
              </a:rPr>
              <a:t>שליפת כל ההזמנות מתחילת שנת 2008 שמספר המוצרים בהן גדול מ 5.</a:t>
            </a:r>
          </a:p>
          <a:p>
            <a:pPr marL="64008" indent="0">
              <a:buNone/>
            </a:pP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endParaRPr lang="he-IL" dirty="0"/>
          </a:p>
        </p:txBody>
      </p:sp>
      <p:sp>
        <p:nvSpPr>
          <p:cNvPr id="3" name="כותרת 2">
            <a:extLst>
              <a:ext uri="{FF2B5EF4-FFF2-40B4-BE49-F238E27FC236}">
                <a16:creationId xmlns:a16="http://schemas.microsoft.com/office/drawing/2014/main" id="{58930FE3-62DE-43DA-8440-7737999B50E5}"/>
              </a:ext>
            </a:extLst>
          </p:cNvPr>
          <p:cNvSpPr>
            <a:spLocks noGrp="1"/>
          </p:cNvSpPr>
          <p:nvPr>
            <p:ph type="title"/>
          </p:nvPr>
        </p:nvSpPr>
        <p:spPr/>
        <p:txBody>
          <a:bodyPr/>
          <a:lstStyle/>
          <a:p>
            <a:pPr algn="l"/>
            <a:r>
              <a:rPr lang="en-US" dirty="0"/>
              <a:t>AND Operator</a:t>
            </a:r>
            <a:endParaRPr lang="he-IL" dirty="0"/>
          </a:p>
        </p:txBody>
      </p:sp>
      <p:sp>
        <p:nvSpPr>
          <p:cNvPr id="4" name="מציין מיקום של מספר שקופית 3">
            <a:extLst>
              <a:ext uri="{FF2B5EF4-FFF2-40B4-BE49-F238E27FC236}">
                <a16:creationId xmlns:a16="http://schemas.microsoft.com/office/drawing/2014/main" id="{2A5E02A8-A665-4321-A36E-CA2480DCAC30}"/>
              </a:ext>
            </a:extLst>
          </p:cNvPr>
          <p:cNvSpPr>
            <a:spLocks noGrp="1"/>
          </p:cNvSpPr>
          <p:nvPr>
            <p:ph type="sldNum" sz="quarter" idx="11"/>
          </p:nvPr>
        </p:nvSpPr>
        <p:spPr/>
        <p:txBody>
          <a:bodyPr/>
          <a:lstStyle/>
          <a:p>
            <a:fld id="{746FD205-8D79-439C-A802-2377436AEC8A}" type="slidenum">
              <a:rPr lang="he-IL" smtClean="0"/>
              <a:pPr/>
              <a:t>50</a:t>
            </a:fld>
            <a:endParaRPr lang="he-IL"/>
          </a:p>
        </p:txBody>
      </p:sp>
      <p:pic>
        <p:nvPicPr>
          <p:cNvPr id="5" name="תמונה 4">
            <a:extLst>
              <a:ext uri="{FF2B5EF4-FFF2-40B4-BE49-F238E27FC236}">
                <a16:creationId xmlns:a16="http://schemas.microsoft.com/office/drawing/2014/main" id="{6A3FA268-AA83-4C0F-9D83-27BF415B056D}"/>
              </a:ext>
            </a:extLst>
          </p:cNvPr>
          <p:cNvPicPr>
            <a:picLocks noChangeAspect="1"/>
          </p:cNvPicPr>
          <p:nvPr/>
        </p:nvPicPr>
        <p:blipFill>
          <a:blip r:embed="rId2"/>
          <a:stretch>
            <a:fillRect/>
          </a:stretch>
        </p:blipFill>
        <p:spPr>
          <a:xfrm>
            <a:off x="4572000" y="2057400"/>
            <a:ext cx="4057650" cy="723900"/>
          </a:xfrm>
          <a:prstGeom prst="rect">
            <a:avLst/>
          </a:prstGeom>
        </p:spPr>
      </p:pic>
      <p:pic>
        <p:nvPicPr>
          <p:cNvPr id="6" name="תמונה 5">
            <a:extLst>
              <a:ext uri="{FF2B5EF4-FFF2-40B4-BE49-F238E27FC236}">
                <a16:creationId xmlns:a16="http://schemas.microsoft.com/office/drawing/2014/main" id="{FD771613-9AE3-42BE-A493-D1B682F74158}"/>
              </a:ext>
            </a:extLst>
          </p:cNvPr>
          <p:cNvPicPr>
            <a:picLocks noChangeAspect="1"/>
          </p:cNvPicPr>
          <p:nvPr/>
        </p:nvPicPr>
        <p:blipFill>
          <a:blip r:embed="rId3"/>
          <a:stretch>
            <a:fillRect/>
          </a:stretch>
        </p:blipFill>
        <p:spPr>
          <a:xfrm>
            <a:off x="762000" y="4267200"/>
            <a:ext cx="4629150" cy="904875"/>
          </a:xfrm>
          <a:prstGeom prst="rect">
            <a:avLst/>
          </a:prstGeom>
        </p:spPr>
      </p:pic>
      <p:pic>
        <p:nvPicPr>
          <p:cNvPr id="7" name="תמונה 6">
            <a:extLst>
              <a:ext uri="{FF2B5EF4-FFF2-40B4-BE49-F238E27FC236}">
                <a16:creationId xmlns:a16="http://schemas.microsoft.com/office/drawing/2014/main" id="{CE05155A-2521-4602-80A8-D808085D08BF}"/>
              </a:ext>
            </a:extLst>
          </p:cNvPr>
          <p:cNvPicPr>
            <a:picLocks noChangeAspect="1"/>
          </p:cNvPicPr>
          <p:nvPr/>
        </p:nvPicPr>
        <p:blipFill>
          <a:blip r:embed="rId4"/>
          <a:stretch>
            <a:fillRect/>
          </a:stretch>
        </p:blipFill>
        <p:spPr>
          <a:xfrm>
            <a:off x="5649759" y="4301567"/>
            <a:ext cx="2819400" cy="390525"/>
          </a:xfrm>
          <a:prstGeom prst="rect">
            <a:avLst/>
          </a:prstGeom>
        </p:spPr>
      </p:pic>
    </p:spTree>
    <p:extLst>
      <p:ext uri="{BB962C8B-B14F-4D97-AF65-F5344CB8AC3E}">
        <p14:creationId xmlns:p14="http://schemas.microsoft.com/office/powerpoint/2010/main" val="7994295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046191C-9CB6-41B7-A8A0-74E4913114B3}"/>
              </a:ext>
            </a:extLst>
          </p:cNvPr>
          <p:cNvSpPr>
            <a:spLocks noGrp="1"/>
          </p:cNvSpPr>
          <p:nvPr>
            <p:ph idx="1"/>
          </p:nvPr>
        </p:nvSpPr>
        <p:spPr/>
        <p:txBody>
          <a:bodyPr/>
          <a:lstStyle/>
          <a:p>
            <a:pPr marL="64008" indent="0">
              <a:buNone/>
            </a:pPr>
            <a:r>
              <a:rPr lang="en-US" sz="1900" dirty="0">
                <a:cs typeface="Calibri" panose="020F0502020204030204" pitchFamily="34" charset="0"/>
              </a:rPr>
              <a:t>Syntax:</a:t>
            </a:r>
          </a:p>
          <a:p>
            <a:pPr marL="64008" indent="0">
              <a:buNone/>
            </a:pPr>
            <a:endParaRPr lang="en-US" sz="1900" dirty="0">
              <a:cs typeface="Calibri" panose="020F0502020204030204" pitchFamily="34" charset="0"/>
            </a:endParaRPr>
          </a:p>
          <a:p>
            <a:pPr marL="64008" indent="0">
              <a:buNone/>
            </a:pPr>
            <a:endParaRPr lang="en-US" sz="1900" dirty="0">
              <a:cs typeface="Calibri" panose="020F0502020204030204" pitchFamily="34" charset="0"/>
            </a:endParaRPr>
          </a:p>
          <a:p>
            <a:pPr marL="64008" indent="0">
              <a:buNone/>
            </a:pPr>
            <a:endParaRPr lang="en-US" sz="1900" dirty="0">
              <a:cs typeface="Calibri" panose="020F0502020204030204" pitchFamily="34" charset="0"/>
            </a:endParaRPr>
          </a:p>
          <a:p>
            <a:pPr marL="64008" indent="0">
              <a:buNone/>
            </a:pPr>
            <a:endParaRPr lang="he-IL" sz="1900" dirty="0">
              <a:cs typeface="Calibri" panose="020F0502020204030204" pitchFamily="34" charset="0"/>
            </a:endParaRPr>
          </a:p>
          <a:p>
            <a:pPr marL="64008" indent="0">
              <a:buNone/>
            </a:pPr>
            <a:r>
              <a:rPr lang="he-IL" sz="1900" dirty="0">
                <a:cs typeface="Calibri" panose="020F0502020204030204" pitchFamily="34" charset="0"/>
              </a:rPr>
              <a:t>דוגמא:</a:t>
            </a:r>
          </a:p>
          <a:p>
            <a:pPr marL="64008" indent="0">
              <a:buNone/>
            </a:pPr>
            <a:r>
              <a:rPr lang="he-IL" sz="1900" dirty="0">
                <a:cs typeface="Calibri" panose="020F0502020204030204" pitchFamily="34" charset="0"/>
              </a:rPr>
              <a:t>שליפת כל העובדים שגרים בירושלים או בבני ברק:</a:t>
            </a:r>
          </a:p>
          <a:p>
            <a:pPr marL="64008" indent="0">
              <a:buNone/>
            </a:pPr>
            <a:endParaRPr lang="he-IL" sz="1900" dirty="0">
              <a:cs typeface="Calibri" panose="020F0502020204030204" pitchFamily="34" charset="0"/>
            </a:endParaRPr>
          </a:p>
        </p:txBody>
      </p:sp>
      <p:sp>
        <p:nvSpPr>
          <p:cNvPr id="3" name="כותרת 2">
            <a:extLst>
              <a:ext uri="{FF2B5EF4-FFF2-40B4-BE49-F238E27FC236}">
                <a16:creationId xmlns:a16="http://schemas.microsoft.com/office/drawing/2014/main" id="{D3884286-91D5-47C9-96BE-03C612D63703}"/>
              </a:ext>
            </a:extLst>
          </p:cNvPr>
          <p:cNvSpPr>
            <a:spLocks noGrp="1"/>
          </p:cNvSpPr>
          <p:nvPr>
            <p:ph type="title"/>
          </p:nvPr>
        </p:nvSpPr>
        <p:spPr/>
        <p:txBody>
          <a:bodyPr/>
          <a:lstStyle/>
          <a:p>
            <a:pPr algn="l"/>
            <a:r>
              <a:rPr lang="en-US" dirty="0"/>
              <a:t>OR Operator</a:t>
            </a:r>
            <a:endParaRPr lang="he-IL" dirty="0"/>
          </a:p>
        </p:txBody>
      </p:sp>
      <p:sp>
        <p:nvSpPr>
          <p:cNvPr id="4" name="מציין מיקום של מספר שקופית 3">
            <a:extLst>
              <a:ext uri="{FF2B5EF4-FFF2-40B4-BE49-F238E27FC236}">
                <a16:creationId xmlns:a16="http://schemas.microsoft.com/office/drawing/2014/main" id="{97A76892-310A-4CD7-9413-0D03AF0F0B56}"/>
              </a:ext>
            </a:extLst>
          </p:cNvPr>
          <p:cNvSpPr>
            <a:spLocks noGrp="1"/>
          </p:cNvSpPr>
          <p:nvPr>
            <p:ph type="sldNum" sz="quarter" idx="11"/>
          </p:nvPr>
        </p:nvSpPr>
        <p:spPr/>
        <p:txBody>
          <a:bodyPr/>
          <a:lstStyle/>
          <a:p>
            <a:fld id="{746FD205-8D79-439C-A802-2377436AEC8A}" type="slidenum">
              <a:rPr lang="he-IL" smtClean="0"/>
              <a:pPr/>
              <a:t>51</a:t>
            </a:fld>
            <a:endParaRPr lang="he-IL"/>
          </a:p>
        </p:txBody>
      </p:sp>
      <p:pic>
        <p:nvPicPr>
          <p:cNvPr id="5" name="תמונה 4">
            <a:extLst>
              <a:ext uri="{FF2B5EF4-FFF2-40B4-BE49-F238E27FC236}">
                <a16:creationId xmlns:a16="http://schemas.microsoft.com/office/drawing/2014/main" id="{9EAA897A-555F-425F-9415-7AD1B6C6E584}"/>
              </a:ext>
            </a:extLst>
          </p:cNvPr>
          <p:cNvPicPr>
            <a:picLocks noChangeAspect="1"/>
          </p:cNvPicPr>
          <p:nvPr/>
        </p:nvPicPr>
        <p:blipFill>
          <a:blip r:embed="rId2"/>
          <a:stretch>
            <a:fillRect/>
          </a:stretch>
        </p:blipFill>
        <p:spPr>
          <a:xfrm>
            <a:off x="4768490" y="2147887"/>
            <a:ext cx="3952875" cy="733425"/>
          </a:xfrm>
          <a:prstGeom prst="rect">
            <a:avLst/>
          </a:prstGeom>
        </p:spPr>
      </p:pic>
      <p:pic>
        <p:nvPicPr>
          <p:cNvPr id="6" name="תמונה 5">
            <a:extLst>
              <a:ext uri="{FF2B5EF4-FFF2-40B4-BE49-F238E27FC236}">
                <a16:creationId xmlns:a16="http://schemas.microsoft.com/office/drawing/2014/main" id="{BB960543-ED57-4EFB-920D-BC1803BE443C}"/>
              </a:ext>
            </a:extLst>
          </p:cNvPr>
          <p:cNvPicPr>
            <a:picLocks noChangeAspect="1"/>
          </p:cNvPicPr>
          <p:nvPr/>
        </p:nvPicPr>
        <p:blipFill>
          <a:blip r:embed="rId3"/>
          <a:stretch>
            <a:fillRect/>
          </a:stretch>
        </p:blipFill>
        <p:spPr>
          <a:xfrm>
            <a:off x="457201" y="4343400"/>
            <a:ext cx="4419600" cy="850247"/>
          </a:xfrm>
          <a:prstGeom prst="rect">
            <a:avLst/>
          </a:prstGeom>
        </p:spPr>
      </p:pic>
      <p:pic>
        <p:nvPicPr>
          <p:cNvPr id="7" name="תמונה 6">
            <a:extLst>
              <a:ext uri="{FF2B5EF4-FFF2-40B4-BE49-F238E27FC236}">
                <a16:creationId xmlns:a16="http://schemas.microsoft.com/office/drawing/2014/main" id="{B8B5FE29-A0E7-428A-A8FA-9F651D3F330B}"/>
              </a:ext>
            </a:extLst>
          </p:cNvPr>
          <p:cNvPicPr>
            <a:picLocks noChangeAspect="1"/>
          </p:cNvPicPr>
          <p:nvPr/>
        </p:nvPicPr>
        <p:blipFill>
          <a:blip r:embed="rId4"/>
          <a:stretch>
            <a:fillRect/>
          </a:stretch>
        </p:blipFill>
        <p:spPr>
          <a:xfrm>
            <a:off x="5181600" y="4343400"/>
            <a:ext cx="1924050" cy="762000"/>
          </a:xfrm>
          <a:prstGeom prst="rect">
            <a:avLst/>
          </a:prstGeom>
        </p:spPr>
      </p:pic>
    </p:spTree>
    <p:extLst>
      <p:ext uri="{BB962C8B-B14F-4D97-AF65-F5344CB8AC3E}">
        <p14:creationId xmlns:p14="http://schemas.microsoft.com/office/powerpoint/2010/main" val="2597510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652058E-F410-4010-A33E-928A68A8BC8C}"/>
              </a:ext>
            </a:extLst>
          </p:cNvPr>
          <p:cNvSpPr>
            <a:spLocks noGrp="1"/>
          </p:cNvSpPr>
          <p:nvPr>
            <p:ph idx="1"/>
          </p:nvPr>
        </p:nvSpPr>
        <p:spPr/>
        <p:txBody>
          <a:bodyPr/>
          <a:lstStyle/>
          <a:p>
            <a:pPr marL="64008" indent="0">
              <a:buNone/>
            </a:pPr>
            <a:r>
              <a:rPr lang="en-US" sz="1800" dirty="0">
                <a:cs typeface="Calibri" panose="020F0502020204030204" pitchFamily="34" charset="0"/>
              </a:rPr>
              <a:t>Syntax:</a:t>
            </a: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r>
              <a:rPr lang="he-IL" sz="1800" dirty="0">
                <a:cs typeface="Calibri" panose="020F0502020204030204" pitchFamily="34" charset="0"/>
              </a:rPr>
              <a:t>דוגמא:</a:t>
            </a:r>
          </a:p>
          <a:p>
            <a:pPr marL="64008" indent="0">
              <a:buNone/>
            </a:pPr>
            <a:r>
              <a:rPr lang="he-IL" sz="1800" dirty="0">
                <a:cs typeface="Calibri" panose="020F0502020204030204" pitchFamily="34" charset="0"/>
              </a:rPr>
              <a:t>שליפת כל העובדים שגרים מחוץ לירושלים:</a:t>
            </a: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4926DE58-652E-456C-8BD5-66B4FABF2941}"/>
              </a:ext>
            </a:extLst>
          </p:cNvPr>
          <p:cNvSpPr>
            <a:spLocks noGrp="1"/>
          </p:cNvSpPr>
          <p:nvPr>
            <p:ph type="title"/>
          </p:nvPr>
        </p:nvSpPr>
        <p:spPr/>
        <p:txBody>
          <a:bodyPr/>
          <a:lstStyle/>
          <a:p>
            <a:pPr algn="l"/>
            <a:r>
              <a:rPr lang="en-US" dirty="0"/>
              <a:t>NOT Operator</a:t>
            </a:r>
            <a:endParaRPr lang="he-IL" dirty="0"/>
          </a:p>
        </p:txBody>
      </p:sp>
      <p:sp>
        <p:nvSpPr>
          <p:cNvPr id="4" name="מציין מיקום של מספר שקופית 3">
            <a:extLst>
              <a:ext uri="{FF2B5EF4-FFF2-40B4-BE49-F238E27FC236}">
                <a16:creationId xmlns:a16="http://schemas.microsoft.com/office/drawing/2014/main" id="{D937F114-0746-4BB5-9DBD-C52ABF907295}"/>
              </a:ext>
            </a:extLst>
          </p:cNvPr>
          <p:cNvSpPr>
            <a:spLocks noGrp="1"/>
          </p:cNvSpPr>
          <p:nvPr>
            <p:ph type="sldNum" sz="quarter" idx="11"/>
          </p:nvPr>
        </p:nvSpPr>
        <p:spPr/>
        <p:txBody>
          <a:bodyPr/>
          <a:lstStyle/>
          <a:p>
            <a:fld id="{746FD205-8D79-439C-A802-2377436AEC8A}" type="slidenum">
              <a:rPr lang="he-IL" smtClean="0"/>
              <a:pPr/>
              <a:t>52</a:t>
            </a:fld>
            <a:endParaRPr lang="he-IL"/>
          </a:p>
        </p:txBody>
      </p:sp>
      <p:pic>
        <p:nvPicPr>
          <p:cNvPr id="5" name="תמונה 4">
            <a:extLst>
              <a:ext uri="{FF2B5EF4-FFF2-40B4-BE49-F238E27FC236}">
                <a16:creationId xmlns:a16="http://schemas.microsoft.com/office/drawing/2014/main" id="{31CF0C03-DBE9-42D1-8530-284409FA9AC1}"/>
              </a:ext>
            </a:extLst>
          </p:cNvPr>
          <p:cNvPicPr>
            <a:picLocks noChangeAspect="1"/>
          </p:cNvPicPr>
          <p:nvPr/>
        </p:nvPicPr>
        <p:blipFill>
          <a:blip r:embed="rId2"/>
          <a:stretch>
            <a:fillRect/>
          </a:stretch>
        </p:blipFill>
        <p:spPr>
          <a:xfrm>
            <a:off x="6096000" y="2057400"/>
            <a:ext cx="2533650" cy="723900"/>
          </a:xfrm>
          <a:prstGeom prst="rect">
            <a:avLst/>
          </a:prstGeom>
        </p:spPr>
      </p:pic>
      <p:pic>
        <p:nvPicPr>
          <p:cNvPr id="6" name="תמונה 5">
            <a:extLst>
              <a:ext uri="{FF2B5EF4-FFF2-40B4-BE49-F238E27FC236}">
                <a16:creationId xmlns:a16="http://schemas.microsoft.com/office/drawing/2014/main" id="{6CE03E19-B75D-42C7-A37B-31C34412BC2A}"/>
              </a:ext>
            </a:extLst>
          </p:cNvPr>
          <p:cNvPicPr>
            <a:picLocks noChangeAspect="1"/>
          </p:cNvPicPr>
          <p:nvPr/>
        </p:nvPicPr>
        <p:blipFill>
          <a:blip r:embed="rId3"/>
          <a:stretch>
            <a:fillRect/>
          </a:stretch>
        </p:blipFill>
        <p:spPr>
          <a:xfrm>
            <a:off x="1219200" y="4038600"/>
            <a:ext cx="3790950" cy="828675"/>
          </a:xfrm>
          <a:prstGeom prst="rect">
            <a:avLst/>
          </a:prstGeom>
        </p:spPr>
      </p:pic>
      <p:pic>
        <p:nvPicPr>
          <p:cNvPr id="8" name="תמונה 7">
            <a:extLst>
              <a:ext uri="{FF2B5EF4-FFF2-40B4-BE49-F238E27FC236}">
                <a16:creationId xmlns:a16="http://schemas.microsoft.com/office/drawing/2014/main" id="{4FD7D67F-921E-4F15-A8C4-34194F0AF1DF}"/>
              </a:ext>
            </a:extLst>
          </p:cNvPr>
          <p:cNvPicPr>
            <a:picLocks noChangeAspect="1"/>
          </p:cNvPicPr>
          <p:nvPr/>
        </p:nvPicPr>
        <p:blipFill>
          <a:blip r:embed="rId4"/>
          <a:stretch>
            <a:fillRect/>
          </a:stretch>
        </p:blipFill>
        <p:spPr>
          <a:xfrm>
            <a:off x="5419234" y="4038600"/>
            <a:ext cx="1990725" cy="1333500"/>
          </a:xfrm>
          <a:prstGeom prst="rect">
            <a:avLst/>
          </a:prstGeom>
        </p:spPr>
      </p:pic>
    </p:spTree>
    <p:extLst>
      <p:ext uri="{BB962C8B-B14F-4D97-AF65-F5344CB8AC3E}">
        <p14:creationId xmlns:p14="http://schemas.microsoft.com/office/powerpoint/2010/main" val="33955867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569DB08-C2AC-41F0-947F-B1F40157D16B}"/>
              </a:ext>
            </a:extLst>
          </p:cNvPr>
          <p:cNvSpPr>
            <a:spLocks noGrp="1"/>
          </p:cNvSpPr>
          <p:nvPr>
            <p:ph idx="1"/>
          </p:nvPr>
        </p:nvSpPr>
        <p:spPr/>
        <p:txBody>
          <a:bodyPr/>
          <a:lstStyle/>
          <a:p>
            <a:pPr marL="64008" indent="0" rtl="1">
              <a:buNone/>
            </a:pPr>
            <a:r>
              <a:rPr lang="he-IL" sz="1800" dirty="0">
                <a:cs typeface="Calibri" panose="020F0502020204030204" pitchFamily="34" charset="0"/>
              </a:rPr>
              <a:t>האופרטור</a:t>
            </a:r>
            <a:r>
              <a:rPr lang="en-US" sz="1800" dirty="0">
                <a:cs typeface="Calibri" panose="020F0502020204030204" pitchFamily="34" charset="0"/>
              </a:rPr>
              <a:t>IN </a:t>
            </a:r>
            <a:r>
              <a:rPr lang="he-IL" sz="1800" dirty="0">
                <a:cs typeface="Calibri" panose="020F0502020204030204" pitchFamily="34" charset="0"/>
              </a:rPr>
              <a:t> מאפשר לציין מספר ערכים במשפט ה </a:t>
            </a:r>
            <a:r>
              <a:rPr lang="en-US" sz="1800" dirty="0">
                <a:cs typeface="Calibri" panose="020F0502020204030204" pitchFamily="34" charset="0"/>
              </a:rPr>
              <a:t>WHERE</a:t>
            </a:r>
            <a:r>
              <a:rPr lang="he-IL" sz="1800" dirty="0">
                <a:cs typeface="Calibri" panose="020F0502020204030204" pitchFamily="34" charset="0"/>
              </a:rPr>
              <a:t>.</a:t>
            </a:r>
          </a:p>
          <a:p>
            <a:pPr marL="64008" indent="0" rtl="1">
              <a:buNone/>
            </a:pPr>
            <a:r>
              <a:rPr lang="he-IL" sz="1800" dirty="0">
                <a:cs typeface="Calibri" panose="020F0502020204030204" pitchFamily="34" charset="0"/>
              </a:rPr>
              <a:t>אופרטור זה הוא קיצור לתנאי</a:t>
            </a:r>
            <a:r>
              <a:rPr lang="en-US" sz="1800" dirty="0">
                <a:cs typeface="Calibri" panose="020F0502020204030204" pitchFamily="34" charset="0"/>
              </a:rPr>
              <a:t>OR </a:t>
            </a:r>
            <a:r>
              <a:rPr lang="he-IL" sz="1800" dirty="0">
                <a:cs typeface="Calibri" panose="020F0502020204030204" pitchFamily="34" charset="0"/>
              </a:rPr>
              <a:t> מרובים (במידה ומדובר על תנאי </a:t>
            </a:r>
            <a:r>
              <a:rPr lang="en-US" sz="1800" dirty="0">
                <a:cs typeface="Calibri" panose="020F0502020204030204" pitchFamily="34" charset="0"/>
              </a:rPr>
              <a:t>OR</a:t>
            </a:r>
            <a:r>
              <a:rPr lang="he-IL" sz="1800" dirty="0">
                <a:cs typeface="Calibri" panose="020F0502020204030204" pitchFamily="34" charset="0"/>
              </a:rPr>
              <a:t> שבודקים את אותה עמודה)</a:t>
            </a:r>
          </a:p>
          <a:p>
            <a:pPr marL="64008" indent="0" rtl="1">
              <a:buNone/>
            </a:pPr>
            <a:endParaRPr lang="he-IL" sz="1800" dirty="0">
              <a:cs typeface="Calibri" panose="020F0502020204030204" pitchFamily="34" charset="0"/>
            </a:endParaRPr>
          </a:p>
          <a:p>
            <a:pPr marL="64008" indent="0" rtl="1">
              <a:buNone/>
            </a:pP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כל העובדים שגרים באחת מהערים הבאות: ירושלים, בני ברק, תל אביב:</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5A2EB57-B5F9-4400-80B3-83493D1A8513}"/>
              </a:ext>
            </a:extLst>
          </p:cNvPr>
          <p:cNvSpPr>
            <a:spLocks noGrp="1"/>
          </p:cNvSpPr>
          <p:nvPr>
            <p:ph type="title"/>
          </p:nvPr>
        </p:nvSpPr>
        <p:spPr/>
        <p:txBody>
          <a:bodyPr/>
          <a:lstStyle/>
          <a:p>
            <a:pPr algn="just"/>
            <a:r>
              <a:rPr lang="en-US" dirty="0"/>
              <a:t>In Operator</a:t>
            </a:r>
            <a:endParaRPr lang="he-IL" dirty="0"/>
          </a:p>
        </p:txBody>
      </p:sp>
      <p:sp>
        <p:nvSpPr>
          <p:cNvPr id="4" name="מציין מיקום של מספר שקופית 3">
            <a:extLst>
              <a:ext uri="{FF2B5EF4-FFF2-40B4-BE49-F238E27FC236}">
                <a16:creationId xmlns:a16="http://schemas.microsoft.com/office/drawing/2014/main" id="{5A2B626B-782C-489D-8AAA-A41CFFF897A4}"/>
              </a:ext>
            </a:extLst>
          </p:cNvPr>
          <p:cNvSpPr>
            <a:spLocks noGrp="1"/>
          </p:cNvSpPr>
          <p:nvPr>
            <p:ph type="sldNum" sz="quarter" idx="11"/>
          </p:nvPr>
        </p:nvSpPr>
        <p:spPr/>
        <p:txBody>
          <a:bodyPr/>
          <a:lstStyle/>
          <a:p>
            <a:fld id="{746FD205-8D79-439C-A802-2377436AEC8A}" type="slidenum">
              <a:rPr lang="he-IL" smtClean="0"/>
              <a:pPr/>
              <a:t>53</a:t>
            </a:fld>
            <a:endParaRPr lang="he-IL"/>
          </a:p>
        </p:txBody>
      </p:sp>
      <p:pic>
        <p:nvPicPr>
          <p:cNvPr id="5" name="תמונה 4">
            <a:extLst>
              <a:ext uri="{FF2B5EF4-FFF2-40B4-BE49-F238E27FC236}">
                <a16:creationId xmlns:a16="http://schemas.microsoft.com/office/drawing/2014/main" id="{67D137B2-BFEF-469D-99AD-BE3E01F52B5F}"/>
              </a:ext>
            </a:extLst>
          </p:cNvPr>
          <p:cNvPicPr>
            <a:picLocks noChangeAspect="1"/>
          </p:cNvPicPr>
          <p:nvPr/>
        </p:nvPicPr>
        <p:blipFill>
          <a:blip r:embed="rId2"/>
          <a:stretch>
            <a:fillRect/>
          </a:stretch>
        </p:blipFill>
        <p:spPr>
          <a:xfrm>
            <a:off x="1546545" y="3048000"/>
            <a:ext cx="3486150" cy="676275"/>
          </a:xfrm>
          <a:prstGeom prst="rect">
            <a:avLst/>
          </a:prstGeom>
        </p:spPr>
      </p:pic>
      <p:pic>
        <p:nvPicPr>
          <p:cNvPr id="6" name="תמונה 5">
            <a:extLst>
              <a:ext uri="{FF2B5EF4-FFF2-40B4-BE49-F238E27FC236}">
                <a16:creationId xmlns:a16="http://schemas.microsoft.com/office/drawing/2014/main" id="{F5F28386-48F6-4EE0-A528-89F97C539F51}"/>
              </a:ext>
            </a:extLst>
          </p:cNvPr>
          <p:cNvPicPr>
            <a:picLocks noChangeAspect="1"/>
          </p:cNvPicPr>
          <p:nvPr/>
        </p:nvPicPr>
        <p:blipFill>
          <a:blip r:embed="rId3"/>
          <a:stretch>
            <a:fillRect/>
          </a:stretch>
        </p:blipFill>
        <p:spPr>
          <a:xfrm>
            <a:off x="5257800" y="3048000"/>
            <a:ext cx="3229819" cy="686801"/>
          </a:xfrm>
          <a:prstGeom prst="rect">
            <a:avLst/>
          </a:prstGeom>
        </p:spPr>
      </p:pic>
      <p:pic>
        <p:nvPicPr>
          <p:cNvPr id="7" name="תמונה 6">
            <a:extLst>
              <a:ext uri="{FF2B5EF4-FFF2-40B4-BE49-F238E27FC236}">
                <a16:creationId xmlns:a16="http://schemas.microsoft.com/office/drawing/2014/main" id="{0E51C2C6-198B-4821-8D1D-F4AE9B2844E5}"/>
              </a:ext>
            </a:extLst>
          </p:cNvPr>
          <p:cNvPicPr>
            <a:picLocks noChangeAspect="1"/>
          </p:cNvPicPr>
          <p:nvPr/>
        </p:nvPicPr>
        <p:blipFill>
          <a:blip r:embed="rId4"/>
          <a:stretch>
            <a:fillRect/>
          </a:stretch>
        </p:blipFill>
        <p:spPr>
          <a:xfrm>
            <a:off x="1676400" y="5067462"/>
            <a:ext cx="3769151" cy="533075"/>
          </a:xfrm>
          <a:prstGeom prst="rect">
            <a:avLst/>
          </a:prstGeom>
        </p:spPr>
      </p:pic>
      <p:pic>
        <p:nvPicPr>
          <p:cNvPr id="8" name="תמונה 7">
            <a:extLst>
              <a:ext uri="{FF2B5EF4-FFF2-40B4-BE49-F238E27FC236}">
                <a16:creationId xmlns:a16="http://schemas.microsoft.com/office/drawing/2014/main" id="{96133F6C-F5EF-4AFF-9B56-3E72162BFEE0}"/>
              </a:ext>
            </a:extLst>
          </p:cNvPr>
          <p:cNvPicPr>
            <a:picLocks noChangeAspect="1"/>
          </p:cNvPicPr>
          <p:nvPr/>
        </p:nvPicPr>
        <p:blipFill>
          <a:blip r:embed="rId5"/>
          <a:stretch>
            <a:fillRect/>
          </a:stretch>
        </p:blipFill>
        <p:spPr>
          <a:xfrm>
            <a:off x="5831205" y="5067462"/>
            <a:ext cx="2009775" cy="1323975"/>
          </a:xfrm>
          <a:prstGeom prst="rect">
            <a:avLst/>
          </a:prstGeom>
        </p:spPr>
      </p:pic>
    </p:spTree>
    <p:extLst>
      <p:ext uri="{BB962C8B-B14F-4D97-AF65-F5344CB8AC3E}">
        <p14:creationId xmlns:p14="http://schemas.microsoft.com/office/powerpoint/2010/main" val="25401114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BA2DF89-580C-4C86-BBBA-47FB3999E896}"/>
              </a:ext>
            </a:extLst>
          </p:cNvPr>
          <p:cNvSpPr>
            <a:spLocks noGrp="1"/>
          </p:cNvSpPr>
          <p:nvPr>
            <p:ph idx="1"/>
          </p:nvPr>
        </p:nvSpPr>
        <p:spPr/>
        <p:txBody>
          <a:bodyPr/>
          <a:lstStyle/>
          <a:p>
            <a:pPr marL="64008" indent="0" rtl="1">
              <a:buNone/>
            </a:pPr>
            <a:r>
              <a:rPr lang="he-IL" sz="1800" dirty="0">
                <a:cs typeface="Calibri" panose="020F0502020204030204" pitchFamily="34" charset="0"/>
              </a:rPr>
              <a:t>האופרטור</a:t>
            </a:r>
            <a:r>
              <a:rPr lang="en-US" sz="1800" dirty="0">
                <a:cs typeface="Calibri" panose="020F0502020204030204" pitchFamily="34" charset="0"/>
              </a:rPr>
              <a:t>BETWEEN </a:t>
            </a:r>
            <a:r>
              <a:rPr lang="he-IL" sz="1800" dirty="0">
                <a:cs typeface="Calibri" panose="020F0502020204030204" pitchFamily="34" charset="0"/>
              </a:rPr>
              <a:t> משמש עבור ציון טווח של ערכים במשפט ה </a:t>
            </a:r>
            <a:r>
              <a:rPr lang="en-US" sz="1800" dirty="0">
                <a:cs typeface="Calibri" panose="020F0502020204030204" pitchFamily="34" charset="0"/>
              </a:rPr>
              <a:t>WHERE</a:t>
            </a:r>
            <a:r>
              <a:rPr lang="he-IL" sz="1800" dirty="0">
                <a:cs typeface="Calibri" panose="020F0502020204030204" pitchFamily="34" charset="0"/>
              </a:rPr>
              <a:t>. </a:t>
            </a:r>
            <a:br>
              <a:rPr lang="en-US" sz="1800" dirty="0">
                <a:cs typeface="Calibri" panose="020F0502020204030204" pitchFamily="34" charset="0"/>
              </a:rPr>
            </a:br>
            <a:r>
              <a:rPr lang="he-IL" sz="1800" dirty="0">
                <a:cs typeface="Calibri" panose="020F0502020204030204" pitchFamily="34" charset="0"/>
              </a:rPr>
              <a:t>הערכים יכולים להיות מספרים, טקסט או תאריכים.</a:t>
            </a:r>
          </a:p>
          <a:p>
            <a:pPr marL="64008" indent="0" rtl="1">
              <a:buNone/>
            </a:pPr>
            <a:r>
              <a:rPr lang="he-IL" sz="1800" dirty="0">
                <a:cs typeface="Calibri" panose="020F0502020204030204" pitchFamily="34" charset="0"/>
              </a:rPr>
              <a:t>האופרטור</a:t>
            </a:r>
            <a:r>
              <a:rPr lang="en-US" sz="1800" dirty="0">
                <a:cs typeface="Calibri" panose="020F0502020204030204" pitchFamily="34" charset="0"/>
              </a:rPr>
              <a:t> BETWEEN </a:t>
            </a:r>
            <a:r>
              <a:rPr lang="he-IL" sz="1800" dirty="0">
                <a:cs typeface="Calibri" panose="020F0502020204030204" pitchFamily="34" charset="0"/>
              </a:rPr>
              <a:t>כולל: ערכי התחלה וסיום כלולים.</a:t>
            </a:r>
          </a:p>
          <a:p>
            <a:pPr marL="64008" indent="0" rtl="1">
              <a:buNone/>
            </a:pPr>
            <a:endParaRPr lang="he-IL" sz="1800" dirty="0">
              <a:cs typeface="Calibri" panose="020F0502020204030204" pitchFamily="34" charset="0"/>
            </a:endParaRPr>
          </a:p>
          <a:p>
            <a:pPr marL="64008" indent="0" rtl="1">
              <a:buNone/>
            </a:pP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כל העובדים ששם משפחתם מתחיל באותיות א עד כ (שימי לב: הערך הגדול לא כלול בתוצאה, לכן בדוגמא זה ל ולא כ, במספרים לעומת זאת הערך הגדול כן כלול בתוצאה)</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D1C9D60-5E93-44E0-8A40-0FF62DA5BCA6}"/>
              </a:ext>
            </a:extLst>
          </p:cNvPr>
          <p:cNvSpPr>
            <a:spLocks noGrp="1"/>
          </p:cNvSpPr>
          <p:nvPr>
            <p:ph type="title"/>
          </p:nvPr>
        </p:nvSpPr>
        <p:spPr/>
        <p:txBody>
          <a:bodyPr/>
          <a:lstStyle/>
          <a:p>
            <a:pPr algn="l"/>
            <a:r>
              <a:rPr lang="en-US" dirty="0"/>
              <a:t>Between Operator</a:t>
            </a:r>
            <a:endParaRPr lang="he-IL" dirty="0"/>
          </a:p>
        </p:txBody>
      </p:sp>
      <p:sp>
        <p:nvSpPr>
          <p:cNvPr id="4" name="מציין מיקום של מספר שקופית 3">
            <a:extLst>
              <a:ext uri="{FF2B5EF4-FFF2-40B4-BE49-F238E27FC236}">
                <a16:creationId xmlns:a16="http://schemas.microsoft.com/office/drawing/2014/main" id="{BC56EB70-3DAE-4C89-B467-A0A23377606B}"/>
              </a:ext>
            </a:extLst>
          </p:cNvPr>
          <p:cNvSpPr>
            <a:spLocks noGrp="1"/>
          </p:cNvSpPr>
          <p:nvPr>
            <p:ph type="sldNum" sz="quarter" idx="11"/>
          </p:nvPr>
        </p:nvSpPr>
        <p:spPr/>
        <p:txBody>
          <a:bodyPr/>
          <a:lstStyle/>
          <a:p>
            <a:fld id="{746FD205-8D79-439C-A802-2377436AEC8A}" type="slidenum">
              <a:rPr lang="he-IL" smtClean="0"/>
              <a:pPr/>
              <a:t>54</a:t>
            </a:fld>
            <a:endParaRPr lang="he-IL"/>
          </a:p>
        </p:txBody>
      </p:sp>
      <p:pic>
        <p:nvPicPr>
          <p:cNvPr id="5" name="תמונה 4">
            <a:extLst>
              <a:ext uri="{FF2B5EF4-FFF2-40B4-BE49-F238E27FC236}">
                <a16:creationId xmlns:a16="http://schemas.microsoft.com/office/drawing/2014/main" id="{BBE258D9-A790-4B96-B127-E0029F5FE612}"/>
              </a:ext>
            </a:extLst>
          </p:cNvPr>
          <p:cNvPicPr>
            <a:picLocks noChangeAspect="1"/>
          </p:cNvPicPr>
          <p:nvPr/>
        </p:nvPicPr>
        <p:blipFill>
          <a:blip r:embed="rId2"/>
          <a:stretch>
            <a:fillRect/>
          </a:stretch>
        </p:blipFill>
        <p:spPr>
          <a:xfrm>
            <a:off x="4952999" y="3173298"/>
            <a:ext cx="3552825" cy="685800"/>
          </a:xfrm>
          <a:prstGeom prst="rect">
            <a:avLst/>
          </a:prstGeom>
        </p:spPr>
      </p:pic>
      <p:pic>
        <p:nvPicPr>
          <p:cNvPr id="6" name="תמונה 5">
            <a:extLst>
              <a:ext uri="{FF2B5EF4-FFF2-40B4-BE49-F238E27FC236}">
                <a16:creationId xmlns:a16="http://schemas.microsoft.com/office/drawing/2014/main" id="{61F5BA16-A50A-4B25-9B48-BA1AF10B7C67}"/>
              </a:ext>
            </a:extLst>
          </p:cNvPr>
          <p:cNvPicPr>
            <a:picLocks noChangeAspect="1"/>
          </p:cNvPicPr>
          <p:nvPr/>
        </p:nvPicPr>
        <p:blipFill>
          <a:blip r:embed="rId3"/>
          <a:stretch>
            <a:fillRect/>
          </a:stretch>
        </p:blipFill>
        <p:spPr>
          <a:xfrm>
            <a:off x="762000" y="5281518"/>
            <a:ext cx="4086225" cy="819150"/>
          </a:xfrm>
          <a:prstGeom prst="rect">
            <a:avLst/>
          </a:prstGeom>
        </p:spPr>
      </p:pic>
      <p:pic>
        <p:nvPicPr>
          <p:cNvPr id="7" name="תמונה 6">
            <a:extLst>
              <a:ext uri="{FF2B5EF4-FFF2-40B4-BE49-F238E27FC236}">
                <a16:creationId xmlns:a16="http://schemas.microsoft.com/office/drawing/2014/main" id="{C861BA8B-5BB0-4307-9706-64F01AA7A867}"/>
              </a:ext>
            </a:extLst>
          </p:cNvPr>
          <p:cNvPicPr>
            <a:picLocks noChangeAspect="1"/>
          </p:cNvPicPr>
          <p:nvPr/>
        </p:nvPicPr>
        <p:blipFill>
          <a:blip r:embed="rId4"/>
          <a:stretch>
            <a:fillRect/>
          </a:stretch>
        </p:blipFill>
        <p:spPr>
          <a:xfrm>
            <a:off x="5338762" y="5281518"/>
            <a:ext cx="1390650" cy="1343025"/>
          </a:xfrm>
          <a:prstGeom prst="rect">
            <a:avLst/>
          </a:prstGeom>
        </p:spPr>
      </p:pic>
    </p:spTree>
    <p:extLst>
      <p:ext uri="{BB962C8B-B14F-4D97-AF65-F5344CB8AC3E}">
        <p14:creationId xmlns:p14="http://schemas.microsoft.com/office/powerpoint/2010/main" val="2243872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4A027F3-57D2-42B6-B39D-F7F2A5639289}"/>
              </a:ext>
            </a:extLst>
          </p:cNvPr>
          <p:cNvSpPr>
            <a:spLocks noGrp="1"/>
          </p:cNvSpPr>
          <p:nvPr>
            <p:ph idx="1"/>
          </p:nvPr>
        </p:nvSpPr>
        <p:spPr/>
        <p:txBody>
          <a:bodyPr/>
          <a:lstStyle/>
          <a:p>
            <a:pPr marL="64008" indent="0" rtl="1">
              <a:buNone/>
            </a:pPr>
            <a:r>
              <a:rPr lang="he-IL" sz="1800" dirty="0">
                <a:cs typeface="Calibri" panose="020F0502020204030204" pitchFamily="34" charset="0"/>
              </a:rPr>
              <a:t>האופרטור</a:t>
            </a:r>
            <a:r>
              <a:rPr lang="en-US" sz="1800" dirty="0">
                <a:cs typeface="Calibri" panose="020F0502020204030204" pitchFamily="34" charset="0"/>
              </a:rPr>
              <a:t>LIKE </a:t>
            </a:r>
            <a:r>
              <a:rPr lang="he-IL" sz="1800" dirty="0">
                <a:cs typeface="Calibri" panose="020F0502020204030204" pitchFamily="34" charset="0"/>
              </a:rPr>
              <a:t> משמש במשפט ה </a:t>
            </a:r>
            <a:r>
              <a:rPr lang="en-US" sz="1800" dirty="0">
                <a:cs typeface="Calibri" panose="020F0502020204030204" pitchFamily="34" charset="0"/>
              </a:rPr>
              <a:t>WHERE </a:t>
            </a:r>
            <a:r>
              <a:rPr lang="he-IL" sz="1800" dirty="0">
                <a:cs typeface="Calibri" panose="020F0502020204030204" pitchFamily="34" charset="0"/>
              </a:rPr>
              <a:t> כדי לחפש דפוס מוגדר בעמודה (ערכים עם תבנית מסוימת).</a:t>
            </a:r>
          </a:p>
          <a:p>
            <a:pPr marL="64008" indent="0" rtl="1">
              <a:buNone/>
            </a:pPr>
            <a:r>
              <a:rPr lang="he-IL" sz="1800" dirty="0">
                <a:cs typeface="Calibri" panose="020F0502020204030204" pitchFamily="34" charset="0"/>
              </a:rPr>
              <a:t>ישנם שני תווים כלליים המשמשים לעתים קרובות בשילוב עם האופרטור </a:t>
            </a:r>
            <a:r>
              <a:rPr lang="en-US" sz="1800" dirty="0">
                <a:cs typeface="Calibri" panose="020F0502020204030204" pitchFamily="34" charset="0"/>
              </a:rPr>
              <a:t>LIKE</a:t>
            </a:r>
            <a:r>
              <a:rPr lang="he-IL" sz="1800" dirty="0">
                <a:cs typeface="Calibri" panose="020F0502020204030204" pitchFamily="34" charset="0"/>
              </a:rPr>
              <a:t>:</a:t>
            </a:r>
          </a:p>
          <a:p>
            <a:pPr rtl="1">
              <a:buFont typeface="Courier New" panose="02070309020205020404" pitchFamily="49" charset="0"/>
              <a:buChar char="o"/>
            </a:pPr>
            <a:r>
              <a:rPr lang="he-IL" sz="1800" dirty="0">
                <a:cs typeface="Calibri" panose="020F0502020204030204" pitchFamily="34" charset="0"/>
              </a:rPr>
              <a:t>סימן האחוזים (%) מייצג אפס, תו אחד או מספר תווים</a:t>
            </a:r>
          </a:p>
          <a:p>
            <a:pPr rtl="1">
              <a:buFont typeface="Courier New" panose="02070309020205020404" pitchFamily="49" charset="0"/>
              <a:buChar char="o"/>
            </a:pPr>
            <a:r>
              <a:rPr lang="he-IL" sz="1800" dirty="0">
                <a:cs typeface="Calibri" panose="020F0502020204030204" pitchFamily="34" charset="0"/>
              </a:rPr>
              <a:t>סימן הקו התחתון (_) מייצג תו אחד</a:t>
            </a:r>
          </a:p>
          <a:p>
            <a:pPr marL="64008" indent="0" rtl="1">
              <a:buNone/>
            </a:pPr>
            <a:endParaRPr lang="he-IL" sz="1800" dirty="0">
              <a:cs typeface="Calibri" panose="020F0502020204030204" pitchFamily="34" charset="0"/>
            </a:endParaRPr>
          </a:p>
          <a:p>
            <a:pPr marL="64008" indent="0" rtl="1">
              <a:buNone/>
            </a:pP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דוגמאות בעמוד הבא.</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40C0F675-E7AB-44AC-A533-EF7B93ABE9B1}"/>
              </a:ext>
            </a:extLst>
          </p:cNvPr>
          <p:cNvSpPr>
            <a:spLocks noGrp="1"/>
          </p:cNvSpPr>
          <p:nvPr>
            <p:ph type="title"/>
          </p:nvPr>
        </p:nvSpPr>
        <p:spPr/>
        <p:txBody>
          <a:bodyPr/>
          <a:lstStyle/>
          <a:p>
            <a:pPr algn="l"/>
            <a:r>
              <a:rPr lang="en-US" dirty="0"/>
              <a:t>Like Operator</a:t>
            </a:r>
            <a:endParaRPr lang="he-IL" dirty="0"/>
          </a:p>
        </p:txBody>
      </p:sp>
      <p:sp>
        <p:nvSpPr>
          <p:cNvPr id="4" name="מציין מיקום של מספר שקופית 3">
            <a:extLst>
              <a:ext uri="{FF2B5EF4-FFF2-40B4-BE49-F238E27FC236}">
                <a16:creationId xmlns:a16="http://schemas.microsoft.com/office/drawing/2014/main" id="{13FFE714-C3A7-4EFB-982F-FD4D9E118EF5}"/>
              </a:ext>
            </a:extLst>
          </p:cNvPr>
          <p:cNvSpPr>
            <a:spLocks noGrp="1"/>
          </p:cNvSpPr>
          <p:nvPr>
            <p:ph type="sldNum" sz="quarter" idx="11"/>
          </p:nvPr>
        </p:nvSpPr>
        <p:spPr/>
        <p:txBody>
          <a:bodyPr/>
          <a:lstStyle/>
          <a:p>
            <a:fld id="{746FD205-8D79-439C-A802-2377436AEC8A}" type="slidenum">
              <a:rPr lang="he-IL" smtClean="0"/>
              <a:pPr/>
              <a:t>55</a:t>
            </a:fld>
            <a:endParaRPr lang="he-IL"/>
          </a:p>
        </p:txBody>
      </p:sp>
      <p:pic>
        <p:nvPicPr>
          <p:cNvPr id="5" name="תמונה 4">
            <a:extLst>
              <a:ext uri="{FF2B5EF4-FFF2-40B4-BE49-F238E27FC236}">
                <a16:creationId xmlns:a16="http://schemas.microsoft.com/office/drawing/2014/main" id="{35B7283C-4FBA-4FBA-91A5-D73FFE25A8F0}"/>
              </a:ext>
            </a:extLst>
          </p:cNvPr>
          <p:cNvPicPr>
            <a:picLocks noChangeAspect="1"/>
          </p:cNvPicPr>
          <p:nvPr/>
        </p:nvPicPr>
        <p:blipFill>
          <a:blip r:embed="rId2"/>
          <a:stretch>
            <a:fillRect/>
          </a:stretch>
        </p:blipFill>
        <p:spPr>
          <a:xfrm>
            <a:off x="6096000" y="3962400"/>
            <a:ext cx="2438400" cy="647700"/>
          </a:xfrm>
          <a:prstGeom prst="rect">
            <a:avLst/>
          </a:prstGeom>
        </p:spPr>
      </p:pic>
    </p:spTree>
    <p:extLst>
      <p:ext uri="{BB962C8B-B14F-4D97-AF65-F5344CB8AC3E}">
        <p14:creationId xmlns:p14="http://schemas.microsoft.com/office/powerpoint/2010/main" val="36705791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63EEF12-B5D9-494B-864A-E2DAC8EE9D9B}"/>
              </a:ext>
            </a:extLst>
          </p:cNvPr>
          <p:cNvSpPr>
            <a:spLocks noGrp="1"/>
          </p:cNvSpPr>
          <p:nvPr>
            <p:ph idx="1"/>
          </p:nvPr>
        </p:nvSpPr>
        <p:spPr>
          <a:xfrm>
            <a:off x="464270" y="1524000"/>
            <a:ext cx="8229600" cy="4648200"/>
          </a:xfrm>
        </p:spPr>
        <p:txBody>
          <a:bodyPr/>
          <a:lstStyle/>
          <a:p>
            <a:pPr marL="64008" indent="0" rtl="1">
              <a:buNone/>
            </a:pPr>
            <a:r>
              <a:rPr lang="he-IL" sz="1800" dirty="0">
                <a:cs typeface="Calibri" panose="020F0502020204030204" pitchFamily="34" charset="0"/>
              </a:rPr>
              <a:t>דוגמא 1:</a:t>
            </a:r>
            <a:br>
              <a:rPr lang="en-US" sz="1800" dirty="0">
                <a:cs typeface="Calibri" panose="020F0502020204030204" pitchFamily="34" charset="0"/>
              </a:rPr>
            </a:br>
            <a:r>
              <a:rPr lang="he-IL" sz="1800" dirty="0">
                <a:cs typeface="Calibri" panose="020F0502020204030204" pitchFamily="34" charset="0"/>
              </a:rPr>
              <a:t>שליפת כל העובדים ששמם הפרטי מכיל את האות י (לא משנה אם בהתחלה, באמצע או בסוף):</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דוגמא 2:</a:t>
            </a:r>
            <a:br>
              <a:rPr lang="en-US" sz="1800" dirty="0">
                <a:cs typeface="Calibri" panose="020F0502020204030204" pitchFamily="34" charset="0"/>
              </a:rPr>
            </a:br>
            <a:r>
              <a:rPr lang="he-IL" sz="1800" dirty="0">
                <a:cs typeface="Calibri" panose="020F0502020204030204" pitchFamily="34" charset="0"/>
              </a:rPr>
              <a:t>שליפת כל העובדים שהאות השנייה של שמם הפרטי היא י:</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82332FB8-77FE-42C8-8CF6-71757DF005A4}"/>
              </a:ext>
            </a:extLst>
          </p:cNvPr>
          <p:cNvSpPr>
            <a:spLocks noGrp="1"/>
          </p:cNvSpPr>
          <p:nvPr>
            <p:ph type="title"/>
          </p:nvPr>
        </p:nvSpPr>
        <p:spPr/>
        <p:txBody>
          <a:bodyPr/>
          <a:lstStyle/>
          <a:p>
            <a:pPr algn="l"/>
            <a:r>
              <a:rPr lang="en-US" dirty="0"/>
              <a:t>Like Operator - Examples</a:t>
            </a:r>
            <a:endParaRPr lang="he-IL" dirty="0"/>
          </a:p>
        </p:txBody>
      </p:sp>
      <p:sp>
        <p:nvSpPr>
          <p:cNvPr id="4" name="מציין מיקום של מספר שקופית 3">
            <a:extLst>
              <a:ext uri="{FF2B5EF4-FFF2-40B4-BE49-F238E27FC236}">
                <a16:creationId xmlns:a16="http://schemas.microsoft.com/office/drawing/2014/main" id="{62050D66-CE98-4778-8184-690C7C191ABA}"/>
              </a:ext>
            </a:extLst>
          </p:cNvPr>
          <p:cNvSpPr>
            <a:spLocks noGrp="1"/>
          </p:cNvSpPr>
          <p:nvPr>
            <p:ph type="sldNum" sz="quarter" idx="11"/>
          </p:nvPr>
        </p:nvSpPr>
        <p:spPr/>
        <p:txBody>
          <a:bodyPr/>
          <a:lstStyle/>
          <a:p>
            <a:fld id="{746FD205-8D79-439C-A802-2377436AEC8A}" type="slidenum">
              <a:rPr lang="he-IL" smtClean="0"/>
              <a:pPr/>
              <a:t>56</a:t>
            </a:fld>
            <a:endParaRPr lang="he-IL"/>
          </a:p>
        </p:txBody>
      </p:sp>
      <p:pic>
        <p:nvPicPr>
          <p:cNvPr id="5" name="תמונה 4">
            <a:extLst>
              <a:ext uri="{FF2B5EF4-FFF2-40B4-BE49-F238E27FC236}">
                <a16:creationId xmlns:a16="http://schemas.microsoft.com/office/drawing/2014/main" id="{350F7F59-CF2D-446A-8B7A-41812C7EAC3C}"/>
              </a:ext>
            </a:extLst>
          </p:cNvPr>
          <p:cNvPicPr>
            <a:picLocks noChangeAspect="1"/>
          </p:cNvPicPr>
          <p:nvPr/>
        </p:nvPicPr>
        <p:blipFill>
          <a:blip r:embed="rId2"/>
          <a:stretch>
            <a:fillRect/>
          </a:stretch>
        </p:blipFill>
        <p:spPr>
          <a:xfrm>
            <a:off x="838200" y="2418660"/>
            <a:ext cx="2667000" cy="748061"/>
          </a:xfrm>
          <a:prstGeom prst="rect">
            <a:avLst/>
          </a:prstGeom>
        </p:spPr>
      </p:pic>
      <p:pic>
        <p:nvPicPr>
          <p:cNvPr id="6" name="תמונה 5">
            <a:extLst>
              <a:ext uri="{FF2B5EF4-FFF2-40B4-BE49-F238E27FC236}">
                <a16:creationId xmlns:a16="http://schemas.microsoft.com/office/drawing/2014/main" id="{648C7E2F-FA63-4441-B668-D8362846AFF8}"/>
              </a:ext>
            </a:extLst>
          </p:cNvPr>
          <p:cNvPicPr>
            <a:picLocks noChangeAspect="1"/>
          </p:cNvPicPr>
          <p:nvPr/>
        </p:nvPicPr>
        <p:blipFill>
          <a:blip r:embed="rId3"/>
          <a:stretch>
            <a:fillRect/>
          </a:stretch>
        </p:blipFill>
        <p:spPr>
          <a:xfrm>
            <a:off x="3995822" y="2453035"/>
            <a:ext cx="1166495" cy="1395065"/>
          </a:xfrm>
          <a:prstGeom prst="rect">
            <a:avLst/>
          </a:prstGeom>
        </p:spPr>
      </p:pic>
      <p:pic>
        <p:nvPicPr>
          <p:cNvPr id="7" name="תמונה 6">
            <a:extLst>
              <a:ext uri="{FF2B5EF4-FFF2-40B4-BE49-F238E27FC236}">
                <a16:creationId xmlns:a16="http://schemas.microsoft.com/office/drawing/2014/main" id="{8D52E176-3D75-4A38-934D-9733B53BB0FE}"/>
              </a:ext>
            </a:extLst>
          </p:cNvPr>
          <p:cNvPicPr>
            <a:picLocks noChangeAspect="1"/>
          </p:cNvPicPr>
          <p:nvPr/>
        </p:nvPicPr>
        <p:blipFill>
          <a:blip r:embed="rId4"/>
          <a:stretch>
            <a:fillRect/>
          </a:stretch>
        </p:blipFill>
        <p:spPr>
          <a:xfrm>
            <a:off x="821737" y="4648201"/>
            <a:ext cx="2683463" cy="719362"/>
          </a:xfrm>
          <a:prstGeom prst="rect">
            <a:avLst/>
          </a:prstGeom>
        </p:spPr>
      </p:pic>
      <p:pic>
        <p:nvPicPr>
          <p:cNvPr id="8" name="תמונה 7">
            <a:extLst>
              <a:ext uri="{FF2B5EF4-FFF2-40B4-BE49-F238E27FC236}">
                <a16:creationId xmlns:a16="http://schemas.microsoft.com/office/drawing/2014/main" id="{2FCAB88E-EA52-4F03-9115-08C9903E66A9}"/>
              </a:ext>
            </a:extLst>
          </p:cNvPr>
          <p:cNvPicPr>
            <a:picLocks noChangeAspect="1"/>
          </p:cNvPicPr>
          <p:nvPr/>
        </p:nvPicPr>
        <p:blipFill>
          <a:blip r:embed="rId5"/>
          <a:stretch>
            <a:fillRect/>
          </a:stretch>
        </p:blipFill>
        <p:spPr>
          <a:xfrm>
            <a:off x="3897050" y="4648201"/>
            <a:ext cx="1457325" cy="609600"/>
          </a:xfrm>
          <a:prstGeom prst="rect">
            <a:avLst/>
          </a:prstGeom>
        </p:spPr>
      </p:pic>
    </p:spTree>
    <p:extLst>
      <p:ext uri="{BB962C8B-B14F-4D97-AF65-F5344CB8AC3E}">
        <p14:creationId xmlns:p14="http://schemas.microsoft.com/office/powerpoint/2010/main" val="4202505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61644155-7822-48C1-B2C1-5AE73E4A9343}"/>
              </a:ext>
            </a:extLst>
          </p:cNvPr>
          <p:cNvSpPr>
            <a:spLocks noGrp="1"/>
          </p:cNvSpPr>
          <p:nvPr>
            <p:ph idx="1"/>
          </p:nvPr>
        </p:nvSpPr>
        <p:spPr/>
        <p:txBody>
          <a:bodyPr/>
          <a:lstStyle/>
          <a:p>
            <a:pPr marL="64008" indent="0" rtl="1">
              <a:buNone/>
            </a:pPr>
            <a:r>
              <a:rPr lang="he-IL" sz="1800" dirty="0">
                <a:cs typeface="Calibri" panose="020F0502020204030204" pitchFamily="34" charset="0"/>
              </a:rPr>
              <a:t>על מסד הנתונים שבנית בצעי את השאילתות הבאות:</a:t>
            </a:r>
          </a:p>
          <a:p>
            <a:pPr rtl="1">
              <a:buFont typeface="Courier New" panose="02070309020205020404" pitchFamily="49" charset="0"/>
              <a:buChar char="o"/>
            </a:pPr>
            <a:r>
              <a:rPr lang="he-IL" sz="1800" dirty="0">
                <a:cs typeface="Calibri" panose="020F0502020204030204" pitchFamily="34" charset="0"/>
              </a:rPr>
              <a:t>שליפת כל המורות שהתחילו לעבוד בשנה מסוימת</a:t>
            </a:r>
          </a:p>
          <a:p>
            <a:pPr rtl="1">
              <a:buFont typeface="Courier New" panose="02070309020205020404" pitchFamily="49" charset="0"/>
              <a:buChar char="o"/>
            </a:pPr>
            <a:r>
              <a:rPr lang="he-IL" sz="1800" dirty="0">
                <a:cs typeface="Calibri" panose="020F0502020204030204" pitchFamily="34" charset="0"/>
              </a:rPr>
              <a:t>שליפת כל הכתובות שבירושלים</a:t>
            </a:r>
          </a:p>
          <a:p>
            <a:pPr rtl="1">
              <a:buFont typeface="Courier New" panose="02070309020205020404" pitchFamily="49" charset="0"/>
              <a:buChar char="o"/>
            </a:pPr>
            <a:r>
              <a:rPr lang="he-IL" sz="1800" dirty="0">
                <a:cs typeface="Calibri" panose="020F0502020204030204" pitchFamily="34" charset="0"/>
              </a:rPr>
              <a:t>שליפת כל התלמידות שלומדות בכיתה מסוימת (עפ"י קוד כיתה)</a:t>
            </a:r>
          </a:p>
          <a:p>
            <a:pPr rtl="1">
              <a:buFont typeface="Courier New" panose="02070309020205020404" pitchFamily="49" charset="0"/>
              <a:buChar char="o"/>
            </a:pPr>
            <a:r>
              <a:rPr lang="he-IL" sz="1800" dirty="0">
                <a:cs typeface="Calibri" panose="020F0502020204030204" pitchFamily="34" charset="0"/>
              </a:rPr>
              <a:t>שליפת כל המורות שהתחילו לעבוד בשנה מסוימת והשכר שלהן לשעה גבוה מ 70</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שליפת כל התלמידות שהתחילו ללמוד לפני למעלה משנתיים</a:t>
            </a:r>
          </a:p>
          <a:p>
            <a:pPr rtl="1">
              <a:buFont typeface="Courier New" panose="02070309020205020404" pitchFamily="49" charset="0"/>
              <a:buChar char="o"/>
            </a:pPr>
            <a:r>
              <a:rPr lang="he-IL" sz="1800" dirty="0">
                <a:cs typeface="Calibri" panose="020F0502020204030204" pitchFamily="34" charset="0"/>
              </a:rPr>
              <a:t>שליפת כל התלמידות ששם המשפחה שלהן מתחיל באותיות שבין </a:t>
            </a:r>
            <a:r>
              <a:rPr lang="en-US" sz="1800" dirty="0">
                <a:cs typeface="Calibri" panose="020F0502020204030204" pitchFamily="34" charset="0"/>
              </a:rPr>
              <a:t>a</a:t>
            </a:r>
            <a:r>
              <a:rPr lang="he-IL" sz="1800" dirty="0">
                <a:cs typeface="Calibri" panose="020F0502020204030204" pitchFamily="34" charset="0"/>
              </a:rPr>
              <a:t> ל </a:t>
            </a:r>
            <a:r>
              <a:rPr lang="en-US" sz="1800" dirty="0">
                <a:cs typeface="Calibri" panose="020F0502020204030204" pitchFamily="34" charset="0"/>
              </a:rPr>
              <a:t>e</a:t>
            </a:r>
          </a:p>
          <a:p>
            <a:pPr rtl="1">
              <a:buFont typeface="Courier New" panose="02070309020205020404" pitchFamily="49" charset="0"/>
              <a:buChar char="o"/>
            </a:pPr>
            <a:r>
              <a:rPr lang="he-IL" sz="1800" dirty="0">
                <a:cs typeface="Calibri" panose="020F0502020204030204" pitchFamily="34" charset="0"/>
              </a:rPr>
              <a:t>מטבלת כתובות - שליפת כל הרחובות שבירושלים  </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8A2B80E0-D2A9-466F-A025-091BB895ABD6}"/>
              </a:ext>
            </a:extLst>
          </p:cNvPr>
          <p:cNvSpPr>
            <a:spLocks noGrp="1"/>
          </p:cNvSpPr>
          <p:nvPr>
            <p:ph type="title"/>
          </p:nvPr>
        </p:nvSpPr>
        <p:spPr/>
        <p:txBody>
          <a:bodyPr/>
          <a:lstStyle/>
          <a:p>
            <a:pPr rtl="1"/>
            <a:r>
              <a:rPr lang="he-IL" dirty="0"/>
              <a:t>תרגיל שליפות – </a:t>
            </a:r>
            <a:r>
              <a:rPr lang="en-US" dirty="0"/>
              <a:t>where</a:t>
            </a:r>
            <a:endParaRPr lang="he-IL" dirty="0"/>
          </a:p>
        </p:txBody>
      </p:sp>
      <p:sp>
        <p:nvSpPr>
          <p:cNvPr id="4" name="מציין מיקום של מספר שקופית 3">
            <a:extLst>
              <a:ext uri="{FF2B5EF4-FFF2-40B4-BE49-F238E27FC236}">
                <a16:creationId xmlns:a16="http://schemas.microsoft.com/office/drawing/2014/main" id="{43FF6853-C179-4ACE-95DB-5AE91D60F8DF}"/>
              </a:ext>
            </a:extLst>
          </p:cNvPr>
          <p:cNvSpPr>
            <a:spLocks noGrp="1"/>
          </p:cNvSpPr>
          <p:nvPr>
            <p:ph type="sldNum" sz="quarter" idx="11"/>
          </p:nvPr>
        </p:nvSpPr>
        <p:spPr/>
        <p:txBody>
          <a:bodyPr/>
          <a:lstStyle/>
          <a:p>
            <a:fld id="{746FD205-8D79-439C-A802-2377436AEC8A}" type="slidenum">
              <a:rPr lang="he-IL" smtClean="0"/>
              <a:pPr/>
              <a:t>57</a:t>
            </a:fld>
            <a:endParaRPr lang="he-IL"/>
          </a:p>
        </p:txBody>
      </p:sp>
    </p:spTree>
    <p:extLst>
      <p:ext uri="{BB962C8B-B14F-4D97-AF65-F5344CB8AC3E}">
        <p14:creationId xmlns:p14="http://schemas.microsoft.com/office/powerpoint/2010/main" val="16666331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16642F74-5757-420F-85EF-2549EC9D3375}"/>
              </a:ext>
            </a:extLst>
          </p:cNvPr>
          <p:cNvSpPr>
            <a:spLocks noGrp="1"/>
          </p:cNvSpPr>
          <p:nvPr>
            <p:ph idx="1"/>
          </p:nvPr>
        </p:nvSpPr>
        <p:spPr/>
        <p:txBody>
          <a:bodyPr/>
          <a:lstStyle/>
          <a:p>
            <a:pPr marL="64008" indent="0" rtl="1">
              <a:buNone/>
            </a:pPr>
            <a:r>
              <a:rPr lang="he-IL" sz="1800" dirty="0">
                <a:cs typeface="Calibri" panose="020F0502020204030204" pitchFamily="34" charset="0"/>
              </a:rPr>
              <a:t>על מנת לבצע השוואה עם ערך </a:t>
            </a:r>
            <a:r>
              <a:rPr lang="en-US" sz="1800" dirty="0">
                <a:cs typeface="Calibri" panose="020F0502020204030204" pitchFamily="34" charset="0"/>
              </a:rPr>
              <a:t>NULL</a:t>
            </a:r>
            <a:r>
              <a:rPr lang="he-IL" sz="1800" dirty="0">
                <a:cs typeface="Calibri" panose="020F0502020204030204" pitchFamily="34" charset="0"/>
              </a:rPr>
              <a:t> נשתמש ב </a:t>
            </a:r>
            <a:r>
              <a:rPr lang="en-US" sz="1800" dirty="0">
                <a:cs typeface="Calibri" panose="020F0502020204030204" pitchFamily="34" charset="0"/>
              </a:rPr>
              <a:t>IS NULL</a:t>
            </a:r>
            <a:r>
              <a:rPr lang="he-IL" sz="1800" dirty="0">
                <a:cs typeface="Calibri" panose="020F0502020204030204" pitchFamily="34" charset="0"/>
              </a:rPr>
              <a:t> או </a:t>
            </a:r>
            <a:r>
              <a:rPr lang="en-US" sz="1800" dirty="0">
                <a:cs typeface="Calibri" panose="020F0502020204030204" pitchFamily="34" charset="0"/>
              </a:rPr>
              <a:t>IS NOT NULL</a:t>
            </a:r>
            <a:r>
              <a:rPr lang="he-IL" sz="1800" dirty="0">
                <a:cs typeface="Calibri" panose="020F0502020204030204" pitchFamily="34" charset="0"/>
              </a:rPr>
              <a:t> (אין אפשרות לכתוב </a:t>
            </a:r>
            <a:r>
              <a:rPr lang="en-US" sz="1800" dirty="0">
                <a:cs typeface="Calibri" panose="020F0502020204030204" pitchFamily="34" charset="0"/>
              </a:rPr>
              <a:t>=, != NULL</a:t>
            </a:r>
            <a:r>
              <a:rPr lang="he-IL" sz="1800" dirty="0">
                <a:cs typeface="Calibri" panose="020F0502020204030204" pitchFamily="34" charset="0"/>
              </a:rPr>
              <a:t> ).</a:t>
            </a:r>
          </a:p>
          <a:p>
            <a:pPr marL="64008" indent="0" rtl="1">
              <a:buNone/>
            </a:pPr>
            <a:r>
              <a:rPr lang="en-US" sz="1800" dirty="0">
                <a:cs typeface="Calibri" panose="020F0502020204030204" pitchFamily="34" charset="0"/>
              </a:rPr>
              <a:t>Syntax:</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כל הלקוחות שמספר הפקס שלהם מעודכן במערכת:</a:t>
            </a:r>
          </a:p>
          <a:p>
            <a:pPr marL="64008" indent="0" rtl="1">
              <a:buNone/>
            </a:pP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D37881CE-EA01-4168-B177-E7F19CB2179E}"/>
              </a:ext>
            </a:extLst>
          </p:cNvPr>
          <p:cNvSpPr>
            <a:spLocks noGrp="1"/>
          </p:cNvSpPr>
          <p:nvPr>
            <p:ph type="title"/>
          </p:nvPr>
        </p:nvSpPr>
        <p:spPr/>
        <p:txBody>
          <a:bodyPr/>
          <a:lstStyle/>
          <a:p>
            <a:pPr algn="l" rtl="1"/>
            <a:r>
              <a:rPr lang="en-US" dirty="0"/>
              <a:t>IS NULL / NOT NULL</a:t>
            </a:r>
            <a:endParaRPr lang="he-IL" dirty="0"/>
          </a:p>
        </p:txBody>
      </p:sp>
      <p:sp>
        <p:nvSpPr>
          <p:cNvPr id="4" name="מציין מיקום של מספר שקופית 3">
            <a:extLst>
              <a:ext uri="{FF2B5EF4-FFF2-40B4-BE49-F238E27FC236}">
                <a16:creationId xmlns:a16="http://schemas.microsoft.com/office/drawing/2014/main" id="{EB1D1AC0-6A54-4157-88F8-6BF6D905BE2A}"/>
              </a:ext>
            </a:extLst>
          </p:cNvPr>
          <p:cNvSpPr>
            <a:spLocks noGrp="1"/>
          </p:cNvSpPr>
          <p:nvPr>
            <p:ph type="sldNum" sz="quarter" idx="11"/>
          </p:nvPr>
        </p:nvSpPr>
        <p:spPr/>
        <p:txBody>
          <a:bodyPr/>
          <a:lstStyle/>
          <a:p>
            <a:fld id="{746FD205-8D79-439C-A802-2377436AEC8A}" type="slidenum">
              <a:rPr lang="he-IL" smtClean="0"/>
              <a:pPr/>
              <a:t>58</a:t>
            </a:fld>
            <a:endParaRPr lang="he-IL"/>
          </a:p>
        </p:txBody>
      </p:sp>
      <p:pic>
        <p:nvPicPr>
          <p:cNvPr id="5" name="תמונה 4">
            <a:extLst>
              <a:ext uri="{FF2B5EF4-FFF2-40B4-BE49-F238E27FC236}">
                <a16:creationId xmlns:a16="http://schemas.microsoft.com/office/drawing/2014/main" id="{66B65506-9220-43B9-ADD3-C60B8F3C6B4B}"/>
              </a:ext>
            </a:extLst>
          </p:cNvPr>
          <p:cNvPicPr>
            <a:picLocks noChangeAspect="1"/>
          </p:cNvPicPr>
          <p:nvPr/>
        </p:nvPicPr>
        <p:blipFill>
          <a:blip r:embed="rId2"/>
          <a:stretch>
            <a:fillRect/>
          </a:stretch>
        </p:blipFill>
        <p:spPr>
          <a:xfrm>
            <a:off x="3276600" y="2752725"/>
            <a:ext cx="2200275" cy="685800"/>
          </a:xfrm>
          <a:prstGeom prst="rect">
            <a:avLst/>
          </a:prstGeom>
        </p:spPr>
      </p:pic>
      <p:pic>
        <p:nvPicPr>
          <p:cNvPr id="6" name="תמונה 5">
            <a:extLst>
              <a:ext uri="{FF2B5EF4-FFF2-40B4-BE49-F238E27FC236}">
                <a16:creationId xmlns:a16="http://schemas.microsoft.com/office/drawing/2014/main" id="{09EC7489-ED54-4971-A371-57345B8613AE}"/>
              </a:ext>
            </a:extLst>
          </p:cNvPr>
          <p:cNvPicPr>
            <a:picLocks noChangeAspect="1"/>
          </p:cNvPicPr>
          <p:nvPr/>
        </p:nvPicPr>
        <p:blipFill>
          <a:blip r:embed="rId3"/>
          <a:stretch>
            <a:fillRect/>
          </a:stretch>
        </p:blipFill>
        <p:spPr>
          <a:xfrm>
            <a:off x="6019800" y="2752725"/>
            <a:ext cx="2495550" cy="676275"/>
          </a:xfrm>
          <a:prstGeom prst="rect">
            <a:avLst/>
          </a:prstGeom>
        </p:spPr>
      </p:pic>
      <p:pic>
        <p:nvPicPr>
          <p:cNvPr id="7" name="תמונה 6">
            <a:extLst>
              <a:ext uri="{FF2B5EF4-FFF2-40B4-BE49-F238E27FC236}">
                <a16:creationId xmlns:a16="http://schemas.microsoft.com/office/drawing/2014/main" id="{90BA36F7-821B-4BA8-98FC-2573E1C79EBF}"/>
              </a:ext>
            </a:extLst>
          </p:cNvPr>
          <p:cNvPicPr>
            <a:picLocks noChangeAspect="1"/>
          </p:cNvPicPr>
          <p:nvPr/>
        </p:nvPicPr>
        <p:blipFill>
          <a:blip r:embed="rId4"/>
          <a:stretch>
            <a:fillRect/>
          </a:stretch>
        </p:blipFill>
        <p:spPr>
          <a:xfrm>
            <a:off x="533400" y="4876800"/>
            <a:ext cx="3152775" cy="914400"/>
          </a:xfrm>
          <a:prstGeom prst="rect">
            <a:avLst/>
          </a:prstGeom>
        </p:spPr>
      </p:pic>
      <p:pic>
        <p:nvPicPr>
          <p:cNvPr id="8" name="תמונה 7">
            <a:extLst>
              <a:ext uri="{FF2B5EF4-FFF2-40B4-BE49-F238E27FC236}">
                <a16:creationId xmlns:a16="http://schemas.microsoft.com/office/drawing/2014/main" id="{E16777D6-B49C-4294-B650-B72AFCFBDD5F}"/>
              </a:ext>
            </a:extLst>
          </p:cNvPr>
          <p:cNvPicPr>
            <a:picLocks noChangeAspect="1"/>
          </p:cNvPicPr>
          <p:nvPr/>
        </p:nvPicPr>
        <p:blipFill>
          <a:blip r:embed="rId5"/>
          <a:stretch>
            <a:fillRect/>
          </a:stretch>
        </p:blipFill>
        <p:spPr>
          <a:xfrm>
            <a:off x="4038600" y="4892511"/>
            <a:ext cx="4838700" cy="790575"/>
          </a:xfrm>
          <a:prstGeom prst="rect">
            <a:avLst/>
          </a:prstGeom>
        </p:spPr>
      </p:pic>
    </p:spTree>
    <p:extLst>
      <p:ext uri="{BB962C8B-B14F-4D97-AF65-F5344CB8AC3E}">
        <p14:creationId xmlns:p14="http://schemas.microsoft.com/office/powerpoint/2010/main" val="11437506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78D5C85-2143-4E15-8A54-0D360AF6011A}"/>
              </a:ext>
            </a:extLst>
          </p:cNvPr>
          <p:cNvSpPr>
            <a:spLocks noGrp="1"/>
          </p:cNvSpPr>
          <p:nvPr>
            <p:ph idx="1"/>
          </p:nvPr>
        </p:nvSpPr>
        <p:spPr/>
        <p:txBody>
          <a:bodyPr/>
          <a:lstStyle/>
          <a:p>
            <a:pPr marL="64008" indent="0" rtl="1">
              <a:buNone/>
            </a:pPr>
            <a:r>
              <a:rPr lang="he-IL" sz="1800" dirty="0">
                <a:cs typeface="Calibri" panose="020F0502020204030204" pitchFamily="34" charset="0"/>
              </a:rPr>
              <a:t>פקודת</a:t>
            </a:r>
            <a:r>
              <a:rPr lang="en-US" sz="1800" dirty="0">
                <a:cs typeface="Calibri" panose="020F0502020204030204" pitchFamily="34" charset="0"/>
              </a:rPr>
              <a:t> SELECT TOP </a:t>
            </a:r>
            <a:r>
              <a:rPr lang="he-IL" sz="1800" dirty="0">
                <a:cs typeface="Calibri" panose="020F0502020204030204" pitchFamily="34" charset="0"/>
              </a:rPr>
              <a:t>משמשת לציון מספר הרשומות המקסימלי שנרצה להחזיר בשליפה.</a:t>
            </a:r>
          </a:p>
          <a:p>
            <a:pPr marL="64008" indent="0" rtl="1">
              <a:buNone/>
            </a:pPr>
            <a:r>
              <a:rPr lang="he-IL" sz="1800" dirty="0">
                <a:cs typeface="Calibri" panose="020F0502020204030204" pitchFamily="34" charset="0"/>
              </a:rPr>
              <a:t>פקודה זו שימושית בטבלאות גדולות עם אלפי רשומות. החזרת מספר רב של רשומות יכולה להשפיע על הביצועים.</a:t>
            </a:r>
          </a:p>
          <a:p>
            <a:pPr marL="64008" indent="0" rtl="1">
              <a:buNone/>
            </a:pP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כל הפרטים של 2 המוצרים הכי זולים בחנות:</a:t>
            </a:r>
          </a:p>
          <a:p>
            <a:pPr marL="64008" indent="0" rtl="1">
              <a:buNone/>
            </a:pP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p:txBody>
      </p:sp>
      <p:sp>
        <p:nvSpPr>
          <p:cNvPr id="3" name="כותרת 2">
            <a:extLst>
              <a:ext uri="{FF2B5EF4-FFF2-40B4-BE49-F238E27FC236}">
                <a16:creationId xmlns:a16="http://schemas.microsoft.com/office/drawing/2014/main" id="{34B93D71-C847-4C07-A212-83DC62F817B8}"/>
              </a:ext>
            </a:extLst>
          </p:cNvPr>
          <p:cNvSpPr>
            <a:spLocks noGrp="1"/>
          </p:cNvSpPr>
          <p:nvPr>
            <p:ph type="title"/>
          </p:nvPr>
        </p:nvSpPr>
        <p:spPr/>
        <p:txBody>
          <a:bodyPr/>
          <a:lstStyle/>
          <a:p>
            <a:pPr algn="l"/>
            <a:r>
              <a:rPr lang="en-US" dirty="0"/>
              <a:t>SELECT TOP</a:t>
            </a:r>
            <a:endParaRPr lang="he-IL" dirty="0"/>
          </a:p>
        </p:txBody>
      </p:sp>
      <p:sp>
        <p:nvSpPr>
          <p:cNvPr id="4" name="מציין מיקום של מספר שקופית 3">
            <a:extLst>
              <a:ext uri="{FF2B5EF4-FFF2-40B4-BE49-F238E27FC236}">
                <a16:creationId xmlns:a16="http://schemas.microsoft.com/office/drawing/2014/main" id="{3BE5E06D-8090-48E2-B118-0D41318E6250}"/>
              </a:ext>
            </a:extLst>
          </p:cNvPr>
          <p:cNvSpPr>
            <a:spLocks noGrp="1"/>
          </p:cNvSpPr>
          <p:nvPr>
            <p:ph type="sldNum" sz="quarter" idx="11"/>
          </p:nvPr>
        </p:nvSpPr>
        <p:spPr/>
        <p:txBody>
          <a:bodyPr/>
          <a:lstStyle/>
          <a:p>
            <a:fld id="{746FD205-8D79-439C-A802-2377436AEC8A}" type="slidenum">
              <a:rPr lang="he-IL" smtClean="0"/>
              <a:pPr/>
              <a:t>59</a:t>
            </a:fld>
            <a:endParaRPr lang="he-IL"/>
          </a:p>
        </p:txBody>
      </p:sp>
      <p:pic>
        <p:nvPicPr>
          <p:cNvPr id="5" name="תמונה 4">
            <a:extLst>
              <a:ext uri="{FF2B5EF4-FFF2-40B4-BE49-F238E27FC236}">
                <a16:creationId xmlns:a16="http://schemas.microsoft.com/office/drawing/2014/main" id="{007D18D3-41F2-41CB-83E1-F49AC1BAA80B}"/>
              </a:ext>
            </a:extLst>
          </p:cNvPr>
          <p:cNvPicPr>
            <a:picLocks noChangeAspect="1"/>
          </p:cNvPicPr>
          <p:nvPr/>
        </p:nvPicPr>
        <p:blipFill>
          <a:blip r:embed="rId3"/>
          <a:stretch>
            <a:fillRect/>
          </a:stretch>
        </p:blipFill>
        <p:spPr>
          <a:xfrm>
            <a:off x="5181600" y="2895600"/>
            <a:ext cx="3324225" cy="742950"/>
          </a:xfrm>
          <a:prstGeom prst="rect">
            <a:avLst/>
          </a:prstGeom>
        </p:spPr>
      </p:pic>
      <p:pic>
        <p:nvPicPr>
          <p:cNvPr id="6" name="תמונה 5">
            <a:extLst>
              <a:ext uri="{FF2B5EF4-FFF2-40B4-BE49-F238E27FC236}">
                <a16:creationId xmlns:a16="http://schemas.microsoft.com/office/drawing/2014/main" id="{FBBCDDCA-787A-49F7-92B9-BAC9137FC48E}"/>
              </a:ext>
            </a:extLst>
          </p:cNvPr>
          <p:cNvPicPr>
            <a:picLocks noChangeAspect="1"/>
          </p:cNvPicPr>
          <p:nvPr/>
        </p:nvPicPr>
        <p:blipFill>
          <a:blip r:embed="rId4"/>
          <a:stretch>
            <a:fillRect/>
          </a:stretch>
        </p:blipFill>
        <p:spPr>
          <a:xfrm>
            <a:off x="4267200" y="4733925"/>
            <a:ext cx="2162175" cy="885825"/>
          </a:xfrm>
          <a:prstGeom prst="rect">
            <a:avLst/>
          </a:prstGeom>
        </p:spPr>
      </p:pic>
      <p:pic>
        <p:nvPicPr>
          <p:cNvPr id="7" name="תמונה 6">
            <a:extLst>
              <a:ext uri="{FF2B5EF4-FFF2-40B4-BE49-F238E27FC236}">
                <a16:creationId xmlns:a16="http://schemas.microsoft.com/office/drawing/2014/main" id="{2498A679-1E19-45A9-800E-BB7D3FB8F808}"/>
              </a:ext>
            </a:extLst>
          </p:cNvPr>
          <p:cNvPicPr>
            <a:picLocks noChangeAspect="1"/>
          </p:cNvPicPr>
          <p:nvPr/>
        </p:nvPicPr>
        <p:blipFill>
          <a:blip r:embed="rId5"/>
          <a:stretch>
            <a:fillRect/>
          </a:stretch>
        </p:blipFill>
        <p:spPr>
          <a:xfrm>
            <a:off x="6873564" y="4733925"/>
            <a:ext cx="1552575" cy="600075"/>
          </a:xfrm>
          <a:prstGeom prst="rect">
            <a:avLst/>
          </a:prstGeom>
        </p:spPr>
      </p:pic>
    </p:spTree>
    <p:extLst>
      <p:ext uri="{BB962C8B-B14F-4D97-AF65-F5344CB8AC3E}">
        <p14:creationId xmlns:p14="http://schemas.microsoft.com/office/powerpoint/2010/main" val="38675908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7161E51-816A-4536-B1D4-C5365E6CF61B}"/>
              </a:ext>
            </a:extLst>
          </p:cNvPr>
          <p:cNvSpPr>
            <a:spLocks noGrp="1"/>
          </p:cNvSpPr>
          <p:nvPr>
            <p:ph idx="1"/>
          </p:nvPr>
        </p:nvSpPr>
        <p:spPr/>
        <p:txBody>
          <a:bodyPr/>
          <a:lstStyle/>
          <a:p>
            <a:pPr marL="64008" indent="0" rtl="1">
              <a:buNone/>
            </a:pPr>
            <a:r>
              <a:rPr lang="he-IL" sz="1800" dirty="0">
                <a:cs typeface="Calibri" panose="020F0502020204030204" pitchFamily="34" charset="0"/>
              </a:rPr>
              <a:t>פונקציות שורה ב </a:t>
            </a:r>
            <a:r>
              <a:rPr lang="en-US" sz="1800" dirty="0">
                <a:cs typeface="Calibri" panose="020F0502020204030204" pitchFamily="34" charset="0"/>
              </a:rPr>
              <a:t>SQL</a:t>
            </a:r>
            <a:r>
              <a:rPr lang="he-IL" sz="1800" dirty="0">
                <a:cs typeface="Calibri" panose="020F0502020204030204" pitchFamily="34" charset="0"/>
              </a:rPr>
              <a:t> מאפשרות לנו לבצע מניפולציות על ערכים של עמודה מסוימת.</a:t>
            </a:r>
          </a:p>
          <a:p>
            <a:pPr marL="64008" indent="0" rtl="1">
              <a:buNone/>
            </a:pPr>
            <a:r>
              <a:rPr lang="he-IL" sz="1800" dirty="0">
                <a:cs typeface="Calibri" panose="020F0502020204030204" pitchFamily="34" charset="0"/>
              </a:rPr>
              <a:t>השימוש בפונקציה ע"י: </a:t>
            </a:r>
            <a:r>
              <a:rPr lang="en-US" sz="1800" i="1" dirty="0" err="1">
                <a:cs typeface="Calibri" panose="020F0502020204030204" pitchFamily="34" charset="0"/>
              </a:rPr>
              <a:t>FunctionName</a:t>
            </a:r>
            <a:r>
              <a:rPr lang="en-US" sz="1800" dirty="0">
                <a:cs typeface="Calibri" panose="020F0502020204030204" pitchFamily="34" charset="0"/>
              </a:rPr>
              <a:t> (</a:t>
            </a:r>
            <a:r>
              <a:rPr lang="en-US" sz="1800" i="1" dirty="0" err="1">
                <a:cs typeface="Calibri" panose="020F0502020204030204" pitchFamily="34" charset="0"/>
              </a:rPr>
              <a:t>ColumnName</a:t>
            </a:r>
            <a:r>
              <a:rPr lang="en-US" sz="1800" dirty="0">
                <a:cs typeface="Calibri" panose="020F0502020204030204" pitchFamily="34" charset="0"/>
              </a:rPr>
              <a:t>)</a:t>
            </a:r>
            <a:endParaRPr lang="he-IL" sz="1800" dirty="0">
              <a:cs typeface="Calibri" panose="020F0502020204030204" pitchFamily="34" charset="0"/>
            </a:endParaRPr>
          </a:p>
          <a:p>
            <a:pPr marL="64008" indent="0" rtl="1">
              <a:buNone/>
            </a:pPr>
            <a:r>
              <a:rPr lang="he-IL" sz="1800" dirty="0">
                <a:cs typeface="Calibri" panose="020F0502020204030204" pitchFamily="34" charset="0"/>
              </a:rPr>
              <a:t>סוגי פונקציות </a:t>
            </a:r>
            <a:r>
              <a:rPr lang="he-IL" sz="1800" dirty="0" err="1">
                <a:cs typeface="Calibri" panose="020F0502020204030204" pitchFamily="34" charset="0"/>
              </a:rPr>
              <a:t>סקלריות</a:t>
            </a:r>
            <a:r>
              <a:rPr lang="he-IL" sz="1800" dirty="0">
                <a:cs typeface="Calibri" panose="020F0502020204030204" pitchFamily="34" charset="0"/>
              </a:rPr>
              <a:t>:</a:t>
            </a:r>
          </a:p>
          <a:p>
            <a:pPr rtl="1">
              <a:buFont typeface="Courier New" panose="02070309020205020404" pitchFamily="49" charset="0"/>
              <a:buChar char="o"/>
            </a:pPr>
            <a:r>
              <a:rPr lang="en-US" sz="1800" dirty="0">
                <a:cs typeface="Calibri" panose="020F0502020204030204" pitchFamily="34" charset="0"/>
              </a:rPr>
              <a:t>String</a:t>
            </a:r>
            <a:endParaRPr lang="he-IL" sz="1800" dirty="0">
              <a:cs typeface="Calibri" panose="020F0502020204030204" pitchFamily="34" charset="0"/>
            </a:endParaRPr>
          </a:p>
          <a:p>
            <a:pPr rtl="1">
              <a:buFont typeface="Courier New" panose="02070309020205020404" pitchFamily="49" charset="0"/>
              <a:buChar char="o"/>
            </a:pPr>
            <a:r>
              <a:rPr lang="en-US" sz="1800" dirty="0">
                <a:cs typeface="Calibri" panose="020F0502020204030204" pitchFamily="34" charset="0"/>
              </a:rPr>
              <a:t>Numeric</a:t>
            </a:r>
            <a:endParaRPr lang="he-IL" sz="1800" dirty="0">
              <a:cs typeface="Calibri" panose="020F0502020204030204" pitchFamily="34" charset="0"/>
            </a:endParaRPr>
          </a:p>
          <a:p>
            <a:pPr rtl="1">
              <a:buFont typeface="Courier New" panose="02070309020205020404" pitchFamily="49" charset="0"/>
              <a:buChar char="o"/>
            </a:pPr>
            <a:r>
              <a:rPr lang="en-US" sz="1800" dirty="0">
                <a:cs typeface="Calibri" panose="020F0502020204030204" pitchFamily="34" charset="0"/>
              </a:rPr>
              <a:t>Date</a:t>
            </a:r>
            <a:endParaRPr lang="he-IL" sz="1800" dirty="0">
              <a:cs typeface="Calibri" panose="020F0502020204030204" pitchFamily="34" charset="0"/>
            </a:endParaRPr>
          </a:p>
          <a:p>
            <a:pPr rtl="1">
              <a:buFont typeface="Courier New" panose="02070309020205020404" pitchFamily="49" charset="0"/>
              <a:buChar char="o"/>
            </a:pPr>
            <a:r>
              <a:rPr lang="en-US" sz="1800" dirty="0">
                <a:cs typeface="Calibri" panose="020F0502020204030204" pitchFamily="34" charset="0"/>
              </a:rPr>
              <a:t>Conversion</a:t>
            </a:r>
            <a:endParaRPr lang="he-IL" sz="1800" dirty="0">
              <a:cs typeface="Calibri" panose="020F0502020204030204" pitchFamily="34" charset="0"/>
            </a:endParaRPr>
          </a:p>
          <a:p>
            <a:pPr rtl="1">
              <a:buFont typeface="Courier New" panose="02070309020205020404" pitchFamily="49" charset="0"/>
              <a:buChar char="o"/>
            </a:pPr>
            <a:r>
              <a:rPr lang="en-US" sz="1800" dirty="0">
                <a:cs typeface="Calibri" panose="020F0502020204030204" pitchFamily="34" charset="0"/>
              </a:rPr>
              <a:t>Null</a:t>
            </a:r>
            <a:endParaRPr lang="he-IL" sz="1800" dirty="0">
              <a:cs typeface="Calibri" panose="020F0502020204030204" pitchFamily="34" charset="0"/>
            </a:endParaRPr>
          </a:p>
          <a:p>
            <a:pPr rtl="1">
              <a:buFont typeface="Courier New" panose="02070309020205020404" pitchFamily="49" charset="0"/>
              <a:buChar char="o"/>
            </a:pPr>
            <a:r>
              <a:rPr lang="en-US" sz="1800" dirty="0">
                <a:cs typeface="Calibri" panose="020F0502020204030204" pitchFamily="34" charset="0"/>
              </a:rPr>
              <a:t>Conditional</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ניתן מספר דוגמאות מכל סוג, כמובן שיש עוד רבות...</a:t>
            </a:r>
          </a:p>
          <a:p>
            <a:pPr marL="64008" indent="0" rtl="1">
              <a:buNone/>
            </a:pPr>
            <a:endParaRPr lang="he-IL" dirty="0"/>
          </a:p>
          <a:p>
            <a:pPr marL="64008" indent="0">
              <a:buNone/>
            </a:pPr>
            <a:endParaRPr lang="he-IL" dirty="0"/>
          </a:p>
        </p:txBody>
      </p:sp>
      <p:sp>
        <p:nvSpPr>
          <p:cNvPr id="3" name="כותרת 2">
            <a:extLst>
              <a:ext uri="{FF2B5EF4-FFF2-40B4-BE49-F238E27FC236}">
                <a16:creationId xmlns:a16="http://schemas.microsoft.com/office/drawing/2014/main" id="{0BB9B564-BCA2-47B4-B0B4-4923B0C390BA}"/>
              </a:ext>
            </a:extLst>
          </p:cNvPr>
          <p:cNvSpPr>
            <a:spLocks noGrp="1"/>
          </p:cNvSpPr>
          <p:nvPr>
            <p:ph type="title"/>
          </p:nvPr>
        </p:nvSpPr>
        <p:spPr/>
        <p:txBody>
          <a:bodyPr/>
          <a:lstStyle/>
          <a:p>
            <a:pPr algn="l"/>
            <a:r>
              <a:rPr lang="en-US" dirty="0"/>
              <a:t>Scalar functions</a:t>
            </a:r>
            <a:endParaRPr lang="he-IL" dirty="0"/>
          </a:p>
        </p:txBody>
      </p:sp>
      <p:sp>
        <p:nvSpPr>
          <p:cNvPr id="4" name="מציין מיקום של מספר שקופית 3">
            <a:extLst>
              <a:ext uri="{FF2B5EF4-FFF2-40B4-BE49-F238E27FC236}">
                <a16:creationId xmlns:a16="http://schemas.microsoft.com/office/drawing/2014/main" id="{9E9EF1E9-A246-4C8E-9BD5-1C4821DDFF8D}"/>
              </a:ext>
            </a:extLst>
          </p:cNvPr>
          <p:cNvSpPr>
            <a:spLocks noGrp="1"/>
          </p:cNvSpPr>
          <p:nvPr>
            <p:ph type="sldNum" sz="quarter" idx="11"/>
          </p:nvPr>
        </p:nvSpPr>
        <p:spPr/>
        <p:txBody>
          <a:bodyPr/>
          <a:lstStyle/>
          <a:p>
            <a:fld id="{746FD205-8D79-439C-A802-2377436AEC8A}" type="slidenum">
              <a:rPr lang="he-IL" smtClean="0"/>
              <a:pPr/>
              <a:t>60</a:t>
            </a:fld>
            <a:endParaRPr lang="he-IL"/>
          </a:p>
        </p:txBody>
      </p:sp>
    </p:spTree>
    <p:extLst>
      <p:ext uri="{BB962C8B-B14F-4D97-AF65-F5344CB8AC3E}">
        <p14:creationId xmlns:p14="http://schemas.microsoft.com/office/powerpoint/2010/main" val="8346278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27BBEDF-C9C0-4D62-9EF0-E061BB71D7B7}"/>
              </a:ext>
            </a:extLst>
          </p:cNvPr>
          <p:cNvSpPr>
            <a:spLocks noGrp="1"/>
          </p:cNvSpPr>
          <p:nvPr>
            <p:ph idx="1"/>
          </p:nvPr>
        </p:nvSpPr>
        <p:spPr/>
        <p:txBody>
          <a:bodyPr>
            <a:normAutofit fontScale="92500" lnSpcReduction="20000"/>
          </a:bodyPr>
          <a:lstStyle/>
          <a:p>
            <a:pPr marL="64008" indent="0" rtl="1">
              <a:buNone/>
            </a:pPr>
            <a:r>
              <a:rPr lang="en-US" sz="1800" b="1" dirty="0">
                <a:cs typeface="Calibri" panose="020F0502020204030204" pitchFamily="34" charset="0"/>
              </a:rPr>
              <a:t>Right</a:t>
            </a:r>
            <a:r>
              <a:rPr lang="he-IL" sz="1800" dirty="0">
                <a:cs typeface="Calibri" panose="020F0502020204030204" pitchFamily="34" charset="0"/>
              </a:rPr>
              <a:t> – הפונקציה מקבלת מחרוזת ומספר, ומחזירה את מספר התווים שצוין מחלקה הימני של המחרוזת.</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Left</a:t>
            </a:r>
            <a:r>
              <a:rPr lang="he-IL" sz="1800" dirty="0">
                <a:cs typeface="Calibri" panose="020F0502020204030204" pitchFamily="34" charset="0"/>
              </a:rPr>
              <a:t> - הפונקציה מקבלת מחרוזת ומספר, ומחזירה את מספר התווים שצוין מחלקה השמאלי של המחרוזת.</a:t>
            </a:r>
          </a:p>
          <a:p>
            <a:pPr marL="64008" indent="0" rtl="1">
              <a:buNone/>
            </a:pPr>
            <a:r>
              <a:rPr lang="he-IL" sz="1800" dirty="0">
                <a:cs typeface="Calibri" panose="020F0502020204030204" pitchFamily="34" charset="0"/>
              </a:rPr>
              <a:t>לדוגמא: </a:t>
            </a:r>
          </a:p>
          <a:p>
            <a:pPr marL="64008" indent="0" rtl="1">
              <a:buNone/>
            </a:pPr>
            <a:r>
              <a:rPr lang="he-IL" sz="1800" dirty="0">
                <a:cs typeface="Calibri" panose="020F0502020204030204" pitchFamily="34" charset="0"/>
              </a:rPr>
              <a:t> </a:t>
            </a: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Len</a:t>
            </a:r>
            <a:r>
              <a:rPr lang="he-IL" sz="1800" dirty="0">
                <a:cs typeface="Calibri" panose="020F0502020204030204" pitchFamily="34" charset="0"/>
              </a:rPr>
              <a:t> – פונקציה המקבלת מחרוזת כלשהי ומחזירה את ארכה.</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כל המשכורות שנעות בין 1000 ל 10,000:</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br>
              <a:rPr lang="en-US" sz="1800" dirty="0">
                <a:cs typeface="Calibri" panose="020F0502020204030204" pitchFamily="34" charset="0"/>
              </a:rPr>
            </a:b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8D3B7F9-9A82-4688-8245-50D61F75D3BF}"/>
              </a:ext>
            </a:extLst>
          </p:cNvPr>
          <p:cNvSpPr>
            <a:spLocks noGrp="1"/>
          </p:cNvSpPr>
          <p:nvPr>
            <p:ph type="title"/>
          </p:nvPr>
        </p:nvSpPr>
        <p:spPr/>
        <p:txBody>
          <a:bodyPr/>
          <a:lstStyle/>
          <a:p>
            <a:pPr algn="just"/>
            <a:r>
              <a:rPr lang="en-US" dirty="0"/>
              <a:t>String functions</a:t>
            </a:r>
            <a:endParaRPr lang="he-IL" dirty="0"/>
          </a:p>
        </p:txBody>
      </p:sp>
      <p:sp>
        <p:nvSpPr>
          <p:cNvPr id="4" name="מציין מיקום של מספר שקופית 3">
            <a:extLst>
              <a:ext uri="{FF2B5EF4-FFF2-40B4-BE49-F238E27FC236}">
                <a16:creationId xmlns:a16="http://schemas.microsoft.com/office/drawing/2014/main" id="{3AE62B76-B33D-4ADA-AEF4-47C57EF93301}"/>
              </a:ext>
            </a:extLst>
          </p:cNvPr>
          <p:cNvSpPr>
            <a:spLocks noGrp="1"/>
          </p:cNvSpPr>
          <p:nvPr>
            <p:ph type="sldNum" sz="quarter" idx="11"/>
          </p:nvPr>
        </p:nvSpPr>
        <p:spPr/>
        <p:txBody>
          <a:bodyPr/>
          <a:lstStyle/>
          <a:p>
            <a:fld id="{746FD205-8D79-439C-A802-2377436AEC8A}" type="slidenum">
              <a:rPr lang="he-IL" smtClean="0"/>
              <a:pPr/>
              <a:t>61</a:t>
            </a:fld>
            <a:endParaRPr lang="he-IL"/>
          </a:p>
        </p:txBody>
      </p:sp>
      <p:pic>
        <p:nvPicPr>
          <p:cNvPr id="7" name="תמונה 6">
            <a:extLst>
              <a:ext uri="{FF2B5EF4-FFF2-40B4-BE49-F238E27FC236}">
                <a16:creationId xmlns:a16="http://schemas.microsoft.com/office/drawing/2014/main" id="{65DCE1F8-87DD-4EFF-A6C7-8BFCBA2A33DD}"/>
              </a:ext>
            </a:extLst>
          </p:cNvPr>
          <p:cNvPicPr>
            <a:picLocks noChangeAspect="1"/>
          </p:cNvPicPr>
          <p:nvPr/>
        </p:nvPicPr>
        <p:blipFill>
          <a:blip r:embed="rId2"/>
          <a:stretch>
            <a:fillRect/>
          </a:stretch>
        </p:blipFill>
        <p:spPr>
          <a:xfrm>
            <a:off x="4594938" y="2274214"/>
            <a:ext cx="2771775" cy="266700"/>
          </a:xfrm>
          <a:prstGeom prst="rect">
            <a:avLst/>
          </a:prstGeom>
        </p:spPr>
      </p:pic>
      <p:pic>
        <p:nvPicPr>
          <p:cNvPr id="8" name="תמונה 7">
            <a:extLst>
              <a:ext uri="{FF2B5EF4-FFF2-40B4-BE49-F238E27FC236}">
                <a16:creationId xmlns:a16="http://schemas.microsoft.com/office/drawing/2014/main" id="{FE70A14A-F8BC-4858-9AD2-2CFF4860D8AA}"/>
              </a:ext>
            </a:extLst>
          </p:cNvPr>
          <p:cNvPicPr>
            <a:picLocks noChangeAspect="1"/>
          </p:cNvPicPr>
          <p:nvPr/>
        </p:nvPicPr>
        <p:blipFill>
          <a:blip r:embed="rId3"/>
          <a:stretch>
            <a:fillRect/>
          </a:stretch>
        </p:blipFill>
        <p:spPr>
          <a:xfrm>
            <a:off x="7526694" y="2264448"/>
            <a:ext cx="1000125" cy="209550"/>
          </a:xfrm>
          <a:prstGeom prst="rect">
            <a:avLst/>
          </a:prstGeom>
        </p:spPr>
      </p:pic>
      <p:pic>
        <p:nvPicPr>
          <p:cNvPr id="9" name="תמונה 8">
            <a:extLst>
              <a:ext uri="{FF2B5EF4-FFF2-40B4-BE49-F238E27FC236}">
                <a16:creationId xmlns:a16="http://schemas.microsoft.com/office/drawing/2014/main" id="{92046E09-89C3-4D96-9159-6BAE54B2E14A}"/>
              </a:ext>
            </a:extLst>
          </p:cNvPr>
          <p:cNvPicPr>
            <a:picLocks noChangeAspect="1"/>
          </p:cNvPicPr>
          <p:nvPr/>
        </p:nvPicPr>
        <p:blipFill>
          <a:blip r:embed="rId4"/>
          <a:stretch>
            <a:fillRect/>
          </a:stretch>
        </p:blipFill>
        <p:spPr>
          <a:xfrm>
            <a:off x="4570445" y="3528035"/>
            <a:ext cx="2638425" cy="314325"/>
          </a:xfrm>
          <a:prstGeom prst="rect">
            <a:avLst/>
          </a:prstGeom>
        </p:spPr>
      </p:pic>
      <p:pic>
        <p:nvPicPr>
          <p:cNvPr id="10" name="תמונה 9">
            <a:extLst>
              <a:ext uri="{FF2B5EF4-FFF2-40B4-BE49-F238E27FC236}">
                <a16:creationId xmlns:a16="http://schemas.microsoft.com/office/drawing/2014/main" id="{4EEFC052-A42A-491D-B8AC-B795524F919B}"/>
              </a:ext>
            </a:extLst>
          </p:cNvPr>
          <p:cNvPicPr>
            <a:picLocks noChangeAspect="1"/>
          </p:cNvPicPr>
          <p:nvPr/>
        </p:nvPicPr>
        <p:blipFill>
          <a:blip r:embed="rId5"/>
          <a:stretch>
            <a:fillRect/>
          </a:stretch>
        </p:blipFill>
        <p:spPr>
          <a:xfrm>
            <a:off x="7383819" y="3576269"/>
            <a:ext cx="1143000" cy="200025"/>
          </a:xfrm>
          <a:prstGeom prst="rect">
            <a:avLst/>
          </a:prstGeom>
        </p:spPr>
      </p:pic>
      <p:pic>
        <p:nvPicPr>
          <p:cNvPr id="11" name="תמונה 10">
            <a:extLst>
              <a:ext uri="{FF2B5EF4-FFF2-40B4-BE49-F238E27FC236}">
                <a16:creationId xmlns:a16="http://schemas.microsoft.com/office/drawing/2014/main" id="{35484BF3-5481-4D30-B8E6-B5E707291FAB}"/>
              </a:ext>
            </a:extLst>
          </p:cNvPr>
          <p:cNvPicPr>
            <a:picLocks noChangeAspect="1"/>
          </p:cNvPicPr>
          <p:nvPr/>
        </p:nvPicPr>
        <p:blipFill>
          <a:blip r:embed="rId6"/>
          <a:stretch>
            <a:fillRect/>
          </a:stretch>
        </p:blipFill>
        <p:spPr>
          <a:xfrm>
            <a:off x="4840644" y="4965631"/>
            <a:ext cx="2543175" cy="838200"/>
          </a:xfrm>
          <a:prstGeom prst="rect">
            <a:avLst/>
          </a:prstGeom>
        </p:spPr>
      </p:pic>
      <p:pic>
        <p:nvPicPr>
          <p:cNvPr id="12" name="תמונה 11">
            <a:extLst>
              <a:ext uri="{FF2B5EF4-FFF2-40B4-BE49-F238E27FC236}">
                <a16:creationId xmlns:a16="http://schemas.microsoft.com/office/drawing/2014/main" id="{9CAF7B9F-DB78-486C-9C9F-AE692A738281}"/>
              </a:ext>
            </a:extLst>
          </p:cNvPr>
          <p:cNvPicPr>
            <a:picLocks noChangeAspect="1"/>
          </p:cNvPicPr>
          <p:nvPr/>
        </p:nvPicPr>
        <p:blipFill>
          <a:blip r:embed="rId7"/>
          <a:stretch>
            <a:fillRect/>
          </a:stretch>
        </p:blipFill>
        <p:spPr>
          <a:xfrm>
            <a:off x="7738868" y="4965631"/>
            <a:ext cx="781050" cy="971550"/>
          </a:xfrm>
          <a:prstGeom prst="rect">
            <a:avLst/>
          </a:prstGeom>
        </p:spPr>
      </p:pic>
    </p:spTree>
    <p:extLst>
      <p:ext uri="{BB962C8B-B14F-4D97-AF65-F5344CB8AC3E}">
        <p14:creationId xmlns:p14="http://schemas.microsoft.com/office/powerpoint/2010/main" val="1898819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235CCBDC-75E1-44A3-9454-5B4CAD19A9DA}"/>
              </a:ext>
            </a:extLst>
          </p:cNvPr>
          <p:cNvSpPr>
            <a:spLocks noGrp="1"/>
          </p:cNvSpPr>
          <p:nvPr>
            <p:ph idx="1"/>
          </p:nvPr>
        </p:nvSpPr>
        <p:spPr/>
        <p:txBody>
          <a:bodyPr>
            <a:normAutofit/>
          </a:bodyPr>
          <a:lstStyle/>
          <a:p>
            <a:pPr marL="64008" indent="0" rtl="1">
              <a:buNone/>
            </a:pPr>
            <a:r>
              <a:rPr lang="en-US" sz="1800" b="1" dirty="0">
                <a:cs typeface="Calibri" panose="020F0502020204030204" pitchFamily="34" charset="0"/>
              </a:rPr>
              <a:t>Replace</a:t>
            </a:r>
            <a:r>
              <a:rPr lang="he-IL" sz="1800" dirty="0">
                <a:cs typeface="Calibri" panose="020F0502020204030204" pitchFamily="34" charset="0"/>
              </a:rPr>
              <a:t> – הפונקציה מקבלת מחרוזת ושני תווים, ומחליפה במחרוזת את התו הראשון (בכל מקום שהוא מופיע) בתו השני.</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Reverse</a:t>
            </a:r>
            <a:r>
              <a:rPr lang="he-IL" sz="1800" dirty="0">
                <a:cs typeface="Calibri" panose="020F0502020204030204" pitchFamily="34" charset="0"/>
              </a:rPr>
              <a:t> – הפונקציה מקבלת מחרוזת ומחזירה אותה בצורה הפוכה.</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Substring</a:t>
            </a:r>
            <a:r>
              <a:rPr lang="he-IL" sz="1800" dirty="0">
                <a:cs typeface="Calibri" panose="020F0502020204030204" pitchFamily="34" charset="0"/>
              </a:rPr>
              <a:t> – הפונקציה מחזירה חלק של מחרוזת, מקבלת כפרמטרים את המחרוזת, אינדקס ההתחלה ואורך המחרוזת החדשה.</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UPPER/LOWER</a:t>
            </a:r>
            <a:r>
              <a:rPr lang="he-IL" sz="1800" dirty="0">
                <a:cs typeface="Calibri" panose="020F0502020204030204" pitchFamily="34" charset="0"/>
              </a:rPr>
              <a:t> – הפונקציה מקבלת מחרוזת ומחזירה את כולה באותיות גדולות/קטנות.</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3B54D4FE-9628-42CD-BAE6-5ED36EB0128E}"/>
              </a:ext>
            </a:extLst>
          </p:cNvPr>
          <p:cNvSpPr>
            <a:spLocks noGrp="1"/>
          </p:cNvSpPr>
          <p:nvPr>
            <p:ph type="title"/>
          </p:nvPr>
        </p:nvSpPr>
        <p:spPr/>
        <p:txBody>
          <a:bodyPr/>
          <a:lstStyle/>
          <a:p>
            <a:pPr algn="l"/>
            <a:r>
              <a:rPr lang="en-US" dirty="0"/>
              <a:t>String functions</a:t>
            </a:r>
            <a:endParaRPr lang="he-IL" dirty="0"/>
          </a:p>
        </p:txBody>
      </p:sp>
      <p:sp>
        <p:nvSpPr>
          <p:cNvPr id="4" name="מציין מיקום של מספר שקופית 3">
            <a:extLst>
              <a:ext uri="{FF2B5EF4-FFF2-40B4-BE49-F238E27FC236}">
                <a16:creationId xmlns:a16="http://schemas.microsoft.com/office/drawing/2014/main" id="{7AA19599-B0B2-4A82-80C0-2A3C1260039C}"/>
              </a:ext>
            </a:extLst>
          </p:cNvPr>
          <p:cNvSpPr>
            <a:spLocks noGrp="1"/>
          </p:cNvSpPr>
          <p:nvPr>
            <p:ph type="sldNum" sz="quarter" idx="11"/>
          </p:nvPr>
        </p:nvSpPr>
        <p:spPr/>
        <p:txBody>
          <a:bodyPr/>
          <a:lstStyle/>
          <a:p>
            <a:fld id="{746FD205-8D79-439C-A802-2377436AEC8A}" type="slidenum">
              <a:rPr lang="he-IL" smtClean="0"/>
              <a:pPr/>
              <a:t>62</a:t>
            </a:fld>
            <a:endParaRPr lang="he-IL"/>
          </a:p>
        </p:txBody>
      </p:sp>
      <p:pic>
        <p:nvPicPr>
          <p:cNvPr id="5" name="תמונה 4">
            <a:extLst>
              <a:ext uri="{FF2B5EF4-FFF2-40B4-BE49-F238E27FC236}">
                <a16:creationId xmlns:a16="http://schemas.microsoft.com/office/drawing/2014/main" id="{E8007825-619C-4F1A-9521-BC72D7A29BBE}"/>
              </a:ext>
            </a:extLst>
          </p:cNvPr>
          <p:cNvPicPr>
            <a:picLocks noChangeAspect="1"/>
          </p:cNvPicPr>
          <p:nvPr/>
        </p:nvPicPr>
        <p:blipFill>
          <a:blip r:embed="rId2"/>
          <a:stretch>
            <a:fillRect/>
          </a:stretch>
        </p:blipFill>
        <p:spPr>
          <a:xfrm>
            <a:off x="2787917" y="2482390"/>
            <a:ext cx="4562475" cy="295275"/>
          </a:xfrm>
          <a:prstGeom prst="rect">
            <a:avLst/>
          </a:prstGeom>
        </p:spPr>
      </p:pic>
      <p:pic>
        <p:nvPicPr>
          <p:cNvPr id="6" name="תמונה 5">
            <a:extLst>
              <a:ext uri="{FF2B5EF4-FFF2-40B4-BE49-F238E27FC236}">
                <a16:creationId xmlns:a16="http://schemas.microsoft.com/office/drawing/2014/main" id="{1EB9173D-79D8-4364-B5B0-FD59B973A89F}"/>
              </a:ext>
            </a:extLst>
          </p:cNvPr>
          <p:cNvPicPr>
            <a:picLocks noChangeAspect="1"/>
          </p:cNvPicPr>
          <p:nvPr/>
        </p:nvPicPr>
        <p:blipFill>
          <a:blip r:embed="rId3"/>
          <a:stretch>
            <a:fillRect/>
          </a:stretch>
        </p:blipFill>
        <p:spPr>
          <a:xfrm>
            <a:off x="7495801" y="2482390"/>
            <a:ext cx="1066800" cy="209550"/>
          </a:xfrm>
          <a:prstGeom prst="rect">
            <a:avLst/>
          </a:prstGeom>
        </p:spPr>
      </p:pic>
      <p:pic>
        <p:nvPicPr>
          <p:cNvPr id="7" name="תמונה 6">
            <a:extLst>
              <a:ext uri="{FF2B5EF4-FFF2-40B4-BE49-F238E27FC236}">
                <a16:creationId xmlns:a16="http://schemas.microsoft.com/office/drawing/2014/main" id="{CEF1F687-A982-4BE1-94B2-67DDEB03A63C}"/>
              </a:ext>
            </a:extLst>
          </p:cNvPr>
          <p:cNvPicPr>
            <a:picLocks noChangeAspect="1"/>
          </p:cNvPicPr>
          <p:nvPr/>
        </p:nvPicPr>
        <p:blipFill>
          <a:blip r:embed="rId4"/>
          <a:stretch>
            <a:fillRect/>
          </a:stretch>
        </p:blipFill>
        <p:spPr>
          <a:xfrm>
            <a:off x="4712436" y="3467246"/>
            <a:ext cx="2714625" cy="304800"/>
          </a:xfrm>
          <a:prstGeom prst="rect">
            <a:avLst/>
          </a:prstGeom>
        </p:spPr>
      </p:pic>
      <p:pic>
        <p:nvPicPr>
          <p:cNvPr id="8" name="תמונה 7">
            <a:extLst>
              <a:ext uri="{FF2B5EF4-FFF2-40B4-BE49-F238E27FC236}">
                <a16:creationId xmlns:a16="http://schemas.microsoft.com/office/drawing/2014/main" id="{790612B7-1C81-4C15-957E-B154602ADB44}"/>
              </a:ext>
            </a:extLst>
          </p:cNvPr>
          <p:cNvPicPr>
            <a:picLocks noChangeAspect="1"/>
          </p:cNvPicPr>
          <p:nvPr/>
        </p:nvPicPr>
        <p:blipFill>
          <a:blip r:embed="rId5"/>
          <a:stretch>
            <a:fillRect/>
          </a:stretch>
        </p:blipFill>
        <p:spPr>
          <a:xfrm>
            <a:off x="7519613" y="3467246"/>
            <a:ext cx="1019175" cy="200025"/>
          </a:xfrm>
          <a:prstGeom prst="rect">
            <a:avLst/>
          </a:prstGeom>
        </p:spPr>
      </p:pic>
      <p:pic>
        <p:nvPicPr>
          <p:cNvPr id="9" name="תמונה 8">
            <a:extLst>
              <a:ext uri="{FF2B5EF4-FFF2-40B4-BE49-F238E27FC236}">
                <a16:creationId xmlns:a16="http://schemas.microsoft.com/office/drawing/2014/main" id="{2E04F5E4-CA85-460D-B663-30055BA2F4D3}"/>
              </a:ext>
            </a:extLst>
          </p:cNvPr>
          <p:cNvPicPr>
            <a:picLocks noChangeAspect="1"/>
          </p:cNvPicPr>
          <p:nvPr/>
        </p:nvPicPr>
        <p:blipFill>
          <a:blip r:embed="rId6"/>
          <a:stretch>
            <a:fillRect/>
          </a:stretch>
        </p:blipFill>
        <p:spPr>
          <a:xfrm>
            <a:off x="3409201" y="4715116"/>
            <a:ext cx="4000500" cy="295275"/>
          </a:xfrm>
          <a:prstGeom prst="rect">
            <a:avLst/>
          </a:prstGeom>
        </p:spPr>
      </p:pic>
      <p:pic>
        <p:nvPicPr>
          <p:cNvPr id="10" name="תמונה 9">
            <a:extLst>
              <a:ext uri="{FF2B5EF4-FFF2-40B4-BE49-F238E27FC236}">
                <a16:creationId xmlns:a16="http://schemas.microsoft.com/office/drawing/2014/main" id="{BB722D6F-9BEE-4AA4-A780-91C3AD746724}"/>
              </a:ext>
            </a:extLst>
          </p:cNvPr>
          <p:cNvPicPr>
            <a:picLocks noChangeAspect="1"/>
          </p:cNvPicPr>
          <p:nvPr/>
        </p:nvPicPr>
        <p:blipFill>
          <a:blip r:embed="rId7"/>
          <a:stretch>
            <a:fillRect/>
          </a:stretch>
        </p:blipFill>
        <p:spPr>
          <a:xfrm>
            <a:off x="7557713" y="4724399"/>
            <a:ext cx="981075" cy="200025"/>
          </a:xfrm>
          <a:prstGeom prst="rect">
            <a:avLst/>
          </a:prstGeom>
        </p:spPr>
      </p:pic>
      <p:pic>
        <p:nvPicPr>
          <p:cNvPr id="11" name="תמונה 10">
            <a:extLst>
              <a:ext uri="{FF2B5EF4-FFF2-40B4-BE49-F238E27FC236}">
                <a16:creationId xmlns:a16="http://schemas.microsoft.com/office/drawing/2014/main" id="{472CC16C-A586-441F-AB5A-34D5A38750D7}"/>
              </a:ext>
            </a:extLst>
          </p:cNvPr>
          <p:cNvPicPr>
            <a:picLocks noChangeAspect="1"/>
          </p:cNvPicPr>
          <p:nvPr/>
        </p:nvPicPr>
        <p:blipFill>
          <a:blip r:embed="rId8"/>
          <a:stretch>
            <a:fillRect/>
          </a:stretch>
        </p:blipFill>
        <p:spPr>
          <a:xfrm>
            <a:off x="1752600" y="5738149"/>
            <a:ext cx="4248803" cy="388610"/>
          </a:xfrm>
          <a:prstGeom prst="rect">
            <a:avLst/>
          </a:prstGeom>
        </p:spPr>
      </p:pic>
      <p:pic>
        <p:nvPicPr>
          <p:cNvPr id="12" name="תמונה 11">
            <a:extLst>
              <a:ext uri="{FF2B5EF4-FFF2-40B4-BE49-F238E27FC236}">
                <a16:creationId xmlns:a16="http://schemas.microsoft.com/office/drawing/2014/main" id="{38BE54ED-75BF-4FBF-A60A-B06F8F18355E}"/>
              </a:ext>
            </a:extLst>
          </p:cNvPr>
          <p:cNvPicPr>
            <a:picLocks noChangeAspect="1"/>
          </p:cNvPicPr>
          <p:nvPr/>
        </p:nvPicPr>
        <p:blipFill>
          <a:blip r:embed="rId9"/>
          <a:stretch>
            <a:fillRect/>
          </a:stretch>
        </p:blipFill>
        <p:spPr>
          <a:xfrm>
            <a:off x="6172200" y="5725061"/>
            <a:ext cx="948011" cy="744866"/>
          </a:xfrm>
          <a:prstGeom prst="rect">
            <a:avLst/>
          </a:prstGeom>
        </p:spPr>
      </p:pic>
    </p:spTree>
    <p:extLst>
      <p:ext uri="{BB962C8B-B14F-4D97-AF65-F5344CB8AC3E}">
        <p14:creationId xmlns:p14="http://schemas.microsoft.com/office/powerpoint/2010/main" val="10224637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6D6E5905-D4C4-4133-8F63-7CADC4D88212}"/>
              </a:ext>
            </a:extLst>
          </p:cNvPr>
          <p:cNvPicPr>
            <a:picLocks noGrp="1" noChangeAspect="1"/>
          </p:cNvPicPr>
          <p:nvPr>
            <p:ph idx="1"/>
          </p:nvPr>
        </p:nvPicPr>
        <p:blipFill>
          <a:blip r:embed="rId2"/>
          <a:stretch>
            <a:fillRect/>
          </a:stretch>
        </p:blipFill>
        <p:spPr>
          <a:xfrm>
            <a:off x="457200" y="1684141"/>
            <a:ext cx="8229600" cy="4327917"/>
          </a:xfrm>
          <a:prstGeom prst="rect">
            <a:avLst/>
          </a:prstGeom>
        </p:spPr>
      </p:pic>
      <p:sp>
        <p:nvSpPr>
          <p:cNvPr id="3" name="כותרת 2">
            <a:extLst>
              <a:ext uri="{FF2B5EF4-FFF2-40B4-BE49-F238E27FC236}">
                <a16:creationId xmlns:a16="http://schemas.microsoft.com/office/drawing/2014/main" id="{14CFCE88-BC52-4E5F-9DF7-15FFA74FE8DC}"/>
              </a:ext>
            </a:extLst>
          </p:cNvPr>
          <p:cNvSpPr>
            <a:spLocks noGrp="1"/>
          </p:cNvSpPr>
          <p:nvPr>
            <p:ph type="title"/>
          </p:nvPr>
        </p:nvSpPr>
        <p:spPr/>
        <p:txBody>
          <a:bodyPr>
            <a:normAutofit fontScale="90000"/>
          </a:bodyPr>
          <a:lstStyle/>
          <a:p>
            <a:pPr rtl="1"/>
            <a:r>
              <a:rPr lang="en-US" dirty="0"/>
              <a:t>String functions</a:t>
            </a:r>
            <a:r>
              <a:rPr lang="he-IL" dirty="0"/>
              <a:t> – רשימת הפונקציות המלאה</a:t>
            </a:r>
          </a:p>
        </p:txBody>
      </p:sp>
      <p:sp>
        <p:nvSpPr>
          <p:cNvPr id="4" name="מציין מיקום של מספר שקופית 3">
            <a:extLst>
              <a:ext uri="{FF2B5EF4-FFF2-40B4-BE49-F238E27FC236}">
                <a16:creationId xmlns:a16="http://schemas.microsoft.com/office/drawing/2014/main" id="{D2A19D81-D267-48DD-B69A-0C8795982762}"/>
              </a:ext>
            </a:extLst>
          </p:cNvPr>
          <p:cNvSpPr>
            <a:spLocks noGrp="1"/>
          </p:cNvSpPr>
          <p:nvPr>
            <p:ph type="sldNum" sz="quarter" idx="11"/>
          </p:nvPr>
        </p:nvSpPr>
        <p:spPr/>
        <p:txBody>
          <a:bodyPr/>
          <a:lstStyle/>
          <a:p>
            <a:fld id="{746FD205-8D79-439C-A802-2377436AEC8A}" type="slidenum">
              <a:rPr lang="he-IL" smtClean="0"/>
              <a:pPr/>
              <a:t>63</a:t>
            </a:fld>
            <a:endParaRPr lang="he-IL"/>
          </a:p>
        </p:txBody>
      </p:sp>
    </p:spTree>
    <p:extLst>
      <p:ext uri="{BB962C8B-B14F-4D97-AF65-F5344CB8AC3E}">
        <p14:creationId xmlns:p14="http://schemas.microsoft.com/office/powerpoint/2010/main" val="25572142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0570A7E0-055C-49B4-961A-B6844EE287CF}"/>
              </a:ext>
            </a:extLst>
          </p:cNvPr>
          <p:cNvPicPr>
            <a:picLocks noGrp="1" noChangeAspect="1"/>
          </p:cNvPicPr>
          <p:nvPr>
            <p:ph idx="1"/>
          </p:nvPr>
        </p:nvPicPr>
        <p:blipFill>
          <a:blip r:embed="rId2"/>
          <a:stretch>
            <a:fillRect/>
          </a:stretch>
        </p:blipFill>
        <p:spPr>
          <a:xfrm>
            <a:off x="140364" y="2286000"/>
            <a:ext cx="8863272" cy="3276600"/>
          </a:xfrm>
          <a:prstGeom prst="rect">
            <a:avLst/>
          </a:prstGeom>
        </p:spPr>
      </p:pic>
      <p:sp>
        <p:nvSpPr>
          <p:cNvPr id="3" name="כותרת 2">
            <a:extLst>
              <a:ext uri="{FF2B5EF4-FFF2-40B4-BE49-F238E27FC236}">
                <a16:creationId xmlns:a16="http://schemas.microsoft.com/office/drawing/2014/main" id="{4AA6438F-ADFA-4B59-A6F9-4A1C2A7CDFFB}"/>
              </a:ext>
            </a:extLst>
          </p:cNvPr>
          <p:cNvSpPr>
            <a:spLocks noGrp="1"/>
          </p:cNvSpPr>
          <p:nvPr>
            <p:ph type="title"/>
          </p:nvPr>
        </p:nvSpPr>
        <p:spPr/>
        <p:txBody>
          <a:bodyPr>
            <a:normAutofit fontScale="90000"/>
          </a:bodyPr>
          <a:lstStyle/>
          <a:p>
            <a:pPr rtl="1"/>
            <a:r>
              <a:rPr lang="en-US" dirty="0"/>
              <a:t>String functions</a:t>
            </a:r>
            <a:r>
              <a:rPr lang="he-IL" dirty="0"/>
              <a:t> – רשימת הפונקציות המלאה - המשך</a:t>
            </a:r>
          </a:p>
        </p:txBody>
      </p:sp>
      <p:sp>
        <p:nvSpPr>
          <p:cNvPr id="4" name="מציין מיקום של מספר שקופית 3">
            <a:extLst>
              <a:ext uri="{FF2B5EF4-FFF2-40B4-BE49-F238E27FC236}">
                <a16:creationId xmlns:a16="http://schemas.microsoft.com/office/drawing/2014/main" id="{FA7B390E-5453-4A30-AC4F-B86D0B82098D}"/>
              </a:ext>
            </a:extLst>
          </p:cNvPr>
          <p:cNvSpPr>
            <a:spLocks noGrp="1"/>
          </p:cNvSpPr>
          <p:nvPr>
            <p:ph type="sldNum" sz="quarter" idx="11"/>
          </p:nvPr>
        </p:nvSpPr>
        <p:spPr/>
        <p:txBody>
          <a:bodyPr/>
          <a:lstStyle/>
          <a:p>
            <a:fld id="{746FD205-8D79-439C-A802-2377436AEC8A}" type="slidenum">
              <a:rPr lang="he-IL" smtClean="0"/>
              <a:pPr/>
              <a:t>64</a:t>
            </a:fld>
            <a:endParaRPr lang="he-IL"/>
          </a:p>
        </p:txBody>
      </p:sp>
    </p:spTree>
    <p:extLst>
      <p:ext uri="{BB962C8B-B14F-4D97-AF65-F5344CB8AC3E}">
        <p14:creationId xmlns:p14="http://schemas.microsoft.com/office/powerpoint/2010/main" val="1937431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532AF1D-D63A-489A-89DB-0CC3D15D6F1D}"/>
              </a:ext>
            </a:extLst>
          </p:cNvPr>
          <p:cNvSpPr>
            <a:spLocks noGrp="1"/>
          </p:cNvSpPr>
          <p:nvPr>
            <p:ph idx="1"/>
          </p:nvPr>
        </p:nvSpPr>
        <p:spPr/>
        <p:txBody>
          <a:bodyPr>
            <a:normAutofit/>
          </a:bodyPr>
          <a:lstStyle/>
          <a:p>
            <a:pPr marL="64008" indent="0" rtl="1">
              <a:buNone/>
            </a:pPr>
            <a:r>
              <a:rPr lang="en-US" sz="1800" b="1" dirty="0">
                <a:cs typeface="Calibri" panose="020F0502020204030204" pitchFamily="34" charset="0"/>
              </a:rPr>
              <a:t>Floor</a:t>
            </a:r>
            <a:r>
              <a:rPr lang="he-IL" sz="1800" dirty="0">
                <a:cs typeface="Calibri" panose="020F0502020204030204" pitchFamily="34" charset="0"/>
              </a:rPr>
              <a:t> – הפונקציה מעגלת מספר כלפי מטה.</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Ceiling</a:t>
            </a:r>
            <a:r>
              <a:rPr lang="he-IL" sz="1800" dirty="0">
                <a:cs typeface="Calibri" panose="020F0502020204030204" pitchFamily="34" charset="0"/>
              </a:rPr>
              <a:t> – הפונקציה מעגלת מספר כלפי מעלה.</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Round</a:t>
            </a:r>
            <a:r>
              <a:rPr lang="he-IL" sz="1800" dirty="0">
                <a:cs typeface="Calibri" panose="020F0502020204030204" pitchFamily="34" charset="0"/>
              </a:rPr>
              <a:t> – הפונקציה מבצעת עיגול למספר עשרוני. היא מקבלת שני פרמטרים: המספר, לכמה ספרות אחרי הנקודה לעגל.</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0D59BA5-7122-4534-A348-5CB90A129FB7}"/>
              </a:ext>
            </a:extLst>
          </p:cNvPr>
          <p:cNvSpPr>
            <a:spLocks noGrp="1"/>
          </p:cNvSpPr>
          <p:nvPr>
            <p:ph type="title"/>
          </p:nvPr>
        </p:nvSpPr>
        <p:spPr/>
        <p:txBody>
          <a:bodyPr/>
          <a:lstStyle/>
          <a:p>
            <a:pPr algn="l"/>
            <a:r>
              <a:rPr lang="en-US" dirty="0"/>
              <a:t>Numeric functions</a:t>
            </a:r>
            <a:endParaRPr lang="he-IL" dirty="0"/>
          </a:p>
        </p:txBody>
      </p:sp>
      <p:sp>
        <p:nvSpPr>
          <p:cNvPr id="4" name="מציין מיקום של מספר שקופית 3">
            <a:extLst>
              <a:ext uri="{FF2B5EF4-FFF2-40B4-BE49-F238E27FC236}">
                <a16:creationId xmlns:a16="http://schemas.microsoft.com/office/drawing/2014/main" id="{4CDB5354-2FC9-424E-8F46-E1EA37CCEE96}"/>
              </a:ext>
            </a:extLst>
          </p:cNvPr>
          <p:cNvSpPr>
            <a:spLocks noGrp="1"/>
          </p:cNvSpPr>
          <p:nvPr>
            <p:ph type="sldNum" sz="quarter" idx="11"/>
          </p:nvPr>
        </p:nvSpPr>
        <p:spPr/>
        <p:txBody>
          <a:bodyPr/>
          <a:lstStyle/>
          <a:p>
            <a:fld id="{746FD205-8D79-439C-A802-2377436AEC8A}" type="slidenum">
              <a:rPr lang="he-IL" smtClean="0"/>
              <a:pPr/>
              <a:t>65</a:t>
            </a:fld>
            <a:endParaRPr lang="he-IL"/>
          </a:p>
        </p:txBody>
      </p:sp>
      <p:pic>
        <p:nvPicPr>
          <p:cNvPr id="5" name="תמונה 4">
            <a:extLst>
              <a:ext uri="{FF2B5EF4-FFF2-40B4-BE49-F238E27FC236}">
                <a16:creationId xmlns:a16="http://schemas.microsoft.com/office/drawing/2014/main" id="{D0667CBD-15EE-45F8-802D-0C582F3988C4}"/>
              </a:ext>
            </a:extLst>
          </p:cNvPr>
          <p:cNvPicPr>
            <a:picLocks noChangeAspect="1"/>
          </p:cNvPicPr>
          <p:nvPr/>
        </p:nvPicPr>
        <p:blipFill>
          <a:blip r:embed="rId2"/>
          <a:stretch>
            <a:fillRect/>
          </a:stretch>
        </p:blipFill>
        <p:spPr>
          <a:xfrm>
            <a:off x="1554576" y="2272645"/>
            <a:ext cx="5595851" cy="533400"/>
          </a:xfrm>
          <a:prstGeom prst="rect">
            <a:avLst/>
          </a:prstGeom>
        </p:spPr>
      </p:pic>
      <p:pic>
        <p:nvPicPr>
          <p:cNvPr id="6" name="תמונה 5">
            <a:extLst>
              <a:ext uri="{FF2B5EF4-FFF2-40B4-BE49-F238E27FC236}">
                <a16:creationId xmlns:a16="http://schemas.microsoft.com/office/drawing/2014/main" id="{1B904F0E-24EE-47D0-A59B-42E65DDAA27D}"/>
              </a:ext>
            </a:extLst>
          </p:cNvPr>
          <p:cNvPicPr>
            <a:picLocks noChangeAspect="1"/>
          </p:cNvPicPr>
          <p:nvPr/>
        </p:nvPicPr>
        <p:blipFill>
          <a:blip r:embed="rId3"/>
          <a:stretch>
            <a:fillRect/>
          </a:stretch>
        </p:blipFill>
        <p:spPr>
          <a:xfrm>
            <a:off x="7299489" y="2275002"/>
            <a:ext cx="1238249" cy="568138"/>
          </a:xfrm>
          <a:prstGeom prst="rect">
            <a:avLst/>
          </a:prstGeom>
        </p:spPr>
      </p:pic>
      <p:pic>
        <p:nvPicPr>
          <p:cNvPr id="7" name="תמונה 6">
            <a:extLst>
              <a:ext uri="{FF2B5EF4-FFF2-40B4-BE49-F238E27FC236}">
                <a16:creationId xmlns:a16="http://schemas.microsoft.com/office/drawing/2014/main" id="{450024A3-497B-48B7-87C9-899C38886969}"/>
              </a:ext>
            </a:extLst>
          </p:cNvPr>
          <p:cNvPicPr>
            <a:picLocks noChangeAspect="1"/>
          </p:cNvPicPr>
          <p:nvPr/>
        </p:nvPicPr>
        <p:blipFill>
          <a:blip r:embed="rId4"/>
          <a:stretch>
            <a:fillRect/>
          </a:stretch>
        </p:blipFill>
        <p:spPr>
          <a:xfrm>
            <a:off x="1371600" y="3581400"/>
            <a:ext cx="5562600" cy="533400"/>
          </a:xfrm>
          <a:prstGeom prst="rect">
            <a:avLst/>
          </a:prstGeom>
        </p:spPr>
      </p:pic>
      <p:pic>
        <p:nvPicPr>
          <p:cNvPr id="8" name="תמונה 7">
            <a:extLst>
              <a:ext uri="{FF2B5EF4-FFF2-40B4-BE49-F238E27FC236}">
                <a16:creationId xmlns:a16="http://schemas.microsoft.com/office/drawing/2014/main" id="{AFD4BBE7-A9EE-456B-8E28-F787C9E23713}"/>
              </a:ext>
            </a:extLst>
          </p:cNvPr>
          <p:cNvPicPr>
            <a:picLocks noChangeAspect="1"/>
          </p:cNvPicPr>
          <p:nvPr/>
        </p:nvPicPr>
        <p:blipFill>
          <a:blip r:embed="rId5"/>
          <a:stretch>
            <a:fillRect/>
          </a:stretch>
        </p:blipFill>
        <p:spPr>
          <a:xfrm>
            <a:off x="7150427" y="3554690"/>
            <a:ext cx="1387999" cy="716101"/>
          </a:xfrm>
          <a:prstGeom prst="rect">
            <a:avLst/>
          </a:prstGeom>
        </p:spPr>
      </p:pic>
      <p:pic>
        <p:nvPicPr>
          <p:cNvPr id="9" name="תמונה 8">
            <a:extLst>
              <a:ext uri="{FF2B5EF4-FFF2-40B4-BE49-F238E27FC236}">
                <a16:creationId xmlns:a16="http://schemas.microsoft.com/office/drawing/2014/main" id="{3AABF29D-A08F-4CDC-AC90-D7BAC97F26A9}"/>
              </a:ext>
            </a:extLst>
          </p:cNvPr>
          <p:cNvPicPr>
            <a:picLocks noChangeAspect="1"/>
          </p:cNvPicPr>
          <p:nvPr/>
        </p:nvPicPr>
        <p:blipFill>
          <a:blip r:embed="rId6"/>
          <a:stretch>
            <a:fillRect/>
          </a:stretch>
        </p:blipFill>
        <p:spPr>
          <a:xfrm>
            <a:off x="4613439" y="5503093"/>
            <a:ext cx="2686050" cy="285750"/>
          </a:xfrm>
          <a:prstGeom prst="rect">
            <a:avLst/>
          </a:prstGeom>
        </p:spPr>
      </p:pic>
      <p:pic>
        <p:nvPicPr>
          <p:cNvPr id="10" name="תמונה 9">
            <a:extLst>
              <a:ext uri="{FF2B5EF4-FFF2-40B4-BE49-F238E27FC236}">
                <a16:creationId xmlns:a16="http://schemas.microsoft.com/office/drawing/2014/main" id="{3A4EFAD0-48D5-4065-A134-96B8587F72EB}"/>
              </a:ext>
            </a:extLst>
          </p:cNvPr>
          <p:cNvPicPr>
            <a:picLocks noChangeAspect="1"/>
          </p:cNvPicPr>
          <p:nvPr/>
        </p:nvPicPr>
        <p:blipFill>
          <a:blip r:embed="rId7"/>
          <a:stretch>
            <a:fillRect/>
          </a:stretch>
        </p:blipFill>
        <p:spPr>
          <a:xfrm>
            <a:off x="7470938" y="5503093"/>
            <a:ext cx="1066800" cy="209550"/>
          </a:xfrm>
          <a:prstGeom prst="rect">
            <a:avLst/>
          </a:prstGeom>
        </p:spPr>
      </p:pic>
    </p:spTree>
    <p:extLst>
      <p:ext uri="{BB962C8B-B14F-4D97-AF65-F5344CB8AC3E}">
        <p14:creationId xmlns:p14="http://schemas.microsoft.com/office/powerpoint/2010/main" val="34698028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a:extLst>
              <a:ext uri="{FF2B5EF4-FFF2-40B4-BE49-F238E27FC236}">
                <a16:creationId xmlns:a16="http://schemas.microsoft.com/office/drawing/2014/main" id="{617A598C-2A9A-418A-A54D-A2355D41E054}"/>
              </a:ext>
            </a:extLst>
          </p:cNvPr>
          <p:cNvSpPr>
            <a:spLocks noGrp="1"/>
          </p:cNvSpPr>
          <p:nvPr>
            <p:ph type="title"/>
          </p:nvPr>
        </p:nvSpPr>
        <p:spPr/>
        <p:txBody>
          <a:bodyPr>
            <a:normAutofit fontScale="90000"/>
          </a:bodyPr>
          <a:lstStyle/>
          <a:p>
            <a:pPr rtl="1"/>
            <a:r>
              <a:rPr lang="en-US" dirty="0"/>
              <a:t>Numeric functions</a:t>
            </a:r>
            <a:r>
              <a:rPr lang="he-IL" dirty="0"/>
              <a:t> – רשימת הפונקציות המלאה</a:t>
            </a:r>
          </a:p>
        </p:txBody>
      </p:sp>
      <p:sp>
        <p:nvSpPr>
          <p:cNvPr id="4" name="מציין מיקום של מספר שקופית 3">
            <a:extLst>
              <a:ext uri="{FF2B5EF4-FFF2-40B4-BE49-F238E27FC236}">
                <a16:creationId xmlns:a16="http://schemas.microsoft.com/office/drawing/2014/main" id="{038CE81B-3422-4949-8ED3-01CD5EE91A47}"/>
              </a:ext>
            </a:extLst>
          </p:cNvPr>
          <p:cNvSpPr>
            <a:spLocks noGrp="1"/>
          </p:cNvSpPr>
          <p:nvPr>
            <p:ph type="sldNum" sz="quarter" idx="11"/>
          </p:nvPr>
        </p:nvSpPr>
        <p:spPr/>
        <p:txBody>
          <a:bodyPr/>
          <a:lstStyle/>
          <a:p>
            <a:fld id="{746FD205-8D79-439C-A802-2377436AEC8A}" type="slidenum">
              <a:rPr lang="he-IL" smtClean="0"/>
              <a:pPr/>
              <a:t>66</a:t>
            </a:fld>
            <a:endParaRPr lang="he-IL"/>
          </a:p>
        </p:txBody>
      </p:sp>
      <p:pic>
        <p:nvPicPr>
          <p:cNvPr id="8" name="תמונה 7">
            <a:extLst>
              <a:ext uri="{FF2B5EF4-FFF2-40B4-BE49-F238E27FC236}">
                <a16:creationId xmlns:a16="http://schemas.microsoft.com/office/drawing/2014/main" id="{A71BD767-93F6-4083-82F1-AE16E0EB910A}"/>
              </a:ext>
            </a:extLst>
          </p:cNvPr>
          <p:cNvPicPr>
            <a:picLocks noChangeAspect="1"/>
          </p:cNvPicPr>
          <p:nvPr/>
        </p:nvPicPr>
        <p:blipFill>
          <a:blip r:embed="rId2"/>
          <a:stretch>
            <a:fillRect/>
          </a:stretch>
        </p:blipFill>
        <p:spPr>
          <a:xfrm>
            <a:off x="425777" y="1735074"/>
            <a:ext cx="8207477" cy="4267200"/>
          </a:xfrm>
          <a:prstGeom prst="rect">
            <a:avLst/>
          </a:prstGeom>
        </p:spPr>
      </p:pic>
    </p:spTree>
    <p:extLst>
      <p:ext uri="{BB962C8B-B14F-4D97-AF65-F5344CB8AC3E}">
        <p14:creationId xmlns:p14="http://schemas.microsoft.com/office/powerpoint/2010/main" val="33920261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7ADC210A-5D05-4AE7-A9AA-4D2E3A31DAEA}"/>
              </a:ext>
            </a:extLst>
          </p:cNvPr>
          <p:cNvPicPr>
            <a:picLocks noGrp="1" noChangeAspect="1"/>
          </p:cNvPicPr>
          <p:nvPr>
            <p:ph idx="1"/>
          </p:nvPr>
        </p:nvPicPr>
        <p:blipFill>
          <a:blip r:embed="rId2"/>
          <a:stretch>
            <a:fillRect/>
          </a:stretch>
        </p:blipFill>
        <p:spPr>
          <a:xfrm>
            <a:off x="642937" y="1838325"/>
            <a:ext cx="7858125" cy="4019550"/>
          </a:xfrm>
          <a:prstGeom prst="rect">
            <a:avLst/>
          </a:prstGeom>
        </p:spPr>
      </p:pic>
      <p:sp>
        <p:nvSpPr>
          <p:cNvPr id="3" name="כותרת 2">
            <a:extLst>
              <a:ext uri="{FF2B5EF4-FFF2-40B4-BE49-F238E27FC236}">
                <a16:creationId xmlns:a16="http://schemas.microsoft.com/office/drawing/2014/main" id="{EEDEECEE-D063-46A3-9559-1ABC6D6A2048}"/>
              </a:ext>
            </a:extLst>
          </p:cNvPr>
          <p:cNvSpPr>
            <a:spLocks noGrp="1"/>
          </p:cNvSpPr>
          <p:nvPr>
            <p:ph type="title"/>
          </p:nvPr>
        </p:nvSpPr>
        <p:spPr/>
        <p:txBody>
          <a:bodyPr>
            <a:normAutofit fontScale="90000"/>
          </a:bodyPr>
          <a:lstStyle/>
          <a:p>
            <a:pPr rtl="1"/>
            <a:r>
              <a:rPr lang="en-US" dirty="0"/>
              <a:t>Numeric functions</a:t>
            </a:r>
            <a:r>
              <a:rPr lang="he-IL" dirty="0"/>
              <a:t> – רשימת הפונקציות המלאה - המשך</a:t>
            </a:r>
          </a:p>
        </p:txBody>
      </p:sp>
      <p:sp>
        <p:nvSpPr>
          <p:cNvPr id="4" name="מציין מיקום של מספר שקופית 3">
            <a:extLst>
              <a:ext uri="{FF2B5EF4-FFF2-40B4-BE49-F238E27FC236}">
                <a16:creationId xmlns:a16="http://schemas.microsoft.com/office/drawing/2014/main" id="{ECE780F2-C25C-4817-945F-FBB28F34DBE0}"/>
              </a:ext>
            </a:extLst>
          </p:cNvPr>
          <p:cNvSpPr>
            <a:spLocks noGrp="1"/>
          </p:cNvSpPr>
          <p:nvPr>
            <p:ph type="sldNum" sz="quarter" idx="11"/>
          </p:nvPr>
        </p:nvSpPr>
        <p:spPr/>
        <p:txBody>
          <a:bodyPr/>
          <a:lstStyle/>
          <a:p>
            <a:fld id="{746FD205-8D79-439C-A802-2377436AEC8A}" type="slidenum">
              <a:rPr lang="he-IL" smtClean="0"/>
              <a:pPr/>
              <a:t>67</a:t>
            </a:fld>
            <a:endParaRPr lang="he-IL"/>
          </a:p>
        </p:txBody>
      </p:sp>
    </p:spTree>
    <p:extLst>
      <p:ext uri="{BB962C8B-B14F-4D97-AF65-F5344CB8AC3E}">
        <p14:creationId xmlns:p14="http://schemas.microsoft.com/office/powerpoint/2010/main" val="34398215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260695C-B11D-483C-8024-6636EE3059A1}"/>
              </a:ext>
            </a:extLst>
          </p:cNvPr>
          <p:cNvSpPr>
            <a:spLocks noGrp="1"/>
          </p:cNvSpPr>
          <p:nvPr>
            <p:ph idx="1"/>
          </p:nvPr>
        </p:nvSpPr>
        <p:spPr/>
        <p:txBody>
          <a:bodyPr/>
          <a:lstStyle/>
          <a:p>
            <a:pPr marL="64008" indent="0" rtl="1">
              <a:buNone/>
            </a:pPr>
            <a:r>
              <a:rPr lang="en-US" sz="1800" b="1" dirty="0" err="1">
                <a:cs typeface="Calibri" panose="020F0502020204030204" pitchFamily="34" charset="0"/>
              </a:rPr>
              <a:t>GetDate</a:t>
            </a:r>
            <a:r>
              <a:rPr lang="he-IL" sz="1800" dirty="0">
                <a:cs typeface="Calibri" panose="020F0502020204030204" pitchFamily="34" charset="0"/>
              </a:rPr>
              <a:t> – הפונקציה מחזירה את התאריך הנוכחי (כולל שעה).</a:t>
            </a:r>
            <a:br>
              <a:rPr lang="en-US" sz="1800" dirty="0">
                <a:cs typeface="Calibri" panose="020F0502020204030204" pitchFamily="34" charset="0"/>
              </a:rPr>
            </a:br>
            <a:r>
              <a:rPr lang="he-IL" sz="1800" dirty="0">
                <a:cs typeface="Calibri" panose="020F0502020204030204" pitchFamily="34" charset="0"/>
              </a:rPr>
              <a:t>(הפונקציה מחזירה את התאריך והשעה של המקום בו נמצא השרת).</a:t>
            </a:r>
          </a:p>
          <a:p>
            <a:pPr marL="64008" indent="0" rtl="1">
              <a:buNone/>
            </a:pPr>
            <a:r>
              <a:rPr lang="en-US" sz="1800" b="1" dirty="0" err="1">
                <a:cs typeface="Calibri" panose="020F0502020204030204" pitchFamily="34" charset="0"/>
              </a:rPr>
              <a:t>DateDiff</a:t>
            </a:r>
            <a:r>
              <a:rPr lang="he-IL" sz="1800" dirty="0">
                <a:cs typeface="Calibri" panose="020F0502020204030204" pitchFamily="34" charset="0"/>
              </a:rPr>
              <a:t> – הפונקציה מחזירה הפרש בין שתי תאריכים בימים/חודשים/שנים – לפי מה שהיא מקבלת כפרמטר (שימי לב: במידה ותרצי לקבל הפרש מדויק בין שני תאריכים, הכי נכון יהיה להשתמש ב </a:t>
            </a:r>
            <a:r>
              <a:rPr lang="en-US" sz="1800" dirty="0">
                <a:cs typeface="Calibri" panose="020F0502020204030204" pitchFamily="34" charset="0"/>
              </a:rPr>
              <a:t>DAY</a:t>
            </a:r>
            <a:r>
              <a:rPr lang="he-IL" sz="1800" dirty="0">
                <a:cs typeface="Calibri" panose="020F0502020204030204" pitchFamily="34" charset="0"/>
              </a:rPr>
              <a:t>).</a:t>
            </a:r>
            <a:br>
              <a:rPr lang="en-US" sz="1800" dirty="0">
                <a:cs typeface="Calibri" panose="020F0502020204030204" pitchFamily="34" charset="0"/>
              </a:rPr>
            </a:b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r>
              <a:rPr lang="he-IL" sz="1800" b="1" dirty="0">
                <a:cs typeface="Calibri" panose="020F0502020204030204" pitchFamily="34" charset="0"/>
              </a:rPr>
              <a:t>דוגמא לשימוש ב </a:t>
            </a:r>
            <a:r>
              <a:rPr lang="en-US" sz="1800" b="1" dirty="0" err="1">
                <a:cs typeface="Calibri" panose="020F0502020204030204" pitchFamily="34" charset="0"/>
              </a:rPr>
              <a:t>GetDate</a:t>
            </a:r>
            <a:r>
              <a:rPr lang="he-IL" sz="1800" b="1" dirty="0">
                <a:cs typeface="Calibri" panose="020F0502020204030204" pitchFamily="34" charset="0"/>
              </a:rPr>
              <a:t> </a:t>
            </a:r>
            <a:r>
              <a:rPr lang="he-IL" sz="1800" b="1" dirty="0" err="1">
                <a:cs typeface="Calibri" panose="020F0502020204030204" pitchFamily="34" charset="0"/>
              </a:rPr>
              <a:t>וב</a:t>
            </a:r>
            <a:r>
              <a:rPr lang="he-IL" sz="1800" b="1" dirty="0">
                <a:cs typeface="Calibri" panose="020F0502020204030204" pitchFamily="34" charset="0"/>
              </a:rPr>
              <a:t> </a:t>
            </a:r>
            <a:r>
              <a:rPr lang="en-US" sz="1800" b="1" dirty="0" err="1">
                <a:cs typeface="Calibri" panose="020F0502020204030204" pitchFamily="34" charset="0"/>
              </a:rPr>
              <a:t>DateDiff</a:t>
            </a:r>
            <a:r>
              <a:rPr lang="he-IL" sz="1800" b="1" dirty="0">
                <a:cs typeface="Calibri" panose="020F0502020204030204" pitchFamily="34" charset="0"/>
              </a:rPr>
              <a:t>:</a:t>
            </a:r>
            <a:br>
              <a:rPr lang="en-US" sz="1800" dirty="0">
                <a:cs typeface="Calibri" panose="020F0502020204030204" pitchFamily="34" charset="0"/>
              </a:rPr>
            </a:br>
            <a:r>
              <a:rPr lang="he-IL" sz="1800" dirty="0">
                <a:cs typeface="Calibri" panose="020F0502020204030204" pitchFamily="34" charset="0"/>
              </a:rPr>
              <a:t>שליפת כל התלמידים שיש להם לפחות שתי שנות לימוד מלאות:</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en-US" sz="1800" b="1" dirty="0" err="1">
                <a:cs typeface="Calibri" panose="020F0502020204030204" pitchFamily="34" charset="0"/>
              </a:rPr>
              <a:t>DateAdd</a:t>
            </a:r>
            <a:r>
              <a:rPr lang="he-IL" sz="1800" dirty="0">
                <a:cs typeface="Calibri" panose="020F0502020204030204" pitchFamily="34" charset="0"/>
              </a:rPr>
              <a:t> – הפונקציה מאפשרת להוסיף חלקי תאריך לתאריך מסוים.</a:t>
            </a:r>
            <a:br>
              <a:rPr lang="en-US" sz="1800" dirty="0">
                <a:cs typeface="Calibri" panose="020F0502020204030204" pitchFamily="34" charset="0"/>
              </a:rPr>
            </a:br>
            <a:r>
              <a:rPr lang="en-US" sz="1800" dirty="0">
                <a:cs typeface="Calibri" panose="020F0502020204030204" pitchFamily="34" charset="0"/>
              </a:rPr>
              <a:t>Syntax:</a:t>
            </a:r>
            <a:br>
              <a:rPr lang="en-US" sz="1800" dirty="0">
                <a:cs typeface="Calibri" panose="020F0502020204030204" pitchFamily="34" charset="0"/>
              </a:rPr>
            </a:b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C8F214F0-967E-4BD6-B498-91EF50857828}"/>
              </a:ext>
            </a:extLst>
          </p:cNvPr>
          <p:cNvSpPr>
            <a:spLocks noGrp="1"/>
          </p:cNvSpPr>
          <p:nvPr>
            <p:ph type="title"/>
          </p:nvPr>
        </p:nvSpPr>
        <p:spPr/>
        <p:txBody>
          <a:bodyPr/>
          <a:lstStyle/>
          <a:p>
            <a:pPr algn="l"/>
            <a:r>
              <a:rPr lang="en-US" dirty="0"/>
              <a:t>Date functions</a:t>
            </a:r>
            <a:endParaRPr lang="he-IL" dirty="0"/>
          </a:p>
        </p:txBody>
      </p:sp>
      <p:sp>
        <p:nvSpPr>
          <p:cNvPr id="4" name="מציין מיקום של מספר שקופית 3">
            <a:extLst>
              <a:ext uri="{FF2B5EF4-FFF2-40B4-BE49-F238E27FC236}">
                <a16:creationId xmlns:a16="http://schemas.microsoft.com/office/drawing/2014/main" id="{DCEEA9C9-E642-41DA-A2DD-351BB2760D28}"/>
              </a:ext>
            </a:extLst>
          </p:cNvPr>
          <p:cNvSpPr>
            <a:spLocks noGrp="1"/>
          </p:cNvSpPr>
          <p:nvPr>
            <p:ph type="sldNum" sz="quarter" idx="11"/>
          </p:nvPr>
        </p:nvSpPr>
        <p:spPr/>
        <p:txBody>
          <a:bodyPr/>
          <a:lstStyle/>
          <a:p>
            <a:fld id="{746FD205-8D79-439C-A802-2377436AEC8A}" type="slidenum">
              <a:rPr lang="he-IL" smtClean="0"/>
              <a:pPr/>
              <a:t>68</a:t>
            </a:fld>
            <a:endParaRPr lang="he-IL"/>
          </a:p>
        </p:txBody>
      </p:sp>
      <p:pic>
        <p:nvPicPr>
          <p:cNvPr id="6" name="תמונה 5">
            <a:extLst>
              <a:ext uri="{FF2B5EF4-FFF2-40B4-BE49-F238E27FC236}">
                <a16:creationId xmlns:a16="http://schemas.microsoft.com/office/drawing/2014/main" id="{FCADCAB6-B700-4DA0-9D8E-A1998DB87058}"/>
              </a:ext>
            </a:extLst>
          </p:cNvPr>
          <p:cNvPicPr>
            <a:picLocks noChangeAspect="1"/>
          </p:cNvPicPr>
          <p:nvPr/>
        </p:nvPicPr>
        <p:blipFill>
          <a:blip r:embed="rId2"/>
          <a:stretch>
            <a:fillRect/>
          </a:stretch>
        </p:blipFill>
        <p:spPr>
          <a:xfrm>
            <a:off x="6334125" y="3305175"/>
            <a:ext cx="2238375" cy="247650"/>
          </a:xfrm>
          <a:prstGeom prst="rect">
            <a:avLst/>
          </a:prstGeom>
        </p:spPr>
      </p:pic>
      <p:pic>
        <p:nvPicPr>
          <p:cNvPr id="7" name="תמונה 6">
            <a:extLst>
              <a:ext uri="{FF2B5EF4-FFF2-40B4-BE49-F238E27FC236}">
                <a16:creationId xmlns:a16="http://schemas.microsoft.com/office/drawing/2014/main" id="{121E8155-387D-44EB-BC0E-A24EB666A6DE}"/>
              </a:ext>
            </a:extLst>
          </p:cNvPr>
          <p:cNvPicPr>
            <a:picLocks noChangeAspect="1"/>
          </p:cNvPicPr>
          <p:nvPr/>
        </p:nvPicPr>
        <p:blipFill>
          <a:blip r:embed="rId3"/>
          <a:stretch>
            <a:fillRect/>
          </a:stretch>
        </p:blipFill>
        <p:spPr>
          <a:xfrm>
            <a:off x="914400" y="4280871"/>
            <a:ext cx="3465247" cy="434311"/>
          </a:xfrm>
          <a:prstGeom prst="rect">
            <a:avLst/>
          </a:prstGeom>
        </p:spPr>
      </p:pic>
      <p:pic>
        <p:nvPicPr>
          <p:cNvPr id="8" name="תמונה 7">
            <a:extLst>
              <a:ext uri="{FF2B5EF4-FFF2-40B4-BE49-F238E27FC236}">
                <a16:creationId xmlns:a16="http://schemas.microsoft.com/office/drawing/2014/main" id="{814A1AD4-F3D1-4EEF-8635-BD08828D093A}"/>
              </a:ext>
            </a:extLst>
          </p:cNvPr>
          <p:cNvPicPr>
            <a:picLocks noChangeAspect="1"/>
          </p:cNvPicPr>
          <p:nvPr/>
        </p:nvPicPr>
        <p:blipFill>
          <a:blip r:embed="rId4"/>
          <a:stretch>
            <a:fillRect/>
          </a:stretch>
        </p:blipFill>
        <p:spPr>
          <a:xfrm>
            <a:off x="4626836" y="4280871"/>
            <a:ext cx="3962397" cy="329513"/>
          </a:xfrm>
          <a:prstGeom prst="rect">
            <a:avLst/>
          </a:prstGeom>
        </p:spPr>
      </p:pic>
      <p:pic>
        <p:nvPicPr>
          <p:cNvPr id="9" name="תמונה 8">
            <a:extLst>
              <a:ext uri="{FF2B5EF4-FFF2-40B4-BE49-F238E27FC236}">
                <a16:creationId xmlns:a16="http://schemas.microsoft.com/office/drawing/2014/main" id="{D20F4963-5722-400A-83FB-32685B9AA734}"/>
              </a:ext>
            </a:extLst>
          </p:cNvPr>
          <p:cNvPicPr>
            <a:picLocks noChangeAspect="1"/>
          </p:cNvPicPr>
          <p:nvPr/>
        </p:nvPicPr>
        <p:blipFill>
          <a:blip r:embed="rId5"/>
          <a:stretch>
            <a:fillRect/>
          </a:stretch>
        </p:blipFill>
        <p:spPr>
          <a:xfrm>
            <a:off x="6360383" y="5486400"/>
            <a:ext cx="2228850" cy="247650"/>
          </a:xfrm>
          <a:prstGeom prst="rect">
            <a:avLst/>
          </a:prstGeom>
        </p:spPr>
      </p:pic>
      <p:pic>
        <p:nvPicPr>
          <p:cNvPr id="10" name="תמונה 9">
            <a:extLst>
              <a:ext uri="{FF2B5EF4-FFF2-40B4-BE49-F238E27FC236}">
                <a16:creationId xmlns:a16="http://schemas.microsoft.com/office/drawing/2014/main" id="{A2FBB682-A8F5-4B26-9B2D-FBF08FBDEB38}"/>
              </a:ext>
            </a:extLst>
          </p:cNvPr>
          <p:cNvPicPr>
            <a:picLocks noChangeAspect="1"/>
          </p:cNvPicPr>
          <p:nvPr/>
        </p:nvPicPr>
        <p:blipFill>
          <a:blip r:embed="rId6"/>
          <a:stretch>
            <a:fillRect/>
          </a:stretch>
        </p:blipFill>
        <p:spPr>
          <a:xfrm>
            <a:off x="1143000" y="6097524"/>
            <a:ext cx="4343400" cy="219823"/>
          </a:xfrm>
          <a:prstGeom prst="rect">
            <a:avLst/>
          </a:prstGeom>
        </p:spPr>
      </p:pic>
      <p:pic>
        <p:nvPicPr>
          <p:cNvPr id="11" name="תמונה 10">
            <a:extLst>
              <a:ext uri="{FF2B5EF4-FFF2-40B4-BE49-F238E27FC236}">
                <a16:creationId xmlns:a16="http://schemas.microsoft.com/office/drawing/2014/main" id="{19B70232-A24E-461E-80BD-DEE3C9D0F8AA}"/>
              </a:ext>
            </a:extLst>
          </p:cNvPr>
          <p:cNvPicPr>
            <a:picLocks noChangeAspect="1"/>
          </p:cNvPicPr>
          <p:nvPr/>
        </p:nvPicPr>
        <p:blipFill>
          <a:blip r:embed="rId7"/>
          <a:stretch>
            <a:fillRect/>
          </a:stretch>
        </p:blipFill>
        <p:spPr>
          <a:xfrm>
            <a:off x="5612670" y="6097524"/>
            <a:ext cx="1495425" cy="419100"/>
          </a:xfrm>
          <a:prstGeom prst="rect">
            <a:avLst/>
          </a:prstGeom>
        </p:spPr>
      </p:pic>
    </p:spTree>
    <p:extLst>
      <p:ext uri="{BB962C8B-B14F-4D97-AF65-F5344CB8AC3E}">
        <p14:creationId xmlns:p14="http://schemas.microsoft.com/office/powerpoint/2010/main" val="39854979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A478DF15-C380-4482-8744-A935EB0AAE28}"/>
              </a:ext>
            </a:extLst>
          </p:cNvPr>
          <p:cNvPicPr>
            <a:picLocks noGrp="1" noChangeAspect="1"/>
          </p:cNvPicPr>
          <p:nvPr>
            <p:ph idx="1"/>
          </p:nvPr>
        </p:nvPicPr>
        <p:blipFill>
          <a:blip r:embed="rId2"/>
          <a:stretch>
            <a:fillRect/>
          </a:stretch>
        </p:blipFill>
        <p:spPr>
          <a:xfrm>
            <a:off x="800100" y="1819275"/>
            <a:ext cx="7543800" cy="4057650"/>
          </a:xfrm>
          <a:prstGeom prst="rect">
            <a:avLst/>
          </a:prstGeom>
        </p:spPr>
      </p:pic>
      <p:sp>
        <p:nvSpPr>
          <p:cNvPr id="3" name="כותרת 2">
            <a:extLst>
              <a:ext uri="{FF2B5EF4-FFF2-40B4-BE49-F238E27FC236}">
                <a16:creationId xmlns:a16="http://schemas.microsoft.com/office/drawing/2014/main" id="{08582DCA-0936-4927-AA76-65F4AA317A3B}"/>
              </a:ext>
            </a:extLst>
          </p:cNvPr>
          <p:cNvSpPr>
            <a:spLocks noGrp="1"/>
          </p:cNvSpPr>
          <p:nvPr>
            <p:ph type="title"/>
          </p:nvPr>
        </p:nvSpPr>
        <p:spPr/>
        <p:txBody>
          <a:bodyPr>
            <a:normAutofit fontScale="90000"/>
          </a:bodyPr>
          <a:lstStyle/>
          <a:p>
            <a:pPr rtl="1"/>
            <a:r>
              <a:rPr lang="en-US" dirty="0"/>
              <a:t>Date functions</a:t>
            </a:r>
            <a:r>
              <a:rPr lang="he-IL" dirty="0"/>
              <a:t> – רשימת הפונקציות המלאה</a:t>
            </a:r>
          </a:p>
        </p:txBody>
      </p:sp>
      <p:sp>
        <p:nvSpPr>
          <p:cNvPr id="4" name="מציין מיקום של מספר שקופית 3">
            <a:extLst>
              <a:ext uri="{FF2B5EF4-FFF2-40B4-BE49-F238E27FC236}">
                <a16:creationId xmlns:a16="http://schemas.microsoft.com/office/drawing/2014/main" id="{A3BD5FC6-38FD-4610-A7D0-45D3B9803EBE}"/>
              </a:ext>
            </a:extLst>
          </p:cNvPr>
          <p:cNvSpPr>
            <a:spLocks noGrp="1"/>
          </p:cNvSpPr>
          <p:nvPr>
            <p:ph type="sldNum" sz="quarter" idx="11"/>
          </p:nvPr>
        </p:nvSpPr>
        <p:spPr/>
        <p:txBody>
          <a:bodyPr/>
          <a:lstStyle/>
          <a:p>
            <a:fld id="{746FD205-8D79-439C-A802-2377436AEC8A}" type="slidenum">
              <a:rPr lang="he-IL" smtClean="0"/>
              <a:pPr/>
              <a:t>69</a:t>
            </a:fld>
            <a:endParaRPr lang="he-IL"/>
          </a:p>
        </p:txBody>
      </p:sp>
    </p:spTree>
    <p:extLst>
      <p:ext uri="{BB962C8B-B14F-4D97-AF65-F5344CB8AC3E}">
        <p14:creationId xmlns:p14="http://schemas.microsoft.com/office/powerpoint/2010/main" val="28161437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1E04E73F-258A-42C6-9051-450AD961012F}"/>
              </a:ext>
            </a:extLst>
          </p:cNvPr>
          <p:cNvSpPr>
            <a:spLocks noGrp="1"/>
          </p:cNvSpPr>
          <p:nvPr>
            <p:ph idx="1"/>
          </p:nvPr>
        </p:nvSpPr>
        <p:spPr/>
        <p:txBody>
          <a:bodyPr/>
          <a:lstStyle/>
          <a:p>
            <a:pPr marL="64008" indent="0" rtl="1">
              <a:buNone/>
            </a:pPr>
            <a:r>
              <a:rPr lang="he-IL" sz="1800" dirty="0">
                <a:cs typeface="Calibri" panose="020F0502020204030204" pitchFamily="34" charset="0"/>
              </a:rPr>
              <a:t>פונקציות המרה מבצעות המרה בין </a:t>
            </a:r>
            <a:r>
              <a:rPr lang="en-US" sz="1800" dirty="0">
                <a:cs typeface="Calibri" panose="020F0502020204030204" pitchFamily="34" charset="0"/>
              </a:rPr>
              <a:t>data types</a:t>
            </a:r>
            <a:r>
              <a:rPr lang="he-IL" sz="1800" dirty="0">
                <a:cs typeface="Calibri" panose="020F0502020204030204" pitchFamily="34" charset="0"/>
              </a:rPr>
              <a:t> שונים. לדוגמא: בין </a:t>
            </a:r>
            <a:r>
              <a:rPr lang="en-US" sz="1800" dirty="0">
                <a:cs typeface="Calibri" panose="020F0502020204030204" pitchFamily="34" charset="0"/>
              </a:rPr>
              <a:t>int</a:t>
            </a:r>
            <a:r>
              <a:rPr lang="he-IL" sz="1800" dirty="0">
                <a:cs typeface="Calibri" panose="020F0502020204030204" pitchFamily="34" charset="0"/>
              </a:rPr>
              <a:t> ל </a:t>
            </a:r>
            <a:r>
              <a:rPr lang="en-US" sz="1800" dirty="0">
                <a:cs typeface="Calibri" panose="020F0502020204030204" pitchFamily="34" charset="0"/>
              </a:rPr>
              <a:t>varchar</a:t>
            </a:r>
            <a:r>
              <a:rPr lang="he-IL" sz="1800" dirty="0">
                <a:cs typeface="Calibri" panose="020F0502020204030204" pitchFamily="34" charset="0"/>
              </a:rPr>
              <a:t>.</a:t>
            </a:r>
          </a:p>
          <a:p>
            <a:pPr marL="64008" indent="0" rtl="1">
              <a:buNone/>
            </a:pPr>
            <a:r>
              <a:rPr lang="he-IL" sz="1800" dirty="0">
                <a:cs typeface="Calibri" panose="020F0502020204030204" pitchFamily="34" charset="0"/>
              </a:rPr>
              <a:t>דוגמא לסיבה לשימוש בפונקציית המרה: כאשר רוצים לשרשר שתי עמודות שה </a:t>
            </a:r>
            <a:r>
              <a:rPr lang="en-US" sz="1800" dirty="0">
                <a:cs typeface="Calibri" panose="020F0502020204030204" pitchFamily="34" charset="0"/>
              </a:rPr>
              <a:t>data type</a:t>
            </a:r>
            <a:r>
              <a:rPr lang="he-IL" sz="1800" dirty="0">
                <a:cs typeface="Calibri" panose="020F0502020204030204" pitchFamily="34" charset="0"/>
              </a:rPr>
              <a:t> שלהם הוא שונה.</a:t>
            </a:r>
          </a:p>
          <a:p>
            <a:pPr marL="64008" indent="0" rtl="1">
              <a:buNone/>
            </a:pPr>
            <a:r>
              <a:rPr lang="en-US" sz="1800" b="1" dirty="0">
                <a:cs typeface="Calibri" panose="020F0502020204030204" pitchFamily="34" charset="0"/>
              </a:rPr>
              <a:t>Cast</a:t>
            </a:r>
            <a:r>
              <a:rPr lang="he-IL" sz="1800" dirty="0">
                <a:cs typeface="Calibri" panose="020F0502020204030204" pitchFamily="34" charset="0"/>
              </a:rPr>
              <a:t> – </a:t>
            </a:r>
            <a:r>
              <a:rPr lang="en-US" sz="1800" dirty="0">
                <a:cs typeface="Calibri" panose="020F0502020204030204" pitchFamily="34" charset="0"/>
              </a:rPr>
              <a:t>Syntax</a:t>
            </a:r>
            <a:r>
              <a:rPr lang="he-IL" sz="1800" dirty="0">
                <a:cs typeface="Calibri" panose="020F0502020204030204" pitchFamily="34" charset="0"/>
              </a:rPr>
              <a:t>:</a:t>
            </a:r>
          </a:p>
          <a:p>
            <a:pPr marL="64008" indent="0" rtl="1">
              <a:buNone/>
            </a:pPr>
            <a:br>
              <a:rPr lang="en-US" sz="1800" dirty="0">
                <a:cs typeface="Calibri" panose="020F0502020204030204" pitchFamily="34" charset="0"/>
              </a:rPr>
            </a:br>
            <a:r>
              <a:rPr lang="he-IL" sz="1800" dirty="0">
                <a:cs typeface="Calibri" panose="020F0502020204030204" pitchFamily="34" charset="0"/>
              </a:rPr>
              <a:t>לדוגמא: </a:t>
            </a:r>
          </a:p>
          <a:p>
            <a:pPr marL="64008" indent="0" rtl="1">
              <a:buNone/>
            </a:pPr>
            <a:endParaRPr lang="he-IL" sz="1800" dirty="0">
              <a:cs typeface="Calibri" panose="020F0502020204030204" pitchFamily="34" charset="0"/>
            </a:endParaRPr>
          </a:p>
          <a:p>
            <a:pPr marL="64008" indent="0" rtl="1">
              <a:buNone/>
            </a:pPr>
            <a:br>
              <a:rPr lang="en-US" sz="1800" dirty="0">
                <a:cs typeface="Calibri" panose="020F0502020204030204" pitchFamily="34" charset="0"/>
              </a:rPr>
            </a:br>
            <a:r>
              <a:rPr lang="en-US" sz="1800" b="1" dirty="0">
                <a:cs typeface="Calibri" panose="020F0502020204030204" pitchFamily="34" charset="0"/>
              </a:rPr>
              <a:t>Convert</a:t>
            </a:r>
            <a:r>
              <a:rPr lang="he-IL" sz="1800" dirty="0">
                <a:cs typeface="Calibri" panose="020F0502020204030204" pitchFamily="34" charset="0"/>
              </a:rPr>
              <a:t> – </a:t>
            </a:r>
            <a:r>
              <a:rPr lang="en-US" sz="1800" dirty="0">
                <a:cs typeface="Calibri" panose="020F0502020204030204" pitchFamily="34" charset="0"/>
              </a:rPr>
              <a:t>Syntax</a:t>
            </a:r>
            <a:r>
              <a:rPr lang="he-IL" sz="1800" dirty="0">
                <a:cs typeface="Calibri" panose="020F0502020204030204" pitchFamily="34" charset="0"/>
              </a:rPr>
              <a:t>:</a:t>
            </a: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8103FF3C-AD56-4EB9-BE83-78DF884EB471}"/>
              </a:ext>
            </a:extLst>
          </p:cNvPr>
          <p:cNvSpPr>
            <a:spLocks noGrp="1"/>
          </p:cNvSpPr>
          <p:nvPr>
            <p:ph type="title"/>
          </p:nvPr>
        </p:nvSpPr>
        <p:spPr/>
        <p:txBody>
          <a:bodyPr/>
          <a:lstStyle/>
          <a:p>
            <a:pPr algn="l"/>
            <a:r>
              <a:rPr lang="en-US" dirty="0"/>
              <a:t>Conversion functions</a:t>
            </a:r>
            <a:endParaRPr lang="he-IL" dirty="0"/>
          </a:p>
        </p:txBody>
      </p:sp>
      <p:sp>
        <p:nvSpPr>
          <p:cNvPr id="4" name="מציין מיקום של מספר שקופית 3">
            <a:extLst>
              <a:ext uri="{FF2B5EF4-FFF2-40B4-BE49-F238E27FC236}">
                <a16:creationId xmlns:a16="http://schemas.microsoft.com/office/drawing/2014/main" id="{36C60DCE-3C1B-49EE-8497-332F9097CAF1}"/>
              </a:ext>
            </a:extLst>
          </p:cNvPr>
          <p:cNvSpPr>
            <a:spLocks noGrp="1"/>
          </p:cNvSpPr>
          <p:nvPr>
            <p:ph type="sldNum" sz="quarter" idx="11"/>
          </p:nvPr>
        </p:nvSpPr>
        <p:spPr/>
        <p:txBody>
          <a:bodyPr/>
          <a:lstStyle/>
          <a:p>
            <a:fld id="{746FD205-8D79-439C-A802-2377436AEC8A}" type="slidenum">
              <a:rPr lang="he-IL" smtClean="0"/>
              <a:pPr/>
              <a:t>70</a:t>
            </a:fld>
            <a:endParaRPr lang="he-IL"/>
          </a:p>
        </p:txBody>
      </p:sp>
      <p:pic>
        <p:nvPicPr>
          <p:cNvPr id="5" name="תמונה 4">
            <a:extLst>
              <a:ext uri="{FF2B5EF4-FFF2-40B4-BE49-F238E27FC236}">
                <a16:creationId xmlns:a16="http://schemas.microsoft.com/office/drawing/2014/main" id="{A8E2AC3A-CCB1-49A9-A0B9-7ED0D423D88B}"/>
              </a:ext>
            </a:extLst>
          </p:cNvPr>
          <p:cNvPicPr>
            <a:picLocks noChangeAspect="1"/>
          </p:cNvPicPr>
          <p:nvPr/>
        </p:nvPicPr>
        <p:blipFill>
          <a:blip r:embed="rId2"/>
          <a:stretch>
            <a:fillRect/>
          </a:stretch>
        </p:blipFill>
        <p:spPr>
          <a:xfrm>
            <a:off x="5982848" y="2799704"/>
            <a:ext cx="2564946" cy="276225"/>
          </a:xfrm>
          <a:prstGeom prst="rect">
            <a:avLst/>
          </a:prstGeom>
        </p:spPr>
      </p:pic>
      <p:pic>
        <p:nvPicPr>
          <p:cNvPr id="6" name="תמונה 5">
            <a:extLst>
              <a:ext uri="{FF2B5EF4-FFF2-40B4-BE49-F238E27FC236}">
                <a16:creationId xmlns:a16="http://schemas.microsoft.com/office/drawing/2014/main" id="{E2D31A73-DDD0-406F-8EB4-7B9A25FEA6E8}"/>
              </a:ext>
            </a:extLst>
          </p:cNvPr>
          <p:cNvPicPr>
            <a:picLocks noChangeAspect="1"/>
          </p:cNvPicPr>
          <p:nvPr/>
        </p:nvPicPr>
        <p:blipFill>
          <a:blip r:embed="rId3"/>
          <a:stretch>
            <a:fillRect/>
          </a:stretch>
        </p:blipFill>
        <p:spPr>
          <a:xfrm>
            <a:off x="2147476" y="3437604"/>
            <a:ext cx="4202243" cy="304800"/>
          </a:xfrm>
          <a:prstGeom prst="rect">
            <a:avLst/>
          </a:prstGeom>
        </p:spPr>
      </p:pic>
      <p:pic>
        <p:nvPicPr>
          <p:cNvPr id="9" name="תמונה 8">
            <a:extLst>
              <a:ext uri="{FF2B5EF4-FFF2-40B4-BE49-F238E27FC236}">
                <a16:creationId xmlns:a16="http://schemas.microsoft.com/office/drawing/2014/main" id="{C7CA6569-82C8-4769-B188-EB4A206D3377}"/>
              </a:ext>
            </a:extLst>
          </p:cNvPr>
          <p:cNvPicPr>
            <a:picLocks noChangeAspect="1"/>
          </p:cNvPicPr>
          <p:nvPr/>
        </p:nvPicPr>
        <p:blipFill>
          <a:blip r:embed="rId4"/>
          <a:stretch>
            <a:fillRect/>
          </a:stretch>
        </p:blipFill>
        <p:spPr>
          <a:xfrm>
            <a:off x="6484797" y="3462523"/>
            <a:ext cx="2066925" cy="433981"/>
          </a:xfrm>
          <a:prstGeom prst="rect">
            <a:avLst/>
          </a:prstGeom>
        </p:spPr>
      </p:pic>
      <p:pic>
        <p:nvPicPr>
          <p:cNvPr id="10" name="תמונה 9">
            <a:extLst>
              <a:ext uri="{FF2B5EF4-FFF2-40B4-BE49-F238E27FC236}">
                <a16:creationId xmlns:a16="http://schemas.microsoft.com/office/drawing/2014/main" id="{66210CE5-49B4-40CC-B286-B7D11A1A405A}"/>
              </a:ext>
            </a:extLst>
          </p:cNvPr>
          <p:cNvPicPr>
            <a:picLocks noChangeAspect="1"/>
          </p:cNvPicPr>
          <p:nvPr/>
        </p:nvPicPr>
        <p:blipFill>
          <a:blip r:embed="rId5"/>
          <a:stretch>
            <a:fillRect/>
          </a:stretch>
        </p:blipFill>
        <p:spPr>
          <a:xfrm>
            <a:off x="5125350" y="4333552"/>
            <a:ext cx="3426372" cy="304800"/>
          </a:xfrm>
          <a:prstGeom prst="rect">
            <a:avLst/>
          </a:prstGeom>
        </p:spPr>
      </p:pic>
      <p:pic>
        <p:nvPicPr>
          <p:cNvPr id="11" name="תמונה 10">
            <a:extLst>
              <a:ext uri="{FF2B5EF4-FFF2-40B4-BE49-F238E27FC236}">
                <a16:creationId xmlns:a16="http://schemas.microsoft.com/office/drawing/2014/main" id="{3DD5E01F-6A08-4C3B-ACB2-28B32DD6441A}"/>
              </a:ext>
            </a:extLst>
          </p:cNvPr>
          <p:cNvPicPr>
            <a:picLocks noChangeAspect="1"/>
          </p:cNvPicPr>
          <p:nvPr/>
        </p:nvPicPr>
        <p:blipFill>
          <a:blip r:embed="rId6"/>
          <a:stretch>
            <a:fillRect/>
          </a:stretch>
        </p:blipFill>
        <p:spPr>
          <a:xfrm>
            <a:off x="1122222" y="5070028"/>
            <a:ext cx="5362575" cy="429620"/>
          </a:xfrm>
          <a:prstGeom prst="rect">
            <a:avLst/>
          </a:prstGeom>
        </p:spPr>
      </p:pic>
      <p:pic>
        <p:nvPicPr>
          <p:cNvPr id="12" name="תמונה 11">
            <a:extLst>
              <a:ext uri="{FF2B5EF4-FFF2-40B4-BE49-F238E27FC236}">
                <a16:creationId xmlns:a16="http://schemas.microsoft.com/office/drawing/2014/main" id="{B618A367-DE2B-4273-A4A4-8BF5C4B19B91}"/>
              </a:ext>
            </a:extLst>
          </p:cNvPr>
          <p:cNvPicPr>
            <a:picLocks noChangeAspect="1"/>
          </p:cNvPicPr>
          <p:nvPr/>
        </p:nvPicPr>
        <p:blipFill>
          <a:blip r:embed="rId7"/>
          <a:stretch>
            <a:fillRect/>
          </a:stretch>
        </p:blipFill>
        <p:spPr>
          <a:xfrm>
            <a:off x="6683703" y="5070028"/>
            <a:ext cx="1864091" cy="747482"/>
          </a:xfrm>
          <a:prstGeom prst="rect">
            <a:avLst/>
          </a:prstGeom>
        </p:spPr>
      </p:pic>
    </p:spTree>
    <p:extLst>
      <p:ext uri="{BB962C8B-B14F-4D97-AF65-F5344CB8AC3E}">
        <p14:creationId xmlns:p14="http://schemas.microsoft.com/office/powerpoint/2010/main" val="42603258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3131968-7550-4EFA-9760-0C95339C5AEC}"/>
              </a:ext>
            </a:extLst>
          </p:cNvPr>
          <p:cNvSpPr>
            <a:spLocks noGrp="1"/>
          </p:cNvSpPr>
          <p:nvPr>
            <p:ph idx="1"/>
          </p:nvPr>
        </p:nvSpPr>
        <p:spPr/>
        <p:txBody>
          <a:bodyPr/>
          <a:lstStyle/>
          <a:p>
            <a:pPr marL="64008" indent="0" rtl="1">
              <a:buNone/>
            </a:pPr>
            <a:r>
              <a:rPr lang="he-IL" sz="1800" dirty="0">
                <a:cs typeface="Calibri" panose="020F0502020204030204" pitchFamily="34" charset="0"/>
              </a:rPr>
              <a:t>ההבדלים בין פונקציית </a:t>
            </a:r>
            <a:r>
              <a:rPr lang="en-US" sz="1800" dirty="0">
                <a:cs typeface="Calibri" panose="020F0502020204030204" pitchFamily="34" charset="0"/>
              </a:rPr>
              <a:t>Cast</a:t>
            </a:r>
            <a:r>
              <a:rPr lang="he-IL" sz="1800" dirty="0">
                <a:cs typeface="Calibri" panose="020F0502020204030204" pitchFamily="34" charset="0"/>
              </a:rPr>
              <a:t> לפונקציית </a:t>
            </a:r>
            <a:r>
              <a:rPr lang="en-US" sz="1800" dirty="0">
                <a:cs typeface="Calibri" panose="020F0502020204030204" pitchFamily="34" charset="0"/>
              </a:rPr>
              <a:t>Convert</a:t>
            </a:r>
            <a:r>
              <a:rPr lang="he-IL" sz="1800" dirty="0">
                <a:cs typeface="Calibri" panose="020F0502020204030204" pitchFamily="34" charset="0"/>
              </a:rPr>
              <a:t>:</a:t>
            </a:r>
          </a:p>
          <a:p>
            <a:pPr rtl="1">
              <a:buFont typeface="Courier New" panose="02070309020205020404" pitchFamily="49" charset="0"/>
              <a:buChar char="o"/>
            </a:pPr>
            <a:r>
              <a:rPr lang="he-IL" sz="1800" dirty="0">
                <a:cs typeface="Calibri" panose="020F0502020204030204" pitchFamily="34" charset="0"/>
              </a:rPr>
              <a:t>פונקציית </a:t>
            </a:r>
            <a:r>
              <a:rPr lang="en-US" sz="1800" dirty="0">
                <a:cs typeface="Calibri" panose="020F0502020204030204" pitchFamily="34" charset="0"/>
              </a:rPr>
              <a:t>Cast</a:t>
            </a:r>
            <a:r>
              <a:rPr lang="he-IL" sz="1800" dirty="0">
                <a:cs typeface="Calibri" panose="020F0502020204030204" pitchFamily="34" charset="0"/>
              </a:rPr>
              <a:t> נחשבת פונקציה תקנית, פונקציה סטנדרטית הקיימת בכל פלטפורמה, היא תעבוד גם ב </a:t>
            </a:r>
            <a:r>
              <a:rPr lang="en-US" sz="1800" dirty="0">
                <a:cs typeface="Calibri" panose="020F0502020204030204" pitchFamily="34" charset="0"/>
              </a:rPr>
              <a:t>oracle</a:t>
            </a:r>
            <a:r>
              <a:rPr lang="he-IL" sz="1800" dirty="0">
                <a:cs typeface="Calibri" panose="020F0502020204030204" pitchFamily="34" charset="0"/>
              </a:rPr>
              <a:t> </a:t>
            </a:r>
            <a:r>
              <a:rPr lang="he-IL" sz="1800" dirty="0" err="1">
                <a:cs typeface="Calibri" panose="020F0502020204030204" pitchFamily="34" charset="0"/>
              </a:rPr>
              <a:t>וכו</a:t>
            </a:r>
            <a:r>
              <a:rPr lang="he-IL" sz="1800" dirty="0">
                <a:cs typeface="Calibri" panose="020F0502020204030204" pitchFamily="34" charset="0"/>
              </a:rPr>
              <a:t>… לעומתה פונקציית ה </a:t>
            </a:r>
            <a:r>
              <a:rPr lang="en-US" sz="1800" dirty="0">
                <a:cs typeface="Calibri" panose="020F0502020204030204" pitchFamily="34" charset="0"/>
              </a:rPr>
              <a:t>Convert</a:t>
            </a:r>
            <a:r>
              <a:rPr lang="he-IL" sz="1800" dirty="0">
                <a:cs typeface="Calibri" panose="020F0502020204030204" pitchFamily="34" charset="0"/>
              </a:rPr>
              <a:t> נחשבת לפונקציה לא תקנית, היא קיימת רק ב </a:t>
            </a:r>
            <a:r>
              <a:rPr lang="en-US" sz="1800" dirty="0">
                <a:cs typeface="Calibri" panose="020F0502020204030204" pitchFamily="34" charset="0"/>
              </a:rPr>
              <a:t>SQL server</a:t>
            </a:r>
            <a:r>
              <a:rPr lang="he-IL" sz="1800" dirty="0">
                <a:cs typeface="Calibri" panose="020F0502020204030204" pitchFamily="34" charset="0"/>
              </a:rPr>
              <a:t> ולא תעבוד בפלטפורמה אחרת.</a:t>
            </a:r>
          </a:p>
          <a:p>
            <a:pPr rtl="1">
              <a:buFont typeface="Courier New" panose="02070309020205020404" pitchFamily="49" charset="0"/>
              <a:buChar char="o"/>
            </a:pPr>
            <a:r>
              <a:rPr lang="he-IL" sz="1800" dirty="0">
                <a:cs typeface="Calibri" panose="020F0502020204030204" pitchFamily="34" charset="0"/>
              </a:rPr>
              <a:t>פונקציית </a:t>
            </a:r>
            <a:r>
              <a:rPr lang="en-US" sz="1800" dirty="0">
                <a:cs typeface="Calibri" panose="020F0502020204030204" pitchFamily="34" charset="0"/>
              </a:rPr>
              <a:t>Convert</a:t>
            </a:r>
            <a:r>
              <a:rPr lang="he-IL" sz="1800" dirty="0">
                <a:cs typeface="Calibri" panose="020F0502020204030204" pitchFamily="34" charset="0"/>
              </a:rPr>
              <a:t> מאפשרת גם להגדיר פורמטים. </a:t>
            </a:r>
          </a:p>
          <a:p>
            <a:pPr marL="64008" indent="0" rtl="1">
              <a:buNone/>
            </a:pPr>
            <a:r>
              <a:rPr lang="he-IL" sz="1800" dirty="0">
                <a:cs typeface="Calibri" panose="020F0502020204030204" pitchFamily="34" charset="0"/>
              </a:rPr>
              <a:t>        דוגמא לשימוש בפונקציה </a:t>
            </a:r>
            <a:r>
              <a:rPr lang="en-US" sz="1800" dirty="0">
                <a:cs typeface="Calibri" panose="020F0502020204030204" pitchFamily="34" charset="0"/>
              </a:rPr>
              <a:t>Convert</a:t>
            </a:r>
            <a:r>
              <a:rPr lang="he-IL" sz="1800" dirty="0">
                <a:cs typeface="Calibri" panose="020F0502020204030204" pitchFamily="34" charset="0"/>
              </a:rPr>
              <a:t> עם הגדרת פורמט מיוחד ובלי:</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B91B249-9564-4674-BE95-9BCA8BFACCE9}"/>
              </a:ext>
            </a:extLst>
          </p:cNvPr>
          <p:cNvSpPr>
            <a:spLocks noGrp="1"/>
          </p:cNvSpPr>
          <p:nvPr>
            <p:ph type="title"/>
          </p:nvPr>
        </p:nvSpPr>
        <p:spPr/>
        <p:txBody>
          <a:bodyPr/>
          <a:lstStyle/>
          <a:p>
            <a:pPr algn="l"/>
            <a:r>
              <a:rPr lang="en-US" dirty="0"/>
              <a:t>Conversion functions</a:t>
            </a:r>
            <a:endParaRPr lang="he-IL" dirty="0"/>
          </a:p>
        </p:txBody>
      </p:sp>
      <p:sp>
        <p:nvSpPr>
          <p:cNvPr id="4" name="מציין מיקום של מספר שקופית 3">
            <a:extLst>
              <a:ext uri="{FF2B5EF4-FFF2-40B4-BE49-F238E27FC236}">
                <a16:creationId xmlns:a16="http://schemas.microsoft.com/office/drawing/2014/main" id="{D4181E79-788C-40DF-AD23-069CD79370E9}"/>
              </a:ext>
            </a:extLst>
          </p:cNvPr>
          <p:cNvSpPr>
            <a:spLocks noGrp="1"/>
          </p:cNvSpPr>
          <p:nvPr>
            <p:ph type="sldNum" sz="quarter" idx="11"/>
          </p:nvPr>
        </p:nvSpPr>
        <p:spPr/>
        <p:txBody>
          <a:bodyPr/>
          <a:lstStyle/>
          <a:p>
            <a:fld id="{746FD205-8D79-439C-A802-2377436AEC8A}" type="slidenum">
              <a:rPr lang="he-IL" smtClean="0"/>
              <a:pPr/>
              <a:t>71</a:t>
            </a:fld>
            <a:endParaRPr lang="he-IL"/>
          </a:p>
        </p:txBody>
      </p:sp>
      <p:pic>
        <p:nvPicPr>
          <p:cNvPr id="5" name="תמונה 4">
            <a:extLst>
              <a:ext uri="{FF2B5EF4-FFF2-40B4-BE49-F238E27FC236}">
                <a16:creationId xmlns:a16="http://schemas.microsoft.com/office/drawing/2014/main" id="{4DA746F0-2C38-421B-93B5-2A8EB2A7D817}"/>
              </a:ext>
            </a:extLst>
          </p:cNvPr>
          <p:cNvPicPr>
            <a:picLocks noChangeAspect="1"/>
          </p:cNvPicPr>
          <p:nvPr/>
        </p:nvPicPr>
        <p:blipFill>
          <a:blip r:embed="rId2"/>
          <a:stretch>
            <a:fillRect/>
          </a:stretch>
        </p:blipFill>
        <p:spPr>
          <a:xfrm>
            <a:off x="723900" y="3581400"/>
            <a:ext cx="5095875" cy="226798"/>
          </a:xfrm>
          <a:prstGeom prst="rect">
            <a:avLst/>
          </a:prstGeom>
        </p:spPr>
      </p:pic>
      <p:pic>
        <p:nvPicPr>
          <p:cNvPr id="6" name="תמונה 5">
            <a:extLst>
              <a:ext uri="{FF2B5EF4-FFF2-40B4-BE49-F238E27FC236}">
                <a16:creationId xmlns:a16="http://schemas.microsoft.com/office/drawing/2014/main" id="{E52D025D-FC90-40CD-9DDF-E68F1CF4C4A7}"/>
              </a:ext>
            </a:extLst>
          </p:cNvPr>
          <p:cNvPicPr>
            <a:picLocks noChangeAspect="1"/>
          </p:cNvPicPr>
          <p:nvPr/>
        </p:nvPicPr>
        <p:blipFill>
          <a:blip r:embed="rId3"/>
          <a:stretch>
            <a:fillRect/>
          </a:stretch>
        </p:blipFill>
        <p:spPr>
          <a:xfrm>
            <a:off x="5943600" y="3590024"/>
            <a:ext cx="2305050" cy="209550"/>
          </a:xfrm>
          <a:prstGeom prst="rect">
            <a:avLst/>
          </a:prstGeom>
        </p:spPr>
      </p:pic>
      <p:pic>
        <p:nvPicPr>
          <p:cNvPr id="7" name="תמונה 6">
            <a:extLst>
              <a:ext uri="{FF2B5EF4-FFF2-40B4-BE49-F238E27FC236}">
                <a16:creationId xmlns:a16="http://schemas.microsoft.com/office/drawing/2014/main" id="{89368BDD-6F01-4642-BC95-75C169542C07}"/>
              </a:ext>
            </a:extLst>
          </p:cNvPr>
          <p:cNvPicPr>
            <a:picLocks noChangeAspect="1"/>
          </p:cNvPicPr>
          <p:nvPr/>
        </p:nvPicPr>
        <p:blipFill>
          <a:blip r:embed="rId4"/>
          <a:stretch>
            <a:fillRect/>
          </a:stretch>
        </p:blipFill>
        <p:spPr>
          <a:xfrm>
            <a:off x="723900" y="4114800"/>
            <a:ext cx="5219700" cy="182554"/>
          </a:xfrm>
          <a:prstGeom prst="rect">
            <a:avLst/>
          </a:prstGeom>
        </p:spPr>
      </p:pic>
      <p:pic>
        <p:nvPicPr>
          <p:cNvPr id="8" name="תמונה 7">
            <a:extLst>
              <a:ext uri="{FF2B5EF4-FFF2-40B4-BE49-F238E27FC236}">
                <a16:creationId xmlns:a16="http://schemas.microsoft.com/office/drawing/2014/main" id="{621A4FBA-E455-46DE-BDBA-F4A90E9B159C}"/>
              </a:ext>
            </a:extLst>
          </p:cNvPr>
          <p:cNvPicPr>
            <a:picLocks noChangeAspect="1"/>
          </p:cNvPicPr>
          <p:nvPr/>
        </p:nvPicPr>
        <p:blipFill>
          <a:blip r:embed="rId5"/>
          <a:stretch>
            <a:fillRect/>
          </a:stretch>
        </p:blipFill>
        <p:spPr>
          <a:xfrm>
            <a:off x="6050280" y="4104301"/>
            <a:ext cx="1790700" cy="190500"/>
          </a:xfrm>
          <a:prstGeom prst="rect">
            <a:avLst/>
          </a:prstGeom>
        </p:spPr>
      </p:pic>
    </p:spTree>
    <p:extLst>
      <p:ext uri="{BB962C8B-B14F-4D97-AF65-F5344CB8AC3E}">
        <p14:creationId xmlns:p14="http://schemas.microsoft.com/office/powerpoint/2010/main" val="18012810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678416F9-4AF0-4A5F-93E0-F2C9FFEA6B5A}"/>
              </a:ext>
            </a:extLst>
          </p:cNvPr>
          <p:cNvSpPr>
            <a:spLocks noGrp="1"/>
          </p:cNvSpPr>
          <p:nvPr>
            <p:ph idx="1"/>
          </p:nvPr>
        </p:nvSpPr>
        <p:spPr/>
        <p:txBody>
          <a:bodyPr/>
          <a:lstStyle/>
          <a:p>
            <a:pPr marL="64008" indent="0" rtl="1">
              <a:buNone/>
            </a:pPr>
            <a:r>
              <a:rPr lang="he-IL" sz="1800" dirty="0">
                <a:cs typeface="Calibri" panose="020F0502020204030204" pitchFamily="34" charset="0"/>
              </a:rPr>
              <a:t>פונקציית תנאי היא פונקציה שמאפשרת לנו לבצע התניות ולייצר עמודות חדשות שהערכים שלהן מותנים ומבוססים על חישוב של עמודות </a:t>
            </a:r>
            <a:r>
              <a:rPr lang="he-IL" sz="1800">
                <a:cs typeface="Calibri" panose="020F0502020204030204" pitchFamily="34" charset="0"/>
              </a:rPr>
              <a:t>אחרות.</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dirty="0"/>
          </a:p>
        </p:txBody>
      </p:sp>
      <p:sp>
        <p:nvSpPr>
          <p:cNvPr id="3" name="כותרת 2">
            <a:extLst>
              <a:ext uri="{FF2B5EF4-FFF2-40B4-BE49-F238E27FC236}">
                <a16:creationId xmlns:a16="http://schemas.microsoft.com/office/drawing/2014/main" id="{9AFB674C-A9FB-4187-9849-FF1E4FFC1490}"/>
              </a:ext>
            </a:extLst>
          </p:cNvPr>
          <p:cNvSpPr>
            <a:spLocks noGrp="1"/>
          </p:cNvSpPr>
          <p:nvPr>
            <p:ph type="title"/>
          </p:nvPr>
        </p:nvSpPr>
        <p:spPr/>
        <p:txBody>
          <a:bodyPr/>
          <a:lstStyle/>
          <a:p>
            <a:pPr algn="l" rtl="1"/>
            <a:r>
              <a:rPr lang="en-US" dirty="0"/>
              <a:t>Conditional functions</a:t>
            </a:r>
            <a:endParaRPr lang="he-IL" dirty="0"/>
          </a:p>
        </p:txBody>
      </p:sp>
      <p:sp>
        <p:nvSpPr>
          <p:cNvPr id="4" name="מציין מיקום של מספר שקופית 3">
            <a:extLst>
              <a:ext uri="{FF2B5EF4-FFF2-40B4-BE49-F238E27FC236}">
                <a16:creationId xmlns:a16="http://schemas.microsoft.com/office/drawing/2014/main" id="{17C79F6E-D970-4E68-B906-5287AF8C732B}"/>
              </a:ext>
            </a:extLst>
          </p:cNvPr>
          <p:cNvSpPr>
            <a:spLocks noGrp="1"/>
          </p:cNvSpPr>
          <p:nvPr>
            <p:ph type="sldNum" sz="quarter" idx="11"/>
          </p:nvPr>
        </p:nvSpPr>
        <p:spPr/>
        <p:txBody>
          <a:bodyPr/>
          <a:lstStyle/>
          <a:p>
            <a:fld id="{746FD205-8D79-439C-A802-2377436AEC8A}" type="slidenum">
              <a:rPr lang="he-IL" smtClean="0"/>
              <a:pPr/>
              <a:t>72</a:t>
            </a:fld>
            <a:endParaRPr lang="he-IL"/>
          </a:p>
        </p:txBody>
      </p:sp>
    </p:spTree>
    <p:extLst>
      <p:ext uri="{BB962C8B-B14F-4D97-AF65-F5344CB8AC3E}">
        <p14:creationId xmlns:p14="http://schemas.microsoft.com/office/powerpoint/2010/main" val="23221377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6D31EC3-959E-442C-A3BF-61CE6FCAB668}"/>
              </a:ext>
            </a:extLst>
          </p:cNvPr>
          <p:cNvSpPr>
            <a:spLocks noGrp="1"/>
          </p:cNvSpPr>
          <p:nvPr>
            <p:ph idx="1"/>
          </p:nvPr>
        </p:nvSpPr>
        <p:spPr/>
        <p:txBody>
          <a:bodyPr/>
          <a:lstStyle/>
          <a:p>
            <a:pPr marL="64008" indent="0" rtl="1">
              <a:buNone/>
            </a:pPr>
            <a:r>
              <a:rPr lang="en-US" sz="1800" dirty="0">
                <a:cs typeface="Calibri" panose="020F0502020204030204" pitchFamily="34" charset="0"/>
              </a:rPr>
              <a:t>CASE</a:t>
            </a:r>
            <a:r>
              <a:rPr lang="he-IL" sz="1800" dirty="0">
                <a:cs typeface="Calibri" panose="020F0502020204030204" pitchFamily="34" charset="0"/>
              </a:rPr>
              <a:t> הוא בעצם ביטוי של  </a:t>
            </a:r>
            <a:r>
              <a:rPr lang="en-US" sz="1800" dirty="0">
                <a:cs typeface="Calibri" panose="020F0502020204030204" pitchFamily="34" charset="0"/>
              </a:rPr>
              <a:t>if</a:t>
            </a:r>
            <a:r>
              <a:rPr lang="he-IL" sz="1800" dirty="0">
                <a:cs typeface="Calibri" panose="020F0502020204030204" pitchFamily="34" charset="0"/>
              </a:rPr>
              <a:t> ו </a:t>
            </a:r>
            <a:r>
              <a:rPr lang="en-US" sz="1800" dirty="0">
                <a:cs typeface="Calibri" panose="020F0502020204030204" pitchFamily="34" charset="0"/>
              </a:rPr>
              <a:t>else</a:t>
            </a:r>
            <a:r>
              <a:rPr lang="he-IL" sz="1800" dirty="0">
                <a:cs typeface="Calibri" panose="020F0502020204030204" pitchFamily="34" charset="0"/>
              </a:rPr>
              <a:t> שיכול להכיל יותר משתי אפשרויות.</a:t>
            </a:r>
            <a:br>
              <a:rPr lang="en-US" sz="1800" dirty="0">
                <a:cs typeface="Calibri" panose="020F0502020204030204" pitchFamily="34" charset="0"/>
              </a:rPr>
            </a:br>
            <a:r>
              <a:rPr lang="en-US" sz="1800" dirty="0">
                <a:cs typeface="Calibri" panose="020F0502020204030204" pitchFamily="34" charset="0"/>
              </a:rPr>
              <a:t>CASE</a:t>
            </a:r>
            <a:r>
              <a:rPr lang="he-IL" sz="1800" dirty="0">
                <a:cs typeface="Calibri" panose="020F0502020204030204" pitchFamily="34" charset="0"/>
              </a:rPr>
              <a:t> עובר על מספר תנאים ומחפש את התנאי שהתשובה עבורו היא </a:t>
            </a:r>
            <a:r>
              <a:rPr lang="en-US" sz="1800" dirty="0">
                <a:cs typeface="Calibri" panose="020F0502020204030204" pitchFamily="34" charset="0"/>
              </a:rPr>
              <a:t>true</a:t>
            </a:r>
            <a:r>
              <a:rPr lang="he-IL" sz="1800" dirty="0">
                <a:cs typeface="Calibri" panose="020F0502020204030204" pitchFamily="34" charset="0"/>
              </a:rPr>
              <a:t>, ברגע שנמצא אחד כזה, הוא יחזיר את הערך ופקודת ה </a:t>
            </a:r>
            <a:r>
              <a:rPr lang="en-US" sz="1800" dirty="0">
                <a:cs typeface="Calibri" panose="020F0502020204030204" pitchFamily="34" charset="0"/>
              </a:rPr>
              <a:t>CASE</a:t>
            </a:r>
            <a:r>
              <a:rPr lang="he-IL" sz="1800" dirty="0">
                <a:cs typeface="Calibri" panose="020F0502020204030204" pitchFamily="34" charset="0"/>
              </a:rPr>
              <a:t> תופסק. במידה ולא נמצא אף תנאי שהתשובה עבורו היא </a:t>
            </a:r>
            <a:r>
              <a:rPr lang="en-US" sz="1800" dirty="0">
                <a:cs typeface="Calibri" panose="020F0502020204030204" pitchFamily="34" charset="0"/>
              </a:rPr>
              <a:t>true </a:t>
            </a:r>
            <a:r>
              <a:rPr lang="he-IL" sz="1800" dirty="0">
                <a:cs typeface="Calibri" panose="020F0502020204030204" pitchFamily="34" charset="0"/>
              </a:rPr>
              <a:t> יוחזר מה שכתוב בסעיף ה </a:t>
            </a:r>
            <a:r>
              <a:rPr lang="en-US" sz="1800" dirty="0">
                <a:cs typeface="Calibri" panose="020F0502020204030204" pitchFamily="34" charset="0"/>
              </a:rPr>
              <a:t>else</a:t>
            </a:r>
            <a:r>
              <a:rPr lang="he-IL" sz="1800" dirty="0">
                <a:cs typeface="Calibri" panose="020F0502020204030204" pitchFamily="34" charset="0"/>
              </a:rPr>
              <a:t>.</a:t>
            </a:r>
          </a:p>
          <a:p>
            <a:pPr marL="64008" indent="0" rtl="1">
              <a:buNone/>
            </a:pP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dirty="0"/>
          </a:p>
        </p:txBody>
      </p:sp>
      <p:sp>
        <p:nvSpPr>
          <p:cNvPr id="3" name="כותרת 2">
            <a:extLst>
              <a:ext uri="{FF2B5EF4-FFF2-40B4-BE49-F238E27FC236}">
                <a16:creationId xmlns:a16="http://schemas.microsoft.com/office/drawing/2014/main" id="{AFB7DCBF-44F0-42A1-83CB-23D3D4AB8428}"/>
              </a:ext>
            </a:extLst>
          </p:cNvPr>
          <p:cNvSpPr>
            <a:spLocks noGrp="1"/>
          </p:cNvSpPr>
          <p:nvPr>
            <p:ph type="title"/>
          </p:nvPr>
        </p:nvSpPr>
        <p:spPr/>
        <p:txBody>
          <a:bodyPr/>
          <a:lstStyle/>
          <a:p>
            <a:pPr algn="l"/>
            <a:r>
              <a:rPr lang="en-US" dirty="0"/>
              <a:t>Case</a:t>
            </a:r>
            <a:endParaRPr lang="he-IL" dirty="0"/>
          </a:p>
        </p:txBody>
      </p:sp>
      <p:sp>
        <p:nvSpPr>
          <p:cNvPr id="4" name="מציין מיקום של מספר שקופית 3">
            <a:extLst>
              <a:ext uri="{FF2B5EF4-FFF2-40B4-BE49-F238E27FC236}">
                <a16:creationId xmlns:a16="http://schemas.microsoft.com/office/drawing/2014/main" id="{CA489341-0E90-43C7-86A9-447F43D848A1}"/>
              </a:ext>
            </a:extLst>
          </p:cNvPr>
          <p:cNvSpPr>
            <a:spLocks noGrp="1"/>
          </p:cNvSpPr>
          <p:nvPr>
            <p:ph type="sldNum" sz="quarter" idx="11"/>
          </p:nvPr>
        </p:nvSpPr>
        <p:spPr/>
        <p:txBody>
          <a:bodyPr/>
          <a:lstStyle/>
          <a:p>
            <a:fld id="{746FD205-8D79-439C-A802-2377436AEC8A}" type="slidenum">
              <a:rPr lang="he-IL" smtClean="0"/>
              <a:pPr/>
              <a:t>73</a:t>
            </a:fld>
            <a:endParaRPr lang="he-IL"/>
          </a:p>
        </p:txBody>
      </p:sp>
      <p:pic>
        <p:nvPicPr>
          <p:cNvPr id="5" name="תמונה 4">
            <a:extLst>
              <a:ext uri="{FF2B5EF4-FFF2-40B4-BE49-F238E27FC236}">
                <a16:creationId xmlns:a16="http://schemas.microsoft.com/office/drawing/2014/main" id="{36435850-75EA-49B1-BCA7-1C0CF4648337}"/>
              </a:ext>
            </a:extLst>
          </p:cNvPr>
          <p:cNvPicPr>
            <a:picLocks noChangeAspect="1"/>
          </p:cNvPicPr>
          <p:nvPr/>
        </p:nvPicPr>
        <p:blipFill>
          <a:blip r:embed="rId2"/>
          <a:stretch>
            <a:fillRect/>
          </a:stretch>
        </p:blipFill>
        <p:spPr>
          <a:xfrm>
            <a:off x="6400801" y="3047999"/>
            <a:ext cx="2126932" cy="1033081"/>
          </a:xfrm>
          <a:prstGeom prst="rect">
            <a:avLst/>
          </a:prstGeom>
        </p:spPr>
      </p:pic>
      <p:pic>
        <p:nvPicPr>
          <p:cNvPr id="6" name="תמונה 5">
            <a:extLst>
              <a:ext uri="{FF2B5EF4-FFF2-40B4-BE49-F238E27FC236}">
                <a16:creationId xmlns:a16="http://schemas.microsoft.com/office/drawing/2014/main" id="{C4AAFA48-F71B-4D1B-8330-38B3671422B3}"/>
              </a:ext>
            </a:extLst>
          </p:cNvPr>
          <p:cNvPicPr>
            <a:picLocks noChangeAspect="1"/>
          </p:cNvPicPr>
          <p:nvPr/>
        </p:nvPicPr>
        <p:blipFill>
          <a:blip r:embed="rId3"/>
          <a:stretch>
            <a:fillRect/>
          </a:stretch>
        </p:blipFill>
        <p:spPr>
          <a:xfrm>
            <a:off x="4627987" y="5334000"/>
            <a:ext cx="2803512" cy="838200"/>
          </a:xfrm>
          <a:prstGeom prst="rect">
            <a:avLst/>
          </a:prstGeom>
        </p:spPr>
      </p:pic>
      <p:pic>
        <p:nvPicPr>
          <p:cNvPr id="7" name="תמונה 6">
            <a:extLst>
              <a:ext uri="{FF2B5EF4-FFF2-40B4-BE49-F238E27FC236}">
                <a16:creationId xmlns:a16="http://schemas.microsoft.com/office/drawing/2014/main" id="{FFA3F048-49F5-44B8-8DFF-D7A2899ABBC0}"/>
              </a:ext>
            </a:extLst>
          </p:cNvPr>
          <p:cNvPicPr>
            <a:picLocks noChangeAspect="1"/>
          </p:cNvPicPr>
          <p:nvPr/>
        </p:nvPicPr>
        <p:blipFill>
          <a:blip r:embed="rId4"/>
          <a:stretch>
            <a:fillRect/>
          </a:stretch>
        </p:blipFill>
        <p:spPr>
          <a:xfrm>
            <a:off x="5195087" y="4382013"/>
            <a:ext cx="1888806" cy="827423"/>
          </a:xfrm>
          <a:prstGeom prst="rect">
            <a:avLst/>
          </a:prstGeom>
        </p:spPr>
      </p:pic>
      <p:pic>
        <p:nvPicPr>
          <p:cNvPr id="8" name="תמונה 7">
            <a:extLst>
              <a:ext uri="{FF2B5EF4-FFF2-40B4-BE49-F238E27FC236}">
                <a16:creationId xmlns:a16="http://schemas.microsoft.com/office/drawing/2014/main" id="{D3160B17-75EF-470B-95C2-6D3ED9DFDCD9}"/>
              </a:ext>
            </a:extLst>
          </p:cNvPr>
          <p:cNvPicPr>
            <a:picLocks noChangeAspect="1"/>
          </p:cNvPicPr>
          <p:nvPr/>
        </p:nvPicPr>
        <p:blipFill>
          <a:blip r:embed="rId5"/>
          <a:stretch>
            <a:fillRect/>
          </a:stretch>
        </p:blipFill>
        <p:spPr>
          <a:xfrm>
            <a:off x="483093" y="5109372"/>
            <a:ext cx="3191207" cy="772575"/>
          </a:xfrm>
          <a:prstGeom prst="rect">
            <a:avLst/>
          </a:prstGeom>
        </p:spPr>
      </p:pic>
      <p:sp>
        <p:nvSpPr>
          <p:cNvPr id="10" name="TextBox 9">
            <a:extLst>
              <a:ext uri="{FF2B5EF4-FFF2-40B4-BE49-F238E27FC236}">
                <a16:creationId xmlns:a16="http://schemas.microsoft.com/office/drawing/2014/main" id="{7935737D-6C3B-495E-AD95-2CDD12BE4E30}"/>
              </a:ext>
            </a:extLst>
          </p:cNvPr>
          <p:cNvSpPr txBox="1"/>
          <p:nvPr/>
        </p:nvSpPr>
        <p:spPr>
          <a:xfrm>
            <a:off x="2286000" y="4634453"/>
            <a:ext cx="1532877" cy="369332"/>
          </a:xfrm>
          <a:prstGeom prst="rect">
            <a:avLst/>
          </a:prstGeom>
          <a:noFill/>
        </p:spPr>
        <p:txBody>
          <a:bodyPr wrap="square" rtlCol="1">
            <a:spAutoFit/>
          </a:bodyPr>
          <a:lstStyle/>
          <a:p>
            <a:r>
              <a:rPr lang="he-IL" dirty="0">
                <a:cs typeface="Calibri" panose="020F0502020204030204" pitchFamily="34" charset="0"/>
              </a:rPr>
              <a:t>דוגמא נוספת:</a:t>
            </a:r>
          </a:p>
        </p:txBody>
      </p:sp>
    </p:spTree>
    <p:extLst>
      <p:ext uri="{BB962C8B-B14F-4D97-AF65-F5344CB8AC3E}">
        <p14:creationId xmlns:p14="http://schemas.microsoft.com/office/powerpoint/2010/main" val="15662247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0E28AEE-594D-4F67-BC23-B8B45684785D}"/>
              </a:ext>
            </a:extLst>
          </p:cNvPr>
          <p:cNvSpPr>
            <a:spLocks noGrp="1"/>
          </p:cNvSpPr>
          <p:nvPr>
            <p:ph idx="1"/>
          </p:nvPr>
        </p:nvSpPr>
        <p:spPr/>
        <p:txBody>
          <a:bodyPr/>
          <a:lstStyle/>
          <a:p>
            <a:pPr marL="64008" indent="0" rtl="1">
              <a:buNone/>
            </a:pPr>
            <a:r>
              <a:rPr lang="he-IL" sz="1800" dirty="0">
                <a:cs typeface="Calibri" panose="020F0502020204030204" pitchFamily="34" charset="0"/>
              </a:rPr>
              <a:t>פקודת ה</a:t>
            </a:r>
            <a:r>
              <a:rPr lang="en-US" sz="1800" dirty="0">
                <a:cs typeface="Calibri" panose="020F0502020204030204" pitchFamily="34" charset="0"/>
              </a:rPr>
              <a:t>ORDER BY </a:t>
            </a:r>
            <a:r>
              <a:rPr lang="he-IL" sz="1800" dirty="0">
                <a:cs typeface="Calibri" panose="020F0502020204030204" pitchFamily="34" charset="0"/>
              </a:rPr>
              <a:t> משמשת כדי למיין את קבוצת התוצאות בסדר עולה או יורד. </a:t>
            </a:r>
          </a:p>
          <a:p>
            <a:pPr marL="64008" indent="0" rtl="1">
              <a:buNone/>
            </a:pPr>
            <a:r>
              <a:rPr lang="he-IL" sz="1800" dirty="0">
                <a:cs typeface="Calibri" panose="020F0502020204030204" pitchFamily="34" charset="0"/>
              </a:rPr>
              <a:t>הפקודה ממיינת את הרשומות בסדר עולה (</a:t>
            </a:r>
            <a:r>
              <a:rPr lang="en-US" sz="1800" dirty="0">
                <a:cs typeface="Calibri" panose="020F0502020204030204" pitchFamily="34" charset="0"/>
              </a:rPr>
              <a:t>ASC</a:t>
            </a:r>
            <a:r>
              <a:rPr lang="he-IL" sz="1800" dirty="0">
                <a:cs typeface="Calibri" panose="020F0502020204030204" pitchFamily="34" charset="0"/>
              </a:rPr>
              <a:t>) כברירת מחדל. כדי למיין את הרשומות בסדר יורד, יש להשתמש במילת המפתח </a:t>
            </a:r>
            <a:r>
              <a:rPr lang="en-US" sz="1800" dirty="0">
                <a:cs typeface="Calibri" panose="020F0502020204030204" pitchFamily="34" charset="0"/>
              </a:rPr>
              <a:t>DESC</a:t>
            </a:r>
            <a:r>
              <a:rPr lang="he-IL" sz="1800" dirty="0">
                <a:cs typeface="Calibri" panose="020F0502020204030204" pitchFamily="34" charset="0"/>
              </a:rPr>
              <a:t>.</a:t>
            </a:r>
          </a:p>
          <a:p>
            <a:pPr marL="64008" indent="0" rtl="1">
              <a:buNone/>
            </a:pPr>
            <a:r>
              <a:rPr lang="en-US" sz="1800" dirty="0">
                <a:cs typeface="Calibri" panose="020F0502020204030204" pitchFamily="34" charset="0"/>
              </a:rPr>
              <a:t>Syntax:</a:t>
            </a: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כל ההזמנות ומיון עפ"י תאריך ההזמנה (בסדר עולה או יורד)</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D6C92FBF-691A-48A6-AB8F-66EC5A2BC435}"/>
              </a:ext>
            </a:extLst>
          </p:cNvPr>
          <p:cNvSpPr>
            <a:spLocks noGrp="1"/>
          </p:cNvSpPr>
          <p:nvPr>
            <p:ph type="title"/>
          </p:nvPr>
        </p:nvSpPr>
        <p:spPr/>
        <p:txBody>
          <a:bodyPr/>
          <a:lstStyle/>
          <a:p>
            <a:pPr algn="l"/>
            <a:r>
              <a:rPr lang="en-US" dirty="0"/>
              <a:t>ORDER BY</a:t>
            </a:r>
            <a:endParaRPr lang="he-IL" dirty="0"/>
          </a:p>
        </p:txBody>
      </p:sp>
      <p:sp>
        <p:nvSpPr>
          <p:cNvPr id="4" name="מציין מיקום של מספר שקופית 3">
            <a:extLst>
              <a:ext uri="{FF2B5EF4-FFF2-40B4-BE49-F238E27FC236}">
                <a16:creationId xmlns:a16="http://schemas.microsoft.com/office/drawing/2014/main" id="{9700CC8B-358D-4463-A018-F92B0488A1BC}"/>
              </a:ext>
            </a:extLst>
          </p:cNvPr>
          <p:cNvSpPr>
            <a:spLocks noGrp="1"/>
          </p:cNvSpPr>
          <p:nvPr>
            <p:ph type="sldNum" sz="quarter" idx="11"/>
          </p:nvPr>
        </p:nvSpPr>
        <p:spPr/>
        <p:txBody>
          <a:bodyPr/>
          <a:lstStyle/>
          <a:p>
            <a:fld id="{746FD205-8D79-439C-A802-2377436AEC8A}" type="slidenum">
              <a:rPr lang="he-IL" smtClean="0"/>
              <a:pPr/>
              <a:t>74</a:t>
            </a:fld>
            <a:endParaRPr lang="he-IL"/>
          </a:p>
        </p:txBody>
      </p:sp>
      <p:pic>
        <p:nvPicPr>
          <p:cNvPr id="6" name="תמונה 5">
            <a:extLst>
              <a:ext uri="{FF2B5EF4-FFF2-40B4-BE49-F238E27FC236}">
                <a16:creationId xmlns:a16="http://schemas.microsoft.com/office/drawing/2014/main" id="{5B42E5BA-03C6-481A-A899-27E34C586F15}"/>
              </a:ext>
            </a:extLst>
          </p:cNvPr>
          <p:cNvPicPr>
            <a:picLocks noChangeAspect="1"/>
          </p:cNvPicPr>
          <p:nvPr/>
        </p:nvPicPr>
        <p:blipFill>
          <a:blip r:embed="rId2"/>
          <a:stretch>
            <a:fillRect/>
          </a:stretch>
        </p:blipFill>
        <p:spPr>
          <a:xfrm>
            <a:off x="5257800" y="2971800"/>
            <a:ext cx="3257550" cy="695325"/>
          </a:xfrm>
          <a:prstGeom prst="rect">
            <a:avLst/>
          </a:prstGeom>
        </p:spPr>
      </p:pic>
      <p:pic>
        <p:nvPicPr>
          <p:cNvPr id="7" name="תמונה 6">
            <a:extLst>
              <a:ext uri="{FF2B5EF4-FFF2-40B4-BE49-F238E27FC236}">
                <a16:creationId xmlns:a16="http://schemas.microsoft.com/office/drawing/2014/main" id="{011F3C2B-004F-4FF5-9A9E-F1742C217FFF}"/>
              </a:ext>
            </a:extLst>
          </p:cNvPr>
          <p:cNvPicPr>
            <a:picLocks noChangeAspect="1"/>
          </p:cNvPicPr>
          <p:nvPr/>
        </p:nvPicPr>
        <p:blipFill>
          <a:blip r:embed="rId3"/>
          <a:stretch>
            <a:fillRect/>
          </a:stretch>
        </p:blipFill>
        <p:spPr>
          <a:xfrm>
            <a:off x="879541" y="4542786"/>
            <a:ext cx="2066925" cy="790575"/>
          </a:xfrm>
          <a:prstGeom prst="rect">
            <a:avLst/>
          </a:prstGeom>
        </p:spPr>
      </p:pic>
      <p:pic>
        <p:nvPicPr>
          <p:cNvPr id="8" name="תמונה 7">
            <a:extLst>
              <a:ext uri="{FF2B5EF4-FFF2-40B4-BE49-F238E27FC236}">
                <a16:creationId xmlns:a16="http://schemas.microsoft.com/office/drawing/2014/main" id="{357C5823-34EC-44BE-98FF-A2F3BEEF6C92}"/>
              </a:ext>
            </a:extLst>
          </p:cNvPr>
          <p:cNvPicPr>
            <a:picLocks noChangeAspect="1"/>
          </p:cNvPicPr>
          <p:nvPr/>
        </p:nvPicPr>
        <p:blipFill>
          <a:blip r:embed="rId4"/>
          <a:stretch>
            <a:fillRect/>
          </a:stretch>
        </p:blipFill>
        <p:spPr>
          <a:xfrm>
            <a:off x="852046" y="5629275"/>
            <a:ext cx="2714625" cy="695325"/>
          </a:xfrm>
          <a:prstGeom prst="rect">
            <a:avLst/>
          </a:prstGeom>
        </p:spPr>
      </p:pic>
      <p:pic>
        <p:nvPicPr>
          <p:cNvPr id="9" name="תמונה 8">
            <a:extLst>
              <a:ext uri="{FF2B5EF4-FFF2-40B4-BE49-F238E27FC236}">
                <a16:creationId xmlns:a16="http://schemas.microsoft.com/office/drawing/2014/main" id="{B485FE5C-F85C-4FE2-BA0B-14A19E349F29}"/>
              </a:ext>
            </a:extLst>
          </p:cNvPr>
          <p:cNvPicPr>
            <a:picLocks noChangeAspect="1"/>
          </p:cNvPicPr>
          <p:nvPr/>
        </p:nvPicPr>
        <p:blipFill>
          <a:blip r:embed="rId5"/>
          <a:stretch>
            <a:fillRect/>
          </a:stretch>
        </p:blipFill>
        <p:spPr>
          <a:xfrm>
            <a:off x="4560217" y="4555355"/>
            <a:ext cx="2495550" cy="790575"/>
          </a:xfrm>
          <a:prstGeom prst="rect">
            <a:avLst/>
          </a:prstGeom>
        </p:spPr>
      </p:pic>
      <p:pic>
        <p:nvPicPr>
          <p:cNvPr id="10" name="תמונה 9">
            <a:extLst>
              <a:ext uri="{FF2B5EF4-FFF2-40B4-BE49-F238E27FC236}">
                <a16:creationId xmlns:a16="http://schemas.microsoft.com/office/drawing/2014/main" id="{CC608CED-2171-4467-AA01-178C9AD3E274}"/>
              </a:ext>
            </a:extLst>
          </p:cNvPr>
          <p:cNvPicPr>
            <a:picLocks noChangeAspect="1"/>
          </p:cNvPicPr>
          <p:nvPr/>
        </p:nvPicPr>
        <p:blipFill>
          <a:blip r:embed="rId6"/>
          <a:stretch>
            <a:fillRect/>
          </a:stretch>
        </p:blipFill>
        <p:spPr>
          <a:xfrm>
            <a:off x="4560217" y="5629275"/>
            <a:ext cx="2809875" cy="790575"/>
          </a:xfrm>
          <a:prstGeom prst="rect">
            <a:avLst/>
          </a:prstGeom>
        </p:spPr>
      </p:pic>
    </p:spTree>
    <p:extLst>
      <p:ext uri="{BB962C8B-B14F-4D97-AF65-F5344CB8AC3E}">
        <p14:creationId xmlns:p14="http://schemas.microsoft.com/office/powerpoint/2010/main" val="6301841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A3357B4-B7AE-4444-9907-DCAEC6C73C4E}"/>
              </a:ext>
            </a:extLst>
          </p:cNvPr>
          <p:cNvSpPr>
            <a:spLocks noGrp="1"/>
          </p:cNvSpPr>
          <p:nvPr>
            <p:ph idx="1"/>
          </p:nvPr>
        </p:nvSpPr>
        <p:spPr/>
        <p:txBody>
          <a:bodyPr/>
          <a:lstStyle/>
          <a:p>
            <a:pPr marL="64008" indent="0">
              <a:buNone/>
            </a:pPr>
            <a:r>
              <a:rPr lang="he-IL" sz="1800" dirty="0">
                <a:cs typeface="Calibri" panose="020F0502020204030204" pitchFamily="34" charset="0"/>
              </a:rPr>
              <a:t>ניתן למיין את התוצאות גם בהסתמך על יותר מעמודה אחת. </a:t>
            </a:r>
          </a:p>
          <a:p>
            <a:pPr marL="64008" indent="0">
              <a:buNone/>
            </a:pPr>
            <a:r>
              <a:rPr lang="he-IL" sz="1800" dirty="0">
                <a:cs typeface="Calibri" panose="020F0502020204030204" pitchFamily="34" charset="0"/>
              </a:rPr>
              <a:t>התוצאות ימוינו קודם כל לפי העמודה הראשונה שנכתבה, אח"כ לפי העמודה השנייה </a:t>
            </a:r>
            <a:r>
              <a:rPr lang="he-IL" sz="1800" dirty="0" err="1">
                <a:cs typeface="Calibri" panose="020F0502020204030204" pitchFamily="34" charset="0"/>
              </a:rPr>
              <a:t>וכו</a:t>
            </a:r>
            <a:r>
              <a:rPr lang="he-IL" sz="1800" dirty="0">
                <a:cs typeface="Calibri" panose="020F0502020204030204" pitchFamily="34" charset="0"/>
              </a:rPr>
              <a:t>.</a:t>
            </a:r>
          </a:p>
          <a:p>
            <a:pPr marL="64008" indent="0">
              <a:buNone/>
            </a:pPr>
            <a:r>
              <a:rPr lang="he-IL" sz="1800" dirty="0">
                <a:cs typeface="Calibri" panose="020F0502020204030204" pitchFamily="34" charset="0"/>
              </a:rPr>
              <a:t>לדוגמא:</a:t>
            </a:r>
          </a:p>
          <a:p>
            <a:pPr marL="64008" indent="0">
              <a:buNone/>
            </a:pPr>
            <a:r>
              <a:rPr lang="he-IL" sz="1800" dirty="0">
                <a:cs typeface="Calibri" panose="020F0502020204030204" pitchFamily="34" charset="0"/>
              </a:rPr>
              <a:t>שליפת שמות כל העובדים ומיונם עפ"י שם משפחה, ואח"כ שם פרטי.</a:t>
            </a: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52E9A0C-D5E9-41D8-8FF9-7F36E087C3F4}"/>
              </a:ext>
            </a:extLst>
          </p:cNvPr>
          <p:cNvSpPr>
            <a:spLocks noGrp="1"/>
          </p:cNvSpPr>
          <p:nvPr>
            <p:ph type="title"/>
          </p:nvPr>
        </p:nvSpPr>
        <p:spPr/>
        <p:txBody>
          <a:bodyPr/>
          <a:lstStyle/>
          <a:p>
            <a:pPr algn="l"/>
            <a:r>
              <a:rPr lang="en-US" dirty="0"/>
              <a:t>ORDER BY</a:t>
            </a:r>
            <a:endParaRPr lang="he-IL" dirty="0"/>
          </a:p>
        </p:txBody>
      </p:sp>
      <p:sp>
        <p:nvSpPr>
          <p:cNvPr id="4" name="מציין מיקום של מספר שקופית 3">
            <a:extLst>
              <a:ext uri="{FF2B5EF4-FFF2-40B4-BE49-F238E27FC236}">
                <a16:creationId xmlns:a16="http://schemas.microsoft.com/office/drawing/2014/main" id="{D44E77C8-D604-4EE5-B963-C2AEEFA11264}"/>
              </a:ext>
            </a:extLst>
          </p:cNvPr>
          <p:cNvSpPr>
            <a:spLocks noGrp="1"/>
          </p:cNvSpPr>
          <p:nvPr>
            <p:ph type="sldNum" sz="quarter" idx="11"/>
          </p:nvPr>
        </p:nvSpPr>
        <p:spPr/>
        <p:txBody>
          <a:bodyPr/>
          <a:lstStyle/>
          <a:p>
            <a:fld id="{746FD205-8D79-439C-A802-2377436AEC8A}" type="slidenum">
              <a:rPr lang="he-IL" smtClean="0"/>
              <a:pPr/>
              <a:t>75</a:t>
            </a:fld>
            <a:endParaRPr lang="he-IL"/>
          </a:p>
        </p:txBody>
      </p:sp>
      <p:pic>
        <p:nvPicPr>
          <p:cNvPr id="5" name="תמונה 4">
            <a:extLst>
              <a:ext uri="{FF2B5EF4-FFF2-40B4-BE49-F238E27FC236}">
                <a16:creationId xmlns:a16="http://schemas.microsoft.com/office/drawing/2014/main" id="{4E8D621C-FF51-448A-87E1-2177A857F251}"/>
              </a:ext>
            </a:extLst>
          </p:cNvPr>
          <p:cNvPicPr>
            <a:picLocks noChangeAspect="1"/>
          </p:cNvPicPr>
          <p:nvPr/>
        </p:nvPicPr>
        <p:blipFill>
          <a:blip r:embed="rId2"/>
          <a:stretch>
            <a:fillRect/>
          </a:stretch>
        </p:blipFill>
        <p:spPr>
          <a:xfrm>
            <a:off x="1838326" y="3200400"/>
            <a:ext cx="3333750" cy="800100"/>
          </a:xfrm>
          <a:prstGeom prst="rect">
            <a:avLst/>
          </a:prstGeom>
        </p:spPr>
      </p:pic>
      <p:pic>
        <p:nvPicPr>
          <p:cNvPr id="6" name="תמונה 5">
            <a:extLst>
              <a:ext uri="{FF2B5EF4-FFF2-40B4-BE49-F238E27FC236}">
                <a16:creationId xmlns:a16="http://schemas.microsoft.com/office/drawing/2014/main" id="{04D1176D-02F9-4EE1-B895-4B5880BB06D9}"/>
              </a:ext>
            </a:extLst>
          </p:cNvPr>
          <p:cNvPicPr>
            <a:picLocks noChangeAspect="1"/>
          </p:cNvPicPr>
          <p:nvPr/>
        </p:nvPicPr>
        <p:blipFill>
          <a:blip r:embed="rId3"/>
          <a:stretch>
            <a:fillRect/>
          </a:stretch>
        </p:blipFill>
        <p:spPr>
          <a:xfrm>
            <a:off x="5715000" y="3200400"/>
            <a:ext cx="1343025" cy="2085975"/>
          </a:xfrm>
          <a:prstGeom prst="rect">
            <a:avLst/>
          </a:prstGeom>
        </p:spPr>
      </p:pic>
    </p:spTree>
    <p:extLst>
      <p:ext uri="{BB962C8B-B14F-4D97-AF65-F5344CB8AC3E}">
        <p14:creationId xmlns:p14="http://schemas.microsoft.com/office/powerpoint/2010/main" val="24336081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195DD6A3-26D0-42D5-A0B9-7B720437ECE3}"/>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על מסד הנתונים של בית הספר שיצרת בצעי את הפקודות הבאות:</a:t>
            </a:r>
          </a:p>
          <a:p>
            <a:pPr rtl="1">
              <a:buFont typeface="Courier New" panose="02070309020205020404" pitchFamily="49" charset="0"/>
              <a:buChar char="o"/>
            </a:pPr>
            <a:r>
              <a:rPr lang="he-IL" sz="1800" dirty="0">
                <a:cs typeface="Calibri" panose="020F0502020204030204" pitchFamily="34" charset="0"/>
              </a:rPr>
              <a:t>שלפי את כל המורות שעובדות לפחות 5 שנים בצורה ממוינת עפ"י שכר לשעה</a:t>
            </a:r>
          </a:p>
          <a:p>
            <a:pPr rtl="1">
              <a:buFont typeface="Courier New" panose="02070309020205020404" pitchFamily="49" charset="0"/>
              <a:buChar char="o"/>
            </a:pPr>
            <a:r>
              <a:rPr lang="he-IL" sz="1800" dirty="0">
                <a:cs typeface="Calibri" panose="020F0502020204030204" pitchFamily="34" charset="0"/>
              </a:rPr>
              <a:t>הציגי את פרטי התלמידות כך: שם פרטי +שרשור של האות הראשונה של שם המשפחה + תאריך לידה</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עדכני את שמות כל התלמידות בטבלה – שיהיו ללא רווחים בהתחלה ובסוף (שם פרטי ושם משפחה)</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הוסיפי שדה בונוס לטבלת מורות ועדכני אותו – כל שנת וותק תוסיף בונוס של 5% מהשכר לשעה, עגלי את החישוב כלפי מעלה </a:t>
            </a:r>
          </a:p>
          <a:p>
            <a:pPr rtl="1">
              <a:buFont typeface="Courier New" panose="02070309020205020404" pitchFamily="49" charset="0"/>
              <a:buChar char="o"/>
            </a:pPr>
            <a:r>
              <a:rPr lang="he-IL" sz="1800" dirty="0">
                <a:cs typeface="Calibri" panose="020F0502020204030204" pitchFamily="34" charset="0"/>
              </a:rPr>
              <a:t>שלפי פרטי מורה: שם פרטי שם משפחה, טקסט שמדפיס האם היא וותיקה/רגילה / חדשה: מורה שעובדת פחות משנתיים היא חדשה, מורה שעובדת בין שנתיים ל 7 היא רגילה, אחרת היא וותיקה.</a:t>
            </a:r>
          </a:p>
          <a:p>
            <a:pPr rtl="1">
              <a:buFont typeface="Courier New" panose="02070309020205020404" pitchFamily="49" charset="0"/>
              <a:buChar char="o"/>
            </a:pPr>
            <a:r>
              <a:rPr lang="he-IL" sz="1800" dirty="0">
                <a:cs typeface="Calibri" panose="020F0502020204030204" pitchFamily="34" charset="0"/>
              </a:rPr>
              <a:t>שלפי ציוני תלמידה ספציפית (עפ"י ת"ז) בצורה ממוינת בסדר יורד</a:t>
            </a:r>
          </a:p>
          <a:p>
            <a:pPr rtl="1">
              <a:buFont typeface="Courier New" panose="02070309020205020404" pitchFamily="49" charset="0"/>
              <a:buChar char="o"/>
            </a:pPr>
            <a:r>
              <a:rPr lang="he-IL" sz="1800" dirty="0">
                <a:cs typeface="Calibri" panose="020F0502020204030204" pitchFamily="34" charset="0"/>
              </a:rPr>
              <a:t>הוסיפי שדה חדש של סיסמה עבור כל מורה (מסוג </a:t>
            </a:r>
            <a:r>
              <a:rPr lang="en-US" sz="1800" dirty="0">
                <a:cs typeface="Calibri" panose="020F0502020204030204" pitchFamily="34" charset="0"/>
              </a:rPr>
              <a:t>varchar(30)</a:t>
            </a:r>
            <a:r>
              <a:rPr lang="he-IL" sz="1800" dirty="0">
                <a:cs typeface="Calibri" panose="020F0502020204030204" pitchFamily="34" charset="0"/>
              </a:rPr>
              <a:t>) – אפשרי בו </a:t>
            </a:r>
            <a:r>
              <a:rPr lang="en-US" sz="1800" dirty="0">
                <a:cs typeface="Calibri" panose="020F0502020204030204" pitchFamily="34" charset="0"/>
              </a:rPr>
              <a:t>null</a:t>
            </a:r>
            <a:r>
              <a:rPr lang="he-IL" sz="1800" dirty="0">
                <a:cs typeface="Calibri" panose="020F0502020204030204" pitchFamily="34" charset="0"/>
              </a:rPr>
              <a:t> כדי למנוע בעיות... עדכני את ערך השדה הזה לשתי הספרות האחרונות של הפלאפון+ חלק של שם המשפחה – מהאות השלישית והלאה</a:t>
            </a:r>
            <a:endParaRPr lang="en-US"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6A2CC5E6-0B34-4E00-A23C-34E3D7799CB3}"/>
              </a:ext>
            </a:extLst>
          </p:cNvPr>
          <p:cNvSpPr>
            <a:spLocks noGrp="1"/>
          </p:cNvSpPr>
          <p:nvPr>
            <p:ph type="title"/>
          </p:nvPr>
        </p:nvSpPr>
        <p:spPr/>
        <p:txBody>
          <a:bodyPr>
            <a:normAutofit/>
          </a:bodyPr>
          <a:lstStyle/>
          <a:p>
            <a:pPr rtl="1"/>
            <a:r>
              <a:rPr lang="en-US" sz="3200" dirty="0"/>
              <a:t>where</a:t>
            </a:r>
            <a:r>
              <a:rPr lang="he-IL" sz="3200" dirty="0"/>
              <a:t>+פונקציות </a:t>
            </a:r>
            <a:r>
              <a:rPr lang="he-IL" sz="3200" dirty="0" err="1"/>
              <a:t>סקלריות</a:t>
            </a:r>
            <a:r>
              <a:rPr lang="he-IL" sz="3200" dirty="0"/>
              <a:t> + </a:t>
            </a:r>
            <a:r>
              <a:rPr lang="en-US" sz="3200" dirty="0"/>
              <a:t>order by</a:t>
            </a:r>
            <a:r>
              <a:rPr lang="he-IL" sz="3200" dirty="0"/>
              <a:t> - תרגיל</a:t>
            </a:r>
          </a:p>
        </p:txBody>
      </p:sp>
      <p:sp>
        <p:nvSpPr>
          <p:cNvPr id="4" name="מציין מיקום של מספר שקופית 3">
            <a:extLst>
              <a:ext uri="{FF2B5EF4-FFF2-40B4-BE49-F238E27FC236}">
                <a16:creationId xmlns:a16="http://schemas.microsoft.com/office/drawing/2014/main" id="{D65E37C7-04A5-42BF-984D-3E3B22A2B0DB}"/>
              </a:ext>
            </a:extLst>
          </p:cNvPr>
          <p:cNvSpPr>
            <a:spLocks noGrp="1"/>
          </p:cNvSpPr>
          <p:nvPr>
            <p:ph type="sldNum" sz="quarter" idx="11"/>
          </p:nvPr>
        </p:nvSpPr>
        <p:spPr/>
        <p:txBody>
          <a:bodyPr/>
          <a:lstStyle/>
          <a:p>
            <a:fld id="{746FD205-8D79-439C-A802-2377436AEC8A}" type="slidenum">
              <a:rPr lang="he-IL" smtClean="0"/>
              <a:pPr/>
              <a:t>76</a:t>
            </a:fld>
            <a:endParaRPr lang="he-IL"/>
          </a:p>
        </p:txBody>
      </p:sp>
    </p:spTree>
    <p:extLst>
      <p:ext uri="{BB962C8B-B14F-4D97-AF65-F5344CB8AC3E}">
        <p14:creationId xmlns:p14="http://schemas.microsoft.com/office/powerpoint/2010/main" val="8383285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AFFADC1-8BF9-46C3-BE6B-1288EE172D06}"/>
              </a:ext>
            </a:extLst>
          </p:cNvPr>
          <p:cNvSpPr>
            <a:spLocks noGrp="1"/>
          </p:cNvSpPr>
          <p:nvPr>
            <p:ph idx="1"/>
          </p:nvPr>
        </p:nvSpPr>
        <p:spPr/>
        <p:txBody>
          <a:bodyPr/>
          <a:lstStyle/>
          <a:p>
            <a:pPr marL="64008" indent="0" rtl="1">
              <a:buNone/>
            </a:pPr>
            <a:r>
              <a:rPr lang="he-IL" sz="1800" dirty="0">
                <a:cs typeface="Calibri" panose="020F0502020204030204" pitchFamily="34" charset="0"/>
              </a:rPr>
              <a:t>ההבדל בין </a:t>
            </a:r>
            <a:r>
              <a:rPr lang="en-US" sz="1800" dirty="0">
                <a:cs typeface="Calibri" panose="020F0502020204030204" pitchFamily="34" charset="0"/>
              </a:rPr>
              <a:t>group functions</a:t>
            </a:r>
            <a:r>
              <a:rPr lang="he-IL" sz="1800" dirty="0">
                <a:cs typeface="Calibri" panose="020F0502020204030204" pitchFamily="34" charset="0"/>
              </a:rPr>
              <a:t> ל </a:t>
            </a:r>
            <a:r>
              <a:rPr lang="en-US" sz="1800" dirty="0">
                <a:cs typeface="Calibri" panose="020F0502020204030204" pitchFamily="34" charset="0"/>
              </a:rPr>
              <a:t>scalar functions</a:t>
            </a:r>
            <a:r>
              <a:rPr lang="he-IL" sz="1800" dirty="0">
                <a:cs typeface="Calibri" panose="020F0502020204030204" pitchFamily="34" charset="0"/>
              </a:rPr>
              <a:t>:</a:t>
            </a:r>
          </a:p>
          <a:p>
            <a:pPr marL="64008" indent="0" rtl="1">
              <a:buNone/>
            </a:pPr>
            <a:r>
              <a:rPr lang="en-US" sz="1800" dirty="0">
                <a:cs typeface="Calibri" panose="020F0502020204030204" pitchFamily="34" charset="0"/>
              </a:rPr>
              <a:t>Scalar functions</a:t>
            </a:r>
            <a:r>
              <a:rPr lang="he-IL" sz="1800" dirty="0">
                <a:cs typeface="Calibri" panose="020F0502020204030204" pitchFamily="34" charset="0"/>
              </a:rPr>
              <a:t> הן פונקציות שמחזירות ערך עבור כל רשומה בטבלה - הפונקציה מבוצעת על כל שורה בנפרד. לדוגמא: הפונקציה </a:t>
            </a:r>
            <a:r>
              <a:rPr lang="en-US" sz="1800" dirty="0">
                <a:cs typeface="Calibri" panose="020F0502020204030204" pitchFamily="34" charset="0"/>
              </a:rPr>
              <a:t>UPPER</a:t>
            </a:r>
            <a:r>
              <a:rPr lang="he-IL" sz="1800" dirty="0">
                <a:cs typeface="Calibri" panose="020F0502020204030204" pitchFamily="34" charset="0"/>
              </a:rPr>
              <a:t> תחזיר ערך של כל שורה בעמודה באותיות גדולות.</a:t>
            </a:r>
          </a:p>
          <a:p>
            <a:pPr marL="64008" indent="0" rtl="1">
              <a:buNone/>
            </a:pPr>
            <a:r>
              <a:rPr lang="en-US" sz="1800" dirty="0">
                <a:cs typeface="Calibri" panose="020F0502020204030204" pitchFamily="34" charset="0"/>
              </a:rPr>
              <a:t>Group functions</a:t>
            </a:r>
            <a:r>
              <a:rPr lang="he-IL" sz="1800" dirty="0">
                <a:cs typeface="Calibri" panose="020F0502020204030204" pitchFamily="34" charset="0"/>
              </a:rPr>
              <a:t> לעומת זאת לא מחזירות תוצאה עבור כל שורה אלא עבור כל קבוצת רשומות.</a:t>
            </a:r>
          </a:p>
          <a:p>
            <a:pPr marL="64008" indent="0" rtl="1">
              <a:buNone/>
            </a:pPr>
            <a:r>
              <a:rPr lang="en-US" sz="1800" dirty="0">
                <a:cs typeface="Calibri" panose="020F0502020204030204" pitchFamily="34" charset="0"/>
              </a:rPr>
              <a:t>Group functions</a:t>
            </a:r>
            <a:r>
              <a:rPr lang="he-IL" sz="1800" dirty="0">
                <a:cs typeface="Calibri" panose="020F0502020204030204" pitchFamily="34" charset="0"/>
              </a:rPr>
              <a:t> הן בד"כ פונקציות נומריות (ניתן לראות את כולן כחלק מהרשימה המלאה של ה </a:t>
            </a:r>
            <a:r>
              <a:rPr lang="en-US" sz="1800" dirty="0">
                <a:cs typeface="Calibri" panose="020F0502020204030204" pitchFamily="34" charset="0"/>
              </a:rPr>
              <a:t>numeric functions</a:t>
            </a:r>
            <a:r>
              <a:rPr lang="he-IL" sz="1800" dirty="0">
                <a:cs typeface="Calibri" panose="020F0502020204030204" pitchFamily="34" charset="0"/>
              </a:rPr>
              <a:t> שלעיל).</a:t>
            </a:r>
          </a:p>
          <a:p>
            <a:pPr marL="64008" indent="0" rtl="1">
              <a:buNone/>
            </a:pPr>
            <a:endParaRPr lang="he-IL" sz="1800" dirty="0">
              <a:cs typeface="Calibri" panose="020F0502020204030204" pitchFamily="34" charset="0"/>
            </a:endParaRPr>
          </a:p>
          <a:p>
            <a:pPr marL="64008" indent="0">
              <a:buNone/>
            </a:pPr>
            <a:endParaRPr lang="he-IL" dirty="0"/>
          </a:p>
        </p:txBody>
      </p:sp>
      <p:sp>
        <p:nvSpPr>
          <p:cNvPr id="3" name="כותרת 2">
            <a:extLst>
              <a:ext uri="{FF2B5EF4-FFF2-40B4-BE49-F238E27FC236}">
                <a16:creationId xmlns:a16="http://schemas.microsoft.com/office/drawing/2014/main" id="{DE559E13-F27A-4710-961C-1F3BD5B0079A}"/>
              </a:ext>
            </a:extLst>
          </p:cNvPr>
          <p:cNvSpPr>
            <a:spLocks noGrp="1"/>
          </p:cNvSpPr>
          <p:nvPr>
            <p:ph type="title"/>
          </p:nvPr>
        </p:nvSpPr>
        <p:spPr/>
        <p:txBody>
          <a:bodyPr/>
          <a:lstStyle/>
          <a:p>
            <a:pPr algn="l"/>
            <a:r>
              <a:rPr lang="en-US" dirty="0"/>
              <a:t>Group functions</a:t>
            </a:r>
            <a:endParaRPr lang="he-IL" dirty="0"/>
          </a:p>
        </p:txBody>
      </p:sp>
      <p:sp>
        <p:nvSpPr>
          <p:cNvPr id="4" name="מציין מיקום של מספר שקופית 3">
            <a:extLst>
              <a:ext uri="{FF2B5EF4-FFF2-40B4-BE49-F238E27FC236}">
                <a16:creationId xmlns:a16="http://schemas.microsoft.com/office/drawing/2014/main" id="{D6147877-C362-4032-B12C-9A3AE7437F53}"/>
              </a:ext>
            </a:extLst>
          </p:cNvPr>
          <p:cNvSpPr>
            <a:spLocks noGrp="1"/>
          </p:cNvSpPr>
          <p:nvPr>
            <p:ph type="sldNum" sz="quarter" idx="11"/>
          </p:nvPr>
        </p:nvSpPr>
        <p:spPr/>
        <p:txBody>
          <a:bodyPr/>
          <a:lstStyle/>
          <a:p>
            <a:fld id="{746FD205-8D79-439C-A802-2377436AEC8A}" type="slidenum">
              <a:rPr lang="he-IL" smtClean="0"/>
              <a:pPr/>
              <a:t>77</a:t>
            </a:fld>
            <a:endParaRPr lang="he-IL"/>
          </a:p>
        </p:txBody>
      </p:sp>
    </p:spTree>
    <p:extLst>
      <p:ext uri="{BB962C8B-B14F-4D97-AF65-F5344CB8AC3E}">
        <p14:creationId xmlns:p14="http://schemas.microsoft.com/office/powerpoint/2010/main" val="14329690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3B320A1-4221-492B-A925-03E3F4F0A31A}"/>
              </a:ext>
            </a:extLst>
          </p:cNvPr>
          <p:cNvSpPr>
            <a:spLocks noGrp="1"/>
          </p:cNvSpPr>
          <p:nvPr>
            <p:ph idx="1"/>
          </p:nvPr>
        </p:nvSpPr>
        <p:spPr/>
        <p:txBody>
          <a:bodyPr/>
          <a:lstStyle/>
          <a:p>
            <a:pPr marL="64008" indent="0" rtl="1">
              <a:buNone/>
            </a:pPr>
            <a:r>
              <a:rPr lang="en-US" sz="1800" b="1" dirty="0">
                <a:cs typeface="Calibri" panose="020F0502020204030204" pitchFamily="34" charset="0"/>
              </a:rPr>
              <a:t>Min, Max</a:t>
            </a:r>
            <a:r>
              <a:rPr lang="he-IL" sz="1800" b="1" dirty="0">
                <a:cs typeface="Calibri" panose="020F0502020204030204" pitchFamily="34" charset="0"/>
              </a:rPr>
              <a:t> </a:t>
            </a:r>
            <a:r>
              <a:rPr lang="he-IL" sz="1800" dirty="0">
                <a:cs typeface="Calibri" panose="020F0502020204030204" pitchFamily="34" charset="0"/>
              </a:rPr>
              <a:t>– </a:t>
            </a:r>
          </a:p>
          <a:p>
            <a:pPr marL="64008" indent="0" rtl="1">
              <a:buNone/>
            </a:pPr>
            <a:r>
              <a:rPr lang="he-IL" sz="1800" dirty="0">
                <a:cs typeface="Calibri" panose="020F0502020204030204" pitchFamily="34" charset="0"/>
              </a:rPr>
              <a:t>הפונקציה</a:t>
            </a:r>
            <a:r>
              <a:rPr lang="en-US" sz="1800" dirty="0">
                <a:cs typeface="Calibri" panose="020F0502020204030204" pitchFamily="34" charset="0"/>
              </a:rPr>
              <a:t> MIN() </a:t>
            </a:r>
            <a:r>
              <a:rPr lang="he-IL" sz="1800" dirty="0">
                <a:cs typeface="Calibri" panose="020F0502020204030204" pitchFamily="34" charset="0"/>
              </a:rPr>
              <a:t>מחזירה את הערך הקטן ביותר של העמודה שנבחרה.</a:t>
            </a:r>
          </a:p>
          <a:p>
            <a:pPr marL="64008" indent="0" rtl="1">
              <a:buNone/>
            </a:pPr>
            <a:r>
              <a:rPr lang="he-IL" sz="1800" dirty="0">
                <a:cs typeface="Calibri" panose="020F0502020204030204" pitchFamily="34" charset="0"/>
              </a:rPr>
              <a:t>הפונקציה</a:t>
            </a:r>
            <a:r>
              <a:rPr lang="en-US" sz="1800" dirty="0">
                <a:cs typeface="Calibri" panose="020F0502020204030204" pitchFamily="34" charset="0"/>
              </a:rPr>
              <a:t>MAX() </a:t>
            </a:r>
            <a:r>
              <a:rPr lang="he-IL" sz="1800" dirty="0">
                <a:cs typeface="Calibri" panose="020F0502020204030204" pitchFamily="34" charset="0"/>
              </a:rPr>
              <a:t> מחזירה את הערך הגדול ביותר של העמודה שנבחרה.</a:t>
            </a:r>
          </a:p>
          <a:p>
            <a:pPr marL="64008" indent="0" rtl="1">
              <a:buNone/>
            </a:pPr>
            <a:r>
              <a:rPr lang="en-US" sz="1800" dirty="0">
                <a:cs typeface="Calibri" panose="020F0502020204030204" pitchFamily="34" charset="0"/>
              </a:rPr>
              <a:t>Syntax:</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5A06C83-E21F-4848-8184-300DA23C330E}"/>
              </a:ext>
            </a:extLst>
          </p:cNvPr>
          <p:cNvSpPr>
            <a:spLocks noGrp="1"/>
          </p:cNvSpPr>
          <p:nvPr>
            <p:ph type="title"/>
          </p:nvPr>
        </p:nvSpPr>
        <p:spPr/>
        <p:txBody>
          <a:bodyPr/>
          <a:lstStyle/>
          <a:p>
            <a:pPr algn="l"/>
            <a:r>
              <a:rPr lang="en-US" dirty="0"/>
              <a:t>Group functions</a:t>
            </a:r>
            <a:endParaRPr lang="he-IL" dirty="0"/>
          </a:p>
        </p:txBody>
      </p:sp>
      <p:sp>
        <p:nvSpPr>
          <p:cNvPr id="4" name="מציין מיקום של מספר שקופית 3">
            <a:extLst>
              <a:ext uri="{FF2B5EF4-FFF2-40B4-BE49-F238E27FC236}">
                <a16:creationId xmlns:a16="http://schemas.microsoft.com/office/drawing/2014/main" id="{A93E0C1C-4E38-4DA6-835F-91DC24DA4548}"/>
              </a:ext>
            </a:extLst>
          </p:cNvPr>
          <p:cNvSpPr>
            <a:spLocks noGrp="1"/>
          </p:cNvSpPr>
          <p:nvPr>
            <p:ph type="sldNum" sz="quarter" idx="11"/>
          </p:nvPr>
        </p:nvSpPr>
        <p:spPr/>
        <p:txBody>
          <a:bodyPr/>
          <a:lstStyle/>
          <a:p>
            <a:fld id="{746FD205-8D79-439C-A802-2377436AEC8A}" type="slidenum">
              <a:rPr lang="he-IL" smtClean="0"/>
              <a:pPr/>
              <a:t>78</a:t>
            </a:fld>
            <a:endParaRPr lang="he-IL"/>
          </a:p>
        </p:txBody>
      </p:sp>
      <p:pic>
        <p:nvPicPr>
          <p:cNvPr id="5" name="תמונה 4">
            <a:extLst>
              <a:ext uri="{FF2B5EF4-FFF2-40B4-BE49-F238E27FC236}">
                <a16:creationId xmlns:a16="http://schemas.microsoft.com/office/drawing/2014/main" id="{3B4221EF-9368-49D7-9E96-C80889C9F7D9}"/>
              </a:ext>
            </a:extLst>
          </p:cNvPr>
          <p:cNvPicPr>
            <a:picLocks noChangeAspect="1"/>
          </p:cNvPicPr>
          <p:nvPr/>
        </p:nvPicPr>
        <p:blipFill>
          <a:blip r:embed="rId2"/>
          <a:stretch>
            <a:fillRect/>
          </a:stretch>
        </p:blipFill>
        <p:spPr>
          <a:xfrm>
            <a:off x="4876800" y="2890887"/>
            <a:ext cx="1878013" cy="619125"/>
          </a:xfrm>
          <a:prstGeom prst="rect">
            <a:avLst/>
          </a:prstGeom>
        </p:spPr>
      </p:pic>
      <p:pic>
        <p:nvPicPr>
          <p:cNvPr id="6" name="תמונה 5">
            <a:extLst>
              <a:ext uri="{FF2B5EF4-FFF2-40B4-BE49-F238E27FC236}">
                <a16:creationId xmlns:a16="http://schemas.microsoft.com/office/drawing/2014/main" id="{F2B38551-DAD9-4E57-87C1-36001F04660F}"/>
              </a:ext>
            </a:extLst>
          </p:cNvPr>
          <p:cNvPicPr>
            <a:picLocks noChangeAspect="1"/>
          </p:cNvPicPr>
          <p:nvPr/>
        </p:nvPicPr>
        <p:blipFill>
          <a:blip r:embed="rId3"/>
          <a:stretch>
            <a:fillRect/>
          </a:stretch>
        </p:blipFill>
        <p:spPr>
          <a:xfrm>
            <a:off x="6858000" y="2895600"/>
            <a:ext cx="1647825" cy="619125"/>
          </a:xfrm>
          <a:prstGeom prst="rect">
            <a:avLst/>
          </a:prstGeom>
        </p:spPr>
      </p:pic>
      <p:pic>
        <p:nvPicPr>
          <p:cNvPr id="7" name="תמונה 6">
            <a:extLst>
              <a:ext uri="{FF2B5EF4-FFF2-40B4-BE49-F238E27FC236}">
                <a16:creationId xmlns:a16="http://schemas.microsoft.com/office/drawing/2014/main" id="{783F3772-28D1-46EE-8C3A-F73604B0E209}"/>
              </a:ext>
            </a:extLst>
          </p:cNvPr>
          <p:cNvPicPr>
            <a:picLocks noChangeAspect="1"/>
          </p:cNvPicPr>
          <p:nvPr/>
        </p:nvPicPr>
        <p:blipFill>
          <a:blip r:embed="rId4"/>
          <a:stretch>
            <a:fillRect/>
          </a:stretch>
        </p:blipFill>
        <p:spPr>
          <a:xfrm>
            <a:off x="3343094" y="3868536"/>
            <a:ext cx="3819706" cy="551064"/>
          </a:xfrm>
          <a:prstGeom prst="rect">
            <a:avLst/>
          </a:prstGeom>
        </p:spPr>
      </p:pic>
      <p:pic>
        <p:nvPicPr>
          <p:cNvPr id="8" name="תמונה 7">
            <a:extLst>
              <a:ext uri="{FF2B5EF4-FFF2-40B4-BE49-F238E27FC236}">
                <a16:creationId xmlns:a16="http://schemas.microsoft.com/office/drawing/2014/main" id="{D449FBB7-63B7-43F2-9050-375FDAF94179}"/>
              </a:ext>
            </a:extLst>
          </p:cNvPr>
          <p:cNvPicPr>
            <a:picLocks noChangeAspect="1"/>
          </p:cNvPicPr>
          <p:nvPr/>
        </p:nvPicPr>
        <p:blipFill>
          <a:blip r:embed="rId5"/>
          <a:stretch>
            <a:fillRect/>
          </a:stretch>
        </p:blipFill>
        <p:spPr>
          <a:xfrm>
            <a:off x="7343775" y="3868536"/>
            <a:ext cx="1162050" cy="419100"/>
          </a:xfrm>
          <a:prstGeom prst="rect">
            <a:avLst/>
          </a:prstGeom>
        </p:spPr>
      </p:pic>
    </p:spTree>
    <p:extLst>
      <p:ext uri="{BB962C8B-B14F-4D97-AF65-F5344CB8AC3E}">
        <p14:creationId xmlns:p14="http://schemas.microsoft.com/office/powerpoint/2010/main" val="10532449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F1FC471-337D-4288-9025-574F675D0F4E}"/>
              </a:ext>
            </a:extLst>
          </p:cNvPr>
          <p:cNvSpPr>
            <a:spLocks noGrp="1"/>
          </p:cNvSpPr>
          <p:nvPr>
            <p:ph idx="1"/>
          </p:nvPr>
        </p:nvSpPr>
        <p:spPr/>
        <p:txBody>
          <a:bodyPr/>
          <a:lstStyle/>
          <a:p>
            <a:pPr marL="64008" indent="0" rtl="1">
              <a:buNone/>
            </a:pPr>
            <a:r>
              <a:rPr lang="en-US" sz="1800" b="1" dirty="0">
                <a:cs typeface="Calibri" panose="020F0502020204030204" pitchFamily="34" charset="0"/>
              </a:rPr>
              <a:t>Count</a:t>
            </a:r>
            <a:r>
              <a:rPr lang="he-IL" sz="1800" dirty="0">
                <a:cs typeface="Calibri" panose="020F0502020204030204" pitchFamily="34" charset="0"/>
              </a:rPr>
              <a:t>  - הפונקציה מחזירה את מספר השורות התואמות לקריטריון שצוין.</a:t>
            </a:r>
          </a:p>
          <a:p>
            <a:pPr marL="64008" indent="0" rtl="1">
              <a:buNone/>
            </a:pPr>
            <a:r>
              <a:rPr lang="en-US" sz="1800" dirty="0">
                <a:cs typeface="Calibri" panose="020F0502020204030204" pitchFamily="34" charset="0"/>
              </a:rPr>
              <a:t>Syntax:</a:t>
            </a:r>
            <a:r>
              <a:rPr lang="he-IL" sz="1800" dirty="0">
                <a:cs typeface="Calibri" panose="020F0502020204030204" pitchFamily="34" charset="0"/>
              </a:rPr>
              <a:t>                              דוגמא:</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Avg</a:t>
            </a:r>
            <a:r>
              <a:rPr lang="he-IL" sz="1800" dirty="0">
                <a:cs typeface="Calibri" panose="020F0502020204030204" pitchFamily="34" charset="0"/>
              </a:rPr>
              <a:t> – הפונקציה מחזירה את הערך הממוצע של עמודה מספרית.</a:t>
            </a:r>
          </a:p>
          <a:p>
            <a:pPr marL="64008" indent="0" rtl="1">
              <a:buNone/>
            </a:pPr>
            <a:r>
              <a:rPr lang="en-US" sz="1800" dirty="0">
                <a:cs typeface="Calibri" panose="020F0502020204030204" pitchFamily="34" charset="0"/>
              </a:rPr>
              <a:t>Syntax:</a:t>
            </a:r>
            <a:r>
              <a:rPr lang="he-IL" sz="1800" dirty="0">
                <a:cs typeface="Calibri" panose="020F0502020204030204" pitchFamily="34" charset="0"/>
              </a:rPr>
              <a:t>                             דוגמא:</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Sum</a:t>
            </a:r>
            <a:r>
              <a:rPr lang="he-IL" sz="1800" dirty="0">
                <a:cs typeface="Calibri" panose="020F0502020204030204" pitchFamily="34" charset="0"/>
              </a:rPr>
              <a:t> – הפונקציה מחזירה את הערך הכולל של עמודה מספרית.</a:t>
            </a:r>
          </a:p>
          <a:p>
            <a:pPr marL="64008" indent="0" rtl="1">
              <a:buNone/>
            </a:pPr>
            <a:r>
              <a:rPr lang="en-US" sz="1800" dirty="0">
                <a:cs typeface="Calibri" panose="020F0502020204030204" pitchFamily="34" charset="0"/>
              </a:rPr>
              <a:t>Syntax:</a:t>
            </a:r>
            <a:r>
              <a:rPr lang="he-IL" sz="1800" dirty="0">
                <a:cs typeface="Calibri" panose="020F0502020204030204" pitchFamily="34" charset="0"/>
              </a:rPr>
              <a:t>                            דוגמא:</a:t>
            </a:r>
          </a:p>
          <a:p>
            <a:pPr marL="64008" indent="0" rtl="1">
              <a:buNone/>
            </a:pPr>
            <a:endParaRPr lang="en-US" sz="1800" dirty="0">
              <a:cs typeface="Calibri" panose="020F0502020204030204" pitchFamily="34" charset="0"/>
            </a:endParaRPr>
          </a:p>
          <a:p>
            <a:pPr marL="64008" indent="0" rtl="1">
              <a:buNone/>
            </a:pPr>
            <a:r>
              <a:rPr lang="en-US" sz="1800" dirty="0">
                <a:cs typeface="Calibri" panose="020F0502020204030204" pitchFamily="34" charset="0"/>
              </a:rPr>
              <a:t> </a:t>
            </a:r>
            <a:br>
              <a:rPr lang="en-US" sz="1800" dirty="0">
                <a:cs typeface="Calibri" panose="020F0502020204030204" pitchFamily="34" charset="0"/>
              </a:rPr>
            </a:br>
            <a:endParaRPr lang="en-US" sz="1800" dirty="0">
              <a:cs typeface="Calibri" panose="020F0502020204030204" pitchFamily="34" charset="0"/>
            </a:endParaRPr>
          </a:p>
          <a:p>
            <a:pPr marL="64008" indent="0" rtl="1">
              <a:buNone/>
            </a:pPr>
            <a:endParaRPr lang="he-IL" dirty="0"/>
          </a:p>
        </p:txBody>
      </p:sp>
      <p:sp>
        <p:nvSpPr>
          <p:cNvPr id="3" name="כותרת 2">
            <a:extLst>
              <a:ext uri="{FF2B5EF4-FFF2-40B4-BE49-F238E27FC236}">
                <a16:creationId xmlns:a16="http://schemas.microsoft.com/office/drawing/2014/main" id="{B5DCF189-79FA-4577-889D-91756DB17562}"/>
              </a:ext>
            </a:extLst>
          </p:cNvPr>
          <p:cNvSpPr>
            <a:spLocks noGrp="1"/>
          </p:cNvSpPr>
          <p:nvPr>
            <p:ph type="title"/>
          </p:nvPr>
        </p:nvSpPr>
        <p:spPr/>
        <p:txBody>
          <a:bodyPr/>
          <a:lstStyle/>
          <a:p>
            <a:pPr algn="l"/>
            <a:r>
              <a:rPr lang="en-US" dirty="0"/>
              <a:t>Group functions</a:t>
            </a:r>
            <a:endParaRPr lang="he-IL" dirty="0"/>
          </a:p>
        </p:txBody>
      </p:sp>
      <p:sp>
        <p:nvSpPr>
          <p:cNvPr id="4" name="מציין מיקום של מספר שקופית 3">
            <a:extLst>
              <a:ext uri="{FF2B5EF4-FFF2-40B4-BE49-F238E27FC236}">
                <a16:creationId xmlns:a16="http://schemas.microsoft.com/office/drawing/2014/main" id="{755CC35A-2B69-4055-A337-27A8E0009600}"/>
              </a:ext>
            </a:extLst>
          </p:cNvPr>
          <p:cNvSpPr>
            <a:spLocks noGrp="1"/>
          </p:cNvSpPr>
          <p:nvPr>
            <p:ph type="sldNum" sz="quarter" idx="11"/>
          </p:nvPr>
        </p:nvSpPr>
        <p:spPr/>
        <p:txBody>
          <a:bodyPr/>
          <a:lstStyle/>
          <a:p>
            <a:fld id="{746FD205-8D79-439C-A802-2377436AEC8A}" type="slidenum">
              <a:rPr lang="he-IL" smtClean="0"/>
              <a:pPr/>
              <a:t>79</a:t>
            </a:fld>
            <a:endParaRPr lang="he-IL"/>
          </a:p>
        </p:txBody>
      </p:sp>
      <p:pic>
        <p:nvPicPr>
          <p:cNvPr id="5" name="תמונה 4">
            <a:extLst>
              <a:ext uri="{FF2B5EF4-FFF2-40B4-BE49-F238E27FC236}">
                <a16:creationId xmlns:a16="http://schemas.microsoft.com/office/drawing/2014/main" id="{2B7923E0-020D-4848-9615-F52EDC14E615}"/>
              </a:ext>
            </a:extLst>
          </p:cNvPr>
          <p:cNvPicPr>
            <a:picLocks noChangeAspect="1"/>
          </p:cNvPicPr>
          <p:nvPr/>
        </p:nvPicPr>
        <p:blipFill>
          <a:blip r:embed="rId2"/>
          <a:stretch>
            <a:fillRect/>
          </a:stretch>
        </p:blipFill>
        <p:spPr>
          <a:xfrm>
            <a:off x="6934200" y="2284721"/>
            <a:ext cx="1617158" cy="504827"/>
          </a:xfrm>
          <a:prstGeom prst="rect">
            <a:avLst/>
          </a:prstGeom>
        </p:spPr>
      </p:pic>
      <p:pic>
        <p:nvPicPr>
          <p:cNvPr id="6" name="תמונה 5">
            <a:extLst>
              <a:ext uri="{FF2B5EF4-FFF2-40B4-BE49-F238E27FC236}">
                <a16:creationId xmlns:a16="http://schemas.microsoft.com/office/drawing/2014/main" id="{81F70BBD-F999-45CE-A433-3A4C22E62792}"/>
              </a:ext>
            </a:extLst>
          </p:cNvPr>
          <p:cNvPicPr>
            <a:picLocks noChangeAspect="1"/>
          </p:cNvPicPr>
          <p:nvPr/>
        </p:nvPicPr>
        <p:blipFill>
          <a:blip r:embed="rId3"/>
          <a:stretch>
            <a:fillRect/>
          </a:stretch>
        </p:blipFill>
        <p:spPr>
          <a:xfrm>
            <a:off x="1245864" y="2284721"/>
            <a:ext cx="3230886" cy="504826"/>
          </a:xfrm>
          <a:prstGeom prst="rect">
            <a:avLst/>
          </a:prstGeom>
        </p:spPr>
      </p:pic>
      <p:pic>
        <p:nvPicPr>
          <p:cNvPr id="7" name="תמונה 6">
            <a:extLst>
              <a:ext uri="{FF2B5EF4-FFF2-40B4-BE49-F238E27FC236}">
                <a16:creationId xmlns:a16="http://schemas.microsoft.com/office/drawing/2014/main" id="{34D5852B-7FA0-4129-B1D4-36EDE15F4EC7}"/>
              </a:ext>
            </a:extLst>
          </p:cNvPr>
          <p:cNvPicPr>
            <a:picLocks noChangeAspect="1"/>
          </p:cNvPicPr>
          <p:nvPr/>
        </p:nvPicPr>
        <p:blipFill>
          <a:blip r:embed="rId4"/>
          <a:stretch>
            <a:fillRect/>
          </a:stretch>
        </p:blipFill>
        <p:spPr>
          <a:xfrm>
            <a:off x="4800600" y="2284721"/>
            <a:ext cx="1485900" cy="400050"/>
          </a:xfrm>
          <a:prstGeom prst="rect">
            <a:avLst/>
          </a:prstGeom>
        </p:spPr>
      </p:pic>
      <p:pic>
        <p:nvPicPr>
          <p:cNvPr id="8" name="תמונה 7">
            <a:extLst>
              <a:ext uri="{FF2B5EF4-FFF2-40B4-BE49-F238E27FC236}">
                <a16:creationId xmlns:a16="http://schemas.microsoft.com/office/drawing/2014/main" id="{D7C44797-27D0-4DE7-A5DC-4E12A5CCE6E9}"/>
              </a:ext>
            </a:extLst>
          </p:cNvPr>
          <p:cNvPicPr>
            <a:picLocks noChangeAspect="1"/>
          </p:cNvPicPr>
          <p:nvPr/>
        </p:nvPicPr>
        <p:blipFill>
          <a:blip r:embed="rId5"/>
          <a:stretch>
            <a:fillRect/>
          </a:stretch>
        </p:blipFill>
        <p:spPr>
          <a:xfrm>
            <a:off x="6884496" y="3657600"/>
            <a:ext cx="1697500" cy="609599"/>
          </a:xfrm>
          <a:prstGeom prst="rect">
            <a:avLst/>
          </a:prstGeom>
        </p:spPr>
      </p:pic>
      <p:pic>
        <p:nvPicPr>
          <p:cNvPr id="9" name="תמונה 8">
            <a:extLst>
              <a:ext uri="{FF2B5EF4-FFF2-40B4-BE49-F238E27FC236}">
                <a16:creationId xmlns:a16="http://schemas.microsoft.com/office/drawing/2014/main" id="{F9A68219-8786-458C-A240-CD34048BEDA7}"/>
              </a:ext>
            </a:extLst>
          </p:cNvPr>
          <p:cNvPicPr>
            <a:picLocks noChangeAspect="1"/>
          </p:cNvPicPr>
          <p:nvPr/>
        </p:nvPicPr>
        <p:blipFill>
          <a:blip r:embed="rId6"/>
          <a:stretch>
            <a:fillRect/>
          </a:stretch>
        </p:blipFill>
        <p:spPr>
          <a:xfrm>
            <a:off x="1908336" y="3657600"/>
            <a:ext cx="3152706" cy="431577"/>
          </a:xfrm>
          <a:prstGeom prst="rect">
            <a:avLst/>
          </a:prstGeom>
        </p:spPr>
      </p:pic>
      <p:pic>
        <p:nvPicPr>
          <p:cNvPr id="10" name="תמונה 9">
            <a:extLst>
              <a:ext uri="{FF2B5EF4-FFF2-40B4-BE49-F238E27FC236}">
                <a16:creationId xmlns:a16="http://schemas.microsoft.com/office/drawing/2014/main" id="{2D97DA34-979C-49F2-B065-CF22C8997E5C}"/>
              </a:ext>
            </a:extLst>
          </p:cNvPr>
          <p:cNvPicPr>
            <a:picLocks noChangeAspect="1"/>
          </p:cNvPicPr>
          <p:nvPr/>
        </p:nvPicPr>
        <p:blipFill>
          <a:blip r:embed="rId7"/>
          <a:stretch>
            <a:fillRect/>
          </a:stretch>
        </p:blipFill>
        <p:spPr>
          <a:xfrm>
            <a:off x="5410200" y="3657600"/>
            <a:ext cx="1038225" cy="381000"/>
          </a:xfrm>
          <a:prstGeom prst="rect">
            <a:avLst/>
          </a:prstGeom>
        </p:spPr>
      </p:pic>
      <p:pic>
        <p:nvPicPr>
          <p:cNvPr id="11" name="תמונה 10">
            <a:extLst>
              <a:ext uri="{FF2B5EF4-FFF2-40B4-BE49-F238E27FC236}">
                <a16:creationId xmlns:a16="http://schemas.microsoft.com/office/drawing/2014/main" id="{666B4A42-527F-4D67-B98C-65307BBB8382}"/>
              </a:ext>
            </a:extLst>
          </p:cNvPr>
          <p:cNvPicPr>
            <a:picLocks noChangeAspect="1"/>
          </p:cNvPicPr>
          <p:nvPr/>
        </p:nvPicPr>
        <p:blipFill>
          <a:blip r:embed="rId8"/>
          <a:stretch>
            <a:fillRect/>
          </a:stretch>
        </p:blipFill>
        <p:spPr>
          <a:xfrm>
            <a:off x="6962746" y="5257800"/>
            <a:ext cx="1619250" cy="561975"/>
          </a:xfrm>
          <a:prstGeom prst="rect">
            <a:avLst/>
          </a:prstGeom>
        </p:spPr>
      </p:pic>
      <p:pic>
        <p:nvPicPr>
          <p:cNvPr id="12" name="תמונה 11">
            <a:extLst>
              <a:ext uri="{FF2B5EF4-FFF2-40B4-BE49-F238E27FC236}">
                <a16:creationId xmlns:a16="http://schemas.microsoft.com/office/drawing/2014/main" id="{54647C3B-1E25-4EE9-A9E9-39586D345BA2}"/>
              </a:ext>
            </a:extLst>
          </p:cNvPr>
          <p:cNvPicPr>
            <a:picLocks noChangeAspect="1"/>
          </p:cNvPicPr>
          <p:nvPr/>
        </p:nvPicPr>
        <p:blipFill>
          <a:blip r:embed="rId9"/>
          <a:stretch>
            <a:fillRect/>
          </a:stretch>
        </p:blipFill>
        <p:spPr>
          <a:xfrm>
            <a:off x="746240" y="5274198"/>
            <a:ext cx="3730510" cy="442353"/>
          </a:xfrm>
          <a:prstGeom prst="rect">
            <a:avLst/>
          </a:prstGeom>
        </p:spPr>
      </p:pic>
      <p:pic>
        <p:nvPicPr>
          <p:cNvPr id="13" name="תמונה 12">
            <a:extLst>
              <a:ext uri="{FF2B5EF4-FFF2-40B4-BE49-F238E27FC236}">
                <a16:creationId xmlns:a16="http://schemas.microsoft.com/office/drawing/2014/main" id="{5C99AD04-D3A0-43BB-8120-C4F24B1B4ED0}"/>
              </a:ext>
            </a:extLst>
          </p:cNvPr>
          <p:cNvPicPr>
            <a:picLocks noChangeAspect="1"/>
          </p:cNvPicPr>
          <p:nvPr/>
        </p:nvPicPr>
        <p:blipFill>
          <a:blip r:embed="rId10"/>
          <a:stretch>
            <a:fillRect/>
          </a:stretch>
        </p:blipFill>
        <p:spPr>
          <a:xfrm>
            <a:off x="4735153" y="5257800"/>
            <a:ext cx="1485900" cy="428625"/>
          </a:xfrm>
          <a:prstGeom prst="rect">
            <a:avLst/>
          </a:prstGeom>
        </p:spPr>
      </p:pic>
    </p:spTree>
    <p:extLst>
      <p:ext uri="{BB962C8B-B14F-4D97-AF65-F5344CB8AC3E}">
        <p14:creationId xmlns:p14="http://schemas.microsoft.com/office/powerpoint/2010/main" val="20070365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9580248F-765B-4CA6-8C87-B2B2626654EB}"/>
              </a:ext>
            </a:extLst>
          </p:cNvPr>
          <p:cNvSpPr>
            <a:spLocks noGrp="1"/>
          </p:cNvSpPr>
          <p:nvPr>
            <p:ph idx="1"/>
          </p:nvPr>
        </p:nvSpPr>
        <p:spPr/>
        <p:txBody>
          <a:bodyPr/>
          <a:lstStyle/>
          <a:p>
            <a:pPr marL="64008" indent="0">
              <a:buNone/>
            </a:pPr>
            <a:r>
              <a:rPr lang="he-IL" sz="1800" dirty="0">
                <a:cs typeface="Calibri" panose="020F0502020204030204" pitchFamily="34" charset="0"/>
              </a:rPr>
              <a:t>מספר נקודות חשובות:</a:t>
            </a:r>
            <a:endParaRPr lang="en-US" sz="1800" dirty="0">
              <a:cs typeface="Calibri" panose="020F0502020204030204" pitchFamily="34" charset="0"/>
            </a:endParaRPr>
          </a:p>
          <a:p>
            <a:pPr rtl="1">
              <a:buFont typeface="Courier New" panose="02070309020205020404" pitchFamily="49" charset="0"/>
              <a:buChar char="o"/>
            </a:pPr>
            <a:r>
              <a:rPr lang="en-US" sz="1800" dirty="0">
                <a:cs typeface="Calibri" panose="020F0502020204030204" pitchFamily="34" charset="0"/>
              </a:rPr>
              <a:t>NULL value</a:t>
            </a:r>
            <a:r>
              <a:rPr lang="he-IL" sz="1800" dirty="0">
                <a:cs typeface="Calibri" panose="020F0502020204030204" pitchFamily="34" charset="0"/>
              </a:rPr>
              <a:t> – כל ה </a:t>
            </a:r>
            <a:r>
              <a:rPr lang="en-US" sz="1800" dirty="0">
                <a:cs typeface="Calibri" panose="020F0502020204030204" pitchFamily="34" charset="0"/>
              </a:rPr>
              <a:t>Group functions</a:t>
            </a:r>
            <a:r>
              <a:rPr lang="he-IL" sz="1800" dirty="0">
                <a:cs typeface="Calibri" panose="020F0502020204030204" pitchFamily="34" charset="0"/>
              </a:rPr>
              <a:t> מתעלמות מהערך </a:t>
            </a:r>
            <a:r>
              <a:rPr lang="en-US" sz="1800" dirty="0">
                <a:cs typeface="Calibri" panose="020F0502020204030204" pitchFamily="34" charset="0"/>
              </a:rPr>
              <a:t>NULL</a:t>
            </a:r>
            <a:r>
              <a:rPr lang="he-IL" sz="1800" dirty="0">
                <a:cs typeface="Calibri" panose="020F0502020204030204" pitchFamily="34" charset="0"/>
              </a:rPr>
              <a:t> ולא לוקחות אותו כחלק מהחשבון.</a:t>
            </a:r>
            <a:br>
              <a:rPr lang="en-US" sz="1800" dirty="0">
                <a:cs typeface="Calibri" panose="020F0502020204030204" pitchFamily="34" charset="0"/>
              </a:rPr>
            </a:br>
            <a:r>
              <a:rPr lang="he-IL" sz="1800" dirty="0">
                <a:cs typeface="Calibri" panose="020F0502020204030204" pitchFamily="34" charset="0"/>
              </a:rPr>
              <a:t>לדוגמא: אם נחשב ממוצע ציונים של עשרה תלמידים, כאשר לשלושה מתוכם ערך הציון הוא </a:t>
            </a:r>
            <a:r>
              <a:rPr lang="en-US" sz="1800" dirty="0">
                <a:cs typeface="Calibri" panose="020F0502020204030204" pitchFamily="34" charset="0"/>
              </a:rPr>
              <a:t>NULL</a:t>
            </a:r>
            <a:r>
              <a:rPr lang="he-IL" sz="1800" dirty="0">
                <a:cs typeface="Calibri" panose="020F0502020204030204" pitchFamily="34" charset="0"/>
              </a:rPr>
              <a:t>, הפונקציה תחשב ממוצע של שבעה תלמידים בלבד ולא תתייחס לתלמידים עם ערך ה </a:t>
            </a:r>
            <a:r>
              <a:rPr lang="en-US" sz="1800" dirty="0">
                <a:cs typeface="Calibri" panose="020F0502020204030204" pitchFamily="34" charset="0"/>
              </a:rPr>
              <a:t>NULL</a:t>
            </a:r>
            <a:r>
              <a:rPr lang="he-IL" sz="1800" dirty="0">
                <a:cs typeface="Calibri" panose="020F0502020204030204" pitchFamily="34" charset="0"/>
              </a:rPr>
              <a:t>.</a:t>
            </a:r>
          </a:p>
          <a:p>
            <a:pPr rtl="1">
              <a:buFont typeface="Courier New" panose="02070309020205020404" pitchFamily="49" charset="0"/>
              <a:buChar char="o"/>
            </a:pPr>
            <a:r>
              <a:rPr lang="he-IL" sz="1800" dirty="0">
                <a:cs typeface="Calibri" panose="020F0502020204030204" pitchFamily="34" charset="0"/>
              </a:rPr>
              <a:t>כאשר משתמשים באחת מפונקציות הקבוצה אין אפשרות לשלוף יחד עם זאת ערך של עמודה נוספת, כיוון שפונקציית קבוצה מחזירה ערך בודד עבור קבוצת ערכים והיא לא יכולה להשתלב באותה טבלה עם קבוצת הערכים...</a:t>
            </a:r>
          </a:p>
          <a:p>
            <a:pPr rtl="1">
              <a:buFont typeface="Courier New" panose="02070309020205020404" pitchFamily="49" charset="0"/>
              <a:buChar char="o"/>
            </a:pPr>
            <a:r>
              <a:rPr lang="he-IL" sz="1800" dirty="0">
                <a:cs typeface="Calibri" panose="020F0502020204030204" pitchFamily="34" charset="0"/>
              </a:rPr>
              <a:t>פונקציות קבוצה מתבצעות על כל הרשומות בטבלה או על קבוצות </a:t>
            </a:r>
            <a:r>
              <a:rPr lang="he-IL" sz="1800" dirty="0" err="1">
                <a:cs typeface="Calibri" panose="020F0502020204030204" pitchFamily="34" charset="0"/>
              </a:rPr>
              <a:t>קבוצות</a:t>
            </a:r>
            <a:r>
              <a:rPr lang="he-IL" sz="1800" dirty="0">
                <a:cs typeface="Calibri" panose="020F0502020204030204" pitchFamily="34" charset="0"/>
              </a:rPr>
              <a:t> שחזרו כתוצאה מה </a:t>
            </a:r>
            <a:r>
              <a:rPr lang="en-US" sz="1800" dirty="0">
                <a:cs typeface="Calibri" panose="020F0502020204030204" pitchFamily="34" charset="0"/>
              </a:rPr>
              <a:t>group by</a:t>
            </a:r>
            <a:r>
              <a:rPr lang="he-IL" sz="1800" dirty="0">
                <a:cs typeface="Calibri" panose="020F0502020204030204" pitchFamily="34" charset="0"/>
              </a:rPr>
              <a:t> </a:t>
            </a:r>
            <a:r>
              <a:rPr lang="he-IL" sz="1800">
                <a:cs typeface="Calibri" panose="020F0502020204030204" pitchFamily="34" charset="0"/>
              </a:rPr>
              <a:t>(בשקופית הבאה)</a:t>
            </a: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128D989D-DEB8-4ABE-9F8E-4C3351185065}"/>
              </a:ext>
            </a:extLst>
          </p:cNvPr>
          <p:cNvSpPr>
            <a:spLocks noGrp="1"/>
          </p:cNvSpPr>
          <p:nvPr>
            <p:ph type="title"/>
          </p:nvPr>
        </p:nvSpPr>
        <p:spPr/>
        <p:txBody>
          <a:bodyPr/>
          <a:lstStyle/>
          <a:p>
            <a:pPr algn="l"/>
            <a:r>
              <a:rPr lang="en-US" dirty="0"/>
              <a:t>Group functions</a:t>
            </a:r>
            <a:endParaRPr lang="he-IL" dirty="0"/>
          </a:p>
        </p:txBody>
      </p:sp>
      <p:sp>
        <p:nvSpPr>
          <p:cNvPr id="4" name="מציין מיקום של מספר שקופית 3">
            <a:extLst>
              <a:ext uri="{FF2B5EF4-FFF2-40B4-BE49-F238E27FC236}">
                <a16:creationId xmlns:a16="http://schemas.microsoft.com/office/drawing/2014/main" id="{10742257-10EE-4C43-AEDD-6BB2576AEC6A}"/>
              </a:ext>
            </a:extLst>
          </p:cNvPr>
          <p:cNvSpPr>
            <a:spLocks noGrp="1"/>
          </p:cNvSpPr>
          <p:nvPr>
            <p:ph type="sldNum" sz="quarter" idx="11"/>
          </p:nvPr>
        </p:nvSpPr>
        <p:spPr/>
        <p:txBody>
          <a:bodyPr/>
          <a:lstStyle/>
          <a:p>
            <a:fld id="{746FD205-8D79-439C-A802-2377436AEC8A}" type="slidenum">
              <a:rPr lang="he-IL" smtClean="0"/>
              <a:pPr/>
              <a:t>80</a:t>
            </a:fld>
            <a:endParaRPr lang="he-IL"/>
          </a:p>
        </p:txBody>
      </p:sp>
    </p:spTree>
    <p:extLst>
      <p:ext uri="{BB962C8B-B14F-4D97-AF65-F5344CB8AC3E}">
        <p14:creationId xmlns:p14="http://schemas.microsoft.com/office/powerpoint/2010/main" val="2290023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3985B95C-8706-4FE8-BACC-A1286A7ACE08}"/>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הפקודה</a:t>
            </a:r>
            <a:r>
              <a:rPr lang="en-US" sz="1800" dirty="0">
                <a:cs typeface="Calibri" panose="020F0502020204030204" pitchFamily="34" charset="0"/>
              </a:rPr>
              <a:t> GROUP BY </a:t>
            </a:r>
            <a:r>
              <a:rPr lang="he-IL" sz="1800" dirty="0">
                <a:cs typeface="Calibri" panose="020F0502020204030204" pitchFamily="34" charset="0"/>
              </a:rPr>
              <a:t>מקבצת רשומות בעלות אותם ערכים לשורות סיכום, ומחזירה תוצאה עבור כל קבוצה (כמו "מצא את מספר הלקוחות בכל מדינה" – קיבוץ עפ"י שם המדינה)</a:t>
            </a:r>
          </a:p>
          <a:p>
            <a:pPr marL="64008" indent="0" rtl="1">
              <a:buNone/>
            </a:pPr>
            <a:r>
              <a:rPr lang="he-IL" sz="1800" dirty="0">
                <a:cs typeface="Calibri" panose="020F0502020204030204" pitchFamily="34" charset="0"/>
              </a:rPr>
              <a:t>לעתים קרובות נעשה שימוש במשפט ה</a:t>
            </a:r>
            <a:r>
              <a:rPr lang="en-US" sz="1800" dirty="0">
                <a:cs typeface="Calibri" panose="020F0502020204030204" pitchFamily="34" charset="0"/>
              </a:rPr>
              <a:t> GROUP BY </a:t>
            </a:r>
            <a:r>
              <a:rPr lang="he-IL" sz="1800" dirty="0">
                <a:cs typeface="Calibri" panose="020F0502020204030204" pitchFamily="34" charset="0"/>
              </a:rPr>
              <a:t>עם </a:t>
            </a:r>
            <a:r>
              <a:rPr lang="en-US" sz="1800" dirty="0">
                <a:cs typeface="Calibri" panose="020F0502020204030204" pitchFamily="34" charset="0"/>
              </a:rPr>
              <a:t>Group functions</a:t>
            </a:r>
            <a:r>
              <a:rPr lang="he-IL" sz="1800" dirty="0">
                <a:cs typeface="Calibri" panose="020F0502020204030204" pitchFamily="34" charset="0"/>
              </a:rPr>
              <a:t> (</a:t>
            </a:r>
            <a:r>
              <a:rPr lang="en-US" sz="1800" dirty="0">
                <a:cs typeface="Calibri" panose="020F0502020204030204" pitchFamily="34" charset="0"/>
              </a:rPr>
              <a:t>COUNT, MAX, MIN, SUM, AVG</a:t>
            </a:r>
            <a:r>
              <a:rPr lang="he-IL" sz="1800" dirty="0">
                <a:cs typeface="Calibri" panose="020F0502020204030204" pitchFamily="34" charset="0"/>
              </a:rPr>
              <a:t>) כדי לקבץ את קבוצת התוצאות לפי עמודה אחת או יותר.</a:t>
            </a:r>
          </a:p>
          <a:p>
            <a:pPr marL="64008" indent="0" rtl="1">
              <a:buNone/>
            </a:pPr>
            <a:r>
              <a:rPr lang="en-US" sz="1800" dirty="0">
                <a:cs typeface="Calibri" panose="020F0502020204030204" pitchFamily="34" charset="0"/>
              </a:rPr>
              <a:t>Syntax:</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08E5AFE9-C0C4-45DB-8C86-38284767AB5A}"/>
              </a:ext>
            </a:extLst>
          </p:cNvPr>
          <p:cNvSpPr>
            <a:spLocks noGrp="1"/>
          </p:cNvSpPr>
          <p:nvPr>
            <p:ph type="title"/>
          </p:nvPr>
        </p:nvSpPr>
        <p:spPr/>
        <p:txBody>
          <a:bodyPr/>
          <a:lstStyle/>
          <a:p>
            <a:pPr algn="l"/>
            <a:r>
              <a:rPr lang="en-US" dirty="0"/>
              <a:t>Group By</a:t>
            </a:r>
            <a:endParaRPr lang="he-IL" dirty="0"/>
          </a:p>
        </p:txBody>
      </p:sp>
      <p:sp>
        <p:nvSpPr>
          <p:cNvPr id="4" name="מציין מיקום של מספר שקופית 3">
            <a:extLst>
              <a:ext uri="{FF2B5EF4-FFF2-40B4-BE49-F238E27FC236}">
                <a16:creationId xmlns:a16="http://schemas.microsoft.com/office/drawing/2014/main" id="{448708D6-E353-48EC-8006-DFF516A35EFA}"/>
              </a:ext>
            </a:extLst>
          </p:cNvPr>
          <p:cNvSpPr>
            <a:spLocks noGrp="1"/>
          </p:cNvSpPr>
          <p:nvPr>
            <p:ph type="sldNum" sz="quarter" idx="11"/>
          </p:nvPr>
        </p:nvSpPr>
        <p:spPr/>
        <p:txBody>
          <a:bodyPr/>
          <a:lstStyle/>
          <a:p>
            <a:fld id="{746FD205-8D79-439C-A802-2377436AEC8A}" type="slidenum">
              <a:rPr lang="he-IL" smtClean="0"/>
              <a:pPr/>
              <a:t>81</a:t>
            </a:fld>
            <a:endParaRPr lang="he-IL"/>
          </a:p>
        </p:txBody>
      </p:sp>
      <p:pic>
        <p:nvPicPr>
          <p:cNvPr id="5" name="תמונה 4">
            <a:extLst>
              <a:ext uri="{FF2B5EF4-FFF2-40B4-BE49-F238E27FC236}">
                <a16:creationId xmlns:a16="http://schemas.microsoft.com/office/drawing/2014/main" id="{D7B55ECD-D9A6-4199-B4FF-94FFA831678E}"/>
              </a:ext>
            </a:extLst>
          </p:cNvPr>
          <p:cNvPicPr>
            <a:picLocks noChangeAspect="1"/>
          </p:cNvPicPr>
          <p:nvPr/>
        </p:nvPicPr>
        <p:blipFill>
          <a:blip r:embed="rId2"/>
          <a:stretch>
            <a:fillRect/>
          </a:stretch>
        </p:blipFill>
        <p:spPr>
          <a:xfrm>
            <a:off x="6703695" y="3124200"/>
            <a:ext cx="1771650" cy="933450"/>
          </a:xfrm>
          <a:prstGeom prst="rect">
            <a:avLst/>
          </a:prstGeom>
        </p:spPr>
      </p:pic>
      <p:pic>
        <p:nvPicPr>
          <p:cNvPr id="6" name="תמונה 5">
            <a:extLst>
              <a:ext uri="{FF2B5EF4-FFF2-40B4-BE49-F238E27FC236}">
                <a16:creationId xmlns:a16="http://schemas.microsoft.com/office/drawing/2014/main" id="{78994557-2638-45B7-A5E8-69F97E2CBCBE}"/>
              </a:ext>
            </a:extLst>
          </p:cNvPr>
          <p:cNvPicPr>
            <a:picLocks noChangeAspect="1"/>
          </p:cNvPicPr>
          <p:nvPr/>
        </p:nvPicPr>
        <p:blipFill>
          <a:blip r:embed="rId3"/>
          <a:stretch>
            <a:fillRect/>
          </a:stretch>
        </p:blipFill>
        <p:spPr>
          <a:xfrm>
            <a:off x="1524000" y="4476749"/>
            <a:ext cx="4933950" cy="809625"/>
          </a:xfrm>
          <a:prstGeom prst="rect">
            <a:avLst/>
          </a:prstGeom>
        </p:spPr>
      </p:pic>
      <p:pic>
        <p:nvPicPr>
          <p:cNvPr id="7" name="תמונה 6">
            <a:extLst>
              <a:ext uri="{FF2B5EF4-FFF2-40B4-BE49-F238E27FC236}">
                <a16:creationId xmlns:a16="http://schemas.microsoft.com/office/drawing/2014/main" id="{F06E2274-0E71-4D33-851C-2B152D31FDC0}"/>
              </a:ext>
            </a:extLst>
          </p:cNvPr>
          <p:cNvPicPr>
            <a:picLocks noChangeAspect="1"/>
          </p:cNvPicPr>
          <p:nvPr/>
        </p:nvPicPr>
        <p:blipFill>
          <a:blip r:embed="rId4"/>
          <a:stretch>
            <a:fillRect/>
          </a:stretch>
        </p:blipFill>
        <p:spPr>
          <a:xfrm>
            <a:off x="6726182" y="4476749"/>
            <a:ext cx="1771650" cy="1152525"/>
          </a:xfrm>
          <a:prstGeom prst="rect">
            <a:avLst/>
          </a:prstGeom>
        </p:spPr>
      </p:pic>
    </p:spTree>
    <p:extLst>
      <p:ext uri="{BB962C8B-B14F-4D97-AF65-F5344CB8AC3E}">
        <p14:creationId xmlns:p14="http://schemas.microsoft.com/office/powerpoint/2010/main" val="30709283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376C59C-FD33-4626-A4E0-20C699D891DC}"/>
              </a:ext>
            </a:extLst>
          </p:cNvPr>
          <p:cNvSpPr>
            <a:spLocks noGrp="1"/>
          </p:cNvSpPr>
          <p:nvPr>
            <p:ph idx="1"/>
          </p:nvPr>
        </p:nvSpPr>
        <p:spPr/>
        <p:txBody>
          <a:bodyPr/>
          <a:lstStyle/>
          <a:p>
            <a:pPr marL="64008" indent="0" rtl="1">
              <a:buNone/>
            </a:pPr>
            <a:r>
              <a:rPr lang="he-IL" sz="1800" dirty="0">
                <a:cs typeface="Calibri" panose="020F0502020204030204" pitchFamily="34" charset="0"/>
              </a:rPr>
              <a:t>כאשר מבצעים פעולות </a:t>
            </a:r>
            <a:r>
              <a:rPr lang="en-US" sz="1800" dirty="0">
                <a:cs typeface="Calibri" panose="020F0502020204030204" pitchFamily="34" charset="0"/>
              </a:rPr>
              <a:t>group by</a:t>
            </a:r>
            <a:r>
              <a:rPr lang="he-IL" sz="1800" dirty="0">
                <a:cs typeface="Calibri" panose="020F0502020204030204" pitchFamily="34" charset="0"/>
              </a:rPr>
              <a:t> ישנה אפשרות לבצע הקבצה על יותר מעמודה אחת בו זמנית.</a:t>
            </a:r>
          </a:p>
          <a:p>
            <a:pPr marL="64008" indent="0" rtl="1">
              <a:buNone/>
            </a:pPr>
            <a:r>
              <a:rPr lang="he-IL" sz="1800" dirty="0">
                <a:cs typeface="Calibri" panose="020F0502020204030204" pitchFamily="34" charset="0"/>
              </a:rPr>
              <a:t>לדוגמא:</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9AEBC1F-254A-471B-977B-5FEFD9BAED80}"/>
              </a:ext>
            </a:extLst>
          </p:cNvPr>
          <p:cNvSpPr>
            <a:spLocks noGrp="1"/>
          </p:cNvSpPr>
          <p:nvPr>
            <p:ph type="title"/>
          </p:nvPr>
        </p:nvSpPr>
        <p:spPr/>
        <p:txBody>
          <a:bodyPr/>
          <a:lstStyle/>
          <a:p>
            <a:pPr algn="l"/>
            <a:r>
              <a:rPr lang="en-US" dirty="0"/>
              <a:t>Group By</a:t>
            </a:r>
            <a:endParaRPr lang="he-IL" dirty="0"/>
          </a:p>
        </p:txBody>
      </p:sp>
      <p:sp>
        <p:nvSpPr>
          <p:cNvPr id="4" name="מציין מיקום של מספר שקופית 3">
            <a:extLst>
              <a:ext uri="{FF2B5EF4-FFF2-40B4-BE49-F238E27FC236}">
                <a16:creationId xmlns:a16="http://schemas.microsoft.com/office/drawing/2014/main" id="{25FA9184-7E6B-4F81-B3F3-B09E46278706}"/>
              </a:ext>
            </a:extLst>
          </p:cNvPr>
          <p:cNvSpPr>
            <a:spLocks noGrp="1"/>
          </p:cNvSpPr>
          <p:nvPr>
            <p:ph type="sldNum" sz="quarter" idx="11"/>
          </p:nvPr>
        </p:nvSpPr>
        <p:spPr/>
        <p:txBody>
          <a:bodyPr/>
          <a:lstStyle/>
          <a:p>
            <a:fld id="{746FD205-8D79-439C-A802-2377436AEC8A}" type="slidenum">
              <a:rPr lang="he-IL" smtClean="0"/>
              <a:pPr/>
              <a:t>82</a:t>
            </a:fld>
            <a:endParaRPr lang="he-IL"/>
          </a:p>
        </p:txBody>
      </p:sp>
      <p:pic>
        <p:nvPicPr>
          <p:cNvPr id="5" name="תמונה 4">
            <a:extLst>
              <a:ext uri="{FF2B5EF4-FFF2-40B4-BE49-F238E27FC236}">
                <a16:creationId xmlns:a16="http://schemas.microsoft.com/office/drawing/2014/main" id="{BFCB61A9-A7F1-4D58-AD9C-93667D8F1AC9}"/>
              </a:ext>
            </a:extLst>
          </p:cNvPr>
          <p:cNvPicPr>
            <a:picLocks noChangeAspect="1"/>
          </p:cNvPicPr>
          <p:nvPr/>
        </p:nvPicPr>
        <p:blipFill>
          <a:blip r:embed="rId2"/>
          <a:stretch>
            <a:fillRect/>
          </a:stretch>
        </p:blipFill>
        <p:spPr>
          <a:xfrm>
            <a:off x="1371600" y="2362200"/>
            <a:ext cx="7196137" cy="635621"/>
          </a:xfrm>
          <a:prstGeom prst="rect">
            <a:avLst/>
          </a:prstGeom>
        </p:spPr>
      </p:pic>
      <p:pic>
        <p:nvPicPr>
          <p:cNvPr id="6" name="תמונה 5">
            <a:extLst>
              <a:ext uri="{FF2B5EF4-FFF2-40B4-BE49-F238E27FC236}">
                <a16:creationId xmlns:a16="http://schemas.microsoft.com/office/drawing/2014/main" id="{52113DAA-72B0-4086-8D74-C3B81819FF53}"/>
              </a:ext>
            </a:extLst>
          </p:cNvPr>
          <p:cNvPicPr>
            <a:picLocks noChangeAspect="1"/>
          </p:cNvPicPr>
          <p:nvPr/>
        </p:nvPicPr>
        <p:blipFill>
          <a:blip r:embed="rId3"/>
          <a:stretch>
            <a:fillRect/>
          </a:stretch>
        </p:blipFill>
        <p:spPr>
          <a:xfrm>
            <a:off x="6148387" y="3364533"/>
            <a:ext cx="2419350" cy="942975"/>
          </a:xfrm>
          <a:prstGeom prst="rect">
            <a:avLst/>
          </a:prstGeom>
        </p:spPr>
      </p:pic>
    </p:spTree>
    <p:extLst>
      <p:ext uri="{BB962C8B-B14F-4D97-AF65-F5344CB8AC3E}">
        <p14:creationId xmlns:p14="http://schemas.microsoft.com/office/powerpoint/2010/main" val="25946183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FFFE7982-A0F4-4C10-BEE0-4240271DFA4D}"/>
              </a:ext>
            </a:extLst>
          </p:cNvPr>
          <p:cNvSpPr>
            <a:spLocks noGrp="1"/>
          </p:cNvSpPr>
          <p:nvPr>
            <p:ph idx="1"/>
          </p:nvPr>
        </p:nvSpPr>
        <p:spPr/>
        <p:txBody>
          <a:bodyPr>
            <a:normAutofit/>
          </a:bodyPr>
          <a:lstStyle/>
          <a:p>
            <a:pPr rtl="1">
              <a:buFont typeface="Courier New" panose="02070309020205020404" pitchFamily="49" charset="0"/>
              <a:buChar char="o"/>
            </a:pPr>
            <a:r>
              <a:rPr lang="he-IL" sz="1800" dirty="0">
                <a:cs typeface="Calibri" panose="020F0502020204030204" pitchFamily="34" charset="0"/>
              </a:rPr>
              <a:t>העמודות שמופיעות במשפט ה </a:t>
            </a:r>
            <a:r>
              <a:rPr lang="en-US" sz="1800" dirty="0">
                <a:cs typeface="Calibri" panose="020F0502020204030204" pitchFamily="34" charset="0"/>
              </a:rPr>
              <a:t>select</a:t>
            </a:r>
            <a:r>
              <a:rPr lang="he-IL" sz="1800" dirty="0">
                <a:cs typeface="Calibri" panose="020F0502020204030204" pitchFamily="34" charset="0"/>
              </a:rPr>
              <a:t> חייבות להופיע במשפט ה </a:t>
            </a:r>
            <a:r>
              <a:rPr lang="en-US" sz="1800" dirty="0">
                <a:cs typeface="Calibri" panose="020F0502020204030204" pitchFamily="34" charset="0"/>
              </a:rPr>
              <a:t>group by</a:t>
            </a:r>
            <a:r>
              <a:rPr lang="he-IL" sz="1800" dirty="0">
                <a:cs typeface="Calibri" panose="020F0502020204030204" pitchFamily="34" charset="0"/>
              </a:rPr>
              <a:t>, אחרת תתקבל שגיאה (זאת מכיוון שתוצאות הטבלה מקובצות עפ"י ה </a:t>
            </a:r>
            <a:r>
              <a:rPr lang="en-US" sz="1800" dirty="0">
                <a:cs typeface="Calibri" panose="020F0502020204030204" pitchFamily="34" charset="0"/>
              </a:rPr>
              <a:t>group by</a:t>
            </a:r>
            <a:r>
              <a:rPr lang="he-IL" sz="1800" dirty="0">
                <a:cs typeface="Calibri" panose="020F0502020204030204" pitchFamily="34" charset="0"/>
              </a:rPr>
              <a:t> ואין אפשרות לשלוף דבר שאינו עפ"י קיבוץ זה).</a:t>
            </a:r>
          </a:p>
          <a:p>
            <a:pPr rtl="1">
              <a:buFont typeface="Courier New" panose="02070309020205020404" pitchFamily="49" charset="0"/>
              <a:buChar char="o"/>
            </a:pPr>
            <a:r>
              <a:rPr lang="he-IL" sz="1800" dirty="0">
                <a:cs typeface="Calibri" panose="020F0502020204030204" pitchFamily="34" charset="0"/>
              </a:rPr>
              <a:t>העמודות שמופיעות במשפט ה </a:t>
            </a:r>
            <a:r>
              <a:rPr lang="en-US" sz="1800" dirty="0">
                <a:cs typeface="Calibri" panose="020F0502020204030204" pitchFamily="34" charset="0"/>
              </a:rPr>
              <a:t>group by</a:t>
            </a:r>
            <a:r>
              <a:rPr lang="he-IL" sz="1800" dirty="0">
                <a:cs typeface="Calibri" panose="020F0502020204030204" pitchFamily="34" charset="0"/>
              </a:rPr>
              <a:t> לא חייבות להופיע במשפט ה </a:t>
            </a:r>
            <a:r>
              <a:rPr lang="en-US" sz="1800" dirty="0">
                <a:cs typeface="Calibri" panose="020F0502020204030204" pitchFamily="34" charset="0"/>
              </a:rPr>
              <a:t>select</a:t>
            </a:r>
            <a:r>
              <a:rPr lang="he-IL" sz="1800" dirty="0">
                <a:cs typeface="Calibri" panose="020F0502020204030204" pitchFamily="34" charset="0"/>
              </a:rPr>
              <a:t> – אך זה פחות קריא.</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CEB613C6-6558-47A9-9822-37C67630A0DA}"/>
              </a:ext>
            </a:extLst>
          </p:cNvPr>
          <p:cNvSpPr>
            <a:spLocks noGrp="1"/>
          </p:cNvSpPr>
          <p:nvPr>
            <p:ph type="title"/>
          </p:nvPr>
        </p:nvSpPr>
        <p:spPr/>
        <p:txBody>
          <a:bodyPr/>
          <a:lstStyle/>
          <a:p>
            <a:pPr algn="l"/>
            <a:r>
              <a:rPr lang="en-US" dirty="0"/>
              <a:t>Group By</a:t>
            </a:r>
            <a:endParaRPr lang="he-IL" dirty="0"/>
          </a:p>
        </p:txBody>
      </p:sp>
      <p:sp>
        <p:nvSpPr>
          <p:cNvPr id="4" name="מציין מיקום של מספר שקופית 3">
            <a:extLst>
              <a:ext uri="{FF2B5EF4-FFF2-40B4-BE49-F238E27FC236}">
                <a16:creationId xmlns:a16="http://schemas.microsoft.com/office/drawing/2014/main" id="{11E0D8E6-257F-47AF-8874-0EC67F438423}"/>
              </a:ext>
            </a:extLst>
          </p:cNvPr>
          <p:cNvSpPr>
            <a:spLocks noGrp="1"/>
          </p:cNvSpPr>
          <p:nvPr>
            <p:ph type="sldNum" sz="quarter" idx="11"/>
          </p:nvPr>
        </p:nvSpPr>
        <p:spPr/>
        <p:txBody>
          <a:bodyPr/>
          <a:lstStyle/>
          <a:p>
            <a:fld id="{746FD205-8D79-439C-A802-2377436AEC8A}" type="slidenum">
              <a:rPr lang="he-IL" smtClean="0"/>
              <a:pPr/>
              <a:t>83</a:t>
            </a:fld>
            <a:endParaRPr lang="he-IL"/>
          </a:p>
        </p:txBody>
      </p:sp>
    </p:spTree>
    <p:extLst>
      <p:ext uri="{BB962C8B-B14F-4D97-AF65-F5344CB8AC3E}">
        <p14:creationId xmlns:p14="http://schemas.microsoft.com/office/powerpoint/2010/main" val="32947610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F3F444B-874D-489B-8ABE-6DD8511F5AC2}"/>
              </a:ext>
            </a:extLst>
          </p:cNvPr>
          <p:cNvSpPr>
            <a:spLocks noGrp="1"/>
          </p:cNvSpPr>
          <p:nvPr>
            <p:ph idx="1"/>
          </p:nvPr>
        </p:nvSpPr>
        <p:spPr/>
        <p:txBody>
          <a:bodyPr>
            <a:normAutofit fontScale="92500" lnSpcReduction="10000"/>
          </a:bodyPr>
          <a:lstStyle/>
          <a:p>
            <a:pPr marL="64008" indent="0" rtl="1">
              <a:buNone/>
            </a:pPr>
            <a:r>
              <a:rPr lang="he-IL" sz="1900" dirty="0">
                <a:cs typeface="Calibri" panose="020F0502020204030204" pitchFamily="34" charset="0"/>
              </a:rPr>
              <a:t>משפט ה</a:t>
            </a:r>
            <a:r>
              <a:rPr lang="en-US" sz="1900" dirty="0">
                <a:cs typeface="Calibri" panose="020F0502020204030204" pitchFamily="34" charset="0"/>
              </a:rPr>
              <a:t> HAVING </a:t>
            </a:r>
            <a:r>
              <a:rPr lang="he-IL" sz="1900" dirty="0">
                <a:cs typeface="Calibri" panose="020F0502020204030204" pitchFamily="34" charset="0"/>
              </a:rPr>
              <a:t>הוא תחליף לפקודת ה</a:t>
            </a:r>
            <a:r>
              <a:rPr lang="en-US" sz="1900" dirty="0">
                <a:cs typeface="Calibri" panose="020F0502020204030204" pitchFamily="34" charset="0"/>
              </a:rPr>
              <a:t>WHERE </a:t>
            </a:r>
            <a:r>
              <a:rPr lang="he-IL" sz="1900" dirty="0">
                <a:cs typeface="Calibri" panose="020F0502020204030204" pitchFamily="34" charset="0"/>
              </a:rPr>
              <a:t> כאשר רוצים לבצע סינון על תוצאה של פונקציות קבוצה.</a:t>
            </a:r>
          </a:p>
          <a:p>
            <a:pPr marL="64008" indent="0" rtl="1">
              <a:buNone/>
            </a:pPr>
            <a:r>
              <a:rPr lang="he-IL" sz="1900" dirty="0">
                <a:cs typeface="Calibri" panose="020F0502020204030204" pitchFamily="34" charset="0"/>
              </a:rPr>
              <a:t>פקודת ה </a:t>
            </a:r>
            <a:r>
              <a:rPr lang="en-US" sz="1900" dirty="0">
                <a:cs typeface="Calibri" panose="020F0502020204030204" pitchFamily="34" charset="0"/>
              </a:rPr>
              <a:t>WHERE</a:t>
            </a:r>
            <a:r>
              <a:rPr lang="he-IL" sz="1900" dirty="0">
                <a:cs typeface="Calibri" panose="020F0502020204030204" pitchFamily="34" charset="0"/>
              </a:rPr>
              <a:t> מתבצעת אחרי ביצוע </a:t>
            </a:r>
            <a:r>
              <a:rPr lang="he-IL" sz="1900" dirty="0" err="1">
                <a:cs typeface="Calibri" panose="020F0502020204030204" pitchFamily="34" charset="0"/>
              </a:rPr>
              <a:t>האגריגציה</a:t>
            </a:r>
            <a:r>
              <a:rPr lang="he-IL" sz="1900" dirty="0">
                <a:cs typeface="Calibri" panose="020F0502020204030204" pitchFamily="34" charset="0"/>
              </a:rPr>
              <a:t>, ולכן היא לא מתאימה לפונקציות קבוצה שמתבצעות עוד לפני כן.</a:t>
            </a:r>
          </a:p>
          <a:p>
            <a:pPr marL="64008" indent="0" rtl="1">
              <a:buNone/>
            </a:pPr>
            <a:r>
              <a:rPr lang="he-IL" sz="1900" b="1" dirty="0">
                <a:cs typeface="Calibri" panose="020F0502020204030204" pitchFamily="34" charset="0"/>
              </a:rPr>
              <a:t>פקודת ה </a:t>
            </a:r>
            <a:r>
              <a:rPr lang="en-US" sz="1900" b="1" dirty="0">
                <a:cs typeface="Calibri" panose="020F0502020204030204" pitchFamily="34" charset="0"/>
              </a:rPr>
              <a:t>WHERE</a:t>
            </a:r>
            <a:r>
              <a:rPr lang="he-IL" sz="1900" b="1" dirty="0">
                <a:cs typeface="Calibri" panose="020F0502020204030204" pitchFamily="34" charset="0"/>
              </a:rPr>
              <a:t> מבצעת סינון על שורות, פקודת ה </a:t>
            </a:r>
            <a:r>
              <a:rPr lang="en-US" sz="1900" b="1" dirty="0">
                <a:cs typeface="Calibri" panose="020F0502020204030204" pitchFamily="34" charset="0"/>
              </a:rPr>
              <a:t>HAVING</a:t>
            </a:r>
            <a:r>
              <a:rPr lang="he-IL" sz="1900" b="1" dirty="0">
                <a:cs typeface="Calibri" panose="020F0502020204030204" pitchFamily="34" charset="0"/>
              </a:rPr>
              <a:t> מבצעת סינון על קבוצות.</a:t>
            </a:r>
          </a:p>
          <a:p>
            <a:pPr marL="64008" indent="0" rtl="1">
              <a:buNone/>
            </a:pPr>
            <a:r>
              <a:rPr lang="he-IL" sz="1900" dirty="0">
                <a:cs typeface="Calibri" panose="020F0502020204030204" pitchFamily="34" charset="0"/>
              </a:rPr>
              <a:t>לדוגמא:</a:t>
            </a:r>
          </a:p>
          <a:p>
            <a:pPr marL="64008" indent="0" rtl="1">
              <a:buNone/>
            </a:pPr>
            <a:r>
              <a:rPr lang="he-IL" sz="1900" dirty="0">
                <a:cs typeface="Calibri" panose="020F0502020204030204" pitchFamily="34" charset="0"/>
              </a:rPr>
              <a:t>אם נרצה לקבל בכל כיתה את הממוצע של התלמידים שקיבלו מעל 80 נשתמש ב </a:t>
            </a:r>
            <a:r>
              <a:rPr lang="en-US" sz="1900" dirty="0">
                <a:cs typeface="Calibri" panose="020F0502020204030204" pitchFamily="34" charset="0"/>
              </a:rPr>
              <a:t>WHERE</a:t>
            </a:r>
            <a:r>
              <a:rPr lang="he-IL" sz="1900" dirty="0">
                <a:cs typeface="Calibri" panose="020F0502020204030204" pitchFamily="34" charset="0"/>
              </a:rPr>
              <a:t>. אם נרצה לקבל את כל הכיתות שהממוצע הכללי שלהן הוא מעל 80 נשתמש ב </a:t>
            </a:r>
            <a:r>
              <a:rPr lang="en-US" sz="1900" dirty="0">
                <a:cs typeface="Calibri" panose="020F0502020204030204" pitchFamily="34" charset="0"/>
              </a:rPr>
              <a:t>HAVING</a:t>
            </a:r>
            <a:r>
              <a:rPr lang="he-IL" sz="1900" dirty="0">
                <a:cs typeface="Calibri" panose="020F0502020204030204" pitchFamily="34" charset="0"/>
              </a:rPr>
              <a:t>.</a:t>
            </a:r>
          </a:p>
          <a:p>
            <a:pPr marL="64008" indent="0" rtl="1">
              <a:buNone/>
            </a:pPr>
            <a:r>
              <a:rPr lang="he-IL" sz="1900" dirty="0">
                <a:cs typeface="Calibri" panose="020F0502020204030204" pitchFamily="34" charset="0"/>
              </a:rPr>
              <a:t>סדר הפקודות:</a:t>
            </a:r>
          </a:p>
          <a:p>
            <a:pPr marL="64008" indent="0" rtl="1">
              <a:buNone/>
            </a:pPr>
            <a:r>
              <a:rPr lang="en-US" sz="1900" dirty="0">
                <a:cs typeface="Calibri" panose="020F0502020204030204" pitchFamily="34" charset="0"/>
              </a:rPr>
              <a:t>SELECT</a:t>
            </a:r>
            <a:endParaRPr lang="he-IL" sz="1900" dirty="0">
              <a:cs typeface="Calibri" panose="020F0502020204030204" pitchFamily="34" charset="0"/>
            </a:endParaRPr>
          </a:p>
          <a:p>
            <a:pPr marL="64008" indent="0" rtl="1">
              <a:buNone/>
            </a:pPr>
            <a:r>
              <a:rPr lang="en-US" sz="1900" dirty="0">
                <a:cs typeface="Calibri" panose="020F0502020204030204" pitchFamily="34" charset="0"/>
              </a:rPr>
              <a:t>FROM</a:t>
            </a:r>
            <a:endParaRPr lang="he-IL" sz="1900" dirty="0">
              <a:cs typeface="Calibri" panose="020F0502020204030204" pitchFamily="34" charset="0"/>
            </a:endParaRPr>
          </a:p>
          <a:p>
            <a:pPr marL="64008" indent="0" rtl="1">
              <a:buNone/>
            </a:pPr>
            <a:r>
              <a:rPr lang="en-US" sz="1900" dirty="0">
                <a:cs typeface="Calibri" panose="020F0502020204030204" pitchFamily="34" charset="0"/>
              </a:rPr>
              <a:t>WHERE</a:t>
            </a:r>
            <a:endParaRPr lang="he-IL" sz="1900" dirty="0">
              <a:cs typeface="Calibri" panose="020F0502020204030204" pitchFamily="34" charset="0"/>
            </a:endParaRPr>
          </a:p>
          <a:p>
            <a:pPr marL="64008" indent="0" rtl="1">
              <a:buNone/>
            </a:pPr>
            <a:r>
              <a:rPr lang="en-US" sz="1900" dirty="0">
                <a:cs typeface="Calibri" panose="020F0502020204030204" pitchFamily="34" charset="0"/>
              </a:rPr>
              <a:t>GROUP BY</a:t>
            </a:r>
            <a:endParaRPr lang="he-IL" sz="1900" dirty="0">
              <a:cs typeface="Calibri" panose="020F0502020204030204" pitchFamily="34" charset="0"/>
            </a:endParaRPr>
          </a:p>
          <a:p>
            <a:pPr marL="64008" indent="0" rtl="1">
              <a:buNone/>
            </a:pPr>
            <a:r>
              <a:rPr lang="en-US" sz="1900" dirty="0">
                <a:cs typeface="Calibri" panose="020F0502020204030204" pitchFamily="34" charset="0"/>
              </a:rPr>
              <a:t>HAVING</a:t>
            </a:r>
            <a:endParaRPr lang="he-IL" sz="1900" dirty="0">
              <a:cs typeface="Calibri" panose="020F0502020204030204" pitchFamily="34" charset="0"/>
            </a:endParaRPr>
          </a:p>
          <a:p>
            <a:pPr marL="64008" indent="0" rtl="1">
              <a:buNone/>
            </a:pPr>
            <a:r>
              <a:rPr lang="en-US" sz="1900" dirty="0">
                <a:cs typeface="Calibri" panose="020F0502020204030204" pitchFamily="34" charset="0"/>
              </a:rPr>
              <a:t>ORDER BY</a:t>
            </a:r>
            <a:endParaRPr lang="he-IL" sz="19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0141FD90-AF29-459E-A361-34AE24EC63C7}"/>
              </a:ext>
            </a:extLst>
          </p:cNvPr>
          <p:cNvSpPr>
            <a:spLocks noGrp="1"/>
          </p:cNvSpPr>
          <p:nvPr>
            <p:ph type="title"/>
          </p:nvPr>
        </p:nvSpPr>
        <p:spPr/>
        <p:txBody>
          <a:bodyPr/>
          <a:lstStyle/>
          <a:p>
            <a:pPr algn="l"/>
            <a:r>
              <a:rPr lang="en-US" dirty="0"/>
              <a:t>Having</a:t>
            </a:r>
            <a:endParaRPr lang="he-IL" dirty="0"/>
          </a:p>
        </p:txBody>
      </p:sp>
      <p:sp>
        <p:nvSpPr>
          <p:cNvPr id="4" name="מציין מיקום של מספר שקופית 3">
            <a:extLst>
              <a:ext uri="{FF2B5EF4-FFF2-40B4-BE49-F238E27FC236}">
                <a16:creationId xmlns:a16="http://schemas.microsoft.com/office/drawing/2014/main" id="{F5F0D676-03A4-4461-B7F1-B3B6DA30FFCA}"/>
              </a:ext>
            </a:extLst>
          </p:cNvPr>
          <p:cNvSpPr>
            <a:spLocks noGrp="1"/>
          </p:cNvSpPr>
          <p:nvPr>
            <p:ph type="sldNum" sz="quarter" idx="11"/>
          </p:nvPr>
        </p:nvSpPr>
        <p:spPr/>
        <p:txBody>
          <a:bodyPr/>
          <a:lstStyle/>
          <a:p>
            <a:fld id="{746FD205-8D79-439C-A802-2377436AEC8A}" type="slidenum">
              <a:rPr lang="he-IL" smtClean="0"/>
              <a:pPr/>
              <a:t>84</a:t>
            </a:fld>
            <a:endParaRPr lang="he-IL"/>
          </a:p>
        </p:txBody>
      </p:sp>
    </p:spTree>
    <p:extLst>
      <p:ext uri="{BB962C8B-B14F-4D97-AF65-F5344CB8AC3E}">
        <p14:creationId xmlns:p14="http://schemas.microsoft.com/office/powerpoint/2010/main" val="617801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C883A72-D07B-43F0-B89A-F1B135BA4061}"/>
              </a:ext>
            </a:extLst>
          </p:cNvPr>
          <p:cNvSpPr>
            <a:spLocks noGrp="1"/>
          </p:cNvSpPr>
          <p:nvPr>
            <p:ph idx="1"/>
          </p:nvPr>
        </p:nvSpPr>
        <p:spPr/>
        <p:txBody>
          <a:bodyPr>
            <a:normAutofit/>
          </a:bodyPr>
          <a:lstStyle/>
          <a:p>
            <a:pPr marL="64008" indent="0">
              <a:buNone/>
            </a:pPr>
            <a:r>
              <a:rPr lang="en-US" sz="1800" dirty="0">
                <a:cs typeface="Calibri" panose="020F0502020204030204" pitchFamily="34" charset="0"/>
              </a:rPr>
              <a:t>Syntax:</a:t>
            </a: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r>
              <a:rPr lang="he-IL" sz="1800" dirty="0">
                <a:cs typeface="Calibri" panose="020F0502020204030204" pitchFamily="34" charset="0"/>
              </a:rPr>
              <a:t>דוגמא:</a:t>
            </a: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r>
              <a:rPr lang="he-IL" sz="1800" dirty="0">
                <a:cs typeface="Calibri" panose="020F0502020204030204" pitchFamily="34" charset="0"/>
              </a:rPr>
              <a:t>(הקבוצות שהבונוס שלהן הוא פחות מ 500 לא הופיעו)</a:t>
            </a: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29DB70B8-651F-424C-B39C-7C21ECEC3792}"/>
              </a:ext>
            </a:extLst>
          </p:cNvPr>
          <p:cNvSpPr>
            <a:spLocks noGrp="1"/>
          </p:cNvSpPr>
          <p:nvPr>
            <p:ph type="title"/>
          </p:nvPr>
        </p:nvSpPr>
        <p:spPr/>
        <p:txBody>
          <a:bodyPr/>
          <a:lstStyle/>
          <a:p>
            <a:pPr algn="l"/>
            <a:r>
              <a:rPr lang="en-US" dirty="0"/>
              <a:t>Having</a:t>
            </a:r>
            <a:endParaRPr lang="he-IL" dirty="0"/>
          </a:p>
        </p:txBody>
      </p:sp>
      <p:sp>
        <p:nvSpPr>
          <p:cNvPr id="4" name="מציין מיקום של מספר שקופית 3">
            <a:extLst>
              <a:ext uri="{FF2B5EF4-FFF2-40B4-BE49-F238E27FC236}">
                <a16:creationId xmlns:a16="http://schemas.microsoft.com/office/drawing/2014/main" id="{9B4A6511-56A4-4CF5-87AB-3B0768E84AEB}"/>
              </a:ext>
            </a:extLst>
          </p:cNvPr>
          <p:cNvSpPr>
            <a:spLocks noGrp="1"/>
          </p:cNvSpPr>
          <p:nvPr>
            <p:ph type="sldNum" sz="quarter" idx="11"/>
          </p:nvPr>
        </p:nvSpPr>
        <p:spPr/>
        <p:txBody>
          <a:bodyPr/>
          <a:lstStyle/>
          <a:p>
            <a:fld id="{746FD205-8D79-439C-A802-2377436AEC8A}" type="slidenum">
              <a:rPr lang="he-IL" smtClean="0"/>
              <a:pPr/>
              <a:t>85</a:t>
            </a:fld>
            <a:endParaRPr lang="he-IL"/>
          </a:p>
        </p:txBody>
      </p:sp>
      <p:pic>
        <p:nvPicPr>
          <p:cNvPr id="5" name="תמונה 4">
            <a:extLst>
              <a:ext uri="{FF2B5EF4-FFF2-40B4-BE49-F238E27FC236}">
                <a16:creationId xmlns:a16="http://schemas.microsoft.com/office/drawing/2014/main" id="{81FF99E1-A881-479E-A3F2-D19B3AF68B1B}"/>
              </a:ext>
            </a:extLst>
          </p:cNvPr>
          <p:cNvPicPr>
            <a:picLocks noChangeAspect="1"/>
          </p:cNvPicPr>
          <p:nvPr/>
        </p:nvPicPr>
        <p:blipFill>
          <a:blip r:embed="rId2"/>
          <a:stretch>
            <a:fillRect/>
          </a:stretch>
        </p:blipFill>
        <p:spPr>
          <a:xfrm>
            <a:off x="6410076" y="1981200"/>
            <a:ext cx="2122999" cy="1371600"/>
          </a:xfrm>
          <a:prstGeom prst="rect">
            <a:avLst/>
          </a:prstGeom>
        </p:spPr>
      </p:pic>
      <p:pic>
        <p:nvPicPr>
          <p:cNvPr id="6" name="תמונה 5">
            <a:extLst>
              <a:ext uri="{FF2B5EF4-FFF2-40B4-BE49-F238E27FC236}">
                <a16:creationId xmlns:a16="http://schemas.microsoft.com/office/drawing/2014/main" id="{5DA89B4A-762A-476E-B3AD-34DE9B278A33}"/>
              </a:ext>
            </a:extLst>
          </p:cNvPr>
          <p:cNvPicPr>
            <a:picLocks noChangeAspect="1"/>
          </p:cNvPicPr>
          <p:nvPr/>
        </p:nvPicPr>
        <p:blipFill>
          <a:blip r:embed="rId3"/>
          <a:stretch>
            <a:fillRect/>
          </a:stretch>
        </p:blipFill>
        <p:spPr>
          <a:xfrm>
            <a:off x="5478780" y="3987538"/>
            <a:ext cx="2362200" cy="1047750"/>
          </a:xfrm>
          <a:prstGeom prst="rect">
            <a:avLst/>
          </a:prstGeom>
        </p:spPr>
      </p:pic>
      <p:pic>
        <p:nvPicPr>
          <p:cNvPr id="7" name="תמונה 6">
            <a:extLst>
              <a:ext uri="{FF2B5EF4-FFF2-40B4-BE49-F238E27FC236}">
                <a16:creationId xmlns:a16="http://schemas.microsoft.com/office/drawing/2014/main" id="{22EC4661-32F2-4980-8E0E-11A79EF9F047}"/>
              </a:ext>
            </a:extLst>
          </p:cNvPr>
          <p:cNvPicPr>
            <a:picLocks noChangeAspect="1"/>
          </p:cNvPicPr>
          <p:nvPr/>
        </p:nvPicPr>
        <p:blipFill>
          <a:blip r:embed="rId4"/>
          <a:stretch>
            <a:fillRect/>
          </a:stretch>
        </p:blipFill>
        <p:spPr>
          <a:xfrm>
            <a:off x="8092440" y="3987538"/>
            <a:ext cx="514350" cy="571500"/>
          </a:xfrm>
          <a:prstGeom prst="rect">
            <a:avLst/>
          </a:prstGeom>
        </p:spPr>
      </p:pic>
    </p:spTree>
    <p:extLst>
      <p:ext uri="{BB962C8B-B14F-4D97-AF65-F5344CB8AC3E}">
        <p14:creationId xmlns:p14="http://schemas.microsoft.com/office/powerpoint/2010/main" val="16537579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143300A-98D5-45F7-BCBC-C6CC86DC8826}"/>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פקודת ה</a:t>
            </a:r>
            <a:r>
              <a:rPr lang="en-US" sz="1800" dirty="0">
                <a:cs typeface="Calibri" panose="020F0502020204030204" pitchFamily="34" charset="0"/>
              </a:rPr>
              <a:t> JOIN </a:t>
            </a:r>
            <a:r>
              <a:rPr lang="he-IL" sz="1800" dirty="0">
                <a:cs typeface="Calibri" panose="020F0502020204030204" pitchFamily="34" charset="0"/>
              </a:rPr>
              <a:t>משמשת לשילוב שורות משתי טבלאות או יותר, בהתבסס על עמודה קשורה ביניהן.</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יש לנו שתי טבלאות – טבלת עובדים וטבלת תשלום לעובדים, בטבלת עובדים יש את כל הפרטים האישיים של העובד (ת"ז, שם פרטי, שם משפחה...) ובטבלת תשלום לעובדים יש את </a:t>
            </a:r>
            <a:r>
              <a:rPr lang="he-IL" sz="1800" dirty="0" err="1">
                <a:cs typeface="Calibri" panose="020F0502020204030204" pitchFamily="34" charset="0"/>
              </a:rPr>
              <a:t>הת"ז</a:t>
            </a:r>
            <a:r>
              <a:rPr lang="he-IL" sz="1800" dirty="0">
                <a:cs typeface="Calibri" panose="020F0502020204030204" pitchFamily="34" charset="0"/>
              </a:rPr>
              <a:t> של העובד כמפתח זר שמצביע לטבלת עובדים + כל הפרטים על תשלומי העובד.</a:t>
            </a:r>
            <a:br>
              <a:rPr lang="en-US" sz="1800" dirty="0">
                <a:cs typeface="Calibri" panose="020F0502020204030204" pitchFamily="34" charset="0"/>
              </a:rPr>
            </a:br>
            <a:r>
              <a:rPr lang="he-IL" sz="1800" dirty="0">
                <a:cs typeface="Calibri" panose="020F0502020204030204" pitchFamily="34" charset="0"/>
              </a:rPr>
              <a:t>במידה ונרצה לשלוף את פרטיו הבסיסיים של העובד ואת פרטי המשכורת שלו יחד נעשה זאת כך:</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CF6281DC-06BC-4D73-BC39-3E52F76FC02C}"/>
              </a:ext>
            </a:extLst>
          </p:cNvPr>
          <p:cNvSpPr>
            <a:spLocks noGrp="1"/>
          </p:cNvSpPr>
          <p:nvPr>
            <p:ph type="title"/>
          </p:nvPr>
        </p:nvSpPr>
        <p:spPr/>
        <p:txBody>
          <a:bodyPr/>
          <a:lstStyle/>
          <a:p>
            <a:pPr algn="l"/>
            <a:r>
              <a:rPr lang="en-US" dirty="0"/>
              <a:t>Join</a:t>
            </a:r>
            <a:endParaRPr lang="he-IL" dirty="0"/>
          </a:p>
        </p:txBody>
      </p:sp>
      <p:sp>
        <p:nvSpPr>
          <p:cNvPr id="4" name="מציין מיקום של מספר שקופית 3">
            <a:extLst>
              <a:ext uri="{FF2B5EF4-FFF2-40B4-BE49-F238E27FC236}">
                <a16:creationId xmlns:a16="http://schemas.microsoft.com/office/drawing/2014/main" id="{1BD47D50-BFBE-4D6B-B3FA-93A08B3706BF}"/>
              </a:ext>
            </a:extLst>
          </p:cNvPr>
          <p:cNvSpPr>
            <a:spLocks noGrp="1"/>
          </p:cNvSpPr>
          <p:nvPr>
            <p:ph type="sldNum" sz="quarter" idx="11"/>
          </p:nvPr>
        </p:nvSpPr>
        <p:spPr/>
        <p:txBody>
          <a:bodyPr/>
          <a:lstStyle/>
          <a:p>
            <a:fld id="{746FD205-8D79-439C-A802-2377436AEC8A}" type="slidenum">
              <a:rPr lang="he-IL" smtClean="0"/>
              <a:pPr/>
              <a:t>86</a:t>
            </a:fld>
            <a:endParaRPr lang="he-IL"/>
          </a:p>
        </p:txBody>
      </p:sp>
      <p:pic>
        <p:nvPicPr>
          <p:cNvPr id="5" name="תמונה 4">
            <a:extLst>
              <a:ext uri="{FF2B5EF4-FFF2-40B4-BE49-F238E27FC236}">
                <a16:creationId xmlns:a16="http://schemas.microsoft.com/office/drawing/2014/main" id="{75B61524-BD69-4D26-8FE0-4D1379AB63E6}"/>
              </a:ext>
            </a:extLst>
          </p:cNvPr>
          <p:cNvPicPr>
            <a:picLocks noChangeAspect="1"/>
          </p:cNvPicPr>
          <p:nvPr/>
        </p:nvPicPr>
        <p:blipFill>
          <a:blip r:embed="rId2"/>
          <a:stretch>
            <a:fillRect/>
          </a:stretch>
        </p:blipFill>
        <p:spPr>
          <a:xfrm>
            <a:off x="2062734" y="3848100"/>
            <a:ext cx="6061129" cy="990600"/>
          </a:xfrm>
          <a:prstGeom prst="rect">
            <a:avLst/>
          </a:prstGeom>
        </p:spPr>
      </p:pic>
      <p:pic>
        <p:nvPicPr>
          <p:cNvPr id="6" name="תמונה 5">
            <a:extLst>
              <a:ext uri="{FF2B5EF4-FFF2-40B4-BE49-F238E27FC236}">
                <a16:creationId xmlns:a16="http://schemas.microsoft.com/office/drawing/2014/main" id="{45A20684-755D-4934-96CD-813B808813BA}"/>
              </a:ext>
            </a:extLst>
          </p:cNvPr>
          <p:cNvPicPr>
            <a:picLocks noChangeAspect="1"/>
          </p:cNvPicPr>
          <p:nvPr/>
        </p:nvPicPr>
        <p:blipFill>
          <a:blip r:embed="rId3"/>
          <a:stretch>
            <a:fillRect/>
          </a:stretch>
        </p:blipFill>
        <p:spPr>
          <a:xfrm>
            <a:off x="2033668" y="5097245"/>
            <a:ext cx="2884541" cy="1268503"/>
          </a:xfrm>
          <a:prstGeom prst="rect">
            <a:avLst/>
          </a:prstGeom>
        </p:spPr>
      </p:pic>
    </p:spTree>
    <p:extLst>
      <p:ext uri="{BB962C8B-B14F-4D97-AF65-F5344CB8AC3E}">
        <p14:creationId xmlns:p14="http://schemas.microsoft.com/office/powerpoint/2010/main" val="18736904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D2BD54E7-B12E-4030-A464-CEEC480947B2}"/>
              </a:ext>
            </a:extLst>
          </p:cNvPr>
          <p:cNvSpPr>
            <a:spLocks noGrp="1"/>
          </p:cNvSpPr>
          <p:nvPr>
            <p:ph idx="1"/>
          </p:nvPr>
        </p:nvSpPr>
        <p:spPr/>
        <p:txBody>
          <a:bodyPr/>
          <a:lstStyle/>
          <a:p>
            <a:pPr marL="64008" indent="0" rtl="1">
              <a:buNone/>
            </a:pPr>
            <a:r>
              <a:rPr lang="he-IL" sz="1800" dirty="0">
                <a:cs typeface="Calibri" panose="020F0502020204030204" pitchFamily="34" charset="0"/>
              </a:rPr>
              <a:t>הפקודה </a:t>
            </a:r>
            <a:r>
              <a:rPr lang="en-US" sz="1800" dirty="0">
                <a:cs typeface="Calibri" panose="020F0502020204030204" pitchFamily="34" charset="0"/>
              </a:rPr>
              <a:t> INNER JOIN </a:t>
            </a:r>
            <a:r>
              <a:rPr lang="he-IL" sz="1800" dirty="0">
                <a:cs typeface="Calibri" panose="020F0502020204030204" pitchFamily="34" charset="0"/>
              </a:rPr>
              <a:t>מחזירה רק את הרשומות שיש להן ערכים תואמים בשתי הטבלאות. אם לדוגמא בטבלה אחת, הערך שלפיו אנחנו מצרפים הוא </a:t>
            </a:r>
            <a:r>
              <a:rPr lang="en-US" sz="1800" dirty="0">
                <a:cs typeface="Calibri" panose="020F0502020204030204" pitchFamily="34" charset="0"/>
              </a:rPr>
              <a:t>NULL</a:t>
            </a:r>
            <a:r>
              <a:rPr lang="he-IL" sz="1800" dirty="0">
                <a:cs typeface="Calibri" panose="020F0502020204030204" pitchFamily="34" charset="0"/>
              </a:rPr>
              <a:t>, הרשומה הזו לא תופיע בתוצאת השאילתה.</a:t>
            </a:r>
          </a:p>
          <a:p>
            <a:pPr marL="64008" indent="0" rtl="1">
              <a:buNone/>
            </a:pPr>
            <a:r>
              <a:rPr lang="en-US" sz="1800" dirty="0">
                <a:cs typeface="Calibri" panose="020F0502020204030204" pitchFamily="34" charset="0"/>
              </a:rPr>
              <a:t>Syntax:</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הזמנות של חנות עם פרטי הלקוח שהזמין – לא יחזרו הזמנות שאין להן פרטי לקוח (שהשדה </a:t>
            </a:r>
            <a:r>
              <a:rPr lang="en-US" sz="1800" dirty="0" err="1">
                <a:cs typeface="Calibri" panose="020F0502020204030204" pitchFamily="34" charset="0"/>
              </a:rPr>
              <a:t>CustID</a:t>
            </a:r>
            <a:r>
              <a:rPr lang="he-IL" sz="1800" dirty="0">
                <a:cs typeface="Calibri" panose="020F0502020204030204" pitchFamily="34" charset="0"/>
              </a:rPr>
              <a:t> הוא </a:t>
            </a:r>
            <a:r>
              <a:rPr lang="en-US" sz="1800" dirty="0">
                <a:cs typeface="Calibri" panose="020F0502020204030204" pitchFamily="34" charset="0"/>
              </a:rPr>
              <a:t>NULL</a:t>
            </a:r>
            <a:r>
              <a:rPr lang="he-IL" sz="1800" dirty="0">
                <a:cs typeface="Calibri" panose="020F0502020204030204" pitchFamily="34" charset="0"/>
              </a:rPr>
              <a:t>, ולא יחזרו לקוחות שאין להם הזמנה)</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EE44C836-F4A6-48C6-9F18-74F68A058A00}"/>
              </a:ext>
            </a:extLst>
          </p:cNvPr>
          <p:cNvSpPr>
            <a:spLocks noGrp="1"/>
          </p:cNvSpPr>
          <p:nvPr>
            <p:ph type="title"/>
          </p:nvPr>
        </p:nvSpPr>
        <p:spPr/>
        <p:txBody>
          <a:bodyPr/>
          <a:lstStyle/>
          <a:p>
            <a:pPr algn="l"/>
            <a:r>
              <a:rPr lang="en-US" dirty="0"/>
              <a:t>Inner Join</a:t>
            </a:r>
            <a:endParaRPr lang="he-IL" dirty="0"/>
          </a:p>
        </p:txBody>
      </p:sp>
      <p:sp>
        <p:nvSpPr>
          <p:cNvPr id="4" name="מציין מיקום של מספר שקופית 3">
            <a:extLst>
              <a:ext uri="{FF2B5EF4-FFF2-40B4-BE49-F238E27FC236}">
                <a16:creationId xmlns:a16="http://schemas.microsoft.com/office/drawing/2014/main" id="{F24216A4-306D-448D-963A-55BBA4DCFA4C}"/>
              </a:ext>
            </a:extLst>
          </p:cNvPr>
          <p:cNvSpPr>
            <a:spLocks noGrp="1"/>
          </p:cNvSpPr>
          <p:nvPr>
            <p:ph type="sldNum" sz="quarter" idx="11"/>
          </p:nvPr>
        </p:nvSpPr>
        <p:spPr/>
        <p:txBody>
          <a:bodyPr/>
          <a:lstStyle/>
          <a:p>
            <a:fld id="{746FD205-8D79-439C-A802-2377436AEC8A}" type="slidenum">
              <a:rPr lang="he-IL" smtClean="0"/>
              <a:pPr/>
              <a:t>87</a:t>
            </a:fld>
            <a:endParaRPr lang="he-IL"/>
          </a:p>
        </p:txBody>
      </p:sp>
      <p:pic>
        <p:nvPicPr>
          <p:cNvPr id="5" name="תמונה 4">
            <a:extLst>
              <a:ext uri="{FF2B5EF4-FFF2-40B4-BE49-F238E27FC236}">
                <a16:creationId xmlns:a16="http://schemas.microsoft.com/office/drawing/2014/main" id="{47C04C69-ED55-4635-9C6D-262D525B0C09}"/>
              </a:ext>
            </a:extLst>
          </p:cNvPr>
          <p:cNvPicPr>
            <a:picLocks noChangeAspect="1"/>
          </p:cNvPicPr>
          <p:nvPr/>
        </p:nvPicPr>
        <p:blipFill>
          <a:blip r:embed="rId2"/>
          <a:stretch>
            <a:fillRect/>
          </a:stretch>
        </p:blipFill>
        <p:spPr>
          <a:xfrm>
            <a:off x="5638800" y="2819400"/>
            <a:ext cx="2914650" cy="781050"/>
          </a:xfrm>
          <a:prstGeom prst="rect">
            <a:avLst/>
          </a:prstGeom>
        </p:spPr>
      </p:pic>
      <p:pic>
        <p:nvPicPr>
          <p:cNvPr id="6" name="תמונה 5">
            <a:extLst>
              <a:ext uri="{FF2B5EF4-FFF2-40B4-BE49-F238E27FC236}">
                <a16:creationId xmlns:a16="http://schemas.microsoft.com/office/drawing/2014/main" id="{F0756592-AEFB-4B03-8019-FC7017D1268C}"/>
              </a:ext>
            </a:extLst>
          </p:cNvPr>
          <p:cNvPicPr>
            <a:picLocks noChangeAspect="1"/>
          </p:cNvPicPr>
          <p:nvPr/>
        </p:nvPicPr>
        <p:blipFill>
          <a:blip r:embed="rId3"/>
          <a:stretch>
            <a:fillRect/>
          </a:stretch>
        </p:blipFill>
        <p:spPr>
          <a:xfrm>
            <a:off x="476839" y="4953000"/>
            <a:ext cx="4535906" cy="693154"/>
          </a:xfrm>
          <a:prstGeom prst="rect">
            <a:avLst/>
          </a:prstGeom>
        </p:spPr>
      </p:pic>
      <p:pic>
        <p:nvPicPr>
          <p:cNvPr id="7" name="תמונה 6">
            <a:extLst>
              <a:ext uri="{FF2B5EF4-FFF2-40B4-BE49-F238E27FC236}">
                <a16:creationId xmlns:a16="http://schemas.microsoft.com/office/drawing/2014/main" id="{FDBD7D61-813F-4D29-B91D-049E4B8D897C}"/>
              </a:ext>
            </a:extLst>
          </p:cNvPr>
          <p:cNvPicPr>
            <a:picLocks noChangeAspect="1"/>
          </p:cNvPicPr>
          <p:nvPr/>
        </p:nvPicPr>
        <p:blipFill>
          <a:blip r:embed="rId4"/>
          <a:stretch>
            <a:fillRect/>
          </a:stretch>
        </p:blipFill>
        <p:spPr>
          <a:xfrm>
            <a:off x="5334000" y="4953000"/>
            <a:ext cx="3048207" cy="693154"/>
          </a:xfrm>
          <a:prstGeom prst="rect">
            <a:avLst/>
          </a:prstGeom>
        </p:spPr>
      </p:pic>
    </p:spTree>
    <p:extLst>
      <p:ext uri="{BB962C8B-B14F-4D97-AF65-F5344CB8AC3E}">
        <p14:creationId xmlns:p14="http://schemas.microsoft.com/office/powerpoint/2010/main" val="8151198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186030F-6D2B-402F-999A-24A2F225E9F6}"/>
              </a:ext>
            </a:extLst>
          </p:cNvPr>
          <p:cNvSpPr>
            <a:spLocks noGrp="1"/>
          </p:cNvSpPr>
          <p:nvPr>
            <p:ph idx="1"/>
          </p:nvPr>
        </p:nvSpPr>
        <p:spPr/>
        <p:txBody>
          <a:bodyPr/>
          <a:lstStyle/>
          <a:p>
            <a:pPr marL="64008" indent="0" rtl="1">
              <a:buNone/>
            </a:pPr>
            <a:r>
              <a:rPr lang="he-IL" sz="1800" dirty="0">
                <a:cs typeface="Calibri" panose="020F0502020204030204" pitchFamily="34" charset="0"/>
              </a:rPr>
              <a:t>הפקודה </a:t>
            </a:r>
            <a:r>
              <a:rPr lang="en-US" sz="1800" dirty="0">
                <a:cs typeface="Calibri" panose="020F0502020204030204" pitchFamily="34" charset="0"/>
              </a:rPr>
              <a:t>LEFT (OUTER) JOIN</a:t>
            </a:r>
            <a:r>
              <a:rPr lang="he-IL" sz="1800" dirty="0">
                <a:cs typeface="Calibri" panose="020F0502020204030204" pitchFamily="34" charset="0"/>
              </a:rPr>
              <a:t> מחזירה את </a:t>
            </a:r>
            <a:r>
              <a:rPr lang="he-IL" sz="1800" b="1" dirty="0">
                <a:cs typeface="Calibri" panose="020F0502020204030204" pitchFamily="34" charset="0"/>
              </a:rPr>
              <a:t>כל</a:t>
            </a:r>
            <a:r>
              <a:rPr lang="he-IL" sz="1800" dirty="0">
                <a:cs typeface="Calibri" panose="020F0502020204030204" pitchFamily="34" charset="0"/>
              </a:rPr>
              <a:t> הרשומות מהטבלה השמאלית (טבלה 1), ואת הרשומות התואמות לה מהטבלה הימנית (טבלה 2). במידה ואין לרשומות מסוימות מהטבלה השמאלית רשומות תואמות בטבלה הימנית, יופיע לידן הערך </a:t>
            </a:r>
            <a:r>
              <a:rPr lang="en-US" sz="1800" dirty="0">
                <a:cs typeface="Calibri" panose="020F0502020204030204" pitchFamily="34" charset="0"/>
              </a:rPr>
              <a:t>NULL</a:t>
            </a:r>
            <a:r>
              <a:rPr lang="he-IL" sz="1800" dirty="0">
                <a:cs typeface="Calibri" panose="020F0502020204030204" pitchFamily="34" charset="0"/>
              </a:rPr>
              <a:t>.</a:t>
            </a:r>
          </a:p>
          <a:p>
            <a:pPr marL="64008" indent="0" rtl="1">
              <a:buNone/>
            </a:pPr>
            <a:r>
              <a:rPr lang="he-IL" sz="1800" dirty="0">
                <a:cs typeface="Calibri" panose="020F0502020204030204" pitchFamily="34" charset="0"/>
              </a:rPr>
              <a:t>שימי לב: הטבלה השמאלית היא הטבלה שעליה כתבנו בהתחלה את ה </a:t>
            </a:r>
            <a:r>
              <a:rPr lang="en-US" sz="1800" dirty="0">
                <a:cs typeface="Calibri" panose="020F0502020204030204" pitchFamily="34" charset="0"/>
              </a:rPr>
              <a:t>SELECT, FROM</a:t>
            </a:r>
            <a:r>
              <a:rPr lang="he-IL" sz="1800" dirty="0">
                <a:cs typeface="Calibri" panose="020F0502020204030204" pitchFamily="34" charset="0"/>
              </a:rPr>
              <a:t>, הטבלה הימנית היא הטבלה שצורפה אליה.</a:t>
            </a:r>
          </a:p>
          <a:p>
            <a:pPr marL="64008" indent="0" rtl="1">
              <a:buNone/>
            </a:pPr>
            <a:r>
              <a:rPr lang="en-US" sz="1800" dirty="0">
                <a:cs typeface="Calibri" panose="020F0502020204030204" pitchFamily="34" charset="0"/>
              </a:rPr>
              <a:t>Syntax:</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25030AC-57B4-4C4E-9580-E02ED2F9F801}"/>
              </a:ext>
            </a:extLst>
          </p:cNvPr>
          <p:cNvSpPr>
            <a:spLocks noGrp="1"/>
          </p:cNvSpPr>
          <p:nvPr>
            <p:ph type="title"/>
          </p:nvPr>
        </p:nvSpPr>
        <p:spPr/>
        <p:txBody>
          <a:bodyPr/>
          <a:lstStyle/>
          <a:p>
            <a:pPr algn="l"/>
            <a:r>
              <a:rPr lang="en-US" dirty="0"/>
              <a:t>Left Join</a:t>
            </a:r>
            <a:endParaRPr lang="he-IL" dirty="0"/>
          </a:p>
        </p:txBody>
      </p:sp>
      <p:sp>
        <p:nvSpPr>
          <p:cNvPr id="4" name="מציין מיקום של מספר שקופית 3">
            <a:extLst>
              <a:ext uri="{FF2B5EF4-FFF2-40B4-BE49-F238E27FC236}">
                <a16:creationId xmlns:a16="http://schemas.microsoft.com/office/drawing/2014/main" id="{BA5FE8F9-9092-4F62-96C3-8E4EAE489CDA}"/>
              </a:ext>
            </a:extLst>
          </p:cNvPr>
          <p:cNvSpPr>
            <a:spLocks noGrp="1"/>
          </p:cNvSpPr>
          <p:nvPr>
            <p:ph type="sldNum" sz="quarter" idx="11"/>
          </p:nvPr>
        </p:nvSpPr>
        <p:spPr/>
        <p:txBody>
          <a:bodyPr/>
          <a:lstStyle/>
          <a:p>
            <a:fld id="{746FD205-8D79-439C-A802-2377436AEC8A}" type="slidenum">
              <a:rPr lang="he-IL" smtClean="0"/>
              <a:pPr/>
              <a:t>88</a:t>
            </a:fld>
            <a:endParaRPr lang="he-IL"/>
          </a:p>
        </p:txBody>
      </p:sp>
      <p:pic>
        <p:nvPicPr>
          <p:cNvPr id="7" name="תמונה 6">
            <a:extLst>
              <a:ext uri="{FF2B5EF4-FFF2-40B4-BE49-F238E27FC236}">
                <a16:creationId xmlns:a16="http://schemas.microsoft.com/office/drawing/2014/main" id="{F2C5CC43-E8C3-4666-A26D-C643B113BCD1}"/>
              </a:ext>
            </a:extLst>
          </p:cNvPr>
          <p:cNvPicPr>
            <a:picLocks noChangeAspect="1"/>
          </p:cNvPicPr>
          <p:nvPr/>
        </p:nvPicPr>
        <p:blipFill>
          <a:blip r:embed="rId2"/>
          <a:stretch>
            <a:fillRect/>
          </a:stretch>
        </p:blipFill>
        <p:spPr>
          <a:xfrm>
            <a:off x="5562600" y="3448050"/>
            <a:ext cx="2962275" cy="800100"/>
          </a:xfrm>
          <a:prstGeom prst="rect">
            <a:avLst/>
          </a:prstGeom>
        </p:spPr>
      </p:pic>
    </p:spTree>
    <p:extLst>
      <p:ext uri="{BB962C8B-B14F-4D97-AF65-F5344CB8AC3E}">
        <p14:creationId xmlns:p14="http://schemas.microsoft.com/office/powerpoint/2010/main" val="3274667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95B5895A-BD73-4209-8434-BA3C4F0C615C}"/>
              </a:ext>
            </a:extLst>
          </p:cNvPr>
          <p:cNvSpPr>
            <a:spLocks noGrp="1"/>
          </p:cNvSpPr>
          <p:nvPr>
            <p:ph idx="1"/>
          </p:nvPr>
        </p:nvSpPr>
        <p:spPr/>
        <p:txBody>
          <a:bodyPr/>
          <a:lstStyle/>
          <a:p>
            <a:pPr marL="64008" indent="0" rtl="1">
              <a:buNone/>
            </a:pPr>
            <a:r>
              <a:rPr lang="he-IL" sz="1800" dirty="0">
                <a:cs typeface="Calibri" panose="020F0502020204030204" pitchFamily="34" charset="0"/>
              </a:rPr>
              <a:t>דוגמא ל </a:t>
            </a:r>
            <a:r>
              <a:rPr lang="en-US" sz="1800" dirty="0">
                <a:cs typeface="Calibri" panose="020F0502020204030204" pitchFamily="34" charset="0"/>
              </a:rPr>
              <a:t>Left Join</a:t>
            </a:r>
            <a:r>
              <a:rPr lang="he-IL" sz="1800" dirty="0">
                <a:cs typeface="Calibri" panose="020F0502020204030204" pitchFamily="34" charset="0"/>
              </a:rPr>
              <a:t>:</a:t>
            </a:r>
          </a:p>
          <a:p>
            <a:pPr marL="64008" indent="0" rtl="1">
              <a:buNone/>
            </a:pPr>
            <a:r>
              <a:rPr lang="he-IL" sz="1800" dirty="0">
                <a:cs typeface="Calibri" panose="020F0502020204030204" pitchFamily="34" charset="0"/>
              </a:rPr>
              <a:t>הטבלה השמאלית - טבלת עובדים, הטבלה הימנית - טבלת שכר לעובדים.</a:t>
            </a:r>
            <a:br>
              <a:rPr lang="en-US" sz="1800" dirty="0">
                <a:cs typeface="Calibri" panose="020F0502020204030204" pitchFamily="34" charset="0"/>
              </a:rPr>
            </a:br>
            <a:r>
              <a:rPr lang="he-IL" sz="1800" dirty="0">
                <a:cs typeface="Calibri" panose="020F0502020204030204" pitchFamily="34" charset="0"/>
              </a:rPr>
              <a:t>כאשר נבצע </a:t>
            </a:r>
            <a:r>
              <a:rPr lang="en-US" sz="1800" dirty="0">
                <a:cs typeface="Calibri" panose="020F0502020204030204" pitchFamily="34" charset="0"/>
              </a:rPr>
              <a:t>LEFT JOIN</a:t>
            </a:r>
            <a:r>
              <a:rPr lang="he-IL" sz="1800" dirty="0">
                <a:cs typeface="Calibri" panose="020F0502020204030204" pitchFamily="34" charset="0"/>
              </a:rPr>
              <a:t> נקבל את פרטי כל העובדים, גם את אלה שאין עבורם פרטי משכורת – עבור עובדים אלה, יופיע הערך </a:t>
            </a:r>
            <a:r>
              <a:rPr lang="en-US" sz="1800" dirty="0">
                <a:cs typeface="Calibri" panose="020F0502020204030204" pitchFamily="34" charset="0"/>
              </a:rPr>
              <a:t>NULL</a:t>
            </a:r>
            <a:r>
              <a:rPr lang="he-IL" sz="1800" dirty="0">
                <a:cs typeface="Calibri" panose="020F0502020204030204" pitchFamily="34" charset="0"/>
              </a:rPr>
              <a:t> בעמודות הטבלה הימנית.</a:t>
            </a:r>
          </a:p>
          <a:p>
            <a:pPr marL="64008" indent="0">
              <a:buNone/>
            </a:pPr>
            <a:endParaRPr lang="he-IL" dirty="0"/>
          </a:p>
        </p:txBody>
      </p:sp>
      <p:sp>
        <p:nvSpPr>
          <p:cNvPr id="3" name="כותרת 2">
            <a:extLst>
              <a:ext uri="{FF2B5EF4-FFF2-40B4-BE49-F238E27FC236}">
                <a16:creationId xmlns:a16="http://schemas.microsoft.com/office/drawing/2014/main" id="{E10CA457-AEAF-471D-B241-6740B335033A}"/>
              </a:ext>
            </a:extLst>
          </p:cNvPr>
          <p:cNvSpPr>
            <a:spLocks noGrp="1"/>
          </p:cNvSpPr>
          <p:nvPr>
            <p:ph type="title"/>
          </p:nvPr>
        </p:nvSpPr>
        <p:spPr/>
        <p:txBody>
          <a:bodyPr/>
          <a:lstStyle/>
          <a:p>
            <a:pPr algn="l"/>
            <a:r>
              <a:rPr lang="en-US" dirty="0"/>
              <a:t>Left Join</a:t>
            </a:r>
            <a:endParaRPr lang="he-IL" dirty="0"/>
          </a:p>
        </p:txBody>
      </p:sp>
      <p:sp>
        <p:nvSpPr>
          <p:cNvPr id="4" name="מציין מיקום של מספר שקופית 3">
            <a:extLst>
              <a:ext uri="{FF2B5EF4-FFF2-40B4-BE49-F238E27FC236}">
                <a16:creationId xmlns:a16="http://schemas.microsoft.com/office/drawing/2014/main" id="{81C3376F-DE14-4A95-AA22-308DBFAE1DAA}"/>
              </a:ext>
            </a:extLst>
          </p:cNvPr>
          <p:cNvSpPr>
            <a:spLocks noGrp="1"/>
          </p:cNvSpPr>
          <p:nvPr>
            <p:ph type="sldNum" sz="quarter" idx="11"/>
          </p:nvPr>
        </p:nvSpPr>
        <p:spPr/>
        <p:txBody>
          <a:bodyPr/>
          <a:lstStyle/>
          <a:p>
            <a:fld id="{746FD205-8D79-439C-A802-2377436AEC8A}" type="slidenum">
              <a:rPr lang="he-IL" smtClean="0"/>
              <a:pPr/>
              <a:t>89</a:t>
            </a:fld>
            <a:endParaRPr lang="he-IL"/>
          </a:p>
        </p:txBody>
      </p:sp>
      <p:pic>
        <p:nvPicPr>
          <p:cNvPr id="5" name="תמונה 4">
            <a:extLst>
              <a:ext uri="{FF2B5EF4-FFF2-40B4-BE49-F238E27FC236}">
                <a16:creationId xmlns:a16="http://schemas.microsoft.com/office/drawing/2014/main" id="{0BD9C31D-E18C-4ED1-AFF1-4952FB1DF9C6}"/>
              </a:ext>
            </a:extLst>
          </p:cNvPr>
          <p:cNvPicPr>
            <a:picLocks noChangeAspect="1"/>
          </p:cNvPicPr>
          <p:nvPr/>
        </p:nvPicPr>
        <p:blipFill>
          <a:blip r:embed="rId2"/>
          <a:stretch>
            <a:fillRect/>
          </a:stretch>
        </p:blipFill>
        <p:spPr>
          <a:xfrm>
            <a:off x="664740" y="3276600"/>
            <a:ext cx="4025590" cy="685800"/>
          </a:xfrm>
          <a:prstGeom prst="rect">
            <a:avLst/>
          </a:prstGeom>
        </p:spPr>
      </p:pic>
      <p:pic>
        <p:nvPicPr>
          <p:cNvPr id="6" name="תמונה 5">
            <a:extLst>
              <a:ext uri="{FF2B5EF4-FFF2-40B4-BE49-F238E27FC236}">
                <a16:creationId xmlns:a16="http://schemas.microsoft.com/office/drawing/2014/main" id="{BC8ED458-6A80-48AA-AD83-75B8CEB0E579}"/>
              </a:ext>
            </a:extLst>
          </p:cNvPr>
          <p:cNvPicPr>
            <a:picLocks noChangeAspect="1"/>
          </p:cNvPicPr>
          <p:nvPr/>
        </p:nvPicPr>
        <p:blipFill>
          <a:blip r:embed="rId3"/>
          <a:stretch>
            <a:fillRect/>
          </a:stretch>
        </p:blipFill>
        <p:spPr>
          <a:xfrm>
            <a:off x="5094081" y="3276600"/>
            <a:ext cx="2998359" cy="2209800"/>
          </a:xfrm>
          <a:prstGeom prst="rect">
            <a:avLst/>
          </a:prstGeom>
        </p:spPr>
      </p:pic>
    </p:spTree>
    <p:extLst>
      <p:ext uri="{BB962C8B-B14F-4D97-AF65-F5344CB8AC3E}">
        <p14:creationId xmlns:p14="http://schemas.microsoft.com/office/powerpoint/2010/main" val="22228589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97DF5E8-1FE8-4B6F-BFD8-A9CD66A4C5F9}"/>
              </a:ext>
            </a:extLst>
          </p:cNvPr>
          <p:cNvSpPr>
            <a:spLocks noGrp="1"/>
          </p:cNvSpPr>
          <p:nvPr>
            <p:ph idx="1"/>
          </p:nvPr>
        </p:nvSpPr>
        <p:spPr/>
        <p:txBody>
          <a:bodyPr/>
          <a:lstStyle/>
          <a:p>
            <a:pPr marL="64008" indent="0" rtl="1">
              <a:buNone/>
            </a:pPr>
            <a:r>
              <a:rPr lang="he-IL" sz="1800" dirty="0">
                <a:cs typeface="Calibri" panose="020F0502020204030204" pitchFamily="34" charset="0"/>
              </a:rPr>
              <a:t>הפקודה </a:t>
            </a:r>
            <a:r>
              <a:rPr lang="en-US" sz="1800" dirty="0">
                <a:cs typeface="Calibri" panose="020F0502020204030204" pitchFamily="34" charset="0"/>
              </a:rPr>
              <a:t>RIGHT (OUTER) JOIN</a:t>
            </a:r>
            <a:r>
              <a:rPr lang="he-IL" sz="1800" dirty="0">
                <a:cs typeface="Calibri" panose="020F0502020204030204" pitchFamily="34" charset="0"/>
              </a:rPr>
              <a:t> מחזירה את כל הרשומות מהטבלה הימנית (טבלה 2), ואת הרשומות התואמות לה מהטבלה השמאלית (טבלה 1). במידה ואין לרשומות מסוימות מהטבלה הימנית רשומות תואמות בטבלה השמאלית, יופיע לידן הערך </a:t>
            </a:r>
            <a:r>
              <a:rPr lang="en-US" sz="1800" dirty="0">
                <a:cs typeface="Calibri" panose="020F0502020204030204" pitchFamily="34" charset="0"/>
              </a:rPr>
              <a:t>NULL</a:t>
            </a:r>
            <a:r>
              <a:rPr lang="he-IL" sz="1800" dirty="0">
                <a:cs typeface="Calibri" panose="020F0502020204030204" pitchFamily="34" charset="0"/>
              </a:rPr>
              <a:t>.</a:t>
            </a:r>
          </a:p>
          <a:p>
            <a:pPr marL="64008" indent="0" rtl="1">
              <a:buNone/>
            </a:pPr>
            <a:r>
              <a:rPr lang="en-US" sz="1800" dirty="0">
                <a:cs typeface="Calibri" panose="020F0502020204030204" pitchFamily="34" charset="0"/>
              </a:rPr>
              <a:t>Syntax:</a:t>
            </a:r>
          </a:p>
          <a:p>
            <a:pPr marL="64008" indent="0" rtl="1">
              <a:buNone/>
            </a:pPr>
            <a:endParaRPr lang="he-IL" sz="1800" dirty="0">
              <a:cs typeface="Calibri" panose="020F0502020204030204" pitchFamily="34" charset="0"/>
            </a:endParaRPr>
          </a:p>
          <a:p>
            <a:pPr marL="64008" indent="0" rtl="1">
              <a:buNone/>
            </a:pPr>
            <a:endParaRPr lang="he-IL" dirty="0"/>
          </a:p>
        </p:txBody>
      </p:sp>
      <p:sp>
        <p:nvSpPr>
          <p:cNvPr id="3" name="כותרת 2">
            <a:extLst>
              <a:ext uri="{FF2B5EF4-FFF2-40B4-BE49-F238E27FC236}">
                <a16:creationId xmlns:a16="http://schemas.microsoft.com/office/drawing/2014/main" id="{E291B36C-B275-4162-85E0-09734744540C}"/>
              </a:ext>
            </a:extLst>
          </p:cNvPr>
          <p:cNvSpPr>
            <a:spLocks noGrp="1"/>
          </p:cNvSpPr>
          <p:nvPr>
            <p:ph type="title"/>
          </p:nvPr>
        </p:nvSpPr>
        <p:spPr/>
        <p:txBody>
          <a:bodyPr/>
          <a:lstStyle/>
          <a:p>
            <a:pPr algn="l"/>
            <a:r>
              <a:rPr lang="en-US" dirty="0"/>
              <a:t>Right Join</a:t>
            </a:r>
            <a:endParaRPr lang="he-IL" dirty="0"/>
          </a:p>
        </p:txBody>
      </p:sp>
      <p:sp>
        <p:nvSpPr>
          <p:cNvPr id="4" name="מציין מיקום של מספר שקופית 3">
            <a:extLst>
              <a:ext uri="{FF2B5EF4-FFF2-40B4-BE49-F238E27FC236}">
                <a16:creationId xmlns:a16="http://schemas.microsoft.com/office/drawing/2014/main" id="{367D891A-3D4B-4BD1-8CBF-79DF82D110F7}"/>
              </a:ext>
            </a:extLst>
          </p:cNvPr>
          <p:cNvSpPr>
            <a:spLocks noGrp="1"/>
          </p:cNvSpPr>
          <p:nvPr>
            <p:ph type="sldNum" sz="quarter" idx="11"/>
          </p:nvPr>
        </p:nvSpPr>
        <p:spPr/>
        <p:txBody>
          <a:bodyPr/>
          <a:lstStyle/>
          <a:p>
            <a:fld id="{746FD205-8D79-439C-A802-2377436AEC8A}" type="slidenum">
              <a:rPr lang="he-IL" smtClean="0"/>
              <a:pPr/>
              <a:t>90</a:t>
            </a:fld>
            <a:endParaRPr lang="he-IL"/>
          </a:p>
        </p:txBody>
      </p:sp>
      <p:pic>
        <p:nvPicPr>
          <p:cNvPr id="5" name="תמונה 4">
            <a:extLst>
              <a:ext uri="{FF2B5EF4-FFF2-40B4-BE49-F238E27FC236}">
                <a16:creationId xmlns:a16="http://schemas.microsoft.com/office/drawing/2014/main" id="{F7D2C799-0ADF-4566-B7E9-2F5E6CC18DE4}"/>
              </a:ext>
            </a:extLst>
          </p:cNvPr>
          <p:cNvPicPr>
            <a:picLocks noChangeAspect="1"/>
          </p:cNvPicPr>
          <p:nvPr/>
        </p:nvPicPr>
        <p:blipFill>
          <a:blip r:embed="rId2"/>
          <a:stretch>
            <a:fillRect/>
          </a:stretch>
        </p:blipFill>
        <p:spPr>
          <a:xfrm>
            <a:off x="5638800" y="2895600"/>
            <a:ext cx="2895600" cy="790575"/>
          </a:xfrm>
          <a:prstGeom prst="rect">
            <a:avLst/>
          </a:prstGeom>
        </p:spPr>
      </p:pic>
    </p:spTree>
    <p:extLst>
      <p:ext uri="{BB962C8B-B14F-4D97-AF65-F5344CB8AC3E}">
        <p14:creationId xmlns:p14="http://schemas.microsoft.com/office/powerpoint/2010/main" val="36132153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EA0E8D6-DD2B-4ECE-9F01-4BF22A1E61EE}"/>
              </a:ext>
            </a:extLst>
          </p:cNvPr>
          <p:cNvSpPr>
            <a:spLocks noGrp="1"/>
          </p:cNvSpPr>
          <p:nvPr>
            <p:ph idx="1"/>
          </p:nvPr>
        </p:nvSpPr>
        <p:spPr/>
        <p:txBody>
          <a:bodyPr/>
          <a:lstStyle/>
          <a:p>
            <a:pPr marL="64008" indent="0" rtl="1">
              <a:buNone/>
            </a:pPr>
            <a:r>
              <a:rPr lang="he-IL" sz="1800" dirty="0">
                <a:cs typeface="Calibri" panose="020F0502020204030204" pitchFamily="34" charset="0"/>
              </a:rPr>
              <a:t>דוגמא ל </a:t>
            </a:r>
            <a:r>
              <a:rPr lang="en-US" sz="1800" dirty="0">
                <a:cs typeface="Calibri" panose="020F0502020204030204" pitchFamily="34" charset="0"/>
              </a:rPr>
              <a:t>Right Join</a:t>
            </a:r>
            <a:r>
              <a:rPr lang="he-IL" sz="1800" dirty="0">
                <a:cs typeface="Calibri" panose="020F0502020204030204" pitchFamily="34" charset="0"/>
              </a:rPr>
              <a:t>:</a:t>
            </a:r>
            <a:r>
              <a:rPr lang="en-US" sz="1800" dirty="0">
                <a:cs typeface="Calibri" panose="020F0502020204030204" pitchFamily="34" charset="0"/>
              </a:rPr>
              <a:t> </a:t>
            </a:r>
            <a:endParaRPr lang="he-IL" sz="1800" dirty="0">
              <a:cs typeface="Calibri" panose="020F0502020204030204" pitchFamily="34" charset="0"/>
            </a:endParaRPr>
          </a:p>
          <a:p>
            <a:pPr marL="64008" indent="0" rtl="1">
              <a:buNone/>
            </a:pPr>
            <a:r>
              <a:rPr lang="he-IL" sz="1800" dirty="0">
                <a:cs typeface="Calibri" panose="020F0502020204030204" pitchFamily="34" charset="0"/>
              </a:rPr>
              <a:t>הטבלה השמאלית – טבלת הזמנות, הטבלה הימנית – טבלת לקוחות. </a:t>
            </a:r>
            <a:br>
              <a:rPr lang="en-US" sz="1800" dirty="0">
                <a:cs typeface="Calibri" panose="020F0502020204030204" pitchFamily="34" charset="0"/>
              </a:rPr>
            </a:br>
            <a:r>
              <a:rPr lang="he-IL" sz="1800" dirty="0">
                <a:cs typeface="Calibri" panose="020F0502020204030204" pitchFamily="34" charset="0"/>
              </a:rPr>
              <a:t>כאשר נבצע </a:t>
            </a:r>
            <a:r>
              <a:rPr lang="en-US" sz="1800" dirty="0">
                <a:cs typeface="Calibri" panose="020F0502020204030204" pitchFamily="34" charset="0"/>
              </a:rPr>
              <a:t>Right Join</a:t>
            </a:r>
            <a:r>
              <a:rPr lang="he-IL" sz="1800" dirty="0">
                <a:cs typeface="Calibri" panose="020F0502020204030204" pitchFamily="34" charset="0"/>
              </a:rPr>
              <a:t> נקבל את פרטי כל הלקוחות, גם את אלה שאין להם הזמנות.</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שימי לב: כיוון שנרצה לקבל את </a:t>
            </a:r>
            <a:r>
              <a:rPr lang="he-IL" sz="1800" dirty="0" err="1">
                <a:cs typeface="Calibri" panose="020F0502020204030204" pitchFamily="34" charset="0"/>
              </a:rPr>
              <a:t>הת"ז</a:t>
            </a:r>
            <a:r>
              <a:rPr lang="he-IL" sz="1800" dirty="0">
                <a:cs typeface="Calibri" panose="020F0502020204030204" pitchFamily="34" charset="0"/>
              </a:rPr>
              <a:t> של הלקוח בכל מקרה, נשלוף את השדה הזה מטבלת לקוחות ולא מטבלת הזמנות....</a:t>
            </a:r>
          </a:p>
        </p:txBody>
      </p:sp>
      <p:sp>
        <p:nvSpPr>
          <p:cNvPr id="3" name="כותרת 2">
            <a:extLst>
              <a:ext uri="{FF2B5EF4-FFF2-40B4-BE49-F238E27FC236}">
                <a16:creationId xmlns:a16="http://schemas.microsoft.com/office/drawing/2014/main" id="{8239AC11-C7B2-4C4F-93E6-2483A481A5A8}"/>
              </a:ext>
            </a:extLst>
          </p:cNvPr>
          <p:cNvSpPr>
            <a:spLocks noGrp="1"/>
          </p:cNvSpPr>
          <p:nvPr>
            <p:ph type="title"/>
          </p:nvPr>
        </p:nvSpPr>
        <p:spPr/>
        <p:txBody>
          <a:bodyPr/>
          <a:lstStyle/>
          <a:p>
            <a:pPr algn="l"/>
            <a:r>
              <a:rPr lang="en-US" dirty="0"/>
              <a:t>Right Join</a:t>
            </a:r>
            <a:endParaRPr lang="he-IL" dirty="0"/>
          </a:p>
        </p:txBody>
      </p:sp>
      <p:sp>
        <p:nvSpPr>
          <p:cNvPr id="4" name="מציין מיקום של מספר שקופית 3">
            <a:extLst>
              <a:ext uri="{FF2B5EF4-FFF2-40B4-BE49-F238E27FC236}">
                <a16:creationId xmlns:a16="http://schemas.microsoft.com/office/drawing/2014/main" id="{F33D6621-65CA-4266-9DEF-BC00A8268637}"/>
              </a:ext>
            </a:extLst>
          </p:cNvPr>
          <p:cNvSpPr>
            <a:spLocks noGrp="1"/>
          </p:cNvSpPr>
          <p:nvPr>
            <p:ph type="sldNum" sz="quarter" idx="11"/>
          </p:nvPr>
        </p:nvSpPr>
        <p:spPr/>
        <p:txBody>
          <a:bodyPr/>
          <a:lstStyle/>
          <a:p>
            <a:fld id="{746FD205-8D79-439C-A802-2377436AEC8A}" type="slidenum">
              <a:rPr lang="he-IL" smtClean="0"/>
              <a:pPr/>
              <a:t>91</a:t>
            </a:fld>
            <a:endParaRPr lang="he-IL"/>
          </a:p>
        </p:txBody>
      </p:sp>
      <p:pic>
        <p:nvPicPr>
          <p:cNvPr id="5" name="תמונה 4">
            <a:extLst>
              <a:ext uri="{FF2B5EF4-FFF2-40B4-BE49-F238E27FC236}">
                <a16:creationId xmlns:a16="http://schemas.microsoft.com/office/drawing/2014/main" id="{FE181EDF-D5F3-4409-9C44-12B0F0EAE0A3}"/>
              </a:ext>
            </a:extLst>
          </p:cNvPr>
          <p:cNvPicPr>
            <a:picLocks noChangeAspect="1"/>
          </p:cNvPicPr>
          <p:nvPr/>
        </p:nvPicPr>
        <p:blipFill>
          <a:blip r:embed="rId2"/>
          <a:stretch>
            <a:fillRect/>
          </a:stretch>
        </p:blipFill>
        <p:spPr>
          <a:xfrm>
            <a:off x="609600" y="2971800"/>
            <a:ext cx="4343400" cy="674871"/>
          </a:xfrm>
          <a:prstGeom prst="rect">
            <a:avLst/>
          </a:prstGeom>
        </p:spPr>
      </p:pic>
      <p:pic>
        <p:nvPicPr>
          <p:cNvPr id="7" name="תמונה 6">
            <a:extLst>
              <a:ext uri="{FF2B5EF4-FFF2-40B4-BE49-F238E27FC236}">
                <a16:creationId xmlns:a16="http://schemas.microsoft.com/office/drawing/2014/main" id="{A53580B2-EAC7-4402-B022-7B551D0C63B5}"/>
              </a:ext>
            </a:extLst>
          </p:cNvPr>
          <p:cNvPicPr>
            <a:picLocks noChangeAspect="1"/>
          </p:cNvPicPr>
          <p:nvPr/>
        </p:nvPicPr>
        <p:blipFill>
          <a:blip r:embed="rId3"/>
          <a:stretch>
            <a:fillRect/>
          </a:stretch>
        </p:blipFill>
        <p:spPr>
          <a:xfrm>
            <a:off x="5136823" y="2970396"/>
            <a:ext cx="3467100" cy="1352550"/>
          </a:xfrm>
          <a:prstGeom prst="rect">
            <a:avLst/>
          </a:prstGeom>
        </p:spPr>
      </p:pic>
    </p:spTree>
    <p:extLst>
      <p:ext uri="{BB962C8B-B14F-4D97-AF65-F5344CB8AC3E}">
        <p14:creationId xmlns:p14="http://schemas.microsoft.com/office/powerpoint/2010/main" val="15743666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BBC37A7-F9AE-4E4D-8B95-41A1CF962215}"/>
              </a:ext>
            </a:extLst>
          </p:cNvPr>
          <p:cNvSpPr>
            <a:spLocks noGrp="1"/>
          </p:cNvSpPr>
          <p:nvPr>
            <p:ph idx="1"/>
          </p:nvPr>
        </p:nvSpPr>
        <p:spPr/>
        <p:txBody>
          <a:bodyPr/>
          <a:lstStyle/>
          <a:p>
            <a:pPr marL="64008" indent="0" rtl="1">
              <a:buNone/>
            </a:pPr>
            <a:r>
              <a:rPr lang="he-IL" sz="1800" dirty="0">
                <a:cs typeface="Calibri" panose="020F0502020204030204" pitchFamily="34" charset="0"/>
              </a:rPr>
              <a:t>הפקודה </a:t>
            </a:r>
            <a:r>
              <a:rPr lang="en-US" sz="1800" dirty="0">
                <a:cs typeface="Calibri" panose="020F0502020204030204" pitchFamily="34" charset="0"/>
              </a:rPr>
              <a:t>FULL (OUTER) JOIN</a:t>
            </a:r>
            <a:r>
              <a:rPr lang="he-IL" sz="1800" dirty="0">
                <a:cs typeface="Calibri" panose="020F0502020204030204" pitchFamily="34" charset="0"/>
              </a:rPr>
              <a:t> היא שילוב של </a:t>
            </a:r>
            <a:r>
              <a:rPr lang="en-US" sz="1800" dirty="0">
                <a:cs typeface="Calibri" panose="020F0502020204030204" pitchFamily="34" charset="0"/>
              </a:rPr>
              <a:t>LEFT JOIN</a:t>
            </a:r>
            <a:r>
              <a:rPr lang="he-IL" sz="1800" dirty="0">
                <a:cs typeface="Calibri" panose="020F0502020204030204" pitchFamily="34" charset="0"/>
              </a:rPr>
              <a:t> ו </a:t>
            </a:r>
            <a:r>
              <a:rPr lang="en-US" sz="1800" dirty="0">
                <a:cs typeface="Calibri" panose="020F0502020204030204" pitchFamily="34" charset="0"/>
              </a:rPr>
              <a:t>RIGHT JOIN</a:t>
            </a:r>
            <a:r>
              <a:rPr lang="he-IL" sz="1800" dirty="0">
                <a:cs typeface="Calibri" panose="020F0502020204030204" pitchFamily="34" charset="0"/>
              </a:rPr>
              <a:t> ביחד – היא מחזירה את כל הרשומות שיש להן ערך לפחות באחת מן הטבלאות (הימנית או השמאלית), עבור רשומות בטבלה השמאלית שאין להן ערך תואם בטבלה הימנית יופיע הערך </a:t>
            </a:r>
            <a:r>
              <a:rPr lang="en-US" sz="1800" dirty="0">
                <a:cs typeface="Calibri" panose="020F0502020204030204" pitchFamily="34" charset="0"/>
              </a:rPr>
              <a:t>NULL</a:t>
            </a:r>
            <a:r>
              <a:rPr lang="he-IL" sz="1800" dirty="0">
                <a:cs typeface="Calibri" panose="020F0502020204030204" pitchFamily="34" charset="0"/>
              </a:rPr>
              <a:t> בעמודות הטבלה הימנית וכן להפך.  </a:t>
            </a:r>
          </a:p>
          <a:p>
            <a:pPr marL="64008" indent="0" rtl="1">
              <a:buNone/>
            </a:pPr>
            <a:r>
              <a:rPr lang="en-US" sz="1800" dirty="0">
                <a:cs typeface="Calibri" panose="020F0502020204030204" pitchFamily="34" charset="0"/>
              </a:rPr>
              <a:t>Syntax:</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E7C038E6-D09C-4EEA-9A9A-4B47B1ED9664}"/>
              </a:ext>
            </a:extLst>
          </p:cNvPr>
          <p:cNvSpPr>
            <a:spLocks noGrp="1"/>
          </p:cNvSpPr>
          <p:nvPr>
            <p:ph type="title"/>
          </p:nvPr>
        </p:nvSpPr>
        <p:spPr/>
        <p:txBody>
          <a:bodyPr/>
          <a:lstStyle/>
          <a:p>
            <a:pPr algn="l"/>
            <a:r>
              <a:rPr lang="en-US" dirty="0"/>
              <a:t>Full Join</a:t>
            </a:r>
            <a:endParaRPr lang="he-IL" dirty="0"/>
          </a:p>
        </p:txBody>
      </p:sp>
      <p:sp>
        <p:nvSpPr>
          <p:cNvPr id="4" name="מציין מיקום של מספר שקופית 3">
            <a:extLst>
              <a:ext uri="{FF2B5EF4-FFF2-40B4-BE49-F238E27FC236}">
                <a16:creationId xmlns:a16="http://schemas.microsoft.com/office/drawing/2014/main" id="{C7FB77B3-6B53-4CF4-97DC-923118131BD8}"/>
              </a:ext>
            </a:extLst>
          </p:cNvPr>
          <p:cNvSpPr>
            <a:spLocks noGrp="1"/>
          </p:cNvSpPr>
          <p:nvPr>
            <p:ph type="sldNum" sz="quarter" idx="11"/>
          </p:nvPr>
        </p:nvSpPr>
        <p:spPr/>
        <p:txBody>
          <a:bodyPr/>
          <a:lstStyle/>
          <a:p>
            <a:fld id="{746FD205-8D79-439C-A802-2377436AEC8A}" type="slidenum">
              <a:rPr lang="he-IL" smtClean="0"/>
              <a:pPr/>
              <a:t>92</a:t>
            </a:fld>
            <a:endParaRPr lang="he-IL"/>
          </a:p>
        </p:txBody>
      </p:sp>
      <p:pic>
        <p:nvPicPr>
          <p:cNvPr id="5" name="תמונה 4">
            <a:extLst>
              <a:ext uri="{FF2B5EF4-FFF2-40B4-BE49-F238E27FC236}">
                <a16:creationId xmlns:a16="http://schemas.microsoft.com/office/drawing/2014/main" id="{2AC0978C-A64B-4F2D-A6CB-D7964B19B516}"/>
              </a:ext>
            </a:extLst>
          </p:cNvPr>
          <p:cNvPicPr>
            <a:picLocks noChangeAspect="1"/>
          </p:cNvPicPr>
          <p:nvPr/>
        </p:nvPicPr>
        <p:blipFill>
          <a:blip r:embed="rId2"/>
          <a:stretch>
            <a:fillRect/>
          </a:stretch>
        </p:blipFill>
        <p:spPr>
          <a:xfrm>
            <a:off x="5638800" y="3124200"/>
            <a:ext cx="2895600" cy="981075"/>
          </a:xfrm>
          <a:prstGeom prst="rect">
            <a:avLst/>
          </a:prstGeom>
        </p:spPr>
      </p:pic>
    </p:spTree>
    <p:extLst>
      <p:ext uri="{BB962C8B-B14F-4D97-AF65-F5344CB8AC3E}">
        <p14:creationId xmlns:p14="http://schemas.microsoft.com/office/powerpoint/2010/main" val="27890444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25BADD4-82ED-424B-863B-1482991C7B0E}"/>
              </a:ext>
            </a:extLst>
          </p:cNvPr>
          <p:cNvSpPr>
            <a:spLocks noGrp="1"/>
          </p:cNvSpPr>
          <p:nvPr>
            <p:ph idx="1"/>
          </p:nvPr>
        </p:nvSpPr>
        <p:spPr/>
        <p:txBody>
          <a:bodyPr/>
          <a:lstStyle/>
          <a:p>
            <a:pPr marL="64008" indent="0" rtl="1">
              <a:buNone/>
            </a:pPr>
            <a:r>
              <a:rPr lang="he-IL" sz="1800" dirty="0">
                <a:cs typeface="Calibri" panose="020F0502020204030204" pitchFamily="34" charset="0"/>
              </a:rPr>
              <a:t>דוגמא ל </a:t>
            </a:r>
            <a:r>
              <a:rPr lang="en-US" sz="1800" dirty="0">
                <a:cs typeface="Calibri" panose="020F0502020204030204" pitchFamily="34" charset="0"/>
              </a:rPr>
              <a:t>FULL JOIN</a:t>
            </a:r>
            <a:r>
              <a:rPr lang="he-IL" sz="1800" dirty="0">
                <a:cs typeface="Calibri" panose="020F0502020204030204" pitchFamily="34" charset="0"/>
              </a:rPr>
              <a:t>:</a:t>
            </a:r>
          </a:p>
          <a:p>
            <a:pPr marL="64008" indent="0" rtl="1">
              <a:buNone/>
            </a:pPr>
            <a:r>
              <a:rPr lang="he-IL" sz="1800" dirty="0">
                <a:cs typeface="Calibri" panose="020F0502020204030204" pitchFamily="34" charset="0"/>
              </a:rPr>
              <a:t>הטבלה הימנית – טבלת הזמנות, הטבלה השמאלית – טבלת מוצרים.</a:t>
            </a:r>
            <a:br>
              <a:rPr lang="en-US" sz="1800" dirty="0">
                <a:cs typeface="Calibri" panose="020F0502020204030204" pitchFamily="34" charset="0"/>
              </a:rPr>
            </a:br>
            <a:r>
              <a:rPr lang="he-IL" sz="1800" dirty="0">
                <a:cs typeface="Calibri" panose="020F0502020204030204" pitchFamily="34" charset="0"/>
              </a:rPr>
              <a:t>כאשר נבצע </a:t>
            </a:r>
            <a:r>
              <a:rPr lang="en-US" sz="1800" dirty="0">
                <a:cs typeface="Calibri" panose="020F0502020204030204" pitchFamily="34" charset="0"/>
              </a:rPr>
              <a:t>FULL JOIN</a:t>
            </a:r>
            <a:r>
              <a:rPr lang="he-IL" sz="1800" dirty="0">
                <a:cs typeface="Calibri" panose="020F0502020204030204" pitchFamily="34" charset="0"/>
              </a:rPr>
              <a:t> נקבל את פרטי כל ההזמנות – גם את אלה שלא צוין בהן איזה מוצרים הוזמנו וכן את פרטי כל המוצרים – גם את אלה שאף פעם לא בצעו עליהם הזמנה.</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2CAE7B72-5371-4B23-A8EC-86EA459B2C9C}"/>
              </a:ext>
            </a:extLst>
          </p:cNvPr>
          <p:cNvSpPr>
            <a:spLocks noGrp="1"/>
          </p:cNvSpPr>
          <p:nvPr>
            <p:ph type="title"/>
          </p:nvPr>
        </p:nvSpPr>
        <p:spPr/>
        <p:txBody>
          <a:bodyPr/>
          <a:lstStyle/>
          <a:p>
            <a:pPr algn="l"/>
            <a:r>
              <a:rPr lang="en-US" dirty="0"/>
              <a:t>Full Join</a:t>
            </a:r>
            <a:endParaRPr lang="he-IL" dirty="0"/>
          </a:p>
        </p:txBody>
      </p:sp>
      <p:sp>
        <p:nvSpPr>
          <p:cNvPr id="4" name="מציין מיקום של מספר שקופית 3">
            <a:extLst>
              <a:ext uri="{FF2B5EF4-FFF2-40B4-BE49-F238E27FC236}">
                <a16:creationId xmlns:a16="http://schemas.microsoft.com/office/drawing/2014/main" id="{52E0A736-E5F2-4872-B7A2-5A418045C0C9}"/>
              </a:ext>
            </a:extLst>
          </p:cNvPr>
          <p:cNvSpPr>
            <a:spLocks noGrp="1"/>
          </p:cNvSpPr>
          <p:nvPr>
            <p:ph type="sldNum" sz="quarter" idx="11"/>
          </p:nvPr>
        </p:nvSpPr>
        <p:spPr/>
        <p:txBody>
          <a:bodyPr/>
          <a:lstStyle/>
          <a:p>
            <a:fld id="{746FD205-8D79-439C-A802-2377436AEC8A}" type="slidenum">
              <a:rPr lang="he-IL" smtClean="0"/>
              <a:pPr/>
              <a:t>93</a:t>
            </a:fld>
            <a:endParaRPr lang="he-IL"/>
          </a:p>
        </p:txBody>
      </p:sp>
      <p:pic>
        <p:nvPicPr>
          <p:cNvPr id="5" name="תמונה 4">
            <a:extLst>
              <a:ext uri="{FF2B5EF4-FFF2-40B4-BE49-F238E27FC236}">
                <a16:creationId xmlns:a16="http://schemas.microsoft.com/office/drawing/2014/main" id="{FB6F8691-9C30-4EB3-A17B-F1757AF28AFE}"/>
              </a:ext>
            </a:extLst>
          </p:cNvPr>
          <p:cNvPicPr>
            <a:picLocks noChangeAspect="1"/>
          </p:cNvPicPr>
          <p:nvPr/>
        </p:nvPicPr>
        <p:blipFill>
          <a:blip r:embed="rId2"/>
          <a:stretch>
            <a:fillRect/>
          </a:stretch>
        </p:blipFill>
        <p:spPr>
          <a:xfrm>
            <a:off x="2514600" y="3190875"/>
            <a:ext cx="5462752" cy="914400"/>
          </a:xfrm>
          <a:prstGeom prst="rect">
            <a:avLst/>
          </a:prstGeom>
        </p:spPr>
      </p:pic>
      <p:pic>
        <p:nvPicPr>
          <p:cNvPr id="6" name="תמונה 5">
            <a:extLst>
              <a:ext uri="{FF2B5EF4-FFF2-40B4-BE49-F238E27FC236}">
                <a16:creationId xmlns:a16="http://schemas.microsoft.com/office/drawing/2014/main" id="{8B6667E8-BA6C-4281-99C4-DA8D10833BC5}"/>
              </a:ext>
            </a:extLst>
          </p:cNvPr>
          <p:cNvPicPr>
            <a:picLocks noChangeAspect="1"/>
          </p:cNvPicPr>
          <p:nvPr/>
        </p:nvPicPr>
        <p:blipFill>
          <a:blip r:embed="rId3"/>
          <a:stretch>
            <a:fillRect/>
          </a:stretch>
        </p:blipFill>
        <p:spPr>
          <a:xfrm>
            <a:off x="2514600" y="4419600"/>
            <a:ext cx="3133725" cy="1133475"/>
          </a:xfrm>
          <a:prstGeom prst="rect">
            <a:avLst/>
          </a:prstGeom>
        </p:spPr>
      </p:pic>
    </p:spTree>
    <p:extLst>
      <p:ext uri="{BB962C8B-B14F-4D97-AF65-F5344CB8AC3E}">
        <p14:creationId xmlns:p14="http://schemas.microsoft.com/office/powerpoint/2010/main" val="14798890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9AACC4B-AA33-4E2B-8BCE-696B27C73DB1}"/>
              </a:ext>
            </a:extLst>
          </p:cNvPr>
          <p:cNvSpPr>
            <a:spLocks noGrp="1"/>
          </p:cNvSpPr>
          <p:nvPr>
            <p:ph idx="1"/>
          </p:nvPr>
        </p:nvSpPr>
        <p:spPr/>
        <p:txBody>
          <a:bodyPr/>
          <a:lstStyle/>
          <a:p>
            <a:pPr marL="64008" indent="0">
              <a:buNone/>
            </a:pPr>
            <a:r>
              <a:rPr lang="he-IL" sz="1800" dirty="0">
                <a:cs typeface="Calibri" panose="020F0502020204030204" pitchFamily="34" charset="0"/>
              </a:rPr>
              <a:t>ניתן לצרף גם יותר משתי טבלאות בדיוק באותה הדרך בה צרפנו 2 טבלאות.</a:t>
            </a:r>
          </a:p>
          <a:p>
            <a:pPr marL="64008" indent="0">
              <a:buNone/>
            </a:pPr>
            <a:r>
              <a:rPr lang="he-IL" sz="1800" dirty="0">
                <a:cs typeface="Calibri" panose="020F0502020204030204" pitchFamily="34" charset="0"/>
              </a:rPr>
              <a:t>לדוגמא:</a:t>
            </a:r>
          </a:p>
          <a:p>
            <a:pPr marL="64008" indent="0">
              <a:buNone/>
            </a:pPr>
            <a:r>
              <a:rPr lang="he-IL" sz="1800" dirty="0">
                <a:cs typeface="Calibri" panose="020F0502020204030204" pitchFamily="34" charset="0"/>
              </a:rPr>
              <a:t>שליפת פרטי כל ההזמנות כולל שמות הלקוחות שבצעו את ההזמנה, שמות המוצרים וכמות המוצרים.</a:t>
            </a:r>
            <a:br>
              <a:rPr lang="en-US" sz="1800" dirty="0">
                <a:cs typeface="Calibri" panose="020F0502020204030204" pitchFamily="34" charset="0"/>
              </a:rPr>
            </a:br>
            <a:r>
              <a:rPr lang="he-IL" sz="1800" dirty="0">
                <a:cs typeface="Calibri" panose="020F0502020204030204" pitchFamily="34" charset="0"/>
              </a:rPr>
              <a:t>טבלה 1 – טבלת הזמנות</a:t>
            </a:r>
            <a:br>
              <a:rPr lang="en-US" sz="1800" dirty="0">
                <a:cs typeface="Calibri" panose="020F0502020204030204" pitchFamily="34" charset="0"/>
              </a:rPr>
            </a:br>
            <a:r>
              <a:rPr lang="he-IL" sz="1800" dirty="0">
                <a:cs typeface="Calibri" panose="020F0502020204030204" pitchFamily="34" charset="0"/>
              </a:rPr>
              <a:t>טבלה 2 – טבלת לקוחות</a:t>
            </a:r>
            <a:br>
              <a:rPr lang="en-US" sz="1800" dirty="0">
                <a:cs typeface="Calibri" panose="020F0502020204030204" pitchFamily="34" charset="0"/>
              </a:rPr>
            </a:br>
            <a:r>
              <a:rPr lang="he-IL" sz="1800" dirty="0">
                <a:cs typeface="Calibri" panose="020F0502020204030204" pitchFamily="34" charset="0"/>
              </a:rPr>
              <a:t>טבלה 3 – טבלת מוצרים</a:t>
            </a: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r>
              <a:rPr lang="he-IL" sz="1800" b="1" dirty="0">
                <a:cs typeface="Calibri" panose="020F0502020204030204" pitchFamily="34" charset="0"/>
              </a:rPr>
              <a:t>שימי לב: </a:t>
            </a:r>
            <a:r>
              <a:rPr lang="he-IL" sz="1800" dirty="0">
                <a:cs typeface="Calibri" panose="020F0502020204030204" pitchFamily="34" charset="0"/>
              </a:rPr>
              <a:t>כאשר נרצה לצרף טבלאות שהקשר ביניהן הוא קשר של רבים לרבים – נצטרך להשתמש בצרוף של יותר משתי טבלאות – צרוף של הטבלה המקשרת לטבלה הראשונה, והטבלה השנייה לטבלה המקשרת.</a:t>
            </a: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25729B71-8A45-4B68-9BCB-3841EC63094B}"/>
              </a:ext>
            </a:extLst>
          </p:cNvPr>
          <p:cNvSpPr>
            <a:spLocks noGrp="1"/>
          </p:cNvSpPr>
          <p:nvPr>
            <p:ph type="title"/>
          </p:nvPr>
        </p:nvSpPr>
        <p:spPr/>
        <p:txBody>
          <a:bodyPr/>
          <a:lstStyle/>
          <a:p>
            <a:pPr algn="l"/>
            <a:r>
              <a:rPr lang="en-US" dirty="0"/>
              <a:t>Join more than 2 tables</a:t>
            </a:r>
            <a:endParaRPr lang="he-IL" dirty="0"/>
          </a:p>
        </p:txBody>
      </p:sp>
      <p:sp>
        <p:nvSpPr>
          <p:cNvPr id="4" name="מציין מיקום של מספר שקופית 3">
            <a:extLst>
              <a:ext uri="{FF2B5EF4-FFF2-40B4-BE49-F238E27FC236}">
                <a16:creationId xmlns:a16="http://schemas.microsoft.com/office/drawing/2014/main" id="{E767570C-0644-4FB0-8D6B-678B8DCAE031}"/>
              </a:ext>
            </a:extLst>
          </p:cNvPr>
          <p:cNvSpPr>
            <a:spLocks noGrp="1"/>
          </p:cNvSpPr>
          <p:nvPr>
            <p:ph type="sldNum" sz="quarter" idx="11"/>
          </p:nvPr>
        </p:nvSpPr>
        <p:spPr/>
        <p:txBody>
          <a:bodyPr/>
          <a:lstStyle/>
          <a:p>
            <a:fld id="{746FD205-8D79-439C-A802-2377436AEC8A}" type="slidenum">
              <a:rPr lang="he-IL" smtClean="0"/>
              <a:pPr/>
              <a:t>94</a:t>
            </a:fld>
            <a:endParaRPr lang="he-IL"/>
          </a:p>
        </p:txBody>
      </p:sp>
      <p:pic>
        <p:nvPicPr>
          <p:cNvPr id="5" name="תמונה 4">
            <a:extLst>
              <a:ext uri="{FF2B5EF4-FFF2-40B4-BE49-F238E27FC236}">
                <a16:creationId xmlns:a16="http://schemas.microsoft.com/office/drawing/2014/main" id="{BD2CA249-C17C-401B-BB9D-11ADA2759B10}"/>
              </a:ext>
            </a:extLst>
          </p:cNvPr>
          <p:cNvPicPr>
            <a:picLocks noChangeAspect="1"/>
          </p:cNvPicPr>
          <p:nvPr/>
        </p:nvPicPr>
        <p:blipFill>
          <a:blip r:embed="rId2"/>
          <a:stretch>
            <a:fillRect/>
          </a:stretch>
        </p:blipFill>
        <p:spPr>
          <a:xfrm>
            <a:off x="4419600" y="3650769"/>
            <a:ext cx="3200400" cy="790956"/>
          </a:xfrm>
          <a:prstGeom prst="rect">
            <a:avLst/>
          </a:prstGeom>
        </p:spPr>
      </p:pic>
      <p:pic>
        <p:nvPicPr>
          <p:cNvPr id="6" name="תמונה 5">
            <a:extLst>
              <a:ext uri="{FF2B5EF4-FFF2-40B4-BE49-F238E27FC236}">
                <a16:creationId xmlns:a16="http://schemas.microsoft.com/office/drawing/2014/main" id="{429AAF1A-7FE5-40A0-A5A0-04A4F556B2A8}"/>
              </a:ext>
            </a:extLst>
          </p:cNvPr>
          <p:cNvPicPr>
            <a:picLocks noChangeAspect="1"/>
          </p:cNvPicPr>
          <p:nvPr/>
        </p:nvPicPr>
        <p:blipFill>
          <a:blip r:embed="rId3"/>
          <a:stretch>
            <a:fillRect/>
          </a:stretch>
        </p:blipFill>
        <p:spPr>
          <a:xfrm>
            <a:off x="4762500" y="4594125"/>
            <a:ext cx="2514600" cy="590780"/>
          </a:xfrm>
          <a:prstGeom prst="rect">
            <a:avLst/>
          </a:prstGeom>
        </p:spPr>
      </p:pic>
    </p:spTree>
    <p:extLst>
      <p:ext uri="{BB962C8B-B14F-4D97-AF65-F5344CB8AC3E}">
        <p14:creationId xmlns:p14="http://schemas.microsoft.com/office/powerpoint/2010/main" val="3656450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482F9B3-C9AB-4EAD-A963-CE9FB7E32FDC}"/>
              </a:ext>
            </a:extLst>
          </p:cNvPr>
          <p:cNvSpPr>
            <a:spLocks noGrp="1"/>
          </p:cNvSpPr>
          <p:nvPr>
            <p:ph idx="1"/>
          </p:nvPr>
        </p:nvSpPr>
        <p:spPr/>
        <p:txBody>
          <a:bodyPr/>
          <a:lstStyle/>
          <a:p>
            <a:pPr marL="64008" indent="0" rtl="1">
              <a:buNone/>
            </a:pPr>
            <a:r>
              <a:rPr lang="en-US" sz="1800" dirty="0">
                <a:cs typeface="Calibri" panose="020F0502020204030204" pitchFamily="34" charset="0"/>
              </a:rPr>
              <a:t>SELF JOIN</a:t>
            </a:r>
            <a:r>
              <a:rPr lang="he-IL" sz="1800" dirty="0">
                <a:cs typeface="Calibri" panose="020F0502020204030204" pitchFamily="34" charset="0"/>
              </a:rPr>
              <a:t> הוא צרוף טבלה לעצמה. הצרוף מתבצע כמו </a:t>
            </a:r>
            <a:r>
              <a:rPr lang="en-US" sz="1800" dirty="0">
                <a:cs typeface="Calibri" panose="020F0502020204030204" pitchFamily="34" charset="0"/>
              </a:rPr>
              <a:t>Join</a:t>
            </a:r>
            <a:r>
              <a:rPr lang="he-IL" sz="1800" dirty="0">
                <a:cs typeface="Calibri" panose="020F0502020204030204" pitchFamily="34" charset="0"/>
              </a:rPr>
              <a:t> רגיל.</a:t>
            </a:r>
          </a:p>
          <a:p>
            <a:pPr marL="64008" indent="0" rtl="1">
              <a:buNone/>
            </a:pPr>
            <a:r>
              <a:rPr lang="en-US" sz="1800" dirty="0">
                <a:cs typeface="Calibri" panose="020F0502020204030204" pitchFamily="34" charset="0"/>
              </a:rPr>
              <a:t>Syntax:</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לדוגמא:</a:t>
            </a:r>
            <a:endParaRPr lang="en-US" sz="1800" dirty="0">
              <a:cs typeface="Calibri" panose="020F0502020204030204" pitchFamily="34" charset="0"/>
            </a:endParaRPr>
          </a:p>
          <a:p>
            <a:pPr marL="64008" indent="0" rtl="1">
              <a:buNone/>
            </a:pPr>
            <a:r>
              <a:rPr lang="he-IL" sz="1800" dirty="0">
                <a:cs typeface="Calibri" panose="020F0502020204030204" pitchFamily="34" charset="0"/>
              </a:rPr>
              <a:t>בטבלת עובדים יש ת"ז עובד ות"ז מנהל, המנהל הוא למעשה גם חלק מטבלת עובדים כי הוא עובד בעצמו... אם נרצה לשלוף את פרטי העובד כולל פרטי המנהל שלו נבצע </a:t>
            </a:r>
            <a:r>
              <a:rPr lang="en-US" sz="1800" dirty="0">
                <a:cs typeface="Calibri" panose="020F0502020204030204" pitchFamily="34" charset="0"/>
              </a:rPr>
              <a:t>SELF JOIN</a:t>
            </a:r>
            <a:r>
              <a:rPr lang="he-IL" sz="1800" dirty="0">
                <a:cs typeface="Calibri" panose="020F0502020204030204" pitchFamily="34" charset="0"/>
              </a:rPr>
              <a:t>.</a:t>
            </a:r>
          </a:p>
        </p:txBody>
      </p:sp>
      <p:sp>
        <p:nvSpPr>
          <p:cNvPr id="3" name="כותרת 2">
            <a:extLst>
              <a:ext uri="{FF2B5EF4-FFF2-40B4-BE49-F238E27FC236}">
                <a16:creationId xmlns:a16="http://schemas.microsoft.com/office/drawing/2014/main" id="{291D03D4-9D6A-41E3-9F35-CF1239700483}"/>
              </a:ext>
            </a:extLst>
          </p:cNvPr>
          <p:cNvSpPr>
            <a:spLocks noGrp="1"/>
          </p:cNvSpPr>
          <p:nvPr>
            <p:ph type="title"/>
          </p:nvPr>
        </p:nvSpPr>
        <p:spPr/>
        <p:txBody>
          <a:bodyPr/>
          <a:lstStyle/>
          <a:p>
            <a:pPr algn="l"/>
            <a:r>
              <a:rPr lang="en-US" dirty="0"/>
              <a:t>Self Join</a:t>
            </a:r>
            <a:endParaRPr lang="he-IL" dirty="0"/>
          </a:p>
        </p:txBody>
      </p:sp>
      <p:sp>
        <p:nvSpPr>
          <p:cNvPr id="4" name="מציין מיקום של מספר שקופית 3">
            <a:extLst>
              <a:ext uri="{FF2B5EF4-FFF2-40B4-BE49-F238E27FC236}">
                <a16:creationId xmlns:a16="http://schemas.microsoft.com/office/drawing/2014/main" id="{E60FB4DD-4DDE-4D9F-A8E1-C2BC28414240}"/>
              </a:ext>
            </a:extLst>
          </p:cNvPr>
          <p:cNvSpPr>
            <a:spLocks noGrp="1"/>
          </p:cNvSpPr>
          <p:nvPr>
            <p:ph type="sldNum" sz="quarter" idx="11"/>
          </p:nvPr>
        </p:nvSpPr>
        <p:spPr/>
        <p:txBody>
          <a:bodyPr/>
          <a:lstStyle/>
          <a:p>
            <a:fld id="{746FD205-8D79-439C-A802-2377436AEC8A}" type="slidenum">
              <a:rPr lang="he-IL" smtClean="0"/>
              <a:pPr/>
              <a:t>95</a:t>
            </a:fld>
            <a:endParaRPr lang="he-IL"/>
          </a:p>
        </p:txBody>
      </p:sp>
      <p:pic>
        <p:nvPicPr>
          <p:cNvPr id="5" name="תמונה 4">
            <a:extLst>
              <a:ext uri="{FF2B5EF4-FFF2-40B4-BE49-F238E27FC236}">
                <a16:creationId xmlns:a16="http://schemas.microsoft.com/office/drawing/2014/main" id="{7BC40B75-3753-406A-8B61-FB6ADECF1264}"/>
              </a:ext>
            </a:extLst>
          </p:cNvPr>
          <p:cNvPicPr>
            <a:picLocks noChangeAspect="1"/>
          </p:cNvPicPr>
          <p:nvPr/>
        </p:nvPicPr>
        <p:blipFill>
          <a:blip r:embed="rId2"/>
          <a:stretch>
            <a:fillRect/>
          </a:stretch>
        </p:blipFill>
        <p:spPr>
          <a:xfrm>
            <a:off x="6651307" y="2209800"/>
            <a:ext cx="1876425" cy="590550"/>
          </a:xfrm>
          <a:prstGeom prst="rect">
            <a:avLst/>
          </a:prstGeom>
        </p:spPr>
      </p:pic>
      <p:pic>
        <p:nvPicPr>
          <p:cNvPr id="6" name="תמונה 5">
            <a:extLst>
              <a:ext uri="{FF2B5EF4-FFF2-40B4-BE49-F238E27FC236}">
                <a16:creationId xmlns:a16="http://schemas.microsoft.com/office/drawing/2014/main" id="{AC95D3C5-E8F4-405F-9300-71DEC817F548}"/>
              </a:ext>
            </a:extLst>
          </p:cNvPr>
          <p:cNvPicPr>
            <a:picLocks noChangeAspect="1"/>
          </p:cNvPicPr>
          <p:nvPr/>
        </p:nvPicPr>
        <p:blipFill>
          <a:blip r:embed="rId3"/>
          <a:stretch>
            <a:fillRect/>
          </a:stretch>
        </p:blipFill>
        <p:spPr>
          <a:xfrm>
            <a:off x="685800" y="4114800"/>
            <a:ext cx="3456517" cy="1752600"/>
          </a:xfrm>
          <a:prstGeom prst="rect">
            <a:avLst/>
          </a:prstGeom>
        </p:spPr>
      </p:pic>
      <p:pic>
        <p:nvPicPr>
          <p:cNvPr id="7" name="תמונה 6">
            <a:extLst>
              <a:ext uri="{FF2B5EF4-FFF2-40B4-BE49-F238E27FC236}">
                <a16:creationId xmlns:a16="http://schemas.microsoft.com/office/drawing/2014/main" id="{9D0312A0-0B3C-4D9D-9CF3-53C4BC1D179A}"/>
              </a:ext>
            </a:extLst>
          </p:cNvPr>
          <p:cNvPicPr>
            <a:picLocks noChangeAspect="1"/>
          </p:cNvPicPr>
          <p:nvPr/>
        </p:nvPicPr>
        <p:blipFill>
          <a:blip r:embed="rId4"/>
          <a:stretch>
            <a:fillRect/>
          </a:stretch>
        </p:blipFill>
        <p:spPr>
          <a:xfrm>
            <a:off x="4579326" y="4143080"/>
            <a:ext cx="3686177" cy="1195388"/>
          </a:xfrm>
          <a:prstGeom prst="rect">
            <a:avLst/>
          </a:prstGeom>
        </p:spPr>
      </p:pic>
    </p:spTree>
    <p:extLst>
      <p:ext uri="{BB962C8B-B14F-4D97-AF65-F5344CB8AC3E}">
        <p14:creationId xmlns:p14="http://schemas.microsoft.com/office/powerpoint/2010/main" val="14951903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0A6F08C-3610-4070-BD33-E56D84072A89}"/>
              </a:ext>
            </a:extLst>
          </p:cNvPr>
          <p:cNvSpPr>
            <a:spLocks noGrp="1"/>
          </p:cNvSpPr>
          <p:nvPr>
            <p:ph idx="1"/>
          </p:nvPr>
        </p:nvSpPr>
        <p:spPr/>
        <p:txBody>
          <a:bodyPr/>
          <a:lstStyle/>
          <a:p>
            <a:pPr rtl="1">
              <a:buFont typeface="Courier New" panose="02070309020205020404" pitchFamily="49" charset="0"/>
              <a:buChar char="o"/>
            </a:pPr>
            <a:r>
              <a:rPr lang="he-IL" sz="1800" dirty="0">
                <a:cs typeface="Calibri" panose="020F0502020204030204" pitchFamily="34" charset="0"/>
              </a:rPr>
              <a:t>כפי שראינו בדוגמאות מומלץ מאד לעבוד עם </a:t>
            </a:r>
            <a:r>
              <a:rPr lang="en-US" sz="1800" dirty="0">
                <a:cs typeface="Calibri" panose="020F0502020204030204" pitchFamily="34" charset="0"/>
              </a:rPr>
              <a:t>aliases</a:t>
            </a:r>
            <a:r>
              <a:rPr lang="he-IL" sz="1800" dirty="0">
                <a:cs typeface="Calibri" panose="020F0502020204030204" pitchFamily="34" charset="0"/>
              </a:rPr>
              <a:t> לטבלאות כאשר מבצעים </a:t>
            </a:r>
            <a:r>
              <a:rPr lang="en-US" sz="1800" dirty="0">
                <a:cs typeface="Calibri" panose="020F0502020204030204" pitchFamily="34" charset="0"/>
              </a:rPr>
              <a:t>Join</a:t>
            </a:r>
            <a:r>
              <a:rPr lang="he-IL" sz="1800" dirty="0">
                <a:cs typeface="Calibri" panose="020F0502020204030204" pitchFamily="34" charset="0"/>
              </a:rPr>
              <a:t> זאת כדי שיהיה ברור לנו מאיזה טבלה כל שדה ששלפנו. </a:t>
            </a:r>
            <a:br>
              <a:rPr lang="en-US" sz="1800" dirty="0">
                <a:cs typeface="Calibri" panose="020F0502020204030204" pitchFamily="34" charset="0"/>
              </a:rPr>
            </a:br>
            <a:r>
              <a:rPr lang="he-IL" sz="1800" dirty="0">
                <a:cs typeface="Calibri" panose="020F0502020204030204" pitchFamily="34" charset="0"/>
              </a:rPr>
              <a:t>חשוב לציין שאין אפשרות באותה שאילתה להשתמש ב </a:t>
            </a:r>
            <a:r>
              <a:rPr lang="en-US" sz="1800" dirty="0">
                <a:cs typeface="Calibri" panose="020F0502020204030204" pitchFamily="34" charset="0"/>
              </a:rPr>
              <a:t>alias</a:t>
            </a:r>
            <a:r>
              <a:rPr lang="he-IL" sz="1800" dirty="0">
                <a:cs typeface="Calibri" panose="020F0502020204030204" pitchFamily="34" charset="0"/>
              </a:rPr>
              <a:t> רק לפעמים, במידה והתחלנו לעבוד עם </a:t>
            </a:r>
            <a:r>
              <a:rPr lang="en-US" sz="1800" dirty="0">
                <a:cs typeface="Calibri" panose="020F0502020204030204" pitchFamily="34" charset="0"/>
              </a:rPr>
              <a:t>alias</a:t>
            </a:r>
            <a:r>
              <a:rPr lang="he-IL" sz="1800" dirty="0">
                <a:cs typeface="Calibri" panose="020F0502020204030204" pitchFamily="34" charset="0"/>
              </a:rPr>
              <a:t> נצטרך לעשות זאת לכל אורך השאילתה.</a:t>
            </a:r>
          </a:p>
          <a:p>
            <a:pPr rtl="1">
              <a:buFont typeface="Courier New" panose="02070309020205020404" pitchFamily="49" charset="0"/>
              <a:buChar char="o"/>
            </a:pPr>
            <a:r>
              <a:rPr lang="he-IL" sz="1800" dirty="0">
                <a:cs typeface="Calibri" panose="020F0502020204030204" pitchFamily="34" charset="0"/>
              </a:rPr>
              <a:t>במידה ונרצה לבצע פעולות נוספות בשאילתה מלבד ה </a:t>
            </a:r>
            <a:r>
              <a:rPr lang="en-US" sz="1800" dirty="0">
                <a:cs typeface="Calibri" panose="020F0502020204030204" pitchFamily="34" charset="0"/>
              </a:rPr>
              <a:t>SELECT</a:t>
            </a:r>
            <a:r>
              <a:rPr lang="he-IL" sz="1800" dirty="0">
                <a:cs typeface="Calibri" panose="020F0502020204030204" pitchFamily="34" charset="0"/>
              </a:rPr>
              <a:t> </a:t>
            </a:r>
            <a:r>
              <a:rPr lang="he-IL" sz="1800" dirty="0" err="1">
                <a:cs typeface="Calibri" panose="020F0502020204030204" pitchFamily="34" charset="0"/>
              </a:rPr>
              <a:t>וה</a:t>
            </a:r>
            <a:r>
              <a:rPr lang="he-IL" sz="1800" dirty="0">
                <a:cs typeface="Calibri" panose="020F0502020204030204" pitchFamily="34" charset="0"/>
              </a:rPr>
              <a:t> </a:t>
            </a:r>
            <a:r>
              <a:rPr lang="en-US" sz="1800" dirty="0">
                <a:cs typeface="Calibri" panose="020F0502020204030204" pitchFamily="34" charset="0"/>
              </a:rPr>
              <a:t>FROM</a:t>
            </a:r>
            <a:r>
              <a:rPr lang="he-IL" sz="1800" dirty="0">
                <a:cs typeface="Calibri" panose="020F0502020204030204" pitchFamily="34" charset="0"/>
              </a:rPr>
              <a:t> (כגון: </a:t>
            </a:r>
            <a:r>
              <a:rPr lang="en-US" sz="1800" dirty="0">
                <a:cs typeface="Calibri" panose="020F0502020204030204" pitchFamily="34" charset="0"/>
              </a:rPr>
              <a:t>WHERE, ORDER BY, GROUP BY</a:t>
            </a:r>
            <a:r>
              <a:rPr lang="he-IL" sz="1800" dirty="0">
                <a:cs typeface="Calibri" panose="020F0502020204030204" pitchFamily="34" charset="0"/>
              </a:rPr>
              <a:t>...) נעשה זאת לאחר ה </a:t>
            </a:r>
            <a:r>
              <a:rPr lang="en-US" sz="1800" dirty="0">
                <a:cs typeface="Calibri" panose="020F0502020204030204" pitchFamily="34" charset="0"/>
              </a:rPr>
              <a:t>JOIN</a:t>
            </a:r>
            <a:r>
              <a:rPr lang="he-IL" sz="1800" dirty="0">
                <a:cs typeface="Calibri" panose="020F0502020204030204" pitchFamily="34" charset="0"/>
              </a:rPr>
              <a:t> – </a:t>
            </a:r>
            <a:r>
              <a:rPr lang="he-IL" sz="1800" b="1" dirty="0">
                <a:cs typeface="Calibri" panose="020F0502020204030204" pitchFamily="34" charset="0"/>
              </a:rPr>
              <a:t>חשוב להבין: ה </a:t>
            </a:r>
            <a:r>
              <a:rPr lang="en-US" sz="1800" b="1" dirty="0">
                <a:cs typeface="Calibri" panose="020F0502020204030204" pitchFamily="34" charset="0"/>
              </a:rPr>
              <a:t>JOIN</a:t>
            </a:r>
            <a:r>
              <a:rPr lang="he-IL" sz="1800" b="1" dirty="0">
                <a:cs typeface="Calibri" panose="020F0502020204030204" pitchFamily="34" charset="0"/>
              </a:rPr>
              <a:t> הוא הרחבה של משפט ה </a:t>
            </a:r>
            <a:r>
              <a:rPr lang="en-US" sz="1800" b="1" dirty="0">
                <a:cs typeface="Calibri" panose="020F0502020204030204" pitchFamily="34" charset="0"/>
              </a:rPr>
              <a:t>FROM</a:t>
            </a:r>
            <a:r>
              <a:rPr lang="he-IL" sz="1800" b="1" dirty="0">
                <a:cs typeface="Calibri" panose="020F0502020204030204" pitchFamily="34" charset="0"/>
              </a:rPr>
              <a:t>.</a:t>
            </a:r>
          </a:p>
        </p:txBody>
      </p:sp>
      <p:sp>
        <p:nvSpPr>
          <p:cNvPr id="3" name="כותרת 2">
            <a:extLst>
              <a:ext uri="{FF2B5EF4-FFF2-40B4-BE49-F238E27FC236}">
                <a16:creationId xmlns:a16="http://schemas.microsoft.com/office/drawing/2014/main" id="{AAF572FE-76D8-4C05-8537-19F15137D15C}"/>
              </a:ext>
            </a:extLst>
          </p:cNvPr>
          <p:cNvSpPr>
            <a:spLocks noGrp="1"/>
          </p:cNvSpPr>
          <p:nvPr>
            <p:ph type="title"/>
          </p:nvPr>
        </p:nvSpPr>
        <p:spPr/>
        <p:txBody>
          <a:bodyPr/>
          <a:lstStyle/>
          <a:p>
            <a:pPr rtl="1"/>
            <a:r>
              <a:rPr lang="en-US" dirty="0"/>
              <a:t>Join</a:t>
            </a:r>
            <a:endParaRPr lang="he-IL" dirty="0"/>
          </a:p>
        </p:txBody>
      </p:sp>
      <p:sp>
        <p:nvSpPr>
          <p:cNvPr id="4" name="מציין מיקום של מספר שקופית 3">
            <a:extLst>
              <a:ext uri="{FF2B5EF4-FFF2-40B4-BE49-F238E27FC236}">
                <a16:creationId xmlns:a16="http://schemas.microsoft.com/office/drawing/2014/main" id="{8FA045FA-AD4C-4A51-AF3B-55F4427F9281}"/>
              </a:ext>
            </a:extLst>
          </p:cNvPr>
          <p:cNvSpPr>
            <a:spLocks noGrp="1"/>
          </p:cNvSpPr>
          <p:nvPr>
            <p:ph type="sldNum" sz="quarter" idx="11"/>
          </p:nvPr>
        </p:nvSpPr>
        <p:spPr/>
        <p:txBody>
          <a:bodyPr/>
          <a:lstStyle/>
          <a:p>
            <a:fld id="{746FD205-8D79-439C-A802-2377436AEC8A}" type="slidenum">
              <a:rPr lang="he-IL" smtClean="0"/>
              <a:pPr/>
              <a:t>96</a:t>
            </a:fld>
            <a:endParaRPr lang="he-IL"/>
          </a:p>
        </p:txBody>
      </p:sp>
    </p:spTree>
    <p:extLst>
      <p:ext uri="{BB962C8B-B14F-4D97-AF65-F5344CB8AC3E}">
        <p14:creationId xmlns:p14="http://schemas.microsoft.com/office/powerpoint/2010/main" val="3311466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B821027C-1CDB-4384-9BC6-813AEF683B1E}"/>
              </a:ext>
            </a:extLst>
          </p:cNvPr>
          <p:cNvSpPr>
            <a:spLocks noGrp="1"/>
          </p:cNvSpPr>
          <p:nvPr>
            <p:ph idx="1"/>
          </p:nvPr>
        </p:nvSpPr>
        <p:spPr/>
        <p:txBody>
          <a:bodyPr/>
          <a:lstStyle/>
          <a:p>
            <a:pPr marL="64008" indent="0" rtl="1">
              <a:buNone/>
            </a:pPr>
            <a:r>
              <a:rPr lang="he-IL" sz="1800" dirty="0">
                <a:cs typeface="Calibri" panose="020F0502020204030204" pitchFamily="34" charset="0"/>
              </a:rPr>
              <a:t>על מסד הנתונים של הבנק שיצרת בצעי את השאילתות הבאות:</a:t>
            </a:r>
          </a:p>
          <a:p>
            <a:pPr rtl="1">
              <a:buFont typeface="Courier New" panose="02070309020205020404" pitchFamily="49" charset="0"/>
              <a:buChar char="o"/>
            </a:pPr>
            <a:r>
              <a:rPr lang="he-IL" sz="1800" dirty="0">
                <a:cs typeface="Calibri" panose="020F0502020204030204" pitchFamily="34" charset="0"/>
              </a:rPr>
              <a:t>שליפת שמות כל הלקוחות עם הפרטים המלאים של הכתובת שלהם</a:t>
            </a:r>
          </a:p>
          <a:p>
            <a:pPr rtl="1">
              <a:buFont typeface="Courier New" panose="02070309020205020404" pitchFamily="49" charset="0"/>
              <a:buChar char="o"/>
            </a:pPr>
            <a:r>
              <a:rPr lang="he-IL" sz="1800" dirty="0">
                <a:cs typeface="Calibri" panose="020F0502020204030204" pitchFamily="34" charset="0"/>
              </a:rPr>
              <a:t>שליפת פרטי העובדים כולל פרטי הסניף שבו הם עובדים, שלפי גם פרטים של סניף שלא הוגדרו בו עובדים</a:t>
            </a:r>
          </a:p>
          <a:p>
            <a:pPr rtl="1">
              <a:buFont typeface="Courier New" panose="02070309020205020404" pitchFamily="49" charset="0"/>
              <a:buChar char="o"/>
            </a:pPr>
            <a:r>
              <a:rPr lang="he-IL" sz="1800" dirty="0">
                <a:cs typeface="Calibri" panose="020F0502020204030204" pitchFamily="34" charset="0"/>
              </a:rPr>
              <a:t>שליפת פרטי כל העובדים כולל פרטי סוג העובד – שלפי גם פרטי עובד שלא הוגדר עבורו סוג עובד וכן פרטי סוג עובד שלא הוגדרו מסוגו עובדים </a:t>
            </a:r>
          </a:p>
          <a:p>
            <a:pPr rtl="1">
              <a:buFont typeface="Courier New" panose="02070309020205020404" pitchFamily="49" charset="0"/>
              <a:buChar char="o"/>
            </a:pPr>
            <a:r>
              <a:rPr lang="he-IL" sz="1800" dirty="0">
                <a:cs typeface="Calibri" panose="020F0502020204030204" pitchFamily="34" charset="0"/>
              </a:rPr>
              <a:t>שליפת פרטי התנועות שבוצעו בשנה זו – קוד תנועה, סכום, תיאור תנועה, מספר החשבון שעליו בוצעה התנועה, חובה/זכות</a:t>
            </a:r>
          </a:p>
          <a:p>
            <a:pPr rtl="1">
              <a:buFont typeface="Courier New" panose="02070309020205020404" pitchFamily="49" charset="0"/>
              <a:buChar char="o"/>
            </a:pPr>
            <a:r>
              <a:rPr lang="he-IL" sz="1800" dirty="0">
                <a:cs typeface="Calibri" panose="020F0502020204030204" pitchFamily="34" charset="0"/>
              </a:rPr>
              <a:t>שליפת פרטי לקוחות – ת"ז, שם פרטי ומשפחה, מספר חשבון, מספר סניף ושם סניף (צורף של 4 טבלאות...)</a:t>
            </a:r>
          </a:p>
          <a:p>
            <a:pPr rtl="1">
              <a:buFont typeface="Courier New" panose="02070309020205020404" pitchFamily="49" charset="0"/>
              <a:buChar char="o"/>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6E0872F6-F59A-4A43-91CA-6CC7A745B537}"/>
              </a:ext>
            </a:extLst>
          </p:cNvPr>
          <p:cNvSpPr>
            <a:spLocks noGrp="1"/>
          </p:cNvSpPr>
          <p:nvPr>
            <p:ph type="title"/>
          </p:nvPr>
        </p:nvSpPr>
        <p:spPr/>
        <p:txBody>
          <a:bodyPr/>
          <a:lstStyle/>
          <a:p>
            <a:pPr rtl="1"/>
            <a:r>
              <a:rPr lang="en-US" dirty="0"/>
              <a:t>Join</a:t>
            </a:r>
            <a:r>
              <a:rPr lang="he-IL" dirty="0"/>
              <a:t> - תרגיל</a:t>
            </a:r>
          </a:p>
        </p:txBody>
      </p:sp>
      <p:sp>
        <p:nvSpPr>
          <p:cNvPr id="4" name="מציין מיקום של מספר שקופית 3">
            <a:extLst>
              <a:ext uri="{FF2B5EF4-FFF2-40B4-BE49-F238E27FC236}">
                <a16:creationId xmlns:a16="http://schemas.microsoft.com/office/drawing/2014/main" id="{D6F72E92-1F62-4EFC-85F6-41512C360CFC}"/>
              </a:ext>
            </a:extLst>
          </p:cNvPr>
          <p:cNvSpPr>
            <a:spLocks noGrp="1"/>
          </p:cNvSpPr>
          <p:nvPr>
            <p:ph type="sldNum" sz="quarter" idx="11"/>
          </p:nvPr>
        </p:nvSpPr>
        <p:spPr/>
        <p:txBody>
          <a:bodyPr/>
          <a:lstStyle/>
          <a:p>
            <a:fld id="{746FD205-8D79-439C-A802-2377436AEC8A}" type="slidenum">
              <a:rPr lang="he-IL" smtClean="0"/>
              <a:pPr/>
              <a:t>97</a:t>
            </a:fld>
            <a:endParaRPr lang="he-IL"/>
          </a:p>
        </p:txBody>
      </p:sp>
    </p:spTree>
    <p:extLst>
      <p:ext uri="{BB962C8B-B14F-4D97-AF65-F5344CB8AC3E}">
        <p14:creationId xmlns:p14="http://schemas.microsoft.com/office/powerpoint/2010/main" val="17074436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pPr marL="64008" indent="0">
              <a:buNone/>
            </a:pPr>
            <a:r>
              <a:rPr lang="he-IL" sz="1800" dirty="0">
                <a:cs typeface="Calibri" panose="020F0502020204030204" pitchFamily="34" charset="0"/>
              </a:rPr>
              <a:t>על מסד הנתונים של בית הספר שיצרת בצעי את השאילתות הבאות:</a:t>
            </a:r>
          </a:p>
          <a:p>
            <a:pPr rtl="1">
              <a:buFont typeface="Courier New" panose="02070309020205020404" pitchFamily="49" charset="0"/>
              <a:buChar char="o"/>
            </a:pPr>
            <a:r>
              <a:rPr lang="he-IL" sz="1800" dirty="0">
                <a:cs typeface="Calibri" panose="020F0502020204030204" pitchFamily="34" charset="0"/>
              </a:rPr>
              <a:t>שליפת כל המורות שמלמדות בכיתה מסוימת עם המקצועות שהן מלמדות</a:t>
            </a:r>
          </a:p>
          <a:p>
            <a:pPr rtl="1">
              <a:buFont typeface="Courier New" panose="02070309020205020404" pitchFamily="49" charset="0"/>
              <a:buChar char="o"/>
            </a:pPr>
            <a:r>
              <a:rPr lang="he-IL" sz="1800" dirty="0">
                <a:cs typeface="Calibri" panose="020F0502020204030204" pitchFamily="34" charset="0"/>
              </a:rPr>
              <a:t>שליפת שם פרטי, שם משפחה וממוצע ציונים עבור כל תלמידה, יישלפו גם תלמידות שאין להן ציונים</a:t>
            </a:r>
          </a:p>
          <a:p>
            <a:pPr rtl="1">
              <a:buFont typeface="Courier New" panose="02070309020205020404" pitchFamily="49" charset="0"/>
              <a:buChar char="o"/>
            </a:pPr>
            <a:r>
              <a:rPr lang="he-IL" sz="1800" dirty="0">
                <a:cs typeface="Calibri" panose="020F0502020204030204" pitchFamily="34" charset="0"/>
              </a:rPr>
              <a:t>שליפת ממוצע הציונים בכל כיתה</a:t>
            </a:r>
          </a:p>
          <a:p>
            <a:pPr rtl="1">
              <a:buFont typeface="Courier New" panose="02070309020205020404" pitchFamily="49" charset="0"/>
              <a:buChar char="o"/>
            </a:pPr>
            <a:r>
              <a:rPr lang="he-IL" sz="1800" dirty="0">
                <a:cs typeface="Calibri" panose="020F0502020204030204" pitchFamily="34" charset="0"/>
              </a:rPr>
              <a:t>שליפת כל תלמידה עם שמות המורות שמלמדות אותה</a:t>
            </a:r>
          </a:p>
          <a:p>
            <a:pPr rtl="1">
              <a:buFont typeface="Courier New" panose="02070309020205020404" pitchFamily="49" charset="0"/>
              <a:buChar char="o"/>
            </a:pPr>
            <a:r>
              <a:rPr lang="he-IL" sz="1800" dirty="0">
                <a:cs typeface="Calibri" panose="020F0502020204030204" pitchFamily="34" charset="0"/>
              </a:rPr>
              <a:t>שליפת כל המקצועות עם שמות המורות שמלמדות אותן, יישלפו גם מורות שלא צוין עבורן מקצוע</a:t>
            </a:r>
          </a:p>
          <a:p>
            <a:pPr rtl="1">
              <a:buFont typeface="Courier New" panose="02070309020205020404" pitchFamily="49" charset="0"/>
              <a:buChar char="o"/>
            </a:pPr>
            <a:r>
              <a:rPr lang="he-IL" sz="1800" dirty="0">
                <a:cs typeface="Calibri" panose="020F0502020204030204" pitchFamily="34" charset="0"/>
              </a:rPr>
              <a:t>שליפת סכום כל המשכורות של מורות בכיתה מסוימת   </a:t>
            </a:r>
          </a:p>
        </p:txBody>
      </p:sp>
      <p:sp>
        <p:nvSpPr>
          <p:cNvPr id="3" name="כותרת 2"/>
          <p:cNvSpPr>
            <a:spLocks noGrp="1"/>
          </p:cNvSpPr>
          <p:nvPr>
            <p:ph type="title"/>
          </p:nvPr>
        </p:nvSpPr>
        <p:spPr/>
        <p:txBody>
          <a:bodyPr/>
          <a:lstStyle/>
          <a:p>
            <a:pPr rtl="1"/>
            <a:r>
              <a:rPr lang="en-US" dirty="0"/>
              <a:t>Join</a:t>
            </a:r>
            <a:r>
              <a:rPr lang="he-IL" dirty="0"/>
              <a:t> – תרגיל 2</a:t>
            </a:r>
          </a:p>
        </p:txBody>
      </p:sp>
      <p:sp>
        <p:nvSpPr>
          <p:cNvPr id="4" name="מציין מיקום של מספר שקופית 3"/>
          <p:cNvSpPr>
            <a:spLocks noGrp="1"/>
          </p:cNvSpPr>
          <p:nvPr>
            <p:ph type="sldNum" sz="quarter" idx="11"/>
          </p:nvPr>
        </p:nvSpPr>
        <p:spPr/>
        <p:txBody>
          <a:bodyPr/>
          <a:lstStyle/>
          <a:p>
            <a:fld id="{746FD205-8D79-439C-A802-2377436AEC8A}" type="slidenum">
              <a:rPr lang="he-IL" smtClean="0"/>
              <a:pPr/>
              <a:t>98</a:t>
            </a:fld>
            <a:endParaRPr lang="he-IL"/>
          </a:p>
        </p:txBody>
      </p:sp>
    </p:spTree>
    <p:extLst>
      <p:ext uri="{BB962C8B-B14F-4D97-AF65-F5344CB8AC3E}">
        <p14:creationId xmlns:p14="http://schemas.microsoft.com/office/powerpoint/2010/main" val="2816630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EA36962-748F-408A-8B79-EBA05A76D377}"/>
              </a:ext>
            </a:extLst>
          </p:cNvPr>
          <p:cNvSpPr>
            <a:spLocks noGrp="1"/>
          </p:cNvSpPr>
          <p:nvPr>
            <p:ph idx="1"/>
          </p:nvPr>
        </p:nvSpPr>
        <p:spPr/>
        <p:txBody>
          <a:bodyPr/>
          <a:lstStyle/>
          <a:p>
            <a:pPr marL="64008" indent="0" rtl="1">
              <a:buNone/>
            </a:pPr>
            <a:r>
              <a:rPr lang="he-IL" sz="1800" dirty="0">
                <a:cs typeface="Calibri" panose="020F0502020204030204" pitchFamily="34" charset="0"/>
              </a:rPr>
              <a:t>על מסד הנתונים של הבנק שיצרת בצעי את הפעולות הבאות:</a:t>
            </a:r>
          </a:p>
          <a:p>
            <a:pPr rtl="1">
              <a:buFont typeface="Courier New" panose="02070309020205020404" pitchFamily="49" charset="0"/>
              <a:buChar char="o"/>
            </a:pPr>
            <a:r>
              <a:rPr lang="he-IL" sz="1800" dirty="0">
                <a:cs typeface="Calibri" panose="020F0502020204030204" pitchFamily="34" charset="0"/>
              </a:rPr>
              <a:t>העלאת סכום היתרה ב 500 ₪ עבור כל החשבונות שבסניף ירושלים - עשי זאת ע"י פקודת </a:t>
            </a:r>
            <a:r>
              <a:rPr lang="en-US" sz="1800" dirty="0">
                <a:cs typeface="Calibri" panose="020F0502020204030204" pitchFamily="34" charset="0"/>
              </a:rPr>
              <a:t>UPDATE</a:t>
            </a:r>
            <a:r>
              <a:rPr lang="he-IL" sz="1800" dirty="0">
                <a:cs typeface="Calibri" panose="020F0502020204030204" pitchFamily="34" charset="0"/>
              </a:rPr>
              <a:t> (</a:t>
            </a:r>
            <a:r>
              <a:rPr lang="en-US" sz="1800" dirty="0">
                <a:cs typeface="Calibri" panose="020F0502020204030204" pitchFamily="34" charset="0"/>
              </a:rPr>
              <a:t>Join</a:t>
            </a:r>
            <a:r>
              <a:rPr lang="he-IL" sz="1800" dirty="0">
                <a:cs typeface="Calibri" panose="020F0502020204030204" pitchFamily="34" charset="0"/>
              </a:rPr>
              <a:t> של 3 טבלאות).</a:t>
            </a:r>
          </a:p>
          <a:p>
            <a:pPr rtl="1">
              <a:buFont typeface="Courier New" panose="02070309020205020404" pitchFamily="49" charset="0"/>
              <a:buChar char="o"/>
            </a:pPr>
            <a:r>
              <a:rPr lang="he-IL" sz="1800" dirty="0">
                <a:cs typeface="Calibri" panose="020F0502020204030204" pitchFamily="34" charset="0"/>
              </a:rPr>
              <a:t>שליפת כל החשבונות שהתבצעו בהם למעלה מ 3 תנועות בחודש האחרון.</a:t>
            </a:r>
          </a:p>
          <a:p>
            <a:pPr rtl="1">
              <a:buFont typeface="Courier New" panose="02070309020205020404" pitchFamily="49" charset="0"/>
              <a:buChar char="o"/>
            </a:pPr>
            <a:r>
              <a:rPr lang="he-IL" sz="1800" dirty="0">
                <a:cs typeface="Calibri" panose="020F0502020204030204" pitchFamily="34" charset="0"/>
              </a:rPr>
              <a:t>הוסיפי טבלה נוספת: שכר לעובדים שתכיל את השדות הבאים: קוד (מפתח ראשי), ת"ז עובד (מפתח זר שמקושר לטבלת עובדים) שכר לשעה, בונוס, שנות וותק ודרגה.</a:t>
            </a:r>
            <a:br>
              <a:rPr lang="en-US" sz="1800" dirty="0">
                <a:cs typeface="Calibri" panose="020F0502020204030204" pitchFamily="34" charset="0"/>
              </a:rPr>
            </a:br>
            <a:r>
              <a:rPr lang="he-IL" sz="1800" dirty="0">
                <a:cs typeface="Calibri" panose="020F0502020204030204" pitchFamily="34" charset="0"/>
              </a:rPr>
              <a:t>עשי זאת ע"י פקודת </a:t>
            </a:r>
            <a:r>
              <a:rPr lang="en-US" sz="1800" dirty="0">
                <a:cs typeface="Calibri" panose="020F0502020204030204" pitchFamily="34" charset="0"/>
              </a:rPr>
              <a:t>CREATE</a:t>
            </a:r>
            <a:r>
              <a:rPr lang="he-IL" sz="1800" dirty="0">
                <a:cs typeface="Calibri" panose="020F0502020204030204" pitchFamily="34" charset="0"/>
              </a:rPr>
              <a:t>.</a:t>
            </a:r>
          </a:p>
          <a:p>
            <a:pPr rtl="1">
              <a:buFont typeface="Courier New" panose="02070309020205020404" pitchFamily="49" charset="0"/>
              <a:buChar char="o"/>
            </a:pPr>
            <a:r>
              <a:rPr lang="he-IL" sz="1800" dirty="0">
                <a:cs typeface="Calibri" panose="020F0502020204030204" pitchFamily="34" charset="0"/>
              </a:rPr>
              <a:t>לטבלה החדשה שהוספת הוסיפי נותנים של 4 עובדים ע"י פקודת </a:t>
            </a:r>
            <a:r>
              <a:rPr lang="en-US" sz="1800" dirty="0">
                <a:cs typeface="Calibri" panose="020F0502020204030204" pitchFamily="34" charset="0"/>
              </a:rPr>
              <a:t>INSERT</a:t>
            </a:r>
            <a:r>
              <a:rPr lang="he-IL" sz="1800" dirty="0">
                <a:cs typeface="Calibri" panose="020F0502020204030204" pitchFamily="34" charset="0"/>
              </a:rPr>
              <a:t>.</a:t>
            </a:r>
          </a:p>
          <a:p>
            <a:pPr rtl="1">
              <a:buFont typeface="Courier New" panose="02070309020205020404" pitchFamily="49" charset="0"/>
              <a:buChar char="o"/>
            </a:pPr>
            <a:r>
              <a:rPr lang="he-IL" sz="1800" dirty="0">
                <a:cs typeface="Calibri" panose="020F0502020204030204" pitchFamily="34" charset="0"/>
              </a:rPr>
              <a:t>עדכני את ערך הבונוס בטבלת שכר לעובדים ל 1500 עבור כל המנהלים. </a:t>
            </a: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85BE46B1-BAD8-4775-B55D-2E5578FD16ED}"/>
              </a:ext>
            </a:extLst>
          </p:cNvPr>
          <p:cNvSpPr>
            <a:spLocks noGrp="1"/>
          </p:cNvSpPr>
          <p:nvPr>
            <p:ph type="title"/>
          </p:nvPr>
        </p:nvSpPr>
        <p:spPr/>
        <p:txBody>
          <a:bodyPr>
            <a:normAutofit fontScale="90000"/>
          </a:bodyPr>
          <a:lstStyle/>
          <a:p>
            <a:r>
              <a:rPr lang="he-IL" dirty="0"/>
              <a:t>תרגילים נוספים שאילתות – שליפות, עדכונים ומחיקות</a:t>
            </a:r>
          </a:p>
        </p:txBody>
      </p:sp>
      <p:sp>
        <p:nvSpPr>
          <p:cNvPr id="4" name="מציין מיקום של מספר שקופית 3">
            <a:extLst>
              <a:ext uri="{FF2B5EF4-FFF2-40B4-BE49-F238E27FC236}">
                <a16:creationId xmlns:a16="http://schemas.microsoft.com/office/drawing/2014/main" id="{119579CA-8B3E-4F7B-9548-55BD6C57C015}"/>
              </a:ext>
            </a:extLst>
          </p:cNvPr>
          <p:cNvSpPr>
            <a:spLocks noGrp="1"/>
          </p:cNvSpPr>
          <p:nvPr>
            <p:ph type="sldNum" sz="quarter" idx="11"/>
          </p:nvPr>
        </p:nvSpPr>
        <p:spPr/>
        <p:txBody>
          <a:bodyPr/>
          <a:lstStyle/>
          <a:p>
            <a:fld id="{746FD205-8D79-439C-A802-2377436AEC8A}" type="slidenum">
              <a:rPr lang="he-IL" smtClean="0"/>
              <a:pPr/>
              <a:t>99</a:t>
            </a:fld>
            <a:endParaRPr lang="he-IL"/>
          </a:p>
        </p:txBody>
      </p:sp>
    </p:spTree>
    <p:extLst>
      <p:ext uri="{BB962C8B-B14F-4D97-AF65-F5344CB8AC3E}">
        <p14:creationId xmlns:p14="http://schemas.microsoft.com/office/powerpoint/2010/main" val="423486699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1F0CAB56-F2B8-4A59-8C05-DEB161A39EEE}"/>
              </a:ext>
            </a:extLst>
          </p:cNvPr>
          <p:cNvSpPr>
            <a:spLocks noGrp="1"/>
          </p:cNvSpPr>
          <p:nvPr>
            <p:ph idx="1"/>
          </p:nvPr>
        </p:nvSpPr>
        <p:spPr/>
        <p:txBody>
          <a:bodyPr/>
          <a:lstStyle/>
          <a:p>
            <a:pPr marL="64008" indent="0" rtl="1">
              <a:buNone/>
            </a:pPr>
            <a:r>
              <a:rPr lang="he-IL" sz="1800" dirty="0">
                <a:cs typeface="Calibri" panose="020F0502020204030204" pitchFamily="34" charset="0"/>
              </a:rPr>
              <a:t>תת שאילתה היא שאילתה שמוגדרת בתוך שאילתה אחרת והתוצאה שלה משמשת עבור השאילתה החיצונית.</a:t>
            </a:r>
          </a:p>
          <a:p>
            <a:pPr marL="64008" indent="0" rtl="1">
              <a:buNone/>
            </a:pPr>
            <a:r>
              <a:rPr lang="he-IL" sz="1800" dirty="0">
                <a:cs typeface="Calibri" panose="020F0502020204030204" pitchFamily="34" charset="0"/>
              </a:rPr>
              <a:t>שאילתה זו מקוננת בתוך משפט </a:t>
            </a:r>
            <a:r>
              <a:rPr lang="en-US" sz="1800" dirty="0">
                <a:cs typeface="Calibri" panose="020F0502020204030204" pitchFamily="34" charset="0"/>
              </a:rPr>
              <a:t>Select, Insert, Update, Delete</a:t>
            </a:r>
            <a:r>
              <a:rPr lang="he-IL" sz="1800" dirty="0">
                <a:cs typeface="Calibri" panose="020F0502020204030204" pitchFamily="34" charset="0"/>
              </a:rPr>
              <a:t> בתוך תנאי ה </a:t>
            </a:r>
            <a:r>
              <a:rPr lang="en-US" sz="1800" dirty="0">
                <a:cs typeface="Calibri" panose="020F0502020204030204" pitchFamily="34" charset="0"/>
              </a:rPr>
              <a:t>Where</a:t>
            </a:r>
            <a:r>
              <a:rPr lang="he-IL" sz="1800" dirty="0">
                <a:cs typeface="Calibri" panose="020F0502020204030204" pitchFamily="34" charset="0"/>
              </a:rPr>
              <a:t>.</a:t>
            </a:r>
          </a:p>
          <a:p>
            <a:pPr marL="64008" indent="0" rtl="1">
              <a:buNone/>
            </a:pPr>
            <a:r>
              <a:rPr lang="he-IL" sz="1800" dirty="0">
                <a:cs typeface="Calibri" panose="020F0502020204030204" pitchFamily="34" charset="0"/>
              </a:rPr>
              <a:t>ישנם שתי סוגים של </a:t>
            </a:r>
            <a:r>
              <a:rPr lang="en-US" sz="1800" dirty="0">
                <a:cs typeface="Calibri" panose="020F0502020204030204" pitchFamily="34" charset="0"/>
              </a:rPr>
              <a:t>Sub Queries</a:t>
            </a:r>
            <a:r>
              <a:rPr lang="he-IL" sz="1800" dirty="0">
                <a:cs typeface="Calibri" panose="020F0502020204030204" pitchFamily="34" charset="0"/>
              </a:rPr>
              <a:t>:</a:t>
            </a:r>
          </a:p>
          <a:p>
            <a:pPr marL="64008" indent="0" rtl="1">
              <a:buNone/>
            </a:pPr>
            <a:r>
              <a:rPr lang="en-US" sz="1800" b="1" dirty="0">
                <a:cs typeface="Calibri" panose="020F0502020204030204" pitchFamily="34" charset="0"/>
              </a:rPr>
              <a:t>Single Row Sub Query</a:t>
            </a:r>
            <a:r>
              <a:rPr lang="he-IL" sz="1800" b="1" dirty="0">
                <a:cs typeface="Calibri" panose="020F0502020204030204" pitchFamily="34" charset="0"/>
              </a:rPr>
              <a:t> </a:t>
            </a:r>
            <a:r>
              <a:rPr lang="he-IL" sz="1800" dirty="0">
                <a:cs typeface="Calibri" panose="020F0502020204030204" pitchFamily="34" charset="0"/>
              </a:rPr>
              <a:t>– תת שאילתה שמחזירה תוצאה בודדת - שדה בודד</a:t>
            </a:r>
          </a:p>
          <a:p>
            <a:pPr marL="64008" indent="0" rtl="1">
              <a:buNone/>
            </a:pPr>
            <a:r>
              <a:rPr lang="en-US" sz="1800" b="1" dirty="0">
                <a:cs typeface="Calibri" panose="020F0502020204030204" pitchFamily="34" charset="0"/>
              </a:rPr>
              <a:t>Multiple Row Sub Query</a:t>
            </a:r>
            <a:r>
              <a:rPr lang="he-IL" sz="1800" b="1" dirty="0">
                <a:cs typeface="Calibri" panose="020F0502020204030204" pitchFamily="34" charset="0"/>
              </a:rPr>
              <a:t> </a:t>
            </a:r>
            <a:r>
              <a:rPr lang="he-IL" sz="1800" dirty="0">
                <a:cs typeface="Calibri" panose="020F0502020204030204" pitchFamily="34" charset="0"/>
              </a:rPr>
              <a:t>– תת שאילתה שמחזירה תוצאה של יותר מערך אחד (מספר שורות / מספר עמודות)</a:t>
            </a:r>
          </a:p>
          <a:p>
            <a:pPr marL="64008" indent="0" rtl="1">
              <a:buNone/>
            </a:pPr>
            <a:r>
              <a:rPr lang="en-US" sz="1800" dirty="0">
                <a:cs typeface="Calibri" panose="020F0502020204030204" pitchFamily="34" charset="0"/>
              </a:rPr>
              <a:t>Syntax:</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 </a:t>
            </a:r>
          </a:p>
        </p:txBody>
      </p:sp>
      <p:sp>
        <p:nvSpPr>
          <p:cNvPr id="3" name="כותרת 2">
            <a:extLst>
              <a:ext uri="{FF2B5EF4-FFF2-40B4-BE49-F238E27FC236}">
                <a16:creationId xmlns:a16="http://schemas.microsoft.com/office/drawing/2014/main" id="{AE38BA98-DCA0-4F95-AC59-ADBF1A326FCB}"/>
              </a:ext>
            </a:extLst>
          </p:cNvPr>
          <p:cNvSpPr>
            <a:spLocks noGrp="1"/>
          </p:cNvSpPr>
          <p:nvPr>
            <p:ph type="title"/>
          </p:nvPr>
        </p:nvSpPr>
        <p:spPr/>
        <p:txBody>
          <a:bodyPr/>
          <a:lstStyle/>
          <a:p>
            <a:pPr algn="l"/>
            <a:r>
              <a:rPr lang="en-US" dirty="0"/>
              <a:t>Sub Queries</a:t>
            </a:r>
            <a:endParaRPr lang="he-IL" dirty="0"/>
          </a:p>
        </p:txBody>
      </p:sp>
      <p:sp>
        <p:nvSpPr>
          <p:cNvPr id="4" name="מציין מיקום של מספר שקופית 3">
            <a:extLst>
              <a:ext uri="{FF2B5EF4-FFF2-40B4-BE49-F238E27FC236}">
                <a16:creationId xmlns:a16="http://schemas.microsoft.com/office/drawing/2014/main" id="{005F1B3E-2F77-462C-B5DD-04DA672E22A2}"/>
              </a:ext>
            </a:extLst>
          </p:cNvPr>
          <p:cNvSpPr>
            <a:spLocks noGrp="1"/>
          </p:cNvSpPr>
          <p:nvPr>
            <p:ph type="sldNum" sz="quarter" idx="11"/>
          </p:nvPr>
        </p:nvSpPr>
        <p:spPr/>
        <p:txBody>
          <a:bodyPr/>
          <a:lstStyle/>
          <a:p>
            <a:fld id="{746FD205-8D79-439C-A802-2377436AEC8A}" type="slidenum">
              <a:rPr lang="he-IL" smtClean="0"/>
              <a:pPr/>
              <a:t>100</a:t>
            </a:fld>
            <a:endParaRPr lang="he-IL"/>
          </a:p>
        </p:txBody>
      </p:sp>
      <p:pic>
        <p:nvPicPr>
          <p:cNvPr id="5" name="תמונה 4">
            <a:extLst>
              <a:ext uri="{FF2B5EF4-FFF2-40B4-BE49-F238E27FC236}">
                <a16:creationId xmlns:a16="http://schemas.microsoft.com/office/drawing/2014/main" id="{8098DB81-5C01-4C73-9DB1-205E5E256737}"/>
              </a:ext>
            </a:extLst>
          </p:cNvPr>
          <p:cNvPicPr>
            <a:picLocks noChangeAspect="1"/>
          </p:cNvPicPr>
          <p:nvPr/>
        </p:nvPicPr>
        <p:blipFill>
          <a:blip r:embed="rId2"/>
          <a:stretch>
            <a:fillRect/>
          </a:stretch>
        </p:blipFill>
        <p:spPr>
          <a:xfrm>
            <a:off x="4114800" y="4267200"/>
            <a:ext cx="4373880" cy="1066800"/>
          </a:xfrm>
          <a:prstGeom prst="rect">
            <a:avLst/>
          </a:prstGeom>
        </p:spPr>
      </p:pic>
    </p:spTree>
    <p:extLst>
      <p:ext uri="{BB962C8B-B14F-4D97-AF65-F5344CB8AC3E}">
        <p14:creationId xmlns:p14="http://schemas.microsoft.com/office/powerpoint/2010/main" val="36547881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D62A7712-74A7-4B6A-8708-EBF489D4E342}"/>
              </a:ext>
            </a:extLst>
          </p:cNvPr>
          <p:cNvSpPr>
            <a:spLocks noGrp="1"/>
          </p:cNvSpPr>
          <p:nvPr>
            <p:ph idx="1"/>
          </p:nvPr>
        </p:nvSpPr>
        <p:spPr/>
        <p:txBody>
          <a:bodyPr/>
          <a:lstStyle/>
          <a:p>
            <a:pPr marL="64008" indent="0" rtl="1">
              <a:buNone/>
            </a:pPr>
            <a:r>
              <a:rPr lang="he-IL" sz="1800" dirty="0">
                <a:cs typeface="Calibri" panose="020F0502020204030204" pitchFamily="34" charset="0"/>
              </a:rPr>
              <a:t>תת שאילתה שמחזירה תוצאה בודדת.</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כל הלקוחות שגרים באותה העיר של לקוח מספר 6:</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דוגמא של עדכון נתוני טבלה עם שימוש ב </a:t>
            </a:r>
            <a:r>
              <a:rPr lang="en-US" sz="1800" dirty="0">
                <a:cs typeface="Calibri" panose="020F0502020204030204" pitchFamily="34" charset="0"/>
              </a:rPr>
              <a:t>Sub Select</a:t>
            </a:r>
            <a:r>
              <a:rPr lang="he-IL" sz="1800" dirty="0">
                <a:cs typeface="Calibri" panose="020F0502020204030204" pitchFamily="34" charset="0"/>
              </a:rPr>
              <a:t>:</a:t>
            </a:r>
          </a:p>
          <a:p>
            <a:pPr marL="64008" indent="0" rtl="1">
              <a:buNone/>
            </a:pPr>
            <a:r>
              <a:rPr lang="he-IL" sz="1800" dirty="0">
                <a:cs typeface="Calibri" panose="020F0502020204030204" pitchFamily="34" charset="0"/>
              </a:rPr>
              <a:t>עדכון הבונוס של כל העובדים שמשכורתם גבוהה מהממוצע לסכום של 1000 ש"ח:</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2D401055-3528-4495-81BB-1B87AAAA47A7}"/>
              </a:ext>
            </a:extLst>
          </p:cNvPr>
          <p:cNvSpPr>
            <a:spLocks noGrp="1"/>
          </p:cNvSpPr>
          <p:nvPr>
            <p:ph type="title"/>
          </p:nvPr>
        </p:nvSpPr>
        <p:spPr/>
        <p:txBody>
          <a:bodyPr/>
          <a:lstStyle/>
          <a:p>
            <a:pPr algn="l"/>
            <a:r>
              <a:rPr lang="en-US" dirty="0"/>
              <a:t>Single Row Sub Queries</a:t>
            </a:r>
            <a:endParaRPr lang="he-IL" dirty="0"/>
          </a:p>
        </p:txBody>
      </p:sp>
      <p:sp>
        <p:nvSpPr>
          <p:cNvPr id="4" name="מציין מיקום של מספר שקופית 3">
            <a:extLst>
              <a:ext uri="{FF2B5EF4-FFF2-40B4-BE49-F238E27FC236}">
                <a16:creationId xmlns:a16="http://schemas.microsoft.com/office/drawing/2014/main" id="{5A123BFC-69A7-4D5F-8C6B-337F62B59FAD}"/>
              </a:ext>
            </a:extLst>
          </p:cNvPr>
          <p:cNvSpPr>
            <a:spLocks noGrp="1"/>
          </p:cNvSpPr>
          <p:nvPr>
            <p:ph type="sldNum" sz="quarter" idx="11"/>
          </p:nvPr>
        </p:nvSpPr>
        <p:spPr/>
        <p:txBody>
          <a:bodyPr/>
          <a:lstStyle/>
          <a:p>
            <a:fld id="{746FD205-8D79-439C-A802-2377436AEC8A}" type="slidenum">
              <a:rPr lang="he-IL" smtClean="0"/>
              <a:pPr/>
              <a:t>101</a:t>
            </a:fld>
            <a:endParaRPr lang="he-IL"/>
          </a:p>
        </p:txBody>
      </p:sp>
      <p:pic>
        <p:nvPicPr>
          <p:cNvPr id="6" name="תמונה 5">
            <a:extLst>
              <a:ext uri="{FF2B5EF4-FFF2-40B4-BE49-F238E27FC236}">
                <a16:creationId xmlns:a16="http://schemas.microsoft.com/office/drawing/2014/main" id="{75BF3245-B5A2-4DB4-AE38-02E3392DCCF7}"/>
              </a:ext>
            </a:extLst>
          </p:cNvPr>
          <p:cNvPicPr>
            <a:picLocks noChangeAspect="1"/>
          </p:cNvPicPr>
          <p:nvPr/>
        </p:nvPicPr>
        <p:blipFill>
          <a:blip r:embed="rId2"/>
          <a:stretch>
            <a:fillRect/>
          </a:stretch>
        </p:blipFill>
        <p:spPr>
          <a:xfrm>
            <a:off x="4191000" y="2667000"/>
            <a:ext cx="2435454" cy="1033919"/>
          </a:xfrm>
          <a:prstGeom prst="rect">
            <a:avLst/>
          </a:prstGeom>
        </p:spPr>
      </p:pic>
      <p:pic>
        <p:nvPicPr>
          <p:cNvPr id="7" name="תמונה 6">
            <a:extLst>
              <a:ext uri="{FF2B5EF4-FFF2-40B4-BE49-F238E27FC236}">
                <a16:creationId xmlns:a16="http://schemas.microsoft.com/office/drawing/2014/main" id="{11B5B4AD-3FA6-4203-B9C5-006F9BAD5251}"/>
              </a:ext>
            </a:extLst>
          </p:cNvPr>
          <p:cNvPicPr>
            <a:picLocks noChangeAspect="1"/>
          </p:cNvPicPr>
          <p:nvPr/>
        </p:nvPicPr>
        <p:blipFill>
          <a:blip r:embed="rId3"/>
          <a:stretch>
            <a:fillRect/>
          </a:stretch>
        </p:blipFill>
        <p:spPr>
          <a:xfrm>
            <a:off x="6781800" y="2667000"/>
            <a:ext cx="1771650" cy="552450"/>
          </a:xfrm>
          <a:prstGeom prst="rect">
            <a:avLst/>
          </a:prstGeom>
        </p:spPr>
      </p:pic>
      <p:pic>
        <p:nvPicPr>
          <p:cNvPr id="8" name="תמונה 7">
            <a:extLst>
              <a:ext uri="{FF2B5EF4-FFF2-40B4-BE49-F238E27FC236}">
                <a16:creationId xmlns:a16="http://schemas.microsoft.com/office/drawing/2014/main" id="{FBEDC876-DB46-48C9-9889-1FC26F1C7F3A}"/>
              </a:ext>
            </a:extLst>
          </p:cNvPr>
          <p:cNvPicPr>
            <a:picLocks noChangeAspect="1"/>
          </p:cNvPicPr>
          <p:nvPr/>
        </p:nvPicPr>
        <p:blipFill>
          <a:blip r:embed="rId4"/>
          <a:stretch>
            <a:fillRect/>
          </a:stretch>
        </p:blipFill>
        <p:spPr>
          <a:xfrm>
            <a:off x="5684526" y="4784979"/>
            <a:ext cx="2714625" cy="1171575"/>
          </a:xfrm>
          <a:prstGeom prst="rect">
            <a:avLst/>
          </a:prstGeom>
        </p:spPr>
      </p:pic>
      <p:pic>
        <p:nvPicPr>
          <p:cNvPr id="9" name="תמונה 8">
            <a:extLst>
              <a:ext uri="{FF2B5EF4-FFF2-40B4-BE49-F238E27FC236}">
                <a16:creationId xmlns:a16="http://schemas.microsoft.com/office/drawing/2014/main" id="{868CC226-9525-486F-9F22-4BDC9EDE7C5D}"/>
              </a:ext>
            </a:extLst>
          </p:cNvPr>
          <p:cNvPicPr>
            <a:picLocks noChangeAspect="1"/>
          </p:cNvPicPr>
          <p:nvPr/>
        </p:nvPicPr>
        <p:blipFill>
          <a:blip r:embed="rId5"/>
          <a:stretch>
            <a:fillRect/>
          </a:stretch>
        </p:blipFill>
        <p:spPr>
          <a:xfrm>
            <a:off x="269049" y="4784979"/>
            <a:ext cx="2669743" cy="389639"/>
          </a:xfrm>
          <a:prstGeom prst="rect">
            <a:avLst/>
          </a:prstGeom>
        </p:spPr>
      </p:pic>
      <p:pic>
        <p:nvPicPr>
          <p:cNvPr id="10" name="תמונה 9">
            <a:extLst>
              <a:ext uri="{FF2B5EF4-FFF2-40B4-BE49-F238E27FC236}">
                <a16:creationId xmlns:a16="http://schemas.microsoft.com/office/drawing/2014/main" id="{9DED7716-31B0-4307-8AB5-30450CC2782D}"/>
              </a:ext>
            </a:extLst>
          </p:cNvPr>
          <p:cNvPicPr>
            <a:picLocks noChangeAspect="1"/>
          </p:cNvPicPr>
          <p:nvPr/>
        </p:nvPicPr>
        <p:blipFill>
          <a:blip r:embed="rId6"/>
          <a:stretch>
            <a:fillRect/>
          </a:stretch>
        </p:blipFill>
        <p:spPr>
          <a:xfrm>
            <a:off x="3010243" y="4773724"/>
            <a:ext cx="890449" cy="386761"/>
          </a:xfrm>
          <a:prstGeom prst="rect">
            <a:avLst/>
          </a:prstGeom>
        </p:spPr>
      </p:pic>
      <p:pic>
        <p:nvPicPr>
          <p:cNvPr id="11" name="תמונה 10">
            <a:extLst>
              <a:ext uri="{FF2B5EF4-FFF2-40B4-BE49-F238E27FC236}">
                <a16:creationId xmlns:a16="http://schemas.microsoft.com/office/drawing/2014/main" id="{8A6F4FE3-668E-4E8D-B18A-A6703DBEC957}"/>
              </a:ext>
            </a:extLst>
          </p:cNvPr>
          <p:cNvPicPr>
            <a:picLocks noChangeAspect="1"/>
          </p:cNvPicPr>
          <p:nvPr/>
        </p:nvPicPr>
        <p:blipFill>
          <a:blip r:embed="rId7"/>
          <a:stretch>
            <a:fillRect/>
          </a:stretch>
        </p:blipFill>
        <p:spPr>
          <a:xfrm>
            <a:off x="269049" y="5354033"/>
            <a:ext cx="2038350" cy="485775"/>
          </a:xfrm>
          <a:prstGeom prst="rect">
            <a:avLst/>
          </a:prstGeom>
        </p:spPr>
      </p:pic>
      <p:pic>
        <p:nvPicPr>
          <p:cNvPr id="13" name="תמונה 12">
            <a:extLst>
              <a:ext uri="{FF2B5EF4-FFF2-40B4-BE49-F238E27FC236}">
                <a16:creationId xmlns:a16="http://schemas.microsoft.com/office/drawing/2014/main" id="{FDC93464-A37F-45B7-9037-7EB8DB00EE6F}"/>
              </a:ext>
            </a:extLst>
          </p:cNvPr>
          <p:cNvPicPr>
            <a:picLocks noChangeAspect="1"/>
          </p:cNvPicPr>
          <p:nvPr/>
        </p:nvPicPr>
        <p:blipFill>
          <a:blip r:embed="rId8"/>
          <a:stretch>
            <a:fillRect/>
          </a:stretch>
        </p:blipFill>
        <p:spPr>
          <a:xfrm>
            <a:off x="2459799" y="5354033"/>
            <a:ext cx="728598" cy="1387805"/>
          </a:xfrm>
          <a:prstGeom prst="rect">
            <a:avLst/>
          </a:prstGeom>
        </p:spPr>
      </p:pic>
      <p:sp>
        <p:nvSpPr>
          <p:cNvPr id="14" name="תיבת טקסט 13">
            <a:extLst>
              <a:ext uri="{FF2B5EF4-FFF2-40B4-BE49-F238E27FC236}">
                <a16:creationId xmlns:a16="http://schemas.microsoft.com/office/drawing/2014/main" id="{088015E5-6AA9-4EEA-AC70-946D93629CFB}"/>
              </a:ext>
            </a:extLst>
          </p:cNvPr>
          <p:cNvSpPr txBox="1"/>
          <p:nvPr/>
        </p:nvSpPr>
        <p:spPr>
          <a:xfrm>
            <a:off x="4114800" y="4772322"/>
            <a:ext cx="890449" cy="923330"/>
          </a:xfrm>
          <a:prstGeom prst="rect">
            <a:avLst/>
          </a:prstGeom>
          <a:noFill/>
        </p:spPr>
        <p:txBody>
          <a:bodyPr wrap="square" rtlCol="1">
            <a:spAutoFit/>
          </a:bodyPr>
          <a:lstStyle/>
          <a:p>
            <a:pPr algn="r" rtl="1"/>
            <a:r>
              <a:rPr lang="he-IL" dirty="0">
                <a:cs typeface="Calibri" panose="020F0502020204030204" pitchFamily="34" charset="0"/>
              </a:rPr>
              <a:t>העדכון אכן בוצע:</a:t>
            </a:r>
          </a:p>
        </p:txBody>
      </p:sp>
    </p:spTree>
    <p:extLst>
      <p:ext uri="{BB962C8B-B14F-4D97-AF65-F5344CB8AC3E}">
        <p14:creationId xmlns:p14="http://schemas.microsoft.com/office/powerpoint/2010/main" val="12183641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64E75872-4DC3-43FB-9D7C-A4DD2A2A1D1D}"/>
              </a:ext>
            </a:extLst>
          </p:cNvPr>
          <p:cNvSpPr>
            <a:spLocks noGrp="1"/>
          </p:cNvSpPr>
          <p:nvPr>
            <p:ph idx="1"/>
          </p:nvPr>
        </p:nvSpPr>
        <p:spPr/>
        <p:txBody>
          <a:bodyPr>
            <a:normAutofit lnSpcReduction="10000"/>
          </a:bodyPr>
          <a:lstStyle/>
          <a:p>
            <a:pPr marL="64008" indent="0" rtl="1">
              <a:buNone/>
            </a:pPr>
            <a:r>
              <a:rPr lang="he-IL" sz="1800" dirty="0">
                <a:cs typeface="Calibri" panose="020F0502020204030204" pitchFamily="34" charset="0"/>
              </a:rPr>
              <a:t>דוגמא מורכבת ל </a:t>
            </a:r>
            <a:r>
              <a:rPr lang="en-US" sz="1800" dirty="0">
                <a:cs typeface="Calibri" panose="020F0502020204030204" pitchFamily="34" charset="0"/>
              </a:rPr>
              <a:t>Single Row Sub Query</a:t>
            </a:r>
            <a:r>
              <a:rPr lang="he-IL" sz="1800" dirty="0">
                <a:cs typeface="Calibri" panose="020F0502020204030204" pitchFamily="34" charset="0"/>
              </a:rPr>
              <a:t> עם </a:t>
            </a:r>
            <a:r>
              <a:rPr lang="en-US" sz="1800" dirty="0">
                <a:cs typeface="Calibri" panose="020F0502020204030204" pitchFamily="34" charset="0"/>
              </a:rPr>
              <a:t>Join</a:t>
            </a:r>
            <a:r>
              <a:rPr lang="he-IL" sz="1800" dirty="0">
                <a:cs typeface="Calibri" panose="020F0502020204030204" pitchFamily="34" charset="0"/>
              </a:rPr>
              <a:t>:</a:t>
            </a:r>
          </a:p>
          <a:p>
            <a:pPr marL="64008" indent="0" rtl="1">
              <a:buNone/>
            </a:pPr>
            <a:r>
              <a:rPr lang="he-IL" sz="1800" dirty="0">
                <a:cs typeface="Calibri" panose="020F0502020204030204" pitchFamily="34" charset="0"/>
              </a:rPr>
              <a:t>שליפת פרטי המשכורת של כל העובדים שהתחילו לעבוד באותה שנה של עובד מסוים:</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הסבר: טבלת </a:t>
            </a:r>
            <a:r>
              <a:rPr lang="en-US" sz="1800" dirty="0">
                <a:cs typeface="Calibri" panose="020F0502020204030204" pitchFamily="34" charset="0"/>
              </a:rPr>
              <a:t>Employee</a:t>
            </a:r>
            <a:r>
              <a:rPr lang="he-IL" sz="1800" dirty="0">
                <a:cs typeface="Calibri" panose="020F0502020204030204" pitchFamily="34" charset="0"/>
              </a:rPr>
              <a:t> מכילה את פרטיו האישיים של העובד, טבלת </a:t>
            </a:r>
            <a:r>
              <a:rPr lang="en-US" sz="1800" dirty="0" err="1">
                <a:cs typeface="Calibri" panose="020F0502020204030204" pitchFamily="34" charset="0"/>
              </a:rPr>
              <a:t>EmployeePay</a:t>
            </a:r>
            <a:r>
              <a:rPr lang="he-IL" sz="1800" dirty="0">
                <a:cs typeface="Calibri" panose="020F0502020204030204" pitchFamily="34" charset="0"/>
              </a:rPr>
              <a:t> מכילה את הפרטים שרלוונטיים עבור המשכורת שלו: שנת ההתחלה, סכום המשכורת, סכום הבונוס </a:t>
            </a:r>
            <a:r>
              <a:rPr lang="he-IL" sz="1800" dirty="0" err="1">
                <a:cs typeface="Calibri" panose="020F0502020204030204" pitchFamily="34" charset="0"/>
              </a:rPr>
              <a:t>וכו</a:t>
            </a:r>
            <a:r>
              <a:rPr lang="he-IL" sz="1800" dirty="0">
                <a:cs typeface="Calibri" panose="020F0502020204030204" pitchFamily="34" charset="0"/>
              </a:rPr>
              <a:t>.</a:t>
            </a:r>
            <a:br>
              <a:rPr lang="en-US" sz="1800" dirty="0">
                <a:cs typeface="Calibri" panose="020F0502020204030204" pitchFamily="34" charset="0"/>
              </a:rPr>
            </a:br>
            <a:r>
              <a:rPr lang="he-IL" sz="1800" dirty="0">
                <a:cs typeface="Calibri" panose="020F0502020204030204" pitchFamily="34" charset="0"/>
              </a:rPr>
              <a:t>צרפנו את טבלת </a:t>
            </a:r>
            <a:r>
              <a:rPr lang="en-US" sz="1800" dirty="0" err="1">
                <a:cs typeface="Calibri" panose="020F0502020204030204" pitchFamily="34" charset="0"/>
              </a:rPr>
              <a:t>EmployeePay</a:t>
            </a:r>
            <a:r>
              <a:rPr lang="he-IL" sz="1800" dirty="0">
                <a:cs typeface="Calibri" panose="020F0502020204030204" pitchFamily="34" charset="0"/>
              </a:rPr>
              <a:t> לטבלת </a:t>
            </a:r>
            <a:r>
              <a:rPr lang="en-US" sz="1800" dirty="0">
                <a:cs typeface="Calibri" panose="020F0502020204030204" pitchFamily="34" charset="0"/>
              </a:rPr>
              <a:t>Employee</a:t>
            </a:r>
            <a:r>
              <a:rPr lang="he-IL" sz="1800" dirty="0">
                <a:cs typeface="Calibri" panose="020F0502020204030204" pitchFamily="34" charset="0"/>
              </a:rPr>
              <a:t> כדי לקבל את כל הפרטים יחד, ובתת השאילתה שלפנו מטבלת </a:t>
            </a:r>
            <a:r>
              <a:rPr lang="en-US" sz="1800" dirty="0" err="1">
                <a:cs typeface="Calibri" panose="020F0502020204030204" pitchFamily="34" charset="0"/>
              </a:rPr>
              <a:t>EmployeePay</a:t>
            </a:r>
            <a:r>
              <a:rPr lang="he-IL" sz="1800" dirty="0">
                <a:cs typeface="Calibri" panose="020F0502020204030204" pitchFamily="34" charset="0"/>
              </a:rPr>
              <a:t> את שנת ההתחלה של העובד הספציפי (הסיבה ל </a:t>
            </a:r>
            <a:r>
              <a:rPr lang="en-US" sz="1800" dirty="0">
                <a:cs typeface="Calibri" panose="020F0502020204030204" pitchFamily="34" charset="0"/>
              </a:rPr>
              <a:t>Distinct</a:t>
            </a:r>
            <a:r>
              <a:rPr lang="he-IL" sz="1800" dirty="0">
                <a:cs typeface="Calibri" panose="020F0502020204030204" pitchFamily="34" charset="0"/>
              </a:rPr>
              <a:t>: עובד יכול להופיע יותר מפעם אחת בטבלת </a:t>
            </a:r>
            <a:r>
              <a:rPr lang="en-US" sz="1800" dirty="0" err="1">
                <a:cs typeface="Calibri" panose="020F0502020204030204" pitchFamily="34" charset="0"/>
              </a:rPr>
              <a:t>EmployeePay</a:t>
            </a:r>
            <a:r>
              <a:rPr lang="he-IL" sz="1800" dirty="0">
                <a:cs typeface="Calibri" panose="020F0502020204030204" pitchFamily="34" charset="0"/>
              </a:rPr>
              <a:t>).</a:t>
            </a:r>
            <a:br>
              <a:rPr lang="en-US" sz="1800" dirty="0">
                <a:cs typeface="Calibri" panose="020F0502020204030204" pitchFamily="34" charset="0"/>
              </a:rPr>
            </a:b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44D96A49-15CE-426E-BF4B-2D8315AAE37D}"/>
              </a:ext>
            </a:extLst>
          </p:cNvPr>
          <p:cNvSpPr>
            <a:spLocks noGrp="1"/>
          </p:cNvSpPr>
          <p:nvPr>
            <p:ph type="title"/>
          </p:nvPr>
        </p:nvSpPr>
        <p:spPr/>
        <p:txBody>
          <a:bodyPr/>
          <a:lstStyle/>
          <a:p>
            <a:pPr algn="l"/>
            <a:r>
              <a:rPr lang="en-US" dirty="0"/>
              <a:t>Single Row Sub Queries</a:t>
            </a:r>
            <a:endParaRPr lang="he-IL" dirty="0"/>
          </a:p>
        </p:txBody>
      </p:sp>
      <p:sp>
        <p:nvSpPr>
          <p:cNvPr id="4" name="מציין מיקום של מספר שקופית 3">
            <a:extLst>
              <a:ext uri="{FF2B5EF4-FFF2-40B4-BE49-F238E27FC236}">
                <a16:creationId xmlns:a16="http://schemas.microsoft.com/office/drawing/2014/main" id="{9A55E968-1307-4104-8A2C-0F7B45BB2F57}"/>
              </a:ext>
            </a:extLst>
          </p:cNvPr>
          <p:cNvSpPr>
            <a:spLocks noGrp="1"/>
          </p:cNvSpPr>
          <p:nvPr>
            <p:ph type="sldNum" sz="quarter" idx="11"/>
          </p:nvPr>
        </p:nvSpPr>
        <p:spPr/>
        <p:txBody>
          <a:bodyPr/>
          <a:lstStyle/>
          <a:p>
            <a:fld id="{746FD205-8D79-439C-A802-2377436AEC8A}" type="slidenum">
              <a:rPr lang="he-IL" smtClean="0"/>
              <a:pPr/>
              <a:t>102</a:t>
            </a:fld>
            <a:endParaRPr lang="he-IL"/>
          </a:p>
        </p:txBody>
      </p:sp>
      <p:pic>
        <p:nvPicPr>
          <p:cNvPr id="5" name="תמונה 4">
            <a:extLst>
              <a:ext uri="{FF2B5EF4-FFF2-40B4-BE49-F238E27FC236}">
                <a16:creationId xmlns:a16="http://schemas.microsoft.com/office/drawing/2014/main" id="{91784DF9-DEF9-4859-A0F3-E93F5081EE14}"/>
              </a:ext>
            </a:extLst>
          </p:cNvPr>
          <p:cNvPicPr>
            <a:picLocks noChangeAspect="1"/>
          </p:cNvPicPr>
          <p:nvPr/>
        </p:nvPicPr>
        <p:blipFill>
          <a:blip r:embed="rId2"/>
          <a:stretch>
            <a:fillRect/>
          </a:stretch>
        </p:blipFill>
        <p:spPr>
          <a:xfrm>
            <a:off x="3852409" y="2162564"/>
            <a:ext cx="4699665" cy="1447800"/>
          </a:xfrm>
          <a:prstGeom prst="rect">
            <a:avLst/>
          </a:prstGeom>
        </p:spPr>
      </p:pic>
      <p:pic>
        <p:nvPicPr>
          <p:cNvPr id="6" name="תמונה 5">
            <a:extLst>
              <a:ext uri="{FF2B5EF4-FFF2-40B4-BE49-F238E27FC236}">
                <a16:creationId xmlns:a16="http://schemas.microsoft.com/office/drawing/2014/main" id="{84996EB9-3F35-4F62-A914-F8B21F72DC65}"/>
              </a:ext>
            </a:extLst>
          </p:cNvPr>
          <p:cNvPicPr>
            <a:picLocks noChangeAspect="1"/>
          </p:cNvPicPr>
          <p:nvPr/>
        </p:nvPicPr>
        <p:blipFill>
          <a:blip r:embed="rId3"/>
          <a:stretch>
            <a:fillRect/>
          </a:stretch>
        </p:blipFill>
        <p:spPr>
          <a:xfrm>
            <a:off x="5509967" y="3762764"/>
            <a:ext cx="3042107" cy="733038"/>
          </a:xfrm>
          <a:prstGeom prst="rect">
            <a:avLst/>
          </a:prstGeom>
        </p:spPr>
      </p:pic>
    </p:spTree>
    <p:extLst>
      <p:ext uri="{BB962C8B-B14F-4D97-AF65-F5344CB8AC3E}">
        <p14:creationId xmlns:p14="http://schemas.microsoft.com/office/powerpoint/2010/main" val="27084383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20638AFB-50A7-435C-878C-A1C1E479E022}"/>
              </a:ext>
            </a:extLst>
          </p:cNvPr>
          <p:cNvSpPr>
            <a:spLocks noGrp="1"/>
          </p:cNvSpPr>
          <p:nvPr>
            <p:ph idx="1"/>
          </p:nvPr>
        </p:nvSpPr>
        <p:spPr/>
        <p:txBody>
          <a:bodyPr/>
          <a:lstStyle/>
          <a:p>
            <a:pPr marL="64008" indent="0" rtl="1">
              <a:buNone/>
            </a:pPr>
            <a:r>
              <a:rPr lang="he-IL" sz="1800" dirty="0">
                <a:cs typeface="Calibri" panose="020F0502020204030204" pitchFamily="34" charset="0"/>
              </a:rPr>
              <a:t>תת שאילתה שמחזירה תוצאה של יותר מערך אחד.</a:t>
            </a:r>
          </a:p>
          <a:p>
            <a:pPr marL="64008" indent="0" rtl="1">
              <a:buNone/>
            </a:pPr>
            <a:r>
              <a:rPr lang="he-IL" sz="1800" dirty="0">
                <a:cs typeface="Calibri" panose="020F0502020204030204" pitchFamily="34" charset="0"/>
              </a:rPr>
              <a:t>כאשר תת השאילתה מחזירה יותר מערך אחד, אין אפשרות להשוות את התוצאה שלה ע"י &gt;&lt;=, אופרטורים אלה מיועדים רק עבור ערך בודד.</a:t>
            </a:r>
          </a:p>
          <a:p>
            <a:pPr marL="64008" indent="0" rtl="1">
              <a:buNone/>
            </a:pPr>
            <a:r>
              <a:rPr lang="he-IL" sz="1800" dirty="0">
                <a:cs typeface="Calibri" panose="020F0502020204030204" pitchFamily="34" charset="0"/>
              </a:rPr>
              <a:t>עבור </a:t>
            </a:r>
            <a:r>
              <a:rPr lang="en-US" sz="1800" dirty="0">
                <a:cs typeface="Calibri" panose="020F0502020204030204" pitchFamily="34" charset="0"/>
              </a:rPr>
              <a:t>Multiple Row Sub Query</a:t>
            </a:r>
            <a:r>
              <a:rPr lang="he-IL" sz="1800" dirty="0">
                <a:cs typeface="Calibri" panose="020F0502020204030204" pitchFamily="34" charset="0"/>
              </a:rPr>
              <a:t> נשתמש באופרטורים: </a:t>
            </a:r>
            <a:r>
              <a:rPr lang="en-US" sz="1800" dirty="0">
                <a:cs typeface="Calibri" panose="020F0502020204030204" pitchFamily="34" charset="0"/>
              </a:rPr>
              <a:t>In, All, Any</a:t>
            </a:r>
            <a:r>
              <a:rPr lang="he-IL" sz="1800" dirty="0">
                <a:cs typeface="Calibri" panose="020F0502020204030204" pitchFamily="34" charset="0"/>
              </a:rPr>
              <a:t>.</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הפרטים + פרטי המשכורת של העובדים ששנת ההתחלה שלהם שווה לשנת ההתחלה של אחד מהעובדים שהדרגה שלו היא 2.</a:t>
            </a:r>
            <a:r>
              <a:rPr lang="en-US" sz="1800" dirty="0">
                <a:cs typeface="Calibri" panose="020F0502020204030204" pitchFamily="34" charset="0"/>
              </a:rPr>
              <a:t> </a:t>
            </a:r>
            <a:r>
              <a:rPr lang="he-IL" sz="1800" dirty="0">
                <a:cs typeface="Calibri" panose="020F0502020204030204" pitchFamily="34" charset="0"/>
              </a:rPr>
              <a:t>(שימי לב: יתכנו מספר עובדים שדרגתם 2 עם שנת התחלה שונה...)</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F349C882-AE90-4852-BAB3-147039AA55FB}"/>
              </a:ext>
            </a:extLst>
          </p:cNvPr>
          <p:cNvSpPr>
            <a:spLocks noGrp="1"/>
          </p:cNvSpPr>
          <p:nvPr>
            <p:ph type="title"/>
          </p:nvPr>
        </p:nvSpPr>
        <p:spPr/>
        <p:txBody>
          <a:bodyPr/>
          <a:lstStyle/>
          <a:p>
            <a:pPr algn="l"/>
            <a:r>
              <a:rPr lang="en-US" dirty="0"/>
              <a:t>Multiple Row Sub Queries</a:t>
            </a:r>
            <a:endParaRPr lang="he-IL" dirty="0"/>
          </a:p>
        </p:txBody>
      </p:sp>
      <p:sp>
        <p:nvSpPr>
          <p:cNvPr id="4" name="מציין מיקום של מספר שקופית 3">
            <a:extLst>
              <a:ext uri="{FF2B5EF4-FFF2-40B4-BE49-F238E27FC236}">
                <a16:creationId xmlns:a16="http://schemas.microsoft.com/office/drawing/2014/main" id="{044A63F1-B61C-4879-9D27-E4E857F95145}"/>
              </a:ext>
            </a:extLst>
          </p:cNvPr>
          <p:cNvSpPr>
            <a:spLocks noGrp="1"/>
          </p:cNvSpPr>
          <p:nvPr>
            <p:ph type="sldNum" sz="quarter" idx="11"/>
          </p:nvPr>
        </p:nvSpPr>
        <p:spPr/>
        <p:txBody>
          <a:bodyPr/>
          <a:lstStyle/>
          <a:p>
            <a:fld id="{746FD205-8D79-439C-A802-2377436AEC8A}" type="slidenum">
              <a:rPr lang="he-IL" smtClean="0"/>
              <a:pPr/>
              <a:t>103</a:t>
            </a:fld>
            <a:endParaRPr lang="he-IL"/>
          </a:p>
        </p:txBody>
      </p:sp>
      <p:pic>
        <p:nvPicPr>
          <p:cNvPr id="6" name="תמונה 5">
            <a:extLst>
              <a:ext uri="{FF2B5EF4-FFF2-40B4-BE49-F238E27FC236}">
                <a16:creationId xmlns:a16="http://schemas.microsoft.com/office/drawing/2014/main" id="{A35F81CB-13CE-495B-BC4D-483D3090BDE6}"/>
              </a:ext>
            </a:extLst>
          </p:cNvPr>
          <p:cNvPicPr>
            <a:picLocks noChangeAspect="1"/>
          </p:cNvPicPr>
          <p:nvPr/>
        </p:nvPicPr>
        <p:blipFill>
          <a:blip r:embed="rId2"/>
          <a:stretch>
            <a:fillRect/>
          </a:stretch>
        </p:blipFill>
        <p:spPr>
          <a:xfrm>
            <a:off x="1600200" y="4126833"/>
            <a:ext cx="5693680" cy="1447800"/>
          </a:xfrm>
          <a:prstGeom prst="rect">
            <a:avLst/>
          </a:prstGeom>
        </p:spPr>
      </p:pic>
      <p:pic>
        <p:nvPicPr>
          <p:cNvPr id="7" name="תמונה 6">
            <a:extLst>
              <a:ext uri="{FF2B5EF4-FFF2-40B4-BE49-F238E27FC236}">
                <a16:creationId xmlns:a16="http://schemas.microsoft.com/office/drawing/2014/main" id="{991976CF-2820-4BAA-AF34-C2A3010630F0}"/>
              </a:ext>
            </a:extLst>
          </p:cNvPr>
          <p:cNvPicPr>
            <a:picLocks noChangeAspect="1"/>
          </p:cNvPicPr>
          <p:nvPr/>
        </p:nvPicPr>
        <p:blipFill>
          <a:blip r:embed="rId3"/>
          <a:stretch>
            <a:fillRect/>
          </a:stretch>
        </p:blipFill>
        <p:spPr>
          <a:xfrm>
            <a:off x="1600200" y="5722540"/>
            <a:ext cx="3454810" cy="899319"/>
          </a:xfrm>
          <a:prstGeom prst="rect">
            <a:avLst/>
          </a:prstGeom>
        </p:spPr>
      </p:pic>
    </p:spTree>
    <p:extLst>
      <p:ext uri="{BB962C8B-B14F-4D97-AF65-F5344CB8AC3E}">
        <p14:creationId xmlns:p14="http://schemas.microsoft.com/office/powerpoint/2010/main" val="27818452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36A4735-2896-4880-94A8-502A6F485288}"/>
              </a:ext>
            </a:extLst>
          </p:cNvPr>
          <p:cNvSpPr>
            <a:spLocks noGrp="1"/>
          </p:cNvSpPr>
          <p:nvPr>
            <p:ph idx="1"/>
          </p:nvPr>
        </p:nvSpPr>
        <p:spPr/>
        <p:txBody>
          <a:bodyPr/>
          <a:lstStyle/>
          <a:p>
            <a:pPr marL="64008" indent="0">
              <a:buNone/>
            </a:pPr>
            <a:r>
              <a:rPr lang="he-IL" sz="1800" dirty="0">
                <a:cs typeface="Calibri" panose="020F0502020204030204" pitchFamily="34" charset="0"/>
              </a:rPr>
              <a:t>דוגמאות נוספות:</a:t>
            </a:r>
            <a:endParaRPr lang="en-US" sz="1800" dirty="0">
              <a:cs typeface="Calibri" panose="020F0502020204030204" pitchFamily="34" charset="0"/>
            </a:endParaRPr>
          </a:p>
          <a:p>
            <a:pPr marL="64008" indent="0">
              <a:buNone/>
            </a:pPr>
            <a:r>
              <a:rPr lang="he-IL" sz="1800" dirty="0">
                <a:cs typeface="Calibri" panose="020F0502020204030204" pitchFamily="34" charset="0"/>
              </a:rPr>
              <a:t>שליפת הפרטים + פרטי המשכורת של העובדים שהמשכורת שלהם גבוהה לפחות מאחת המשכורות של העובדים שהדרגה שלהם היא 2:</a:t>
            </a: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a:p>
            <a:pPr marL="64008" indent="0">
              <a:buNone/>
            </a:pPr>
            <a:r>
              <a:rPr lang="he-IL" sz="1800" dirty="0">
                <a:cs typeface="Calibri" panose="020F0502020204030204" pitchFamily="34" charset="0"/>
              </a:rPr>
              <a:t>שליפת הפרטים + פרטי המשכורת של העובדים שהמשכורת שלהם גבוהה מכל המשכורות של העובדים שהדרגה שלהם היא 1:</a:t>
            </a:r>
          </a:p>
          <a:p>
            <a:pPr marL="64008" indent="0">
              <a:buNone/>
            </a:pPr>
            <a:r>
              <a:rPr lang="he-IL" sz="1800" dirty="0">
                <a:cs typeface="Calibri" panose="020F0502020204030204" pitchFamily="34" charset="0"/>
              </a:rPr>
              <a:t> </a:t>
            </a:r>
            <a:endParaRPr lang="en-US" sz="1800" dirty="0">
              <a:cs typeface="Calibri" panose="020F0502020204030204" pitchFamily="34" charset="0"/>
            </a:endParaRPr>
          </a:p>
        </p:txBody>
      </p:sp>
      <p:sp>
        <p:nvSpPr>
          <p:cNvPr id="3" name="כותרת 2">
            <a:extLst>
              <a:ext uri="{FF2B5EF4-FFF2-40B4-BE49-F238E27FC236}">
                <a16:creationId xmlns:a16="http://schemas.microsoft.com/office/drawing/2014/main" id="{C43DD859-CE78-4707-8E7B-EBB526A63003}"/>
              </a:ext>
            </a:extLst>
          </p:cNvPr>
          <p:cNvSpPr>
            <a:spLocks noGrp="1"/>
          </p:cNvSpPr>
          <p:nvPr>
            <p:ph type="title"/>
          </p:nvPr>
        </p:nvSpPr>
        <p:spPr/>
        <p:txBody>
          <a:bodyPr/>
          <a:lstStyle/>
          <a:p>
            <a:pPr algn="l"/>
            <a:r>
              <a:rPr lang="en-US" dirty="0"/>
              <a:t>Multiple Row Sub Queries</a:t>
            </a:r>
            <a:endParaRPr lang="he-IL" dirty="0"/>
          </a:p>
        </p:txBody>
      </p:sp>
      <p:sp>
        <p:nvSpPr>
          <p:cNvPr id="4" name="מציין מיקום של מספר שקופית 3">
            <a:extLst>
              <a:ext uri="{FF2B5EF4-FFF2-40B4-BE49-F238E27FC236}">
                <a16:creationId xmlns:a16="http://schemas.microsoft.com/office/drawing/2014/main" id="{D42488FD-23C3-47FC-AF7E-D45D6B4490C8}"/>
              </a:ext>
            </a:extLst>
          </p:cNvPr>
          <p:cNvSpPr>
            <a:spLocks noGrp="1"/>
          </p:cNvSpPr>
          <p:nvPr>
            <p:ph type="sldNum" sz="quarter" idx="11"/>
          </p:nvPr>
        </p:nvSpPr>
        <p:spPr/>
        <p:txBody>
          <a:bodyPr/>
          <a:lstStyle/>
          <a:p>
            <a:fld id="{746FD205-8D79-439C-A802-2377436AEC8A}" type="slidenum">
              <a:rPr lang="he-IL" smtClean="0"/>
              <a:pPr/>
              <a:t>104</a:t>
            </a:fld>
            <a:endParaRPr lang="he-IL"/>
          </a:p>
        </p:txBody>
      </p:sp>
      <p:pic>
        <p:nvPicPr>
          <p:cNvPr id="5" name="תמונה 4">
            <a:extLst>
              <a:ext uri="{FF2B5EF4-FFF2-40B4-BE49-F238E27FC236}">
                <a16:creationId xmlns:a16="http://schemas.microsoft.com/office/drawing/2014/main" id="{4AA6E41E-2C32-4BA7-8F6B-4CDD9251441E}"/>
              </a:ext>
            </a:extLst>
          </p:cNvPr>
          <p:cNvPicPr>
            <a:picLocks noChangeAspect="1"/>
          </p:cNvPicPr>
          <p:nvPr/>
        </p:nvPicPr>
        <p:blipFill>
          <a:blip r:embed="rId2"/>
          <a:stretch>
            <a:fillRect/>
          </a:stretch>
        </p:blipFill>
        <p:spPr>
          <a:xfrm>
            <a:off x="1600200" y="2595081"/>
            <a:ext cx="3528345" cy="857486"/>
          </a:xfrm>
          <a:prstGeom prst="rect">
            <a:avLst/>
          </a:prstGeom>
        </p:spPr>
      </p:pic>
      <p:pic>
        <p:nvPicPr>
          <p:cNvPr id="7" name="תמונה 6">
            <a:extLst>
              <a:ext uri="{FF2B5EF4-FFF2-40B4-BE49-F238E27FC236}">
                <a16:creationId xmlns:a16="http://schemas.microsoft.com/office/drawing/2014/main" id="{D790E271-2A11-4253-8AD8-B0D23672F613}"/>
              </a:ext>
            </a:extLst>
          </p:cNvPr>
          <p:cNvPicPr>
            <a:picLocks noChangeAspect="1"/>
          </p:cNvPicPr>
          <p:nvPr/>
        </p:nvPicPr>
        <p:blipFill>
          <a:blip r:embed="rId3"/>
          <a:stretch>
            <a:fillRect/>
          </a:stretch>
        </p:blipFill>
        <p:spPr>
          <a:xfrm>
            <a:off x="5257800" y="2595081"/>
            <a:ext cx="2654782" cy="857487"/>
          </a:xfrm>
          <a:prstGeom prst="rect">
            <a:avLst/>
          </a:prstGeom>
        </p:spPr>
      </p:pic>
      <p:pic>
        <p:nvPicPr>
          <p:cNvPr id="8" name="תמונה 7">
            <a:extLst>
              <a:ext uri="{FF2B5EF4-FFF2-40B4-BE49-F238E27FC236}">
                <a16:creationId xmlns:a16="http://schemas.microsoft.com/office/drawing/2014/main" id="{58B2CB0E-BC41-462B-9399-24436B34CC24}"/>
              </a:ext>
            </a:extLst>
          </p:cNvPr>
          <p:cNvPicPr>
            <a:picLocks noChangeAspect="1"/>
          </p:cNvPicPr>
          <p:nvPr/>
        </p:nvPicPr>
        <p:blipFill>
          <a:blip r:embed="rId4"/>
          <a:stretch>
            <a:fillRect/>
          </a:stretch>
        </p:blipFill>
        <p:spPr>
          <a:xfrm>
            <a:off x="1600200" y="3604967"/>
            <a:ext cx="1731679" cy="523188"/>
          </a:xfrm>
          <a:prstGeom prst="rect">
            <a:avLst/>
          </a:prstGeom>
        </p:spPr>
      </p:pic>
      <p:pic>
        <p:nvPicPr>
          <p:cNvPr id="9" name="תמונה 8">
            <a:extLst>
              <a:ext uri="{FF2B5EF4-FFF2-40B4-BE49-F238E27FC236}">
                <a16:creationId xmlns:a16="http://schemas.microsoft.com/office/drawing/2014/main" id="{81FDCB83-6765-472F-81D2-2E7459577FB1}"/>
              </a:ext>
            </a:extLst>
          </p:cNvPr>
          <p:cNvPicPr>
            <a:picLocks noChangeAspect="1"/>
          </p:cNvPicPr>
          <p:nvPr/>
        </p:nvPicPr>
        <p:blipFill>
          <a:blip r:embed="rId5"/>
          <a:stretch>
            <a:fillRect/>
          </a:stretch>
        </p:blipFill>
        <p:spPr>
          <a:xfrm>
            <a:off x="3449279" y="3604967"/>
            <a:ext cx="1019315" cy="523188"/>
          </a:xfrm>
          <a:prstGeom prst="rect">
            <a:avLst/>
          </a:prstGeom>
        </p:spPr>
      </p:pic>
      <p:pic>
        <p:nvPicPr>
          <p:cNvPr id="10" name="תמונה 9">
            <a:extLst>
              <a:ext uri="{FF2B5EF4-FFF2-40B4-BE49-F238E27FC236}">
                <a16:creationId xmlns:a16="http://schemas.microsoft.com/office/drawing/2014/main" id="{843DC8EF-B139-4855-9AE8-4CEAB74D20B2}"/>
              </a:ext>
            </a:extLst>
          </p:cNvPr>
          <p:cNvPicPr>
            <a:picLocks noChangeAspect="1"/>
          </p:cNvPicPr>
          <p:nvPr/>
        </p:nvPicPr>
        <p:blipFill>
          <a:blip r:embed="rId6"/>
          <a:stretch>
            <a:fillRect/>
          </a:stretch>
        </p:blipFill>
        <p:spPr>
          <a:xfrm>
            <a:off x="1228159" y="4828928"/>
            <a:ext cx="3905885" cy="1010143"/>
          </a:xfrm>
          <a:prstGeom prst="rect">
            <a:avLst/>
          </a:prstGeom>
        </p:spPr>
      </p:pic>
      <p:pic>
        <p:nvPicPr>
          <p:cNvPr id="11" name="תמונה 10">
            <a:extLst>
              <a:ext uri="{FF2B5EF4-FFF2-40B4-BE49-F238E27FC236}">
                <a16:creationId xmlns:a16="http://schemas.microsoft.com/office/drawing/2014/main" id="{15E9FFA9-E06F-46DF-A500-9C9127CB813F}"/>
              </a:ext>
            </a:extLst>
          </p:cNvPr>
          <p:cNvPicPr>
            <a:picLocks noChangeAspect="1"/>
          </p:cNvPicPr>
          <p:nvPr/>
        </p:nvPicPr>
        <p:blipFill>
          <a:blip r:embed="rId7"/>
          <a:stretch>
            <a:fillRect/>
          </a:stretch>
        </p:blipFill>
        <p:spPr>
          <a:xfrm>
            <a:off x="5333525" y="4828928"/>
            <a:ext cx="3249621" cy="352672"/>
          </a:xfrm>
          <a:prstGeom prst="rect">
            <a:avLst/>
          </a:prstGeom>
        </p:spPr>
      </p:pic>
      <p:pic>
        <p:nvPicPr>
          <p:cNvPr id="12" name="תמונה 11">
            <a:extLst>
              <a:ext uri="{FF2B5EF4-FFF2-40B4-BE49-F238E27FC236}">
                <a16:creationId xmlns:a16="http://schemas.microsoft.com/office/drawing/2014/main" id="{684A8512-F77C-4E27-BD07-0EFADDE5F8A4}"/>
              </a:ext>
            </a:extLst>
          </p:cNvPr>
          <p:cNvPicPr>
            <a:picLocks noChangeAspect="1"/>
          </p:cNvPicPr>
          <p:nvPr/>
        </p:nvPicPr>
        <p:blipFill>
          <a:blip r:embed="rId8"/>
          <a:stretch>
            <a:fillRect/>
          </a:stretch>
        </p:blipFill>
        <p:spPr>
          <a:xfrm>
            <a:off x="1228159" y="5944555"/>
            <a:ext cx="1805551" cy="645951"/>
          </a:xfrm>
          <a:prstGeom prst="rect">
            <a:avLst/>
          </a:prstGeom>
        </p:spPr>
      </p:pic>
      <p:pic>
        <p:nvPicPr>
          <p:cNvPr id="13" name="תמונה 12">
            <a:extLst>
              <a:ext uri="{FF2B5EF4-FFF2-40B4-BE49-F238E27FC236}">
                <a16:creationId xmlns:a16="http://schemas.microsoft.com/office/drawing/2014/main" id="{29A910C0-0D76-4890-84BC-B0E514D5182C}"/>
              </a:ext>
            </a:extLst>
          </p:cNvPr>
          <p:cNvPicPr>
            <a:picLocks noChangeAspect="1"/>
          </p:cNvPicPr>
          <p:nvPr/>
        </p:nvPicPr>
        <p:blipFill>
          <a:blip r:embed="rId9"/>
          <a:stretch>
            <a:fillRect/>
          </a:stretch>
        </p:blipFill>
        <p:spPr>
          <a:xfrm>
            <a:off x="3217237" y="5977017"/>
            <a:ext cx="1085850" cy="581025"/>
          </a:xfrm>
          <a:prstGeom prst="rect">
            <a:avLst/>
          </a:prstGeom>
        </p:spPr>
      </p:pic>
    </p:spTree>
    <p:extLst>
      <p:ext uri="{BB962C8B-B14F-4D97-AF65-F5344CB8AC3E}">
        <p14:creationId xmlns:p14="http://schemas.microsoft.com/office/powerpoint/2010/main" val="338973496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CD66321-66EE-4179-BB1A-6EA3F195B060}"/>
              </a:ext>
            </a:extLst>
          </p:cNvPr>
          <p:cNvSpPr>
            <a:spLocks noGrp="1"/>
          </p:cNvSpPr>
          <p:nvPr>
            <p:ph idx="1"/>
          </p:nvPr>
        </p:nvSpPr>
        <p:spPr/>
        <p:txBody>
          <a:bodyPr/>
          <a:lstStyle/>
          <a:p>
            <a:pPr marL="64008" indent="0">
              <a:buNone/>
            </a:pPr>
            <a:r>
              <a:rPr lang="he-IL" sz="1800" dirty="0">
                <a:cs typeface="Calibri" panose="020F0502020204030204" pitchFamily="34" charset="0"/>
              </a:rPr>
              <a:t>ראי פרוט בדף מצורף.</a:t>
            </a:r>
          </a:p>
        </p:txBody>
      </p:sp>
      <p:sp>
        <p:nvSpPr>
          <p:cNvPr id="3" name="כותרת 2">
            <a:extLst>
              <a:ext uri="{FF2B5EF4-FFF2-40B4-BE49-F238E27FC236}">
                <a16:creationId xmlns:a16="http://schemas.microsoft.com/office/drawing/2014/main" id="{3FD71986-C47F-4348-9600-0DD6D02415E7}"/>
              </a:ext>
            </a:extLst>
          </p:cNvPr>
          <p:cNvSpPr>
            <a:spLocks noGrp="1"/>
          </p:cNvSpPr>
          <p:nvPr>
            <p:ph type="title"/>
          </p:nvPr>
        </p:nvSpPr>
        <p:spPr/>
        <p:txBody>
          <a:bodyPr/>
          <a:lstStyle/>
          <a:p>
            <a:r>
              <a:rPr lang="en-US" dirty="0"/>
              <a:t>Sub Query</a:t>
            </a:r>
            <a:endParaRPr lang="he-IL" dirty="0"/>
          </a:p>
        </p:txBody>
      </p:sp>
      <p:sp>
        <p:nvSpPr>
          <p:cNvPr id="4" name="מציין מיקום של מספר שקופית 3">
            <a:extLst>
              <a:ext uri="{FF2B5EF4-FFF2-40B4-BE49-F238E27FC236}">
                <a16:creationId xmlns:a16="http://schemas.microsoft.com/office/drawing/2014/main" id="{1E0284AF-9AA5-42D5-9077-55ADA4F4A65B}"/>
              </a:ext>
            </a:extLst>
          </p:cNvPr>
          <p:cNvSpPr>
            <a:spLocks noGrp="1"/>
          </p:cNvSpPr>
          <p:nvPr>
            <p:ph type="sldNum" sz="quarter" idx="11"/>
          </p:nvPr>
        </p:nvSpPr>
        <p:spPr/>
        <p:txBody>
          <a:bodyPr/>
          <a:lstStyle/>
          <a:p>
            <a:fld id="{746FD205-8D79-439C-A802-2377436AEC8A}" type="slidenum">
              <a:rPr lang="he-IL" smtClean="0"/>
              <a:pPr/>
              <a:t>105</a:t>
            </a:fld>
            <a:endParaRPr lang="he-IL"/>
          </a:p>
        </p:txBody>
      </p:sp>
    </p:spTree>
    <p:extLst>
      <p:ext uri="{BB962C8B-B14F-4D97-AF65-F5344CB8AC3E}">
        <p14:creationId xmlns:p14="http://schemas.microsoft.com/office/powerpoint/2010/main" val="384111764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pPr marL="64008" indent="0">
              <a:buNone/>
            </a:pPr>
            <a:r>
              <a:rPr lang="he-IL" sz="1800" dirty="0">
                <a:cs typeface="Calibri" panose="020F0502020204030204" pitchFamily="34" charset="0"/>
              </a:rPr>
              <a:t>על מסד הנתונים של בית הספר שיצרת, בצעי את השאילתות הבאות:</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שליפת כל התלמידות שגרות ברחוב של אחת המורות</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שליפת כל התלמידות שממוצע הציונים שלהן גבוה מהממוצע הכללי</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שליפת כל המורות שמלמדות אותו מקצוע של מורה מסוימת</a:t>
            </a:r>
          </a:p>
          <a:p>
            <a:pPr rtl="1">
              <a:buFont typeface="Courier New" panose="02070309020205020404" pitchFamily="49" charset="0"/>
              <a:buChar char="o"/>
            </a:pPr>
            <a:r>
              <a:rPr lang="he-IL" sz="1800" dirty="0">
                <a:cs typeface="Calibri" panose="020F0502020204030204" pitchFamily="34" charset="0"/>
              </a:rPr>
              <a:t>שליפת כל המורות שלא הכי ותיקות בבית הספר </a:t>
            </a:r>
            <a:endParaRPr lang="en-US" sz="1800" dirty="0">
              <a:cs typeface="Calibri" panose="020F0502020204030204" pitchFamily="34" charset="0"/>
            </a:endParaRPr>
          </a:p>
          <a:p>
            <a:pPr rtl="1">
              <a:buFont typeface="Courier New" panose="02070309020205020404" pitchFamily="49" charset="0"/>
              <a:buChar char="o"/>
            </a:pPr>
            <a:r>
              <a:rPr lang="he-IL" sz="1800" b="1" dirty="0">
                <a:cs typeface="Calibri" panose="020F0502020204030204" pitchFamily="34" charset="0"/>
              </a:rPr>
              <a:t>שלפי עבור כל התלמידות, איזה מורות מלמדות אותן</a:t>
            </a:r>
          </a:p>
          <a:p>
            <a:pPr rtl="1">
              <a:buFont typeface="Courier New" panose="02070309020205020404" pitchFamily="49" charset="0"/>
              <a:buChar char="o"/>
            </a:pPr>
            <a:r>
              <a:rPr lang="he-IL" sz="1800" b="1" dirty="0">
                <a:cs typeface="Calibri" panose="020F0502020204030204" pitchFamily="34" charset="0"/>
              </a:rPr>
              <a:t>שלפי עבור כל התלמידות איזה תלמידות לומדות איתן באותה הכיתה</a:t>
            </a:r>
          </a:p>
        </p:txBody>
      </p:sp>
      <p:sp>
        <p:nvSpPr>
          <p:cNvPr id="3" name="כותרת 2"/>
          <p:cNvSpPr>
            <a:spLocks noGrp="1"/>
          </p:cNvSpPr>
          <p:nvPr>
            <p:ph type="title"/>
          </p:nvPr>
        </p:nvSpPr>
        <p:spPr/>
        <p:txBody>
          <a:bodyPr/>
          <a:lstStyle/>
          <a:p>
            <a:pPr rtl="1"/>
            <a:r>
              <a:rPr lang="en-US" dirty="0"/>
              <a:t>Sub Query</a:t>
            </a:r>
            <a:r>
              <a:rPr lang="he-IL" dirty="0"/>
              <a:t> - תרגיל</a:t>
            </a:r>
          </a:p>
        </p:txBody>
      </p:sp>
      <p:sp>
        <p:nvSpPr>
          <p:cNvPr id="4" name="מציין מיקום של מספר שקופית 3"/>
          <p:cNvSpPr>
            <a:spLocks noGrp="1"/>
          </p:cNvSpPr>
          <p:nvPr>
            <p:ph type="sldNum" sz="quarter" idx="11"/>
          </p:nvPr>
        </p:nvSpPr>
        <p:spPr/>
        <p:txBody>
          <a:bodyPr/>
          <a:lstStyle/>
          <a:p>
            <a:fld id="{746FD205-8D79-439C-A802-2377436AEC8A}" type="slidenum">
              <a:rPr lang="he-IL" smtClean="0"/>
              <a:pPr/>
              <a:t>106</a:t>
            </a:fld>
            <a:endParaRPr lang="he-IL"/>
          </a:p>
        </p:txBody>
      </p:sp>
    </p:spTree>
    <p:extLst>
      <p:ext uri="{BB962C8B-B14F-4D97-AF65-F5344CB8AC3E}">
        <p14:creationId xmlns:p14="http://schemas.microsoft.com/office/powerpoint/2010/main" val="14019809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F9EBDAC1-BC45-416F-BE78-33F9E348BCFD}"/>
              </a:ext>
            </a:extLst>
          </p:cNvPr>
          <p:cNvSpPr>
            <a:spLocks noGrp="1"/>
          </p:cNvSpPr>
          <p:nvPr>
            <p:ph idx="1"/>
          </p:nvPr>
        </p:nvSpPr>
        <p:spPr>
          <a:xfrm>
            <a:off x="457200" y="1524000"/>
            <a:ext cx="8229600" cy="4648200"/>
          </a:xfrm>
        </p:spPr>
        <p:txBody>
          <a:bodyPr>
            <a:normAutofit/>
          </a:bodyPr>
          <a:lstStyle/>
          <a:p>
            <a:pPr marL="64008" indent="0" rtl="1">
              <a:buNone/>
            </a:pPr>
            <a:r>
              <a:rPr lang="he-IL" sz="1800" dirty="0">
                <a:cs typeface="Calibri" panose="020F0502020204030204" pitchFamily="34" charset="0"/>
              </a:rPr>
              <a:t>פרוצדורה מאוחסנת היא קבוצה של משפטי</a:t>
            </a:r>
            <a:r>
              <a:rPr lang="en-US" sz="1800" dirty="0">
                <a:cs typeface="Calibri" panose="020F0502020204030204" pitchFamily="34" charset="0"/>
              </a:rPr>
              <a:t>SQL </a:t>
            </a:r>
            <a:r>
              <a:rPr lang="he-IL" sz="1800" dirty="0">
                <a:cs typeface="Calibri" panose="020F0502020204030204" pitchFamily="34" charset="0"/>
              </a:rPr>
              <a:t> אחד או יותר שהורכבו מראש ליחידה לוגית. היא מאוחסנת כאובייקט בתוך שרת מסד הנתונים.</a:t>
            </a:r>
            <a:br>
              <a:rPr lang="en-US" sz="1800" dirty="0">
                <a:cs typeface="Calibri" panose="020F0502020204030204" pitchFamily="34" charset="0"/>
              </a:rPr>
            </a:br>
            <a:r>
              <a:rPr lang="he-IL" sz="1800" dirty="0">
                <a:cs typeface="Calibri" panose="020F0502020204030204" pitchFamily="34" charset="0"/>
              </a:rPr>
              <a:t>כל פרוצדורה ב-</a:t>
            </a:r>
            <a:r>
              <a:rPr lang="en-US" sz="1800" dirty="0">
                <a:cs typeface="Calibri" panose="020F0502020204030204" pitchFamily="34" charset="0"/>
              </a:rPr>
              <a:t>SQL Server </a:t>
            </a:r>
            <a:r>
              <a:rPr lang="he-IL" sz="1800" dirty="0">
                <a:cs typeface="Calibri" panose="020F0502020204030204" pitchFamily="34" charset="0"/>
              </a:rPr>
              <a:t> מכילה תמיד שם, רשימות פרמטרים והצהרות </a:t>
            </a:r>
            <a:r>
              <a:rPr lang="en-US" sz="1800" b="1" dirty="0">
                <a:cs typeface="Calibri" panose="020F0502020204030204" pitchFamily="34" charset="0"/>
              </a:rPr>
              <a:t>Transact-SQL</a:t>
            </a:r>
            <a:r>
              <a:rPr lang="he-IL" sz="1800" dirty="0">
                <a:cs typeface="Calibri" panose="020F0502020204030204" pitchFamily="34" charset="0"/>
              </a:rPr>
              <a:t>.</a:t>
            </a:r>
            <a:br>
              <a:rPr lang="en-US" sz="1800" dirty="0">
                <a:cs typeface="Calibri" panose="020F0502020204030204" pitchFamily="34" charset="0"/>
              </a:rPr>
            </a:br>
            <a:r>
              <a:rPr lang="he-IL" sz="1800" dirty="0">
                <a:cs typeface="Calibri" panose="020F0502020204030204" pitchFamily="34" charset="0"/>
              </a:rPr>
              <a:t>ניתן להפעיל את הפרוצדורה באמצעות טריגרים, נהלים אחרים ויישומים כגון: </a:t>
            </a:r>
            <a:r>
              <a:rPr lang="en-US" sz="1800" dirty="0">
                <a:cs typeface="Calibri" panose="020F0502020204030204" pitchFamily="34" charset="0"/>
              </a:rPr>
              <a:t>Java, Python, PHP</a:t>
            </a:r>
            <a:r>
              <a:rPr lang="he-IL" sz="1800" dirty="0">
                <a:cs typeface="Calibri" panose="020F0502020204030204" pitchFamily="34" charset="0"/>
              </a:rPr>
              <a:t> </a:t>
            </a:r>
            <a:r>
              <a:rPr lang="he-IL" sz="1800" dirty="0" err="1">
                <a:cs typeface="Calibri" panose="020F0502020204030204" pitchFamily="34" charset="0"/>
              </a:rPr>
              <a:t>וכו</a:t>
            </a:r>
            <a:r>
              <a:rPr lang="he-IL" sz="1800" dirty="0">
                <a:cs typeface="Calibri" panose="020F0502020204030204" pitchFamily="34" charset="0"/>
              </a:rPr>
              <a:t>. והן נתמכות כמעט בכל מערכות מסדי הנתונים היחסיות.</a:t>
            </a:r>
          </a:p>
          <a:p>
            <a:pPr marL="64008" indent="0" rtl="1">
              <a:buNone/>
            </a:pPr>
            <a:r>
              <a:rPr lang="en-US" sz="1800" dirty="0">
                <a:cs typeface="Calibri" panose="020F0502020204030204" pitchFamily="34" charset="0"/>
              </a:rPr>
              <a:t>SQL Server</a:t>
            </a:r>
            <a:r>
              <a:rPr lang="he-IL" sz="1800" dirty="0">
                <a:cs typeface="Calibri" panose="020F0502020204030204" pitchFamily="34" charset="0"/>
              </a:rPr>
              <a:t> בונה תוכנית ביצוע כאשר הפרוצדורה המאוחסנת נקראת בפעם הראשונה ומאחסנת אותה בזיכרון המטמון. התוכנית נמצאת בשימוש חוזר על ידי </a:t>
            </a:r>
            <a:r>
              <a:rPr lang="en-US" sz="1800" dirty="0">
                <a:cs typeface="Calibri" panose="020F0502020204030204" pitchFamily="34" charset="0"/>
              </a:rPr>
              <a:t>SQL Server </a:t>
            </a:r>
            <a:r>
              <a:rPr lang="he-IL" sz="1800" dirty="0">
                <a:cs typeface="Calibri" panose="020F0502020204030204" pitchFamily="34" charset="0"/>
              </a:rPr>
              <a:t> בביצועים הבאים של הפרוצדורה המאוחסנת, מה שמאפשר לה לפעול במהירות וביעילות.</a:t>
            </a:r>
          </a:p>
          <a:p>
            <a:pPr marL="64008" indent="0" rtl="1">
              <a:buNone/>
            </a:pPr>
            <a:r>
              <a:rPr lang="he-IL" sz="1800" dirty="0">
                <a:cs typeface="Calibri" panose="020F0502020204030204" pitchFamily="34" charset="0"/>
              </a:rPr>
              <a:t>ניתן לדמות זאת לפונקציות שנשמרות בתכנית ומפעילים אותן בכל פעם עם פרמטרים שונים.</a:t>
            </a:r>
          </a:p>
          <a:p>
            <a:pPr marL="64008" indent="0" rtl="1">
              <a:buNone/>
            </a:pPr>
            <a:r>
              <a:rPr lang="he-IL" sz="1800" dirty="0">
                <a:cs typeface="Calibri" panose="020F0502020204030204" pitchFamily="34" charset="0"/>
              </a:rPr>
              <a:t>פרוצדורות משמשות פעמים רבות עבור ביצוע בקשות לקוח משרת שתלויות במסד הנתונים:</a:t>
            </a:r>
          </a:p>
          <a:p>
            <a:pPr marL="64008" indent="0" rtl="1">
              <a:buNone/>
            </a:pPr>
            <a:r>
              <a:rPr lang="he-IL" sz="1800" dirty="0">
                <a:cs typeface="Calibri" panose="020F0502020204030204" pitchFamily="34" charset="0"/>
              </a:rPr>
              <a:t>לדוגמא: באתר של משרד הפנים ישנה אפשרות לבדיקת זכאות למענק כלשהו, המשתמש מכניס את הנתונים, שולח את הבקשה, בצד השרת נשלחים הנתונים כפרמטרים לפרוצדורה ועל פיהם מתקבלת תשובה.</a:t>
            </a:r>
          </a:p>
        </p:txBody>
      </p:sp>
      <p:sp>
        <p:nvSpPr>
          <p:cNvPr id="3" name="כותרת 2">
            <a:extLst>
              <a:ext uri="{FF2B5EF4-FFF2-40B4-BE49-F238E27FC236}">
                <a16:creationId xmlns:a16="http://schemas.microsoft.com/office/drawing/2014/main" id="{E5C13EE0-A642-441F-90FB-27A53C62ABB8}"/>
              </a:ext>
            </a:extLst>
          </p:cNvPr>
          <p:cNvSpPr>
            <a:spLocks noGrp="1"/>
          </p:cNvSpPr>
          <p:nvPr>
            <p:ph type="title"/>
          </p:nvPr>
        </p:nvSpPr>
        <p:spPr/>
        <p:txBody>
          <a:bodyPr/>
          <a:lstStyle/>
          <a:p>
            <a:pPr algn="l" rtl="1"/>
            <a:r>
              <a:rPr lang="en-US" dirty="0"/>
              <a:t>Stored Procedure</a:t>
            </a:r>
            <a:endParaRPr lang="he-IL" dirty="0"/>
          </a:p>
        </p:txBody>
      </p:sp>
      <p:sp>
        <p:nvSpPr>
          <p:cNvPr id="4" name="מציין מיקום של מספר שקופית 3">
            <a:extLst>
              <a:ext uri="{FF2B5EF4-FFF2-40B4-BE49-F238E27FC236}">
                <a16:creationId xmlns:a16="http://schemas.microsoft.com/office/drawing/2014/main" id="{B363ADA3-FB57-47ED-82DF-D8E0D51EDB7C}"/>
              </a:ext>
            </a:extLst>
          </p:cNvPr>
          <p:cNvSpPr>
            <a:spLocks noGrp="1"/>
          </p:cNvSpPr>
          <p:nvPr>
            <p:ph type="sldNum" sz="quarter" idx="11"/>
          </p:nvPr>
        </p:nvSpPr>
        <p:spPr/>
        <p:txBody>
          <a:bodyPr/>
          <a:lstStyle/>
          <a:p>
            <a:fld id="{746FD205-8D79-439C-A802-2377436AEC8A}" type="slidenum">
              <a:rPr lang="he-IL" smtClean="0"/>
              <a:pPr/>
              <a:t>107</a:t>
            </a:fld>
            <a:endParaRPr lang="he-IL"/>
          </a:p>
        </p:txBody>
      </p:sp>
    </p:spTree>
    <p:extLst>
      <p:ext uri="{BB962C8B-B14F-4D97-AF65-F5344CB8AC3E}">
        <p14:creationId xmlns:p14="http://schemas.microsoft.com/office/powerpoint/2010/main" val="881971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A8AC8AA3-15DF-4586-8A24-26595AF25D11}"/>
              </a:ext>
            </a:extLst>
          </p:cNvPr>
          <p:cNvSpPr>
            <a:spLocks noGrp="1"/>
          </p:cNvSpPr>
          <p:nvPr>
            <p:ph idx="1"/>
          </p:nvPr>
        </p:nvSpPr>
        <p:spPr/>
        <p:txBody>
          <a:bodyPr>
            <a:normAutofit lnSpcReduction="10000"/>
          </a:bodyPr>
          <a:lstStyle/>
          <a:p>
            <a:pPr marL="64008" indent="0" rtl="1">
              <a:buNone/>
            </a:pPr>
            <a:r>
              <a:rPr lang="en-US" sz="1800" b="1" dirty="0">
                <a:cs typeface="Calibri" panose="020F0502020204030204" pitchFamily="34" charset="0"/>
              </a:rPr>
              <a:t>Reduced Traffic</a:t>
            </a:r>
            <a:r>
              <a:rPr lang="he-IL" sz="1800" dirty="0">
                <a:cs typeface="Calibri" panose="020F0502020204030204" pitchFamily="34" charset="0"/>
              </a:rPr>
              <a:t> - תנועה מופחתת – פרוצדורה מאוחסנת מפחיתה את תעבורת הרשת בין היישום לשרת מסד הנתונים, וכתוצאה מכך הביצועים מוגברים. הסיבה לכך היא שבמקום לשלוח מספר משפטי </a:t>
            </a:r>
            <a:r>
              <a:rPr lang="en-US" sz="1800" dirty="0">
                <a:cs typeface="Calibri" panose="020F0502020204030204" pitchFamily="34" charset="0"/>
              </a:rPr>
              <a:t> SQL</a:t>
            </a:r>
            <a:r>
              <a:rPr lang="he-IL" sz="1800" dirty="0">
                <a:cs typeface="Calibri" panose="020F0502020204030204" pitchFamily="34" charset="0"/>
              </a:rPr>
              <a:t>שנכתבו ביישום עצמו ולבצע כל אחד בנפרד, היישום צריך לשלוח רק את שם הפרוצדורה המאוחסנת ואת הפרמטרים שלו וכל הפקודות מתבצעות ברציפות וביתר מהירות.</a:t>
            </a:r>
          </a:p>
          <a:p>
            <a:pPr marL="64008" indent="0" rtl="1">
              <a:buNone/>
            </a:pPr>
            <a:r>
              <a:rPr lang="en-US" sz="1800" b="1" dirty="0">
                <a:cs typeface="Calibri" panose="020F0502020204030204" pitchFamily="34" charset="0"/>
              </a:rPr>
              <a:t>Stronger Security</a:t>
            </a:r>
            <a:r>
              <a:rPr lang="he-IL" sz="1800" b="1" dirty="0">
                <a:cs typeface="Calibri" panose="020F0502020204030204" pitchFamily="34" charset="0"/>
              </a:rPr>
              <a:t> </a:t>
            </a:r>
            <a:r>
              <a:rPr lang="he-IL" sz="1800" dirty="0">
                <a:cs typeface="Calibri" panose="020F0502020204030204" pitchFamily="34" charset="0"/>
              </a:rPr>
              <a:t>- אבטחה חזקה יותר - הפרוצדורה תמיד מאובטחת מכיוון שהיא מנהלת ובודקת אילו תהליכים ופעילויות אנחנו יכולים לבצע. זה מסיר את הצורך בהענקת הרשאות ברמת אובייקט מסד הנתונים ומפשט את שכבות האבטחה (למעשה השליפות נעשות ברמה הכי נמוכה וממילא הכי בטוחה)</a:t>
            </a:r>
          </a:p>
          <a:p>
            <a:pPr marL="64008" indent="0" rtl="1">
              <a:buNone/>
            </a:pPr>
            <a:r>
              <a:rPr lang="en-US" sz="1800" b="1" dirty="0">
                <a:cs typeface="Calibri" panose="020F0502020204030204" pitchFamily="34" charset="0"/>
              </a:rPr>
              <a:t>Reusable</a:t>
            </a:r>
            <a:r>
              <a:rPr lang="he-IL" sz="1800" dirty="0">
                <a:cs typeface="Calibri" panose="020F0502020204030204" pitchFamily="34" charset="0"/>
              </a:rPr>
              <a:t> - לשימוש חוזר - פרוצדורות מאוחסנות ניתנות לשימוש חוזר. זה מפחית את חוסר העקביות בקוד, מונע שכתובים מיותרים של אותו קוד והופך את הקוד לשקוף לכל היישומים או המשתמשים.</a:t>
            </a:r>
          </a:p>
          <a:p>
            <a:pPr marL="64008" indent="0" rtl="1">
              <a:buNone/>
            </a:pPr>
            <a:r>
              <a:rPr lang="en-US" sz="1800" b="1" dirty="0">
                <a:cs typeface="Calibri" panose="020F0502020204030204" pitchFamily="34" charset="0"/>
              </a:rPr>
              <a:t>Easy Maintenance</a:t>
            </a:r>
            <a:r>
              <a:rPr lang="he-IL" sz="1800" b="1" dirty="0">
                <a:cs typeface="Calibri" panose="020F0502020204030204" pitchFamily="34" charset="0"/>
              </a:rPr>
              <a:t> </a:t>
            </a:r>
            <a:r>
              <a:rPr lang="he-IL" sz="1800" dirty="0">
                <a:cs typeface="Calibri" panose="020F0502020204030204" pitchFamily="34" charset="0"/>
              </a:rPr>
              <a:t>- תחזוקה קלה - הפרוצדורות קלות יותר לתחזוקה מבלי הפעלה מחדש של האפליקציה.</a:t>
            </a:r>
          </a:p>
          <a:p>
            <a:pPr marL="64008" indent="0" rtl="1">
              <a:buNone/>
            </a:pPr>
            <a:r>
              <a:rPr lang="en-US" sz="1800" b="1" dirty="0">
                <a:cs typeface="Calibri" panose="020F0502020204030204" pitchFamily="34" charset="0"/>
              </a:rPr>
              <a:t>Improved Performance</a:t>
            </a:r>
            <a:r>
              <a:rPr lang="he-IL" sz="1800" dirty="0">
                <a:cs typeface="Calibri" panose="020F0502020204030204" pitchFamily="34" charset="0"/>
              </a:rPr>
              <a:t> - ביצועים משופרים - פרוצדורה מאוחסנת משפרת את ביצועי היישום. ברגע שאנחנו יוצרים את הפרוצדורות המאוחסנות ומקמפלים אותם בפעם הראשונה, נוצרת תוכנית ביצוע לשימוש חוזר לביצועים הבאים. ההליך מעובד בדרך כלל מהר יותר מכיוון שמעבד השאילתות אינו חייב ליצור תוכנית חדשה.</a:t>
            </a:r>
          </a:p>
        </p:txBody>
      </p:sp>
      <p:sp>
        <p:nvSpPr>
          <p:cNvPr id="3" name="כותרת 2">
            <a:extLst>
              <a:ext uri="{FF2B5EF4-FFF2-40B4-BE49-F238E27FC236}">
                <a16:creationId xmlns:a16="http://schemas.microsoft.com/office/drawing/2014/main" id="{7DE8BB23-262A-48B4-99B9-6867DB2569D2}"/>
              </a:ext>
            </a:extLst>
          </p:cNvPr>
          <p:cNvSpPr>
            <a:spLocks noGrp="1"/>
          </p:cNvSpPr>
          <p:nvPr>
            <p:ph type="title"/>
          </p:nvPr>
        </p:nvSpPr>
        <p:spPr/>
        <p:txBody>
          <a:bodyPr/>
          <a:lstStyle/>
          <a:p>
            <a:pPr algn="l"/>
            <a:r>
              <a:rPr lang="en-US" dirty="0"/>
              <a:t>Stored procedure features</a:t>
            </a:r>
            <a:endParaRPr lang="he-IL" dirty="0"/>
          </a:p>
        </p:txBody>
      </p:sp>
      <p:sp>
        <p:nvSpPr>
          <p:cNvPr id="4" name="מציין מיקום של מספר שקופית 3">
            <a:extLst>
              <a:ext uri="{FF2B5EF4-FFF2-40B4-BE49-F238E27FC236}">
                <a16:creationId xmlns:a16="http://schemas.microsoft.com/office/drawing/2014/main" id="{26F89693-9682-4E53-A6A1-E78D9ED237F4}"/>
              </a:ext>
            </a:extLst>
          </p:cNvPr>
          <p:cNvSpPr>
            <a:spLocks noGrp="1"/>
          </p:cNvSpPr>
          <p:nvPr>
            <p:ph type="sldNum" sz="quarter" idx="11"/>
          </p:nvPr>
        </p:nvSpPr>
        <p:spPr/>
        <p:txBody>
          <a:bodyPr/>
          <a:lstStyle/>
          <a:p>
            <a:fld id="{746FD205-8D79-439C-A802-2377436AEC8A}" type="slidenum">
              <a:rPr lang="he-IL" smtClean="0"/>
              <a:pPr/>
              <a:t>108</a:t>
            </a:fld>
            <a:endParaRPr lang="he-IL"/>
          </a:p>
        </p:txBody>
      </p:sp>
    </p:spTree>
    <p:extLst>
      <p:ext uri="{BB962C8B-B14F-4D97-AF65-F5344CB8AC3E}">
        <p14:creationId xmlns:p14="http://schemas.microsoft.com/office/powerpoint/2010/main" val="15564342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2E9DC05-204C-4C90-BE48-C70FBD2956DD}"/>
              </a:ext>
            </a:extLst>
          </p:cNvPr>
          <p:cNvSpPr>
            <a:spLocks noGrp="1"/>
          </p:cNvSpPr>
          <p:nvPr>
            <p:ph idx="1"/>
          </p:nvPr>
        </p:nvSpPr>
        <p:spPr/>
        <p:txBody>
          <a:bodyPr>
            <a:normAutofit fontScale="77500" lnSpcReduction="20000"/>
          </a:bodyPr>
          <a:lstStyle/>
          <a:p>
            <a:pPr marL="64008" indent="0" rtl="1">
              <a:buNone/>
            </a:pPr>
            <a:r>
              <a:rPr lang="he-IL" sz="2300" dirty="0">
                <a:cs typeface="Calibri" panose="020F0502020204030204" pitchFamily="34" charset="0"/>
              </a:rPr>
              <a:t>להלן המגבלות של נהלים מאוחסנים ב-</a:t>
            </a:r>
            <a:r>
              <a:rPr lang="en-US" sz="2300" dirty="0">
                <a:cs typeface="Calibri" panose="020F0502020204030204" pitchFamily="34" charset="0"/>
              </a:rPr>
              <a:t>SQL Server</a:t>
            </a:r>
            <a:r>
              <a:rPr lang="he-IL" sz="2300" dirty="0">
                <a:cs typeface="Calibri" panose="020F0502020204030204" pitchFamily="34" charset="0"/>
              </a:rPr>
              <a:t>:</a:t>
            </a:r>
          </a:p>
          <a:p>
            <a:pPr marL="64008" indent="0" rtl="1">
              <a:buNone/>
            </a:pPr>
            <a:r>
              <a:rPr lang="en-US" sz="2300" b="1" dirty="0">
                <a:cs typeface="Calibri" panose="020F0502020204030204" pitchFamily="34" charset="0"/>
              </a:rPr>
              <a:t>Debugging</a:t>
            </a:r>
            <a:r>
              <a:rPr lang="he-IL" sz="2300" dirty="0">
                <a:cs typeface="Calibri" panose="020F0502020204030204" pitchFamily="34" charset="0"/>
              </a:rPr>
              <a:t> – איתור באגים - כיוון שאיתור באגים בפרוצדורות מאוחסנות אף פעם לא פשוט, לא מומלץ לכתוב ולבצע לוגיקה עסקית מורכבת באמצעותן. כתוצאה מכך, אם לא נטפל בזה כמו שצריך, זה עלול לגרום ל </a:t>
            </a:r>
            <a:r>
              <a:rPr lang="en-US" sz="2300" dirty="0">
                <a:cs typeface="Calibri" panose="020F0502020204030204" pitchFamily="34" charset="0"/>
              </a:rPr>
              <a:t>failure</a:t>
            </a:r>
            <a:r>
              <a:rPr lang="he-IL" sz="2300" dirty="0">
                <a:cs typeface="Calibri" panose="020F0502020204030204" pitchFamily="34" charset="0"/>
              </a:rPr>
              <a:t>.</a:t>
            </a:r>
          </a:p>
          <a:p>
            <a:pPr marL="64008" indent="0" rtl="1">
              <a:buNone/>
            </a:pPr>
            <a:r>
              <a:rPr lang="en-US" sz="2300" b="1" dirty="0">
                <a:cs typeface="Calibri" panose="020F0502020204030204" pitchFamily="34" charset="0"/>
              </a:rPr>
              <a:t>Dependency</a:t>
            </a:r>
            <a:r>
              <a:rPr lang="he-IL" sz="2300" dirty="0">
                <a:cs typeface="Calibri" panose="020F0502020204030204" pitchFamily="34" charset="0"/>
              </a:rPr>
              <a:t> – תלות - כידוע, </a:t>
            </a:r>
            <a:r>
              <a:rPr lang="en-US" sz="2300" dirty="0">
                <a:cs typeface="Calibri" panose="020F0502020204030204" pitchFamily="34" charset="0"/>
              </a:rPr>
              <a:t>DBA (DB Administrator) </a:t>
            </a:r>
            <a:r>
              <a:rPr lang="he-IL" sz="2300" dirty="0">
                <a:cs typeface="Calibri" panose="020F0502020204030204" pitchFamily="34" charset="0"/>
              </a:rPr>
              <a:t> ומפתחי מסדי נתונים מקצועיים מטפלים במערכות נתונים עצומות בארגונים גדולים. ומפתחי האפליקציות חייבים לסמוך עליהם כי כל שינוי קטן חייב להיות מופנה ל-</a:t>
            </a:r>
            <a:r>
              <a:rPr lang="en-US" sz="2300" dirty="0">
                <a:cs typeface="Calibri" panose="020F0502020204030204" pitchFamily="34" charset="0"/>
              </a:rPr>
              <a:t>DBA</a:t>
            </a:r>
            <a:r>
              <a:rPr lang="he-IL" sz="2300" dirty="0">
                <a:cs typeface="Calibri" panose="020F0502020204030204" pitchFamily="34" charset="0"/>
              </a:rPr>
              <a:t> שיכול לתקן באגים בפרוצדורות קיימות או לבנות חדשות (מה שלא היה נצרך במידה ומפתחי היישום היו כותבים את הפקודות בעצמם דרך היישום).</a:t>
            </a:r>
          </a:p>
          <a:p>
            <a:pPr marL="64008" indent="0" rtl="1">
              <a:buNone/>
            </a:pPr>
            <a:r>
              <a:rPr lang="en-US" sz="2300" b="1" dirty="0">
                <a:cs typeface="Calibri" panose="020F0502020204030204" pitchFamily="34" charset="0"/>
              </a:rPr>
              <a:t>Expensive</a:t>
            </a:r>
            <a:r>
              <a:rPr lang="he-IL" sz="2300" dirty="0">
                <a:cs typeface="Calibri" panose="020F0502020204030204" pitchFamily="34" charset="0"/>
              </a:rPr>
              <a:t> – יקר – פרוצדורות מאוחסנות יקרות לניהול במונחים של</a:t>
            </a:r>
            <a:r>
              <a:rPr lang="en-US" sz="2300" dirty="0">
                <a:cs typeface="Calibri" panose="020F0502020204030204" pitchFamily="34" charset="0"/>
              </a:rPr>
              <a:t>DBAs </a:t>
            </a:r>
            <a:r>
              <a:rPr lang="he-IL" sz="2300" dirty="0">
                <a:cs typeface="Calibri" panose="020F0502020204030204" pitchFamily="34" charset="0"/>
              </a:rPr>
              <a:t> מכיוון שארגונים יצטרכו לשלם עלויות נוספות עבור </a:t>
            </a:r>
            <a:r>
              <a:rPr lang="en-US" sz="2300" dirty="0">
                <a:cs typeface="Calibri" panose="020F0502020204030204" pitchFamily="34" charset="0"/>
              </a:rPr>
              <a:t>DBAs </a:t>
            </a:r>
            <a:r>
              <a:rPr lang="he-IL" sz="2300" dirty="0">
                <a:cs typeface="Calibri" panose="020F0502020204030204" pitchFamily="34" charset="0"/>
              </a:rPr>
              <a:t> מומחים. </a:t>
            </a:r>
            <a:r>
              <a:rPr lang="en-US" sz="2300" dirty="0">
                <a:cs typeface="Calibri" panose="020F0502020204030204" pitchFamily="34" charset="0"/>
              </a:rPr>
              <a:t>DBA </a:t>
            </a:r>
            <a:r>
              <a:rPr lang="he-IL" sz="2300" dirty="0">
                <a:cs typeface="Calibri" panose="020F0502020204030204" pitchFamily="34" charset="0"/>
              </a:rPr>
              <a:t> מוסמך הרבה יותר לטפל בהליכי מסד נתונים מורכבים.</a:t>
            </a:r>
          </a:p>
          <a:p>
            <a:pPr marL="64008" indent="0" rtl="1">
              <a:buNone/>
            </a:pPr>
            <a:r>
              <a:rPr lang="en-US" sz="2300" b="1" dirty="0">
                <a:cs typeface="Calibri" panose="020F0502020204030204" pitchFamily="34" charset="0"/>
              </a:rPr>
              <a:t>Specific to a Vendor</a:t>
            </a:r>
            <a:r>
              <a:rPr lang="he-IL" sz="2300" dirty="0">
                <a:cs typeface="Calibri" panose="020F0502020204030204" pitchFamily="34" charset="0"/>
              </a:rPr>
              <a:t> - ספציפי לספק: פרוצדורות שנכתבו בפלטפורמה אחת לא יכולות לפעול בפלטפורמה אחרת. מכיוון שהנהלים שנכתבו ב-</a:t>
            </a:r>
            <a:r>
              <a:rPr lang="en-US" sz="2300" dirty="0">
                <a:cs typeface="Calibri" panose="020F0502020204030204" pitchFamily="34" charset="0"/>
              </a:rPr>
              <a:t>Oracle </a:t>
            </a:r>
            <a:r>
              <a:rPr lang="he-IL" sz="2300" dirty="0">
                <a:cs typeface="Calibri" panose="020F0502020204030204" pitchFamily="34" charset="0"/>
              </a:rPr>
              <a:t> הם מסובכים יותר, נצטרך לשכתב את כל ההליך עבור </a:t>
            </a:r>
            <a:r>
              <a:rPr lang="en-US" sz="2300" dirty="0">
                <a:cs typeface="Calibri" panose="020F0502020204030204" pitchFamily="34" charset="0"/>
              </a:rPr>
              <a:t>SQL Server</a:t>
            </a:r>
            <a:r>
              <a:rPr lang="he-IL" sz="2300" dirty="0">
                <a:cs typeface="Calibri" panose="020F0502020204030204" pitchFamily="34" charset="0"/>
              </a:rPr>
              <a:t>.</a:t>
            </a:r>
          </a:p>
          <a:p>
            <a:pPr marL="64008" indent="0" rtl="1">
              <a:buNone/>
            </a:pPr>
            <a:r>
              <a:rPr lang="en-US" sz="2300" i="1" dirty="0">
                <a:cs typeface="Calibri" panose="020F0502020204030204" pitchFamily="34" charset="0"/>
              </a:rPr>
              <a:t> </a:t>
            </a:r>
            <a:r>
              <a:rPr lang="en-US" sz="2300" b="1" i="1" dirty="0">
                <a:cs typeface="Calibri" panose="020F0502020204030204" pitchFamily="34" charset="0"/>
              </a:rPr>
              <a:t>DBA</a:t>
            </a:r>
            <a:r>
              <a:rPr lang="en-US" sz="2300" i="1" dirty="0">
                <a:cs typeface="Calibri" panose="020F0502020204030204" pitchFamily="34" charset="0"/>
              </a:rPr>
              <a:t>* </a:t>
            </a:r>
            <a:r>
              <a:rPr lang="he-IL" sz="2300" i="1" dirty="0">
                <a:cs typeface="Calibri" panose="020F0502020204030204" pitchFamily="34" charset="0"/>
              </a:rPr>
              <a:t>הוא מי שמנהל את מסד הנתונים של החברה. הוא יודע לבנות את בסיס הנתונים באופן שישרת את עובדי החברה בצורה נכונה, הוא ידע לעצב אותו באופן שיהיה קל ופשוט לעבוד </a:t>
            </a:r>
            <a:r>
              <a:rPr lang="he-IL" sz="2300" i="1" dirty="0" err="1">
                <a:cs typeface="Calibri" panose="020F0502020204030204" pitchFamily="34" charset="0"/>
              </a:rPr>
              <a:t>איתו</a:t>
            </a:r>
            <a:r>
              <a:rPr lang="he-IL" sz="2300" i="1" dirty="0">
                <a:cs typeface="Calibri" panose="020F0502020204030204" pitchFamily="34" charset="0"/>
              </a:rPr>
              <a:t>, יש לו את הכלים והיכולות לייצר שאילתות מתאימות לצרכי הארגון, הוא גם יודע לבצע שדרוגים, תיקונים במידת הצורך, לייצר נוסחאות שיתאימו למצוא מידע בצורה פשוטה מתוך הדאטה </a:t>
            </a:r>
            <a:r>
              <a:rPr lang="he-IL" sz="2300" i="1" dirty="0" err="1">
                <a:cs typeface="Calibri" panose="020F0502020204030204" pitchFamily="34" charset="0"/>
              </a:rPr>
              <a:t>בייס</a:t>
            </a:r>
            <a:r>
              <a:rPr lang="he-IL" sz="2300" i="1" dirty="0">
                <a:cs typeface="Calibri" panose="020F0502020204030204" pitchFamily="34" charset="0"/>
              </a:rPr>
              <a:t>, ובעקרון הוא יודע לייצר את כל מה שנדרש בשביל שיהיה ניתן לעבוד עם בסיס הנתונים בצורה הטובה ביותר</a:t>
            </a:r>
            <a:r>
              <a:rPr lang="he-IL" sz="2300" dirty="0">
                <a:cs typeface="Calibri" panose="020F0502020204030204" pitchFamily="34" charset="0"/>
              </a:rPr>
              <a:t>.</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B8B35408-FF10-4154-A7AE-3A09521C1D8D}"/>
              </a:ext>
            </a:extLst>
          </p:cNvPr>
          <p:cNvSpPr>
            <a:spLocks noGrp="1"/>
          </p:cNvSpPr>
          <p:nvPr>
            <p:ph type="title"/>
          </p:nvPr>
        </p:nvSpPr>
        <p:spPr/>
        <p:txBody>
          <a:bodyPr>
            <a:normAutofit fontScale="90000"/>
          </a:bodyPr>
          <a:lstStyle/>
          <a:p>
            <a:pPr algn="l"/>
            <a:r>
              <a:rPr lang="en-US" dirty="0"/>
              <a:t>Disadvantages of Stored Procedures</a:t>
            </a:r>
            <a:endParaRPr lang="he-IL" dirty="0"/>
          </a:p>
        </p:txBody>
      </p:sp>
      <p:sp>
        <p:nvSpPr>
          <p:cNvPr id="4" name="מציין מיקום של מספר שקופית 3">
            <a:extLst>
              <a:ext uri="{FF2B5EF4-FFF2-40B4-BE49-F238E27FC236}">
                <a16:creationId xmlns:a16="http://schemas.microsoft.com/office/drawing/2014/main" id="{58A8FF0E-3152-4CCF-9BEA-1FB37063B19E}"/>
              </a:ext>
            </a:extLst>
          </p:cNvPr>
          <p:cNvSpPr>
            <a:spLocks noGrp="1"/>
          </p:cNvSpPr>
          <p:nvPr>
            <p:ph type="sldNum" sz="quarter" idx="11"/>
          </p:nvPr>
        </p:nvSpPr>
        <p:spPr/>
        <p:txBody>
          <a:bodyPr/>
          <a:lstStyle/>
          <a:p>
            <a:fld id="{746FD205-8D79-439C-A802-2377436AEC8A}" type="slidenum">
              <a:rPr lang="he-IL" smtClean="0"/>
              <a:pPr/>
              <a:t>109</a:t>
            </a:fld>
            <a:endParaRPr lang="he-IL"/>
          </a:p>
        </p:txBody>
      </p:sp>
    </p:spTree>
    <p:extLst>
      <p:ext uri="{BB962C8B-B14F-4D97-AF65-F5344CB8AC3E}">
        <p14:creationId xmlns:p14="http://schemas.microsoft.com/office/powerpoint/2010/main" val="2339540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E243272-4AFB-4596-8A5C-ACE2A6CD59EB}"/>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ישנם שני סוגים של פרוצדורות:</a:t>
            </a:r>
          </a:p>
          <a:p>
            <a:pPr marL="64008" indent="0" rtl="1">
              <a:buNone/>
            </a:pPr>
            <a:r>
              <a:rPr lang="en-US" sz="1800" b="1" dirty="0">
                <a:cs typeface="Calibri" panose="020F0502020204030204" pitchFamily="34" charset="0"/>
              </a:rPr>
              <a:t>User-defined Stored Procedures</a:t>
            </a:r>
            <a:r>
              <a:rPr lang="he-IL" sz="1800" b="1" dirty="0">
                <a:cs typeface="Calibri" panose="020F0502020204030204" pitchFamily="34" charset="0"/>
              </a:rPr>
              <a:t> - פרוצדורות המוגדרות על ידי משתמש </a:t>
            </a:r>
          </a:p>
          <a:p>
            <a:pPr marL="64008" indent="0" rtl="1">
              <a:buNone/>
            </a:pPr>
            <a:r>
              <a:rPr lang="he-IL" sz="1800" dirty="0">
                <a:cs typeface="Calibri" panose="020F0502020204030204" pitchFamily="34" charset="0"/>
              </a:rPr>
              <a:t>מפתחי מסדי נתונים בונים </a:t>
            </a:r>
            <a:r>
              <a:rPr lang="en-US" sz="1800" dirty="0">
                <a:cs typeface="Calibri" panose="020F0502020204030204" pitchFamily="34" charset="0"/>
              </a:rPr>
              <a:t>User-defined Stored Procedures</a:t>
            </a:r>
            <a:r>
              <a:rPr lang="he-IL" sz="1800" dirty="0">
                <a:cs typeface="Calibri" panose="020F0502020204030204" pitchFamily="34" charset="0"/>
              </a:rPr>
              <a:t>. פרוצדורות אלה מספקות הצהרת</a:t>
            </a:r>
            <a:r>
              <a:rPr lang="en-US" sz="1800" dirty="0">
                <a:cs typeface="Calibri" panose="020F0502020204030204" pitchFamily="34" charset="0"/>
              </a:rPr>
              <a:t>SQL </a:t>
            </a:r>
            <a:r>
              <a:rPr lang="he-IL" sz="1800" dirty="0">
                <a:cs typeface="Calibri" panose="020F0502020204030204" pitchFamily="34" charset="0"/>
              </a:rPr>
              <a:t> אחת או יותר לבחירה, עדכון או הסרה של נתונים מטבלאות מסד נתונים. פרוצדורה מאוחסנת שנוצרת על ידי המשתמש מקבלת פרמטרים של קלט ומחזיר פרמטרים של פלט. פקודות </a:t>
            </a:r>
            <a:r>
              <a:rPr lang="en-US" sz="1800" dirty="0">
                <a:cs typeface="Calibri" panose="020F0502020204030204" pitchFamily="34" charset="0"/>
              </a:rPr>
              <a:t> DDL</a:t>
            </a:r>
            <a:r>
              <a:rPr lang="he-IL" sz="1800" dirty="0">
                <a:cs typeface="Calibri" panose="020F0502020204030204" pitchFamily="34" charset="0"/>
              </a:rPr>
              <a:t>ו-</a:t>
            </a:r>
            <a:r>
              <a:rPr lang="en-US" sz="1800" dirty="0">
                <a:cs typeface="Calibri" panose="020F0502020204030204" pitchFamily="34" charset="0"/>
              </a:rPr>
              <a:t>DML </a:t>
            </a:r>
            <a:r>
              <a:rPr lang="he-IL" sz="1800" dirty="0">
                <a:cs typeface="Calibri" panose="020F0502020204030204" pitchFamily="34" charset="0"/>
              </a:rPr>
              <a:t>* משמשות יחד בהליך מוגדר על ידי המשתמש.</a:t>
            </a:r>
          </a:p>
          <a:p>
            <a:pPr marL="64008" indent="0" rtl="1">
              <a:buNone/>
            </a:pPr>
            <a:endParaRPr lang="he-IL" sz="1800" dirty="0">
              <a:cs typeface="Calibri" panose="020F0502020204030204" pitchFamily="34" charset="0"/>
            </a:endParaRPr>
          </a:p>
          <a:p>
            <a:pPr marL="64008" indent="0" rtl="1">
              <a:buNone/>
            </a:pPr>
            <a:r>
              <a:rPr lang="en-US" sz="1800" b="1" dirty="0">
                <a:cs typeface="Calibri" panose="020F0502020204030204" pitchFamily="34" charset="0"/>
              </a:rPr>
              <a:t>System Stored Procedures</a:t>
            </a:r>
            <a:r>
              <a:rPr lang="he-IL" sz="1800" b="1" dirty="0">
                <a:cs typeface="Calibri" panose="020F0502020204030204" pitchFamily="34" charset="0"/>
              </a:rPr>
              <a:t> – פרוצדורות מובנות ב </a:t>
            </a:r>
            <a:r>
              <a:rPr lang="en-US" sz="1800" b="1" dirty="0">
                <a:cs typeface="Calibri" panose="020F0502020204030204" pitchFamily="34" charset="0"/>
              </a:rPr>
              <a:t>SQL</a:t>
            </a:r>
            <a:endParaRPr lang="he-IL" sz="1800" b="1" dirty="0">
              <a:cs typeface="Calibri" panose="020F0502020204030204" pitchFamily="34" charset="0"/>
            </a:endParaRPr>
          </a:p>
          <a:p>
            <a:pPr marL="64008" indent="0" rtl="1">
              <a:buNone/>
            </a:pPr>
            <a:r>
              <a:rPr lang="he-IL" sz="1800" dirty="0">
                <a:cs typeface="Calibri" panose="020F0502020204030204" pitchFamily="34" charset="0"/>
              </a:rPr>
              <a:t>משימות הניהול של השרת תלויות בעיקר בהליכים המאוחסנים במערכת. כאשר </a:t>
            </a:r>
            <a:r>
              <a:rPr lang="en-US" sz="1800" dirty="0">
                <a:cs typeface="Calibri" panose="020F0502020204030204" pitchFamily="34" charset="0"/>
              </a:rPr>
              <a:t>SQL Server </a:t>
            </a:r>
            <a:r>
              <a:rPr lang="he-IL" sz="1800" dirty="0">
                <a:cs typeface="Calibri" panose="020F0502020204030204" pitchFamily="34" charset="0"/>
              </a:rPr>
              <a:t>מותקן, הוא יוצר הפרוצדורות של המערכת. </a:t>
            </a:r>
            <a:r>
              <a:rPr lang="en-US" sz="1800" dirty="0">
                <a:cs typeface="Calibri" panose="020F0502020204030204" pitchFamily="34" charset="0"/>
              </a:rPr>
              <a:t> system stored procedures </a:t>
            </a:r>
            <a:r>
              <a:rPr lang="he-IL" sz="1800" dirty="0">
                <a:cs typeface="Calibri" panose="020F0502020204030204" pitchFamily="34" charset="0"/>
              </a:rPr>
              <a:t>מונעות מהמנהל לבצע שאילתות או לשנות ישירות את טבלאות קטלוג המערכת ומסד הנתונים.</a:t>
            </a:r>
            <a:br>
              <a:rPr lang="en-US" sz="1800" dirty="0">
                <a:cs typeface="Calibri" panose="020F0502020204030204" pitchFamily="34" charset="0"/>
              </a:rPr>
            </a:br>
            <a:r>
              <a:rPr lang="he-IL" sz="1800" dirty="0">
                <a:cs typeface="Calibri" panose="020F0502020204030204" pitchFamily="34" charset="0"/>
              </a:rPr>
              <a:t>לעתים קרובות מפתחים מתעלמים מהליכים המאוחסנים במערכת.</a:t>
            </a:r>
            <a:br>
              <a:rPr lang="en-US" sz="1800" dirty="0">
                <a:cs typeface="Calibri" panose="020F0502020204030204" pitchFamily="34" charset="0"/>
              </a:rPr>
            </a:br>
            <a:br>
              <a:rPr lang="en-US" sz="1800" dirty="0">
                <a:cs typeface="Calibri" panose="020F0502020204030204" pitchFamily="34" charset="0"/>
              </a:rPr>
            </a:br>
            <a:r>
              <a:rPr lang="he-IL" sz="1800" dirty="0">
                <a:cs typeface="Calibri" panose="020F0502020204030204" pitchFamily="34" charset="0"/>
              </a:rPr>
              <a:t>*</a:t>
            </a:r>
            <a:r>
              <a:rPr lang="en-US" sz="1800" dirty="0">
                <a:cs typeface="Calibri" panose="020F0502020204030204" pitchFamily="34" charset="0"/>
              </a:rPr>
              <a:t>DDL, DML</a:t>
            </a:r>
            <a:r>
              <a:rPr lang="he-IL" sz="1800" dirty="0">
                <a:cs typeface="Calibri" panose="020F0502020204030204" pitchFamily="34" charset="0"/>
              </a:rPr>
              <a:t>  - ראי בשקף הבא </a:t>
            </a:r>
          </a:p>
        </p:txBody>
      </p:sp>
      <p:sp>
        <p:nvSpPr>
          <p:cNvPr id="3" name="כותרת 2">
            <a:extLst>
              <a:ext uri="{FF2B5EF4-FFF2-40B4-BE49-F238E27FC236}">
                <a16:creationId xmlns:a16="http://schemas.microsoft.com/office/drawing/2014/main" id="{93DF695E-6F58-478C-99A5-9FCBECF859F5}"/>
              </a:ext>
            </a:extLst>
          </p:cNvPr>
          <p:cNvSpPr>
            <a:spLocks noGrp="1"/>
          </p:cNvSpPr>
          <p:nvPr>
            <p:ph type="title"/>
          </p:nvPr>
        </p:nvSpPr>
        <p:spPr/>
        <p:txBody>
          <a:bodyPr/>
          <a:lstStyle/>
          <a:p>
            <a:pPr algn="l"/>
            <a:r>
              <a:rPr lang="en-US" dirty="0"/>
              <a:t>Types of Stored Procedures</a:t>
            </a:r>
          </a:p>
        </p:txBody>
      </p:sp>
      <p:sp>
        <p:nvSpPr>
          <p:cNvPr id="4" name="מציין מיקום של מספר שקופית 3">
            <a:extLst>
              <a:ext uri="{FF2B5EF4-FFF2-40B4-BE49-F238E27FC236}">
                <a16:creationId xmlns:a16="http://schemas.microsoft.com/office/drawing/2014/main" id="{F47F67F1-974D-484F-8CFB-FBA8793BF419}"/>
              </a:ext>
            </a:extLst>
          </p:cNvPr>
          <p:cNvSpPr>
            <a:spLocks noGrp="1"/>
          </p:cNvSpPr>
          <p:nvPr>
            <p:ph type="sldNum" sz="quarter" idx="11"/>
          </p:nvPr>
        </p:nvSpPr>
        <p:spPr/>
        <p:txBody>
          <a:bodyPr/>
          <a:lstStyle/>
          <a:p>
            <a:fld id="{746FD205-8D79-439C-A802-2377436AEC8A}" type="slidenum">
              <a:rPr lang="he-IL" smtClean="0"/>
              <a:pPr/>
              <a:t>110</a:t>
            </a:fld>
            <a:endParaRPr lang="he-IL" dirty="0"/>
          </a:p>
        </p:txBody>
      </p:sp>
    </p:spTree>
    <p:extLst>
      <p:ext uri="{BB962C8B-B14F-4D97-AF65-F5344CB8AC3E}">
        <p14:creationId xmlns:p14="http://schemas.microsoft.com/office/powerpoint/2010/main" val="219201151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CB9AA450-E26E-4064-895D-48F6C3081162}"/>
              </a:ext>
            </a:extLst>
          </p:cNvPr>
          <p:cNvPicPr>
            <a:picLocks noGrp="1" noChangeAspect="1"/>
          </p:cNvPicPr>
          <p:nvPr>
            <p:ph idx="1"/>
          </p:nvPr>
        </p:nvPicPr>
        <p:blipFill>
          <a:blip r:embed="rId2"/>
          <a:stretch>
            <a:fillRect/>
          </a:stretch>
        </p:blipFill>
        <p:spPr>
          <a:xfrm>
            <a:off x="1456019" y="1524000"/>
            <a:ext cx="6231961" cy="4648200"/>
          </a:xfrm>
          <a:prstGeom prst="rect">
            <a:avLst/>
          </a:prstGeom>
        </p:spPr>
      </p:pic>
      <p:sp>
        <p:nvSpPr>
          <p:cNvPr id="3" name="כותרת 2">
            <a:extLst>
              <a:ext uri="{FF2B5EF4-FFF2-40B4-BE49-F238E27FC236}">
                <a16:creationId xmlns:a16="http://schemas.microsoft.com/office/drawing/2014/main" id="{E783A0BD-D188-4A9D-AE13-C28BE1D6492F}"/>
              </a:ext>
            </a:extLst>
          </p:cNvPr>
          <p:cNvSpPr>
            <a:spLocks noGrp="1"/>
          </p:cNvSpPr>
          <p:nvPr>
            <p:ph type="title"/>
          </p:nvPr>
        </p:nvSpPr>
        <p:spPr/>
        <p:txBody>
          <a:bodyPr/>
          <a:lstStyle/>
          <a:p>
            <a:pPr algn="l"/>
            <a:r>
              <a:rPr lang="en-US" dirty="0"/>
              <a:t>*DDL, DML</a:t>
            </a:r>
            <a:endParaRPr lang="he-IL" dirty="0"/>
          </a:p>
        </p:txBody>
      </p:sp>
      <p:sp>
        <p:nvSpPr>
          <p:cNvPr id="4" name="מציין מיקום של מספר שקופית 3">
            <a:extLst>
              <a:ext uri="{FF2B5EF4-FFF2-40B4-BE49-F238E27FC236}">
                <a16:creationId xmlns:a16="http://schemas.microsoft.com/office/drawing/2014/main" id="{298F7D29-64B7-48E4-8AA0-93F58B7F8C13}"/>
              </a:ext>
            </a:extLst>
          </p:cNvPr>
          <p:cNvSpPr>
            <a:spLocks noGrp="1"/>
          </p:cNvSpPr>
          <p:nvPr>
            <p:ph type="sldNum" sz="quarter" idx="11"/>
          </p:nvPr>
        </p:nvSpPr>
        <p:spPr/>
        <p:txBody>
          <a:bodyPr/>
          <a:lstStyle/>
          <a:p>
            <a:fld id="{746FD205-8D79-439C-A802-2377436AEC8A}" type="slidenum">
              <a:rPr lang="he-IL" smtClean="0"/>
              <a:pPr/>
              <a:t>111</a:t>
            </a:fld>
            <a:endParaRPr lang="he-IL"/>
          </a:p>
        </p:txBody>
      </p:sp>
    </p:spTree>
    <p:extLst>
      <p:ext uri="{BB962C8B-B14F-4D97-AF65-F5344CB8AC3E}">
        <p14:creationId xmlns:p14="http://schemas.microsoft.com/office/powerpoint/2010/main" val="40678358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5DEBA12-C042-4603-BE9C-B0666C46347C}"/>
              </a:ext>
            </a:extLst>
          </p:cNvPr>
          <p:cNvSpPr>
            <a:spLocks noGrp="1"/>
          </p:cNvSpPr>
          <p:nvPr>
            <p:ph idx="1"/>
          </p:nvPr>
        </p:nvSpPr>
        <p:spPr/>
        <p:txBody>
          <a:bodyPr/>
          <a:lstStyle/>
          <a:p>
            <a:pPr marL="64008" indent="0" rtl="1">
              <a:buNone/>
            </a:pPr>
            <a:r>
              <a:rPr lang="he-IL" sz="1800" dirty="0">
                <a:cs typeface="Calibri" panose="020F0502020204030204" pitchFamily="34" charset="0"/>
              </a:rPr>
              <a:t>יצירת הפרוצדורה נעשית ע"י פקודת </a:t>
            </a:r>
            <a:r>
              <a:rPr lang="en-US" sz="1800" dirty="0">
                <a:cs typeface="Calibri" panose="020F0502020204030204" pitchFamily="34" charset="0"/>
              </a:rPr>
              <a:t>CREATE PROCEDURE</a:t>
            </a:r>
            <a:r>
              <a:rPr lang="he-IL" sz="1800" dirty="0">
                <a:cs typeface="Calibri" panose="020F0502020204030204" pitchFamily="34" charset="0"/>
              </a:rPr>
              <a:t> (ראי פרוט בהמשך) בדף רגיל של שאילתה.</a:t>
            </a:r>
          </a:p>
          <a:p>
            <a:pPr marL="64008" indent="0" rtl="1">
              <a:buNone/>
            </a:pPr>
            <a:r>
              <a:rPr lang="he-IL" sz="1800" dirty="0">
                <a:cs typeface="Calibri" panose="020F0502020204030204" pitchFamily="34" charset="0"/>
              </a:rPr>
              <a:t>לאחר שיצרנו את הפרוצדורה היא תאוחסן כאן:</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נוכל בלחיצה ימנית לשנות אותה, למחוק אותה, לקבל עליה פרטים נוספים וכן להריץ אותה (בד"כ מריצים ע"י פקודה כפי שנראה בהמשך).</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2476EF91-668C-4D8B-9153-1A31FE30958D}"/>
              </a:ext>
            </a:extLst>
          </p:cNvPr>
          <p:cNvSpPr>
            <a:spLocks noGrp="1"/>
          </p:cNvSpPr>
          <p:nvPr>
            <p:ph type="title"/>
          </p:nvPr>
        </p:nvSpPr>
        <p:spPr/>
        <p:txBody>
          <a:bodyPr/>
          <a:lstStyle/>
          <a:p>
            <a:pPr algn="l"/>
            <a:r>
              <a:rPr lang="en-US" dirty="0"/>
              <a:t>Create a stored procedure</a:t>
            </a:r>
            <a:endParaRPr lang="he-IL" dirty="0"/>
          </a:p>
        </p:txBody>
      </p:sp>
      <p:sp>
        <p:nvSpPr>
          <p:cNvPr id="4" name="מציין מיקום של מספר שקופית 3">
            <a:extLst>
              <a:ext uri="{FF2B5EF4-FFF2-40B4-BE49-F238E27FC236}">
                <a16:creationId xmlns:a16="http://schemas.microsoft.com/office/drawing/2014/main" id="{5EAF5275-BAF1-44E1-ADEA-7D1351E92D3D}"/>
              </a:ext>
            </a:extLst>
          </p:cNvPr>
          <p:cNvSpPr>
            <a:spLocks noGrp="1"/>
          </p:cNvSpPr>
          <p:nvPr>
            <p:ph type="sldNum" sz="quarter" idx="11"/>
          </p:nvPr>
        </p:nvSpPr>
        <p:spPr/>
        <p:txBody>
          <a:bodyPr/>
          <a:lstStyle/>
          <a:p>
            <a:fld id="{746FD205-8D79-439C-A802-2377436AEC8A}" type="slidenum">
              <a:rPr lang="he-IL" smtClean="0"/>
              <a:pPr/>
              <a:t>112</a:t>
            </a:fld>
            <a:endParaRPr lang="he-IL"/>
          </a:p>
        </p:txBody>
      </p:sp>
      <p:pic>
        <p:nvPicPr>
          <p:cNvPr id="5" name="תמונה 4">
            <a:extLst>
              <a:ext uri="{FF2B5EF4-FFF2-40B4-BE49-F238E27FC236}">
                <a16:creationId xmlns:a16="http://schemas.microsoft.com/office/drawing/2014/main" id="{C3BBC81B-34A5-4B09-8427-910DB849DF5B}"/>
              </a:ext>
            </a:extLst>
          </p:cNvPr>
          <p:cNvPicPr>
            <a:picLocks noChangeAspect="1"/>
          </p:cNvPicPr>
          <p:nvPr/>
        </p:nvPicPr>
        <p:blipFill>
          <a:blip r:embed="rId2"/>
          <a:stretch>
            <a:fillRect/>
          </a:stretch>
        </p:blipFill>
        <p:spPr>
          <a:xfrm>
            <a:off x="5562600" y="2590800"/>
            <a:ext cx="2914650" cy="2124075"/>
          </a:xfrm>
          <a:prstGeom prst="rect">
            <a:avLst/>
          </a:prstGeom>
        </p:spPr>
      </p:pic>
    </p:spTree>
    <p:extLst>
      <p:ext uri="{BB962C8B-B14F-4D97-AF65-F5344CB8AC3E}">
        <p14:creationId xmlns:p14="http://schemas.microsoft.com/office/powerpoint/2010/main" val="3777388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FA19997D-C3E0-4814-8743-5CD9BD18EE6F}"/>
              </a:ext>
            </a:extLst>
          </p:cNvPr>
          <p:cNvSpPr>
            <a:spLocks noGrp="1"/>
          </p:cNvSpPr>
          <p:nvPr>
            <p:ph idx="1"/>
          </p:nvPr>
        </p:nvSpPr>
        <p:spPr/>
        <p:txBody>
          <a:bodyPr/>
          <a:lstStyle/>
          <a:p>
            <a:pPr marL="64008" indent="0">
              <a:buNone/>
            </a:pPr>
            <a:r>
              <a:rPr lang="en-US" sz="1800" dirty="0">
                <a:cs typeface="Calibri" panose="020F0502020204030204" pitchFamily="34" charset="0"/>
              </a:rPr>
              <a:t>Syntax:</a:t>
            </a: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a:p>
            <a:pPr marL="64008" indent="0" rtl="1">
              <a:buNone/>
            </a:pPr>
            <a:r>
              <a:rPr lang="en-US" sz="1800" b="1" dirty="0" err="1">
                <a:cs typeface="Calibri" panose="020F0502020204030204" pitchFamily="34" charset="0"/>
              </a:rPr>
              <a:t>Schema_name</a:t>
            </a:r>
            <a:r>
              <a:rPr lang="he-IL" sz="1800" b="1" dirty="0">
                <a:cs typeface="Calibri" panose="020F0502020204030204" pitchFamily="34" charset="0"/>
              </a:rPr>
              <a:t> </a:t>
            </a:r>
            <a:r>
              <a:rPr lang="he-IL" sz="1800" dirty="0">
                <a:cs typeface="Calibri" panose="020F0502020204030204" pitchFamily="34" charset="0"/>
              </a:rPr>
              <a:t>- זהו השם של מסד הנתונים. כברירת מחדל, פרוצדורה משויכת למסד הנתונים הנוכחי, אך אנו יכולים ליצור אותו גם לתוך מסד נתונים אחר על ידי ציון שם ה-</a:t>
            </a:r>
            <a:r>
              <a:rPr lang="en-US" sz="1800" dirty="0">
                <a:cs typeface="Calibri" panose="020F0502020204030204" pitchFamily="34" charset="0"/>
              </a:rPr>
              <a:t>DB </a:t>
            </a:r>
            <a:r>
              <a:rPr lang="he-IL" sz="1800" dirty="0">
                <a:cs typeface="Calibri" panose="020F0502020204030204" pitchFamily="34" charset="0"/>
              </a:rPr>
              <a:t>.</a:t>
            </a:r>
          </a:p>
          <a:p>
            <a:pPr marL="64008" indent="0" rtl="1">
              <a:buNone/>
            </a:pPr>
            <a:r>
              <a:rPr lang="en-US" sz="1800" b="1" dirty="0" err="1">
                <a:cs typeface="Calibri" panose="020F0502020204030204" pitchFamily="34" charset="0"/>
              </a:rPr>
              <a:t>Procedure_Name</a:t>
            </a:r>
            <a:r>
              <a:rPr lang="he-IL" sz="1800" b="1" dirty="0">
                <a:cs typeface="Calibri" panose="020F0502020204030204" pitchFamily="34" charset="0"/>
              </a:rPr>
              <a:t> </a:t>
            </a:r>
            <a:r>
              <a:rPr lang="he-IL" sz="1800" dirty="0">
                <a:cs typeface="Calibri" panose="020F0502020204030204" pitchFamily="34" charset="0"/>
              </a:rPr>
              <a:t>- השם של הפרוצדורה המאוחסנת. כדאי שהשם יהיה בעל משמעות כדי שנוכל לזהות את הפרוצדורה במהירות. זה לא יכול להיות מילות המפתח שמורות המערכת.</a:t>
            </a:r>
          </a:p>
          <a:p>
            <a:pPr marL="64008" indent="0" rtl="1">
              <a:buNone/>
            </a:pPr>
            <a:r>
              <a:rPr lang="en-US" sz="1800" dirty="0">
                <a:cs typeface="Calibri" panose="020F0502020204030204" pitchFamily="34" charset="0"/>
              </a:rPr>
              <a:t>- </a:t>
            </a:r>
            <a:r>
              <a:rPr lang="en-US" sz="1800" b="1" dirty="0" err="1">
                <a:cs typeface="Calibri" panose="020F0502020204030204" pitchFamily="34" charset="0"/>
              </a:rPr>
              <a:t>Parameter_Name</a:t>
            </a:r>
            <a:r>
              <a:rPr lang="he-IL" sz="1800" dirty="0">
                <a:cs typeface="Calibri" panose="020F0502020204030204" pitchFamily="34" charset="0"/>
              </a:rPr>
              <a:t> מייצג את מספר הפרמטרים. זה עשוי להיות אפס או יותר בהתאם לדרישות המשתמש. עלינו לוודא שהשתמשנו בסוג הנתונים המתאים.</a:t>
            </a:r>
            <a:endParaRPr lang="en-US" sz="1800" dirty="0">
              <a:cs typeface="Calibri" panose="020F0502020204030204" pitchFamily="34" charset="0"/>
            </a:endParaRPr>
          </a:p>
          <a:p>
            <a:pPr marL="64008" indent="0">
              <a:buNone/>
            </a:pPr>
            <a:endParaRPr lang="en-US" sz="1800" dirty="0">
              <a:cs typeface="Calibri" panose="020F0502020204030204" pitchFamily="34" charset="0"/>
            </a:endParaRPr>
          </a:p>
        </p:txBody>
      </p:sp>
      <p:sp>
        <p:nvSpPr>
          <p:cNvPr id="3" name="כותרת 2">
            <a:extLst>
              <a:ext uri="{FF2B5EF4-FFF2-40B4-BE49-F238E27FC236}">
                <a16:creationId xmlns:a16="http://schemas.microsoft.com/office/drawing/2014/main" id="{D5578D6E-5AA2-49A0-95AC-E3100E16D03D}"/>
              </a:ext>
            </a:extLst>
          </p:cNvPr>
          <p:cNvSpPr>
            <a:spLocks noGrp="1"/>
          </p:cNvSpPr>
          <p:nvPr>
            <p:ph type="title"/>
          </p:nvPr>
        </p:nvSpPr>
        <p:spPr/>
        <p:txBody>
          <a:bodyPr/>
          <a:lstStyle/>
          <a:p>
            <a:pPr algn="l"/>
            <a:r>
              <a:rPr lang="en-US" dirty="0"/>
              <a:t>Create a stored procedure</a:t>
            </a:r>
            <a:endParaRPr lang="he-IL" dirty="0"/>
          </a:p>
        </p:txBody>
      </p:sp>
      <p:sp>
        <p:nvSpPr>
          <p:cNvPr id="4" name="מציין מיקום של מספר שקופית 3">
            <a:extLst>
              <a:ext uri="{FF2B5EF4-FFF2-40B4-BE49-F238E27FC236}">
                <a16:creationId xmlns:a16="http://schemas.microsoft.com/office/drawing/2014/main" id="{02C7EA82-5D7F-4BAD-BDE2-8D0E34905C96}"/>
              </a:ext>
            </a:extLst>
          </p:cNvPr>
          <p:cNvSpPr>
            <a:spLocks noGrp="1"/>
          </p:cNvSpPr>
          <p:nvPr>
            <p:ph type="sldNum" sz="quarter" idx="11"/>
          </p:nvPr>
        </p:nvSpPr>
        <p:spPr/>
        <p:txBody>
          <a:bodyPr/>
          <a:lstStyle/>
          <a:p>
            <a:fld id="{746FD205-8D79-439C-A802-2377436AEC8A}" type="slidenum">
              <a:rPr lang="he-IL" smtClean="0"/>
              <a:pPr/>
              <a:t>113</a:t>
            </a:fld>
            <a:endParaRPr lang="he-IL"/>
          </a:p>
        </p:txBody>
      </p:sp>
      <p:pic>
        <p:nvPicPr>
          <p:cNvPr id="7" name="תמונה 6">
            <a:extLst>
              <a:ext uri="{FF2B5EF4-FFF2-40B4-BE49-F238E27FC236}">
                <a16:creationId xmlns:a16="http://schemas.microsoft.com/office/drawing/2014/main" id="{F4563E75-1727-4166-B387-BA6A20BEE692}"/>
              </a:ext>
            </a:extLst>
          </p:cNvPr>
          <p:cNvPicPr>
            <a:picLocks noChangeAspect="1"/>
          </p:cNvPicPr>
          <p:nvPr/>
        </p:nvPicPr>
        <p:blipFill>
          <a:blip r:embed="rId2"/>
          <a:stretch>
            <a:fillRect/>
          </a:stretch>
        </p:blipFill>
        <p:spPr>
          <a:xfrm>
            <a:off x="5562600" y="1944229"/>
            <a:ext cx="3037897" cy="1871663"/>
          </a:xfrm>
          <a:prstGeom prst="rect">
            <a:avLst/>
          </a:prstGeom>
        </p:spPr>
      </p:pic>
    </p:spTree>
    <p:extLst>
      <p:ext uri="{BB962C8B-B14F-4D97-AF65-F5344CB8AC3E}">
        <p14:creationId xmlns:p14="http://schemas.microsoft.com/office/powerpoint/2010/main" val="221555893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1DE4C67-179C-4C1A-B1F9-12616948A26C}"/>
              </a:ext>
            </a:extLst>
          </p:cNvPr>
          <p:cNvSpPr>
            <a:spLocks noGrp="1"/>
          </p:cNvSpPr>
          <p:nvPr>
            <p:ph idx="1"/>
          </p:nvPr>
        </p:nvSpPr>
        <p:spPr/>
        <p:txBody>
          <a:bodyPr/>
          <a:lstStyle/>
          <a:p>
            <a:pPr marL="64008" indent="0" rtl="1">
              <a:buNone/>
            </a:pPr>
            <a:r>
              <a:rPr lang="he-IL" sz="1800" dirty="0">
                <a:cs typeface="Calibri" panose="020F0502020204030204" pitchFamily="34" charset="0"/>
              </a:rPr>
              <a:t>דוגמא ליצירת פרוצדורה:</a:t>
            </a:r>
          </a:p>
          <a:p>
            <a:pPr marL="64008" indent="0" rtl="1">
              <a:buNone/>
            </a:pPr>
            <a:r>
              <a:rPr lang="he-IL" sz="1800" dirty="0">
                <a:cs typeface="Calibri" panose="020F0502020204030204" pitchFamily="34" charset="0"/>
              </a:rPr>
              <a:t>יצירת פרוצדורה שתקבל כפרמטר ת"ז של עובד ותחזיר שמו ואת פרטי המשכורת שלו:</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דוגמא להרצת הפרוצדורה:</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BD0E2589-1778-4CE5-9805-D1FC588BB491}"/>
              </a:ext>
            </a:extLst>
          </p:cNvPr>
          <p:cNvSpPr>
            <a:spLocks noGrp="1"/>
          </p:cNvSpPr>
          <p:nvPr>
            <p:ph type="title"/>
          </p:nvPr>
        </p:nvSpPr>
        <p:spPr/>
        <p:txBody>
          <a:bodyPr/>
          <a:lstStyle/>
          <a:p>
            <a:pPr algn="l"/>
            <a:r>
              <a:rPr lang="en-US" dirty="0"/>
              <a:t>Stored Procedure</a:t>
            </a:r>
            <a:endParaRPr lang="he-IL" dirty="0"/>
          </a:p>
        </p:txBody>
      </p:sp>
      <p:sp>
        <p:nvSpPr>
          <p:cNvPr id="4" name="מציין מיקום של מספר שקופית 3">
            <a:extLst>
              <a:ext uri="{FF2B5EF4-FFF2-40B4-BE49-F238E27FC236}">
                <a16:creationId xmlns:a16="http://schemas.microsoft.com/office/drawing/2014/main" id="{6A91522A-4EEA-4CA4-B584-C70988A2EC02}"/>
              </a:ext>
            </a:extLst>
          </p:cNvPr>
          <p:cNvSpPr>
            <a:spLocks noGrp="1"/>
          </p:cNvSpPr>
          <p:nvPr>
            <p:ph type="sldNum" sz="quarter" idx="11"/>
          </p:nvPr>
        </p:nvSpPr>
        <p:spPr/>
        <p:txBody>
          <a:bodyPr/>
          <a:lstStyle/>
          <a:p>
            <a:fld id="{746FD205-8D79-439C-A802-2377436AEC8A}" type="slidenum">
              <a:rPr lang="he-IL" smtClean="0"/>
              <a:pPr/>
              <a:t>114</a:t>
            </a:fld>
            <a:endParaRPr lang="he-IL"/>
          </a:p>
        </p:txBody>
      </p:sp>
      <p:pic>
        <p:nvPicPr>
          <p:cNvPr id="5" name="תמונה 4">
            <a:extLst>
              <a:ext uri="{FF2B5EF4-FFF2-40B4-BE49-F238E27FC236}">
                <a16:creationId xmlns:a16="http://schemas.microsoft.com/office/drawing/2014/main" id="{167BA707-945A-4DBC-B43A-A0A27AA604C0}"/>
              </a:ext>
            </a:extLst>
          </p:cNvPr>
          <p:cNvPicPr>
            <a:picLocks noChangeAspect="1"/>
          </p:cNvPicPr>
          <p:nvPr/>
        </p:nvPicPr>
        <p:blipFill>
          <a:blip r:embed="rId2"/>
          <a:stretch>
            <a:fillRect/>
          </a:stretch>
        </p:blipFill>
        <p:spPr>
          <a:xfrm>
            <a:off x="2438400" y="2362200"/>
            <a:ext cx="6115050" cy="2009775"/>
          </a:xfrm>
          <a:prstGeom prst="rect">
            <a:avLst/>
          </a:prstGeom>
        </p:spPr>
      </p:pic>
      <p:pic>
        <p:nvPicPr>
          <p:cNvPr id="6" name="תמונה 5">
            <a:extLst>
              <a:ext uri="{FF2B5EF4-FFF2-40B4-BE49-F238E27FC236}">
                <a16:creationId xmlns:a16="http://schemas.microsoft.com/office/drawing/2014/main" id="{8D830989-2773-40C9-8D9E-EBE2C62B8158}"/>
              </a:ext>
            </a:extLst>
          </p:cNvPr>
          <p:cNvPicPr>
            <a:picLocks noChangeAspect="1"/>
          </p:cNvPicPr>
          <p:nvPr/>
        </p:nvPicPr>
        <p:blipFill>
          <a:blip r:embed="rId3"/>
          <a:stretch>
            <a:fillRect/>
          </a:stretch>
        </p:blipFill>
        <p:spPr>
          <a:xfrm>
            <a:off x="5314950" y="4943475"/>
            <a:ext cx="3238500" cy="219075"/>
          </a:xfrm>
          <a:prstGeom prst="rect">
            <a:avLst/>
          </a:prstGeom>
        </p:spPr>
      </p:pic>
      <p:pic>
        <p:nvPicPr>
          <p:cNvPr id="7" name="תמונה 6">
            <a:extLst>
              <a:ext uri="{FF2B5EF4-FFF2-40B4-BE49-F238E27FC236}">
                <a16:creationId xmlns:a16="http://schemas.microsoft.com/office/drawing/2014/main" id="{0828AFCB-1691-46E4-935B-4986D8B05A45}"/>
              </a:ext>
            </a:extLst>
          </p:cNvPr>
          <p:cNvPicPr>
            <a:picLocks noChangeAspect="1"/>
          </p:cNvPicPr>
          <p:nvPr/>
        </p:nvPicPr>
        <p:blipFill>
          <a:blip r:embed="rId4"/>
          <a:stretch>
            <a:fillRect/>
          </a:stretch>
        </p:blipFill>
        <p:spPr>
          <a:xfrm>
            <a:off x="4800600" y="5314950"/>
            <a:ext cx="3667125" cy="400050"/>
          </a:xfrm>
          <a:prstGeom prst="rect">
            <a:avLst/>
          </a:prstGeom>
        </p:spPr>
      </p:pic>
    </p:spTree>
    <p:extLst>
      <p:ext uri="{BB962C8B-B14F-4D97-AF65-F5344CB8AC3E}">
        <p14:creationId xmlns:p14="http://schemas.microsoft.com/office/powerpoint/2010/main" val="139822447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F0FE2609-F1D0-4E44-85F2-BDACF68797AA}"/>
              </a:ext>
            </a:extLst>
          </p:cNvPr>
          <p:cNvSpPr>
            <a:spLocks noGrp="1"/>
          </p:cNvSpPr>
          <p:nvPr>
            <p:ph idx="1"/>
          </p:nvPr>
        </p:nvSpPr>
        <p:spPr/>
        <p:txBody>
          <a:bodyPr>
            <a:normAutofit/>
          </a:bodyPr>
          <a:lstStyle/>
          <a:p>
            <a:pPr marL="64008" indent="0" rtl="1">
              <a:buNone/>
            </a:pPr>
            <a:r>
              <a:rPr lang="en-US" sz="1800" dirty="0">
                <a:cs typeface="Calibri" panose="020F0502020204030204" pitchFamily="34" charset="0"/>
              </a:rPr>
              <a:t>Input Parameters in Stored Procedure</a:t>
            </a:r>
            <a:r>
              <a:rPr lang="he-IL" sz="1800" dirty="0">
                <a:cs typeface="Calibri" panose="020F0502020204030204" pitchFamily="34" charset="0"/>
              </a:rPr>
              <a:t> – </a:t>
            </a:r>
          </a:p>
          <a:p>
            <a:pPr marL="64008" indent="0" rtl="1">
              <a:buNone/>
            </a:pPr>
            <a:r>
              <a:rPr lang="en-US" sz="1800" dirty="0">
                <a:cs typeface="Calibri" panose="020F0502020204030204" pitchFamily="34" charset="0"/>
              </a:rPr>
              <a:t>SQL Server </a:t>
            </a:r>
            <a:r>
              <a:rPr lang="he-IL" sz="1800" dirty="0">
                <a:cs typeface="Calibri" panose="020F0502020204030204" pitchFamily="34" charset="0"/>
              </a:rPr>
              <a:t> מאפשר לנו ליצור פרוצדורות מאוחסנות הכוללות פרמטרי קלט. סוג זה של פרוצדורה מאוחסנת מאפשר לנו להעביר פרמטר אחד או יותר כדי לקבל את התוצאה המסוננת.</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פרוצדורה לשליפת פרטי הלקוחות שגרים במדינה מסוימת – שם המדינה יתקבל כפרמטר:</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919A600-B965-4AA1-A3DD-270B93657B68}"/>
              </a:ext>
            </a:extLst>
          </p:cNvPr>
          <p:cNvSpPr>
            <a:spLocks noGrp="1"/>
          </p:cNvSpPr>
          <p:nvPr>
            <p:ph type="title"/>
          </p:nvPr>
        </p:nvSpPr>
        <p:spPr/>
        <p:txBody>
          <a:bodyPr>
            <a:normAutofit fontScale="90000"/>
          </a:bodyPr>
          <a:lstStyle/>
          <a:p>
            <a:pPr algn="l"/>
            <a:r>
              <a:rPr lang="en-US" sz="4400" dirty="0">
                <a:cs typeface="Calibri" panose="020F0502020204030204" pitchFamily="34" charset="0"/>
              </a:rPr>
              <a:t>Input Parameters in Stored Procedure</a:t>
            </a:r>
            <a:endParaRPr lang="he-IL" dirty="0"/>
          </a:p>
        </p:txBody>
      </p:sp>
      <p:sp>
        <p:nvSpPr>
          <p:cNvPr id="4" name="מציין מיקום של מספר שקופית 3">
            <a:extLst>
              <a:ext uri="{FF2B5EF4-FFF2-40B4-BE49-F238E27FC236}">
                <a16:creationId xmlns:a16="http://schemas.microsoft.com/office/drawing/2014/main" id="{97B24A73-C76A-44B7-A635-F14C6EF467C9}"/>
              </a:ext>
            </a:extLst>
          </p:cNvPr>
          <p:cNvSpPr>
            <a:spLocks noGrp="1"/>
          </p:cNvSpPr>
          <p:nvPr>
            <p:ph type="sldNum" sz="quarter" idx="11"/>
          </p:nvPr>
        </p:nvSpPr>
        <p:spPr/>
        <p:txBody>
          <a:bodyPr/>
          <a:lstStyle/>
          <a:p>
            <a:fld id="{746FD205-8D79-439C-A802-2377436AEC8A}" type="slidenum">
              <a:rPr lang="he-IL" smtClean="0"/>
              <a:pPr/>
              <a:t>115</a:t>
            </a:fld>
            <a:endParaRPr lang="he-IL"/>
          </a:p>
        </p:txBody>
      </p:sp>
      <p:pic>
        <p:nvPicPr>
          <p:cNvPr id="5" name="תמונה 4">
            <a:extLst>
              <a:ext uri="{FF2B5EF4-FFF2-40B4-BE49-F238E27FC236}">
                <a16:creationId xmlns:a16="http://schemas.microsoft.com/office/drawing/2014/main" id="{3B55C41A-8421-4AEF-B1AE-0F43F069DC7E}"/>
              </a:ext>
            </a:extLst>
          </p:cNvPr>
          <p:cNvPicPr>
            <a:picLocks noChangeAspect="1"/>
          </p:cNvPicPr>
          <p:nvPr/>
        </p:nvPicPr>
        <p:blipFill>
          <a:blip r:embed="rId2"/>
          <a:stretch>
            <a:fillRect/>
          </a:stretch>
        </p:blipFill>
        <p:spPr>
          <a:xfrm>
            <a:off x="872569" y="3581400"/>
            <a:ext cx="3566685" cy="1676400"/>
          </a:xfrm>
          <a:prstGeom prst="rect">
            <a:avLst/>
          </a:prstGeom>
        </p:spPr>
      </p:pic>
      <p:pic>
        <p:nvPicPr>
          <p:cNvPr id="6" name="תמונה 5">
            <a:extLst>
              <a:ext uri="{FF2B5EF4-FFF2-40B4-BE49-F238E27FC236}">
                <a16:creationId xmlns:a16="http://schemas.microsoft.com/office/drawing/2014/main" id="{0CEF2F9C-E898-46B3-907B-BC35A50466A1}"/>
              </a:ext>
            </a:extLst>
          </p:cNvPr>
          <p:cNvPicPr>
            <a:picLocks noChangeAspect="1"/>
          </p:cNvPicPr>
          <p:nvPr/>
        </p:nvPicPr>
        <p:blipFill>
          <a:blip r:embed="rId3"/>
          <a:stretch>
            <a:fillRect/>
          </a:stretch>
        </p:blipFill>
        <p:spPr>
          <a:xfrm>
            <a:off x="4707890" y="3598682"/>
            <a:ext cx="3489700" cy="1255189"/>
          </a:xfrm>
          <a:prstGeom prst="rect">
            <a:avLst/>
          </a:prstGeom>
        </p:spPr>
      </p:pic>
    </p:spTree>
    <p:extLst>
      <p:ext uri="{BB962C8B-B14F-4D97-AF65-F5344CB8AC3E}">
        <p14:creationId xmlns:p14="http://schemas.microsoft.com/office/powerpoint/2010/main" val="289455859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64B1C74-0888-4348-8843-1CD7808CB2D0}"/>
              </a:ext>
            </a:extLst>
          </p:cNvPr>
          <p:cNvSpPr>
            <a:spLocks noGrp="1"/>
          </p:cNvSpPr>
          <p:nvPr>
            <p:ph idx="1"/>
          </p:nvPr>
        </p:nvSpPr>
        <p:spPr/>
        <p:txBody>
          <a:bodyPr/>
          <a:lstStyle/>
          <a:p>
            <a:pPr marL="64008" indent="0" rtl="1">
              <a:buNone/>
            </a:pPr>
            <a:r>
              <a:rPr lang="en-US" sz="1800" dirty="0">
                <a:cs typeface="Calibri" panose="020F0502020204030204" pitchFamily="34" charset="0"/>
              </a:rPr>
              <a:t> SQL Server </a:t>
            </a:r>
            <a:r>
              <a:rPr lang="he-IL" sz="1800" dirty="0">
                <a:cs typeface="Calibri" panose="020F0502020204030204" pitchFamily="34" charset="0"/>
              </a:rPr>
              <a:t>מאפשר לנו לספק פרמטרי פלט רבים בפרוצדורה. פרמטרי פלט אלה יכולים להיות מכל סוג נתונים חוקי, כגון מספר שלם, תאריך או תו. </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שליפת מספר הסטודנטים שבטבלת סטודנט וקבלת הערך לתוך פרמטר:</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B7FF8B6-EC67-49E2-968D-2A12F0A4291D}"/>
              </a:ext>
            </a:extLst>
          </p:cNvPr>
          <p:cNvSpPr>
            <a:spLocks noGrp="1"/>
          </p:cNvSpPr>
          <p:nvPr>
            <p:ph type="title"/>
          </p:nvPr>
        </p:nvSpPr>
        <p:spPr/>
        <p:txBody>
          <a:bodyPr>
            <a:normAutofit fontScale="90000"/>
          </a:bodyPr>
          <a:lstStyle/>
          <a:p>
            <a:pPr algn="l"/>
            <a:r>
              <a:rPr lang="en-US" sz="4000" dirty="0">
                <a:cs typeface="Calibri" panose="020F0502020204030204" pitchFamily="34" charset="0"/>
              </a:rPr>
              <a:t>Output Parameters in Stored Procedure</a:t>
            </a:r>
            <a:endParaRPr lang="he-IL" dirty="0"/>
          </a:p>
        </p:txBody>
      </p:sp>
      <p:sp>
        <p:nvSpPr>
          <p:cNvPr id="4" name="מציין מיקום של מספר שקופית 3">
            <a:extLst>
              <a:ext uri="{FF2B5EF4-FFF2-40B4-BE49-F238E27FC236}">
                <a16:creationId xmlns:a16="http://schemas.microsoft.com/office/drawing/2014/main" id="{2F5EFC3B-F448-4A54-ABC1-78B2442607CE}"/>
              </a:ext>
            </a:extLst>
          </p:cNvPr>
          <p:cNvSpPr>
            <a:spLocks noGrp="1"/>
          </p:cNvSpPr>
          <p:nvPr>
            <p:ph type="sldNum" sz="quarter" idx="11"/>
          </p:nvPr>
        </p:nvSpPr>
        <p:spPr/>
        <p:txBody>
          <a:bodyPr/>
          <a:lstStyle/>
          <a:p>
            <a:fld id="{746FD205-8D79-439C-A802-2377436AEC8A}" type="slidenum">
              <a:rPr lang="he-IL" smtClean="0"/>
              <a:pPr/>
              <a:t>116</a:t>
            </a:fld>
            <a:endParaRPr lang="he-IL"/>
          </a:p>
        </p:txBody>
      </p:sp>
      <p:pic>
        <p:nvPicPr>
          <p:cNvPr id="5" name="תמונה 4">
            <a:extLst>
              <a:ext uri="{FF2B5EF4-FFF2-40B4-BE49-F238E27FC236}">
                <a16:creationId xmlns:a16="http://schemas.microsoft.com/office/drawing/2014/main" id="{54F15BDD-CE49-47BE-8900-73A461E3AA58}"/>
              </a:ext>
            </a:extLst>
          </p:cNvPr>
          <p:cNvPicPr>
            <a:picLocks noChangeAspect="1"/>
          </p:cNvPicPr>
          <p:nvPr/>
        </p:nvPicPr>
        <p:blipFill>
          <a:blip r:embed="rId2"/>
          <a:stretch>
            <a:fillRect/>
          </a:stretch>
        </p:blipFill>
        <p:spPr>
          <a:xfrm>
            <a:off x="3810000" y="2899378"/>
            <a:ext cx="3538445" cy="1059243"/>
          </a:xfrm>
          <a:prstGeom prst="rect">
            <a:avLst/>
          </a:prstGeom>
        </p:spPr>
      </p:pic>
      <p:pic>
        <p:nvPicPr>
          <p:cNvPr id="6" name="תמונה 5">
            <a:extLst>
              <a:ext uri="{FF2B5EF4-FFF2-40B4-BE49-F238E27FC236}">
                <a16:creationId xmlns:a16="http://schemas.microsoft.com/office/drawing/2014/main" id="{DE976E05-48A7-4459-9AC6-4DAA85ACC9DC}"/>
              </a:ext>
            </a:extLst>
          </p:cNvPr>
          <p:cNvPicPr>
            <a:picLocks noChangeAspect="1"/>
          </p:cNvPicPr>
          <p:nvPr/>
        </p:nvPicPr>
        <p:blipFill>
          <a:blip r:embed="rId3"/>
          <a:stretch>
            <a:fillRect/>
          </a:stretch>
        </p:blipFill>
        <p:spPr>
          <a:xfrm>
            <a:off x="3793503" y="4166459"/>
            <a:ext cx="3725426" cy="1615102"/>
          </a:xfrm>
          <a:prstGeom prst="rect">
            <a:avLst/>
          </a:prstGeom>
        </p:spPr>
      </p:pic>
      <p:pic>
        <p:nvPicPr>
          <p:cNvPr id="7" name="תמונה 6">
            <a:extLst>
              <a:ext uri="{FF2B5EF4-FFF2-40B4-BE49-F238E27FC236}">
                <a16:creationId xmlns:a16="http://schemas.microsoft.com/office/drawing/2014/main" id="{FCC02214-943D-4BB7-A4AD-629A459AECC5}"/>
              </a:ext>
            </a:extLst>
          </p:cNvPr>
          <p:cNvPicPr>
            <a:picLocks noChangeAspect="1"/>
          </p:cNvPicPr>
          <p:nvPr/>
        </p:nvPicPr>
        <p:blipFill>
          <a:blip r:embed="rId4"/>
          <a:stretch>
            <a:fillRect/>
          </a:stretch>
        </p:blipFill>
        <p:spPr>
          <a:xfrm>
            <a:off x="3819427" y="5962558"/>
            <a:ext cx="1028700" cy="523875"/>
          </a:xfrm>
          <a:prstGeom prst="rect">
            <a:avLst/>
          </a:prstGeom>
        </p:spPr>
      </p:pic>
    </p:spTree>
    <p:extLst>
      <p:ext uri="{BB962C8B-B14F-4D97-AF65-F5344CB8AC3E}">
        <p14:creationId xmlns:p14="http://schemas.microsoft.com/office/powerpoint/2010/main" val="27770001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B694D8A-1323-4A26-96CF-508FC13B40B1}"/>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צרי את הפרוצדורות הבאות עבור מסד הנתונים של בית הספר שיצרת:</a:t>
            </a:r>
          </a:p>
          <a:p>
            <a:pPr rtl="1">
              <a:buFont typeface="Courier New" panose="02070309020205020404" pitchFamily="49" charset="0"/>
              <a:buChar char="o"/>
            </a:pPr>
            <a:r>
              <a:rPr lang="he-IL" sz="1800" dirty="0">
                <a:cs typeface="Calibri" panose="020F0502020204030204" pitchFamily="34" charset="0"/>
              </a:rPr>
              <a:t>הוספת מורה חדשה – קבלי פרטי מורה (את כל שדות החובה) והוסיפי אותה למערכת. שימי לב: במידה וקוד הכתובת לא יכול להיות </a:t>
            </a:r>
            <a:r>
              <a:rPr lang="en-US" sz="1800" dirty="0">
                <a:cs typeface="Calibri" panose="020F0502020204030204" pitchFamily="34" charset="0"/>
              </a:rPr>
              <a:t>null</a:t>
            </a:r>
            <a:r>
              <a:rPr lang="he-IL" sz="1800" dirty="0">
                <a:cs typeface="Calibri" panose="020F0502020204030204" pitchFamily="34" charset="0"/>
              </a:rPr>
              <a:t>, שלחי קוד כתובת שקיים בטבלת כתובות. </a:t>
            </a:r>
          </a:p>
          <a:p>
            <a:pPr rtl="1">
              <a:buFont typeface="Courier New" panose="02070309020205020404" pitchFamily="49" charset="0"/>
              <a:buChar char="o"/>
            </a:pPr>
            <a:r>
              <a:rPr lang="he-IL" sz="1800" b="1" dirty="0">
                <a:cs typeface="Calibri" panose="020F0502020204030204" pitchFamily="34" charset="0"/>
              </a:rPr>
              <a:t>צרי פרוצדורה נוספת שמקבלת את פרטי המורה המלאים (כולל כתובת) ומוסיפה את המורה למערכת)</a:t>
            </a:r>
            <a:endParaRPr lang="en-US" sz="1800" b="1"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קבלת ממוצע ציונים – קבלי ת"ז של תלמידה והחזירי את ממוצע הציונים שלה בתוך משתנה </a:t>
            </a:r>
            <a:r>
              <a:rPr lang="en-US" sz="1800" dirty="0">
                <a:cs typeface="Calibri" panose="020F0502020204030204" pitchFamily="34" charset="0"/>
              </a:rPr>
              <a:t>output</a:t>
            </a:r>
            <a:endParaRPr lang="he-IL" sz="1800" dirty="0">
              <a:cs typeface="Calibri" panose="020F0502020204030204" pitchFamily="34" charset="0"/>
            </a:endParaRPr>
          </a:p>
          <a:p>
            <a:pPr marL="64008" indent="0" rtl="1">
              <a:buNone/>
            </a:pPr>
            <a:r>
              <a:rPr lang="he-IL" sz="1800" dirty="0">
                <a:cs typeface="Calibri" panose="020F0502020204030204" pitchFamily="34" charset="0"/>
              </a:rPr>
              <a:t>הפעילי את הפרוצדורות עם פרמטרים וודאי שהן עובדות</a:t>
            </a: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D93CF14-A628-4CD4-A591-42DD15B3CBB4}"/>
              </a:ext>
            </a:extLst>
          </p:cNvPr>
          <p:cNvSpPr>
            <a:spLocks noGrp="1"/>
          </p:cNvSpPr>
          <p:nvPr>
            <p:ph type="title"/>
          </p:nvPr>
        </p:nvSpPr>
        <p:spPr/>
        <p:txBody>
          <a:bodyPr>
            <a:normAutofit fontScale="90000"/>
          </a:bodyPr>
          <a:lstStyle/>
          <a:p>
            <a:pPr rtl="1"/>
            <a:r>
              <a:rPr lang="en-US" dirty="0"/>
              <a:t>Stored procedure</a:t>
            </a:r>
            <a:r>
              <a:rPr lang="he-IL" dirty="0"/>
              <a:t> – תרגיל התחלה</a:t>
            </a:r>
          </a:p>
        </p:txBody>
      </p:sp>
      <p:sp>
        <p:nvSpPr>
          <p:cNvPr id="4" name="מציין מיקום של מספר שקופית 3">
            <a:extLst>
              <a:ext uri="{FF2B5EF4-FFF2-40B4-BE49-F238E27FC236}">
                <a16:creationId xmlns:a16="http://schemas.microsoft.com/office/drawing/2014/main" id="{25F7699C-0F97-4089-B46D-A9B7871D254E}"/>
              </a:ext>
            </a:extLst>
          </p:cNvPr>
          <p:cNvSpPr>
            <a:spLocks noGrp="1"/>
          </p:cNvSpPr>
          <p:nvPr>
            <p:ph type="sldNum" sz="quarter" idx="11"/>
          </p:nvPr>
        </p:nvSpPr>
        <p:spPr/>
        <p:txBody>
          <a:bodyPr/>
          <a:lstStyle/>
          <a:p>
            <a:fld id="{746FD205-8D79-439C-A802-2377436AEC8A}" type="slidenum">
              <a:rPr lang="he-IL" smtClean="0"/>
              <a:pPr/>
              <a:t>117</a:t>
            </a:fld>
            <a:endParaRPr lang="he-IL"/>
          </a:p>
        </p:txBody>
      </p:sp>
    </p:spTree>
    <p:extLst>
      <p:ext uri="{BB962C8B-B14F-4D97-AF65-F5344CB8AC3E}">
        <p14:creationId xmlns:p14="http://schemas.microsoft.com/office/powerpoint/2010/main" val="28420345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4CBA42C-D3C9-4844-9E32-A5BCEAAF95C1}"/>
              </a:ext>
            </a:extLst>
          </p:cNvPr>
          <p:cNvSpPr>
            <a:spLocks noGrp="1"/>
          </p:cNvSpPr>
          <p:nvPr>
            <p:ph idx="1"/>
          </p:nvPr>
        </p:nvSpPr>
        <p:spPr/>
        <p:txBody>
          <a:bodyPr>
            <a:normAutofit/>
          </a:bodyPr>
          <a:lstStyle/>
          <a:p>
            <a:pPr marL="64008" indent="0">
              <a:buNone/>
            </a:pPr>
            <a:r>
              <a:rPr lang="he-IL" sz="1800" dirty="0">
                <a:cs typeface="Calibri" panose="020F0502020204030204" pitchFamily="34" charset="0"/>
              </a:rPr>
              <a:t>צרי פרוצדורה להוספת תלמידה חדשה למערכת, שימי לב: ניתן לקבל את כתובת התלמידה וניתן לא לקבל </a:t>
            </a:r>
            <a:r>
              <a:rPr lang="he-IL" sz="1800">
                <a:cs typeface="Calibri" panose="020F0502020204030204" pitchFamily="34" charset="0"/>
              </a:rPr>
              <a:t>אותה...</a:t>
            </a: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09CD57EF-ED06-45E2-A030-3585E261D760}"/>
              </a:ext>
            </a:extLst>
          </p:cNvPr>
          <p:cNvSpPr>
            <a:spLocks noGrp="1"/>
          </p:cNvSpPr>
          <p:nvPr>
            <p:ph type="title"/>
          </p:nvPr>
        </p:nvSpPr>
        <p:spPr/>
        <p:txBody>
          <a:bodyPr>
            <a:normAutofit/>
          </a:bodyPr>
          <a:lstStyle/>
          <a:p>
            <a:pPr rtl="1"/>
            <a:r>
              <a:rPr lang="en-US" dirty="0"/>
              <a:t>Stored procedure</a:t>
            </a:r>
            <a:r>
              <a:rPr lang="he-IL" dirty="0"/>
              <a:t> – תרגיל</a:t>
            </a:r>
          </a:p>
        </p:txBody>
      </p:sp>
      <p:sp>
        <p:nvSpPr>
          <p:cNvPr id="4" name="מציין מיקום של מספר שקופית 3">
            <a:extLst>
              <a:ext uri="{FF2B5EF4-FFF2-40B4-BE49-F238E27FC236}">
                <a16:creationId xmlns:a16="http://schemas.microsoft.com/office/drawing/2014/main" id="{C6FFB3E1-55EF-4A4A-A3F2-7A9617FF3FAF}"/>
              </a:ext>
            </a:extLst>
          </p:cNvPr>
          <p:cNvSpPr>
            <a:spLocks noGrp="1"/>
          </p:cNvSpPr>
          <p:nvPr>
            <p:ph type="sldNum" sz="quarter" idx="11"/>
          </p:nvPr>
        </p:nvSpPr>
        <p:spPr/>
        <p:txBody>
          <a:bodyPr/>
          <a:lstStyle/>
          <a:p>
            <a:fld id="{746FD205-8D79-439C-A802-2377436AEC8A}" type="slidenum">
              <a:rPr lang="he-IL" smtClean="0"/>
              <a:pPr/>
              <a:t>118</a:t>
            </a:fld>
            <a:endParaRPr lang="he-IL"/>
          </a:p>
        </p:txBody>
      </p:sp>
    </p:spTree>
    <p:extLst>
      <p:ext uri="{BB962C8B-B14F-4D97-AF65-F5344CB8AC3E}">
        <p14:creationId xmlns:p14="http://schemas.microsoft.com/office/powerpoint/2010/main" val="22856654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0451B29-38D1-4C47-BE22-403585DCDB4B}"/>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ניתן לבצע קריאה מפרוצדורה אחת לאחרת.</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פרוצדורה עבור קבלת פרטי המשכורת של עובד מסוים, הפרוצדורה מקבלת כפרמטר ת"ז ומחזירה את הפרטים:</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יצירת פרוצדורה לקבלת פרטי המשכורת של כל העובדים, היא תקרא לפרוצדורה הקודמת:</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E9B65662-3F44-4424-BE54-380B7CFFE0F5}"/>
              </a:ext>
            </a:extLst>
          </p:cNvPr>
          <p:cNvSpPr>
            <a:spLocks noGrp="1"/>
          </p:cNvSpPr>
          <p:nvPr>
            <p:ph type="title"/>
          </p:nvPr>
        </p:nvSpPr>
        <p:spPr/>
        <p:txBody>
          <a:bodyPr>
            <a:normAutofit fontScale="90000"/>
          </a:bodyPr>
          <a:lstStyle/>
          <a:p>
            <a:pPr algn="l"/>
            <a:r>
              <a:rPr lang="en-US" dirty="0"/>
              <a:t>Call one procedure from another</a:t>
            </a:r>
            <a:endParaRPr lang="he-IL" dirty="0"/>
          </a:p>
        </p:txBody>
      </p:sp>
      <p:sp>
        <p:nvSpPr>
          <p:cNvPr id="4" name="מציין מיקום של מספר שקופית 3">
            <a:extLst>
              <a:ext uri="{FF2B5EF4-FFF2-40B4-BE49-F238E27FC236}">
                <a16:creationId xmlns:a16="http://schemas.microsoft.com/office/drawing/2014/main" id="{55B3046C-5E2B-4A68-8E6D-FABA23037D57}"/>
              </a:ext>
            </a:extLst>
          </p:cNvPr>
          <p:cNvSpPr>
            <a:spLocks noGrp="1"/>
          </p:cNvSpPr>
          <p:nvPr>
            <p:ph type="sldNum" sz="quarter" idx="11"/>
          </p:nvPr>
        </p:nvSpPr>
        <p:spPr/>
        <p:txBody>
          <a:bodyPr/>
          <a:lstStyle/>
          <a:p>
            <a:fld id="{746FD205-8D79-439C-A802-2377436AEC8A}" type="slidenum">
              <a:rPr lang="he-IL" smtClean="0"/>
              <a:pPr/>
              <a:t>119</a:t>
            </a:fld>
            <a:endParaRPr lang="he-IL"/>
          </a:p>
        </p:txBody>
      </p:sp>
      <p:pic>
        <p:nvPicPr>
          <p:cNvPr id="5" name="תמונה 4">
            <a:extLst>
              <a:ext uri="{FF2B5EF4-FFF2-40B4-BE49-F238E27FC236}">
                <a16:creationId xmlns:a16="http://schemas.microsoft.com/office/drawing/2014/main" id="{0097B625-2B6C-44C2-B809-AC6599092538}"/>
              </a:ext>
            </a:extLst>
          </p:cNvPr>
          <p:cNvPicPr>
            <a:picLocks noChangeAspect="1"/>
          </p:cNvPicPr>
          <p:nvPr/>
        </p:nvPicPr>
        <p:blipFill>
          <a:blip r:embed="rId2"/>
          <a:stretch>
            <a:fillRect/>
          </a:stretch>
        </p:blipFill>
        <p:spPr>
          <a:xfrm>
            <a:off x="5181600" y="2971800"/>
            <a:ext cx="3291432" cy="1081069"/>
          </a:xfrm>
          <a:prstGeom prst="rect">
            <a:avLst/>
          </a:prstGeom>
        </p:spPr>
      </p:pic>
      <p:pic>
        <p:nvPicPr>
          <p:cNvPr id="6" name="תמונה 5">
            <a:extLst>
              <a:ext uri="{FF2B5EF4-FFF2-40B4-BE49-F238E27FC236}">
                <a16:creationId xmlns:a16="http://schemas.microsoft.com/office/drawing/2014/main" id="{E38479BE-B7B2-4A4B-9C07-9181957E2E45}"/>
              </a:ext>
            </a:extLst>
          </p:cNvPr>
          <p:cNvPicPr>
            <a:picLocks noChangeAspect="1"/>
          </p:cNvPicPr>
          <p:nvPr/>
        </p:nvPicPr>
        <p:blipFill>
          <a:blip r:embed="rId3"/>
          <a:stretch>
            <a:fillRect/>
          </a:stretch>
        </p:blipFill>
        <p:spPr>
          <a:xfrm>
            <a:off x="3249300" y="4205269"/>
            <a:ext cx="5205821" cy="246279"/>
          </a:xfrm>
          <a:prstGeom prst="rect">
            <a:avLst/>
          </a:prstGeom>
        </p:spPr>
      </p:pic>
      <p:pic>
        <p:nvPicPr>
          <p:cNvPr id="7" name="תמונה 6">
            <a:extLst>
              <a:ext uri="{FF2B5EF4-FFF2-40B4-BE49-F238E27FC236}">
                <a16:creationId xmlns:a16="http://schemas.microsoft.com/office/drawing/2014/main" id="{695F720F-8D11-472A-A530-8132E04DB3D6}"/>
              </a:ext>
            </a:extLst>
          </p:cNvPr>
          <p:cNvPicPr>
            <a:picLocks noChangeAspect="1"/>
          </p:cNvPicPr>
          <p:nvPr/>
        </p:nvPicPr>
        <p:blipFill>
          <a:blip r:embed="rId4"/>
          <a:stretch>
            <a:fillRect/>
          </a:stretch>
        </p:blipFill>
        <p:spPr>
          <a:xfrm>
            <a:off x="2933558" y="4804763"/>
            <a:ext cx="3276884" cy="1828958"/>
          </a:xfrm>
          <a:prstGeom prst="rect">
            <a:avLst/>
          </a:prstGeom>
        </p:spPr>
      </p:pic>
    </p:spTree>
    <p:extLst>
      <p:ext uri="{BB962C8B-B14F-4D97-AF65-F5344CB8AC3E}">
        <p14:creationId xmlns:p14="http://schemas.microsoft.com/office/powerpoint/2010/main" val="2015529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5C15455-9712-49BF-A2A5-A950B648EB86}"/>
              </a:ext>
            </a:extLst>
          </p:cNvPr>
          <p:cNvSpPr>
            <a:spLocks noGrp="1"/>
          </p:cNvSpPr>
          <p:nvPr>
            <p:ph idx="1"/>
          </p:nvPr>
        </p:nvSpPr>
        <p:spPr>
          <a:xfrm>
            <a:off x="533400" y="1544574"/>
            <a:ext cx="8229600" cy="4648200"/>
          </a:xfrm>
        </p:spPr>
        <p:txBody>
          <a:bodyPr>
            <a:normAutofit/>
          </a:bodyPr>
          <a:lstStyle/>
          <a:p>
            <a:pPr marL="64008" indent="0" rtl="1">
              <a:buNone/>
            </a:pPr>
            <a:r>
              <a:rPr lang="he-IL" sz="1800" dirty="0">
                <a:cs typeface="Calibri" panose="020F0502020204030204" pitchFamily="34" charset="0"/>
              </a:rPr>
              <a:t>על מסד הנתונים של בית הספר שיצרת בצעי את הפעולות הבאות:</a:t>
            </a:r>
          </a:p>
          <a:p>
            <a:pPr rtl="1">
              <a:buFont typeface="Courier New" panose="02070309020205020404" pitchFamily="49" charset="0"/>
              <a:buChar char="o"/>
            </a:pPr>
            <a:r>
              <a:rPr lang="he-IL" sz="1800" b="1" dirty="0">
                <a:cs typeface="Calibri" panose="020F0502020204030204" pitchFamily="34" charset="0"/>
              </a:rPr>
              <a:t>צרי פרוצדורה שתבדוק זכאות מורה לשנת שבתון. תנאים לזכאות:</a:t>
            </a:r>
          </a:p>
          <a:p>
            <a:pPr marL="64008" indent="0" rtl="1">
              <a:buNone/>
            </a:pPr>
            <a:r>
              <a:rPr lang="he-IL" sz="1800" b="1" dirty="0">
                <a:cs typeface="Calibri" panose="020F0502020204030204" pitchFamily="34" charset="0"/>
              </a:rPr>
              <a:t>        לפחות 7 שנות וותק</a:t>
            </a:r>
          </a:p>
          <a:p>
            <a:pPr marL="64008" indent="0" rtl="1">
              <a:buNone/>
            </a:pPr>
            <a:r>
              <a:rPr lang="he-IL" sz="1800" b="1" dirty="0">
                <a:cs typeface="Calibri" panose="020F0502020204030204" pitchFamily="34" charset="0"/>
              </a:rPr>
              <a:t>        שכר של לפחות 80 ₪ לשעה</a:t>
            </a:r>
          </a:p>
          <a:p>
            <a:pPr marL="64008" indent="0" rtl="1">
              <a:buNone/>
            </a:pPr>
            <a:r>
              <a:rPr lang="he-IL" sz="1800" b="1" dirty="0">
                <a:cs typeface="Calibri" panose="020F0502020204030204" pitchFamily="34" charset="0"/>
              </a:rPr>
              <a:t>       מורה שמלמדת בשתי כיתות לפחות</a:t>
            </a:r>
          </a:p>
          <a:p>
            <a:pPr marL="64008" indent="0" rtl="1">
              <a:buNone/>
            </a:pPr>
            <a:r>
              <a:rPr lang="he-IL" sz="1800" b="1" dirty="0">
                <a:cs typeface="Calibri" panose="020F0502020204030204" pitchFamily="34" charset="0"/>
              </a:rPr>
              <a:t>       קבלי כפרמטר את מספר הזהות של המורה והחזירי תשובה האם היא זכאית או לא.</a:t>
            </a:r>
          </a:p>
          <a:p>
            <a:pPr rtl="1">
              <a:buFont typeface="Courier New" panose="02070309020205020404" pitchFamily="49" charset="0"/>
              <a:buChar char="o"/>
            </a:pPr>
            <a:r>
              <a:rPr lang="he-IL" sz="1800" b="1" dirty="0">
                <a:cs typeface="Calibri" panose="020F0502020204030204" pitchFamily="34" charset="0"/>
              </a:rPr>
              <a:t>צרי פרוצדורה נוספת שתבדוק את הזכאות עבור כל המורות</a:t>
            </a:r>
          </a:p>
          <a:p>
            <a:pPr rtl="1">
              <a:buFont typeface="Courier New" panose="02070309020205020404" pitchFamily="49" charset="0"/>
              <a:buChar char="o"/>
            </a:pPr>
            <a:r>
              <a:rPr lang="he-IL" sz="1800" dirty="0">
                <a:cs typeface="Calibri" panose="020F0502020204030204" pitchFamily="34" charset="0"/>
              </a:rPr>
              <a:t>צרי פרוצדורה שתבדוק זכאות של תלמידה לתעודה, תנאים לזכאות:</a:t>
            </a:r>
          </a:p>
          <a:p>
            <a:pPr marL="64008" indent="0" rtl="1">
              <a:buNone/>
            </a:pPr>
            <a:r>
              <a:rPr lang="he-IL" sz="1800" dirty="0">
                <a:cs typeface="Calibri" panose="020F0502020204030204" pitchFamily="34" charset="0"/>
              </a:rPr>
              <a:t>      לפחות 3 ציונים הוזנו עבורה במערכת</a:t>
            </a:r>
          </a:p>
          <a:p>
            <a:pPr marL="64008" indent="0" rtl="1">
              <a:buNone/>
            </a:pPr>
            <a:r>
              <a:rPr lang="he-IL" sz="1800" dirty="0">
                <a:cs typeface="Calibri" panose="020F0502020204030204" pitchFamily="34" charset="0"/>
              </a:rPr>
              <a:t>      התלמידה החלה את לימודיה לפחות לפני שנה</a:t>
            </a:r>
          </a:p>
          <a:p>
            <a:pPr marL="64008" indent="0" rtl="1">
              <a:buNone/>
            </a:pPr>
            <a:r>
              <a:rPr lang="he-IL" sz="1800" dirty="0">
                <a:cs typeface="Calibri" panose="020F0502020204030204" pitchFamily="34" charset="0"/>
              </a:rPr>
              <a:t>      קבלי כפרמטר את מספר הזהות של התלמידה והחזירי תשובה האם היא זכאית או לא.</a:t>
            </a:r>
          </a:p>
          <a:p>
            <a:pPr rtl="1">
              <a:buFont typeface="Courier New" panose="02070309020205020404" pitchFamily="49" charset="0"/>
              <a:buChar char="o"/>
            </a:pPr>
            <a:r>
              <a:rPr lang="he-IL" sz="1800" dirty="0">
                <a:cs typeface="Calibri" panose="020F0502020204030204" pitchFamily="34" charset="0"/>
              </a:rPr>
              <a:t>צרי פרוצדורה לקבלת ממוצע הציונים בכל מקצוע והפעילי אותה</a:t>
            </a:r>
          </a:p>
          <a:p>
            <a:pPr rtl="1">
              <a:buFont typeface="Courier New" panose="02070309020205020404" pitchFamily="49" charset="0"/>
              <a:buChar char="o"/>
            </a:pPr>
            <a:r>
              <a:rPr lang="he-IL" sz="1800" dirty="0">
                <a:cs typeface="Calibri" panose="020F0502020204030204" pitchFamily="34" charset="0"/>
              </a:rPr>
              <a:t>צרי פרוצדורה להדפסת פרטי כל הישויות המערכת – מורות ותלמידות, עבור כל אחת יודפס מספר הזהות שלה, שם פרטי ומשפחה, כתובת, והאם היא מורה או תלמידה</a:t>
            </a:r>
          </a:p>
        </p:txBody>
      </p:sp>
      <p:sp>
        <p:nvSpPr>
          <p:cNvPr id="3" name="כותרת 2">
            <a:extLst>
              <a:ext uri="{FF2B5EF4-FFF2-40B4-BE49-F238E27FC236}">
                <a16:creationId xmlns:a16="http://schemas.microsoft.com/office/drawing/2014/main" id="{2BBB72C7-E440-4B67-9398-5D7B8E3960B3}"/>
              </a:ext>
            </a:extLst>
          </p:cNvPr>
          <p:cNvSpPr>
            <a:spLocks noGrp="1"/>
          </p:cNvSpPr>
          <p:nvPr>
            <p:ph type="title"/>
          </p:nvPr>
        </p:nvSpPr>
        <p:spPr/>
        <p:txBody>
          <a:bodyPr/>
          <a:lstStyle/>
          <a:p>
            <a:pPr rtl="1"/>
            <a:r>
              <a:rPr lang="en-US" dirty="0"/>
              <a:t>Stored procedure</a:t>
            </a:r>
            <a:r>
              <a:rPr lang="he-IL" dirty="0"/>
              <a:t> - תרגיל</a:t>
            </a:r>
          </a:p>
        </p:txBody>
      </p:sp>
      <p:sp>
        <p:nvSpPr>
          <p:cNvPr id="4" name="מציין מיקום של מספר שקופית 3">
            <a:extLst>
              <a:ext uri="{FF2B5EF4-FFF2-40B4-BE49-F238E27FC236}">
                <a16:creationId xmlns:a16="http://schemas.microsoft.com/office/drawing/2014/main" id="{57D749D0-427A-440C-AAFA-D52CE1EAEA88}"/>
              </a:ext>
            </a:extLst>
          </p:cNvPr>
          <p:cNvSpPr>
            <a:spLocks noGrp="1"/>
          </p:cNvSpPr>
          <p:nvPr>
            <p:ph type="sldNum" sz="quarter" idx="11"/>
          </p:nvPr>
        </p:nvSpPr>
        <p:spPr/>
        <p:txBody>
          <a:bodyPr/>
          <a:lstStyle/>
          <a:p>
            <a:fld id="{746FD205-8D79-439C-A802-2377436AEC8A}" type="slidenum">
              <a:rPr lang="he-IL" smtClean="0"/>
              <a:pPr/>
              <a:t>120</a:t>
            </a:fld>
            <a:endParaRPr lang="he-IL"/>
          </a:p>
        </p:txBody>
      </p:sp>
    </p:spTree>
    <p:extLst>
      <p:ext uri="{BB962C8B-B14F-4D97-AF65-F5344CB8AC3E}">
        <p14:creationId xmlns:p14="http://schemas.microsoft.com/office/powerpoint/2010/main" val="368943007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00C85970-F2EA-4FFC-B995-79BA9938F367}"/>
              </a:ext>
            </a:extLst>
          </p:cNvPr>
          <p:cNvSpPr>
            <a:spLocks noGrp="1"/>
          </p:cNvSpPr>
          <p:nvPr>
            <p:ph idx="1"/>
          </p:nvPr>
        </p:nvSpPr>
        <p:spPr/>
        <p:txBody>
          <a:bodyPr/>
          <a:lstStyle/>
          <a:p>
            <a:pPr marL="64008" indent="0" rtl="1">
              <a:buNone/>
            </a:pPr>
            <a:r>
              <a:rPr lang="he-IL" sz="1800" dirty="0">
                <a:cs typeface="Calibri" panose="020F0502020204030204" pitchFamily="34" charset="0"/>
              </a:rPr>
              <a:t>בעת כתיבת פרוצדורות נשתמש בהצהרות </a:t>
            </a:r>
            <a:r>
              <a:rPr lang="en-US" sz="1800" dirty="0">
                <a:cs typeface="Calibri" panose="020F0502020204030204" pitchFamily="34" charset="0"/>
              </a:rPr>
              <a:t>TSQL</a:t>
            </a:r>
            <a:r>
              <a:rPr lang="he-IL" sz="1800" dirty="0">
                <a:cs typeface="Calibri" panose="020F0502020204030204" pitchFamily="34" charset="0"/>
              </a:rPr>
              <a:t>.</a:t>
            </a:r>
          </a:p>
          <a:p>
            <a:pPr marL="64008" indent="0" rtl="1">
              <a:buNone/>
            </a:pPr>
            <a:r>
              <a:rPr lang="en-US" sz="1800" dirty="0">
                <a:cs typeface="Calibri" panose="020F0502020204030204" pitchFamily="34" charset="0"/>
              </a:rPr>
              <a:t>TSQL (Transact-SQL)</a:t>
            </a:r>
            <a:r>
              <a:rPr lang="he-IL" sz="1800" dirty="0">
                <a:cs typeface="Calibri" panose="020F0502020204030204" pitchFamily="34" charset="0"/>
              </a:rPr>
              <a:t> הוא קבוצה של הרחבות תכנות מ-</a:t>
            </a:r>
            <a:r>
              <a:rPr lang="en-US" sz="1800" dirty="0">
                <a:cs typeface="Calibri" panose="020F0502020204030204" pitchFamily="34" charset="0"/>
              </a:rPr>
              <a:t>Sybase</a:t>
            </a:r>
            <a:r>
              <a:rPr lang="he-IL" sz="1800" dirty="0">
                <a:cs typeface="Calibri" panose="020F0502020204030204" pitchFamily="34" charset="0"/>
              </a:rPr>
              <a:t> ו-</a:t>
            </a:r>
            <a:r>
              <a:rPr lang="en-US" sz="1800" dirty="0">
                <a:cs typeface="Calibri" panose="020F0502020204030204" pitchFamily="34" charset="0"/>
              </a:rPr>
              <a:t>Microsoft</a:t>
            </a:r>
            <a:r>
              <a:rPr lang="he-IL" sz="1800" dirty="0">
                <a:cs typeface="Calibri" panose="020F0502020204030204" pitchFamily="34" charset="0"/>
              </a:rPr>
              <a:t> המוסיפות מספר תכונות לשפת השאילתות המובנית (</a:t>
            </a:r>
            <a:r>
              <a:rPr lang="en-US" sz="1800" dirty="0">
                <a:cs typeface="Calibri" panose="020F0502020204030204" pitchFamily="34" charset="0"/>
              </a:rPr>
              <a:t>SQL</a:t>
            </a:r>
            <a:r>
              <a:rPr lang="he-IL" sz="1800" dirty="0">
                <a:cs typeface="Calibri" panose="020F0502020204030204" pitchFamily="34" charset="0"/>
              </a:rPr>
              <a:t>), כולל בקרת </a:t>
            </a:r>
            <a:r>
              <a:rPr lang="he-IL" sz="1800" dirty="0" err="1">
                <a:cs typeface="Calibri" panose="020F0502020204030204" pitchFamily="34" charset="0"/>
              </a:rPr>
              <a:t>טרנזקציות</a:t>
            </a:r>
            <a:r>
              <a:rPr lang="he-IL" sz="1800" dirty="0">
                <a:cs typeface="Calibri" panose="020F0502020204030204" pitchFamily="34" charset="0"/>
              </a:rPr>
              <a:t>, טיפול בחריגים ושגיאות, עיבוד שורות והצהרת משתנים.</a:t>
            </a:r>
          </a:p>
          <a:p>
            <a:pPr marL="64008" indent="0" rtl="1">
              <a:buNone/>
            </a:pPr>
            <a:r>
              <a:rPr lang="he-IL" sz="1800" dirty="0">
                <a:cs typeface="Calibri" panose="020F0502020204030204" pitchFamily="34" charset="0"/>
              </a:rPr>
              <a:t>כל היישומים המתקשרים עם </a:t>
            </a:r>
            <a:r>
              <a:rPr lang="en-US" sz="1800" dirty="0">
                <a:cs typeface="Calibri" panose="020F0502020204030204" pitchFamily="34" charset="0"/>
              </a:rPr>
              <a:t>SQL Server</a:t>
            </a:r>
            <a:r>
              <a:rPr lang="he-IL" sz="1800" dirty="0">
                <a:cs typeface="Calibri" panose="020F0502020204030204" pitchFamily="34" charset="0"/>
              </a:rPr>
              <a:t> עושים זאת על ידי שליחת הצהרות </a:t>
            </a:r>
            <a:r>
              <a:rPr lang="en-US" sz="1800" dirty="0">
                <a:cs typeface="Calibri" panose="020F0502020204030204" pitchFamily="34" charset="0"/>
              </a:rPr>
              <a:t>T-SQL</a:t>
            </a:r>
            <a:r>
              <a:rPr lang="he-IL" sz="1800" dirty="0">
                <a:cs typeface="Calibri" panose="020F0502020204030204" pitchFamily="34" charset="0"/>
              </a:rPr>
              <a:t> לשרת. שאילתות </a:t>
            </a:r>
            <a:r>
              <a:rPr lang="en-US" sz="1800" dirty="0">
                <a:cs typeface="Calibri" panose="020F0502020204030204" pitchFamily="34" charset="0"/>
              </a:rPr>
              <a:t>T-SQL</a:t>
            </a:r>
            <a:r>
              <a:rPr lang="he-IL" sz="1800" dirty="0">
                <a:cs typeface="Calibri" panose="020F0502020204030204" pitchFamily="34" charset="0"/>
              </a:rPr>
              <a:t> כוללות את המשפט </a:t>
            </a:r>
            <a:r>
              <a:rPr lang="en-US" sz="1800" dirty="0">
                <a:cs typeface="Calibri" panose="020F0502020204030204" pitchFamily="34" charset="0"/>
              </a:rPr>
              <a:t>SELECT</a:t>
            </a:r>
            <a:r>
              <a:rPr lang="he-IL" sz="1800" dirty="0">
                <a:cs typeface="Calibri" panose="020F0502020204030204" pitchFamily="34" charset="0"/>
              </a:rPr>
              <a:t>, בחירת עמודות, תיוג עמודות פלט, הגבלת שורות ושינוי תנאי חיפוש.</a:t>
            </a: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02D8543-62B5-4AEF-AB4C-74C9A2BADE28}"/>
              </a:ext>
            </a:extLst>
          </p:cNvPr>
          <p:cNvSpPr>
            <a:spLocks noGrp="1"/>
          </p:cNvSpPr>
          <p:nvPr>
            <p:ph type="title"/>
          </p:nvPr>
        </p:nvSpPr>
        <p:spPr/>
        <p:txBody>
          <a:bodyPr/>
          <a:lstStyle/>
          <a:p>
            <a:r>
              <a:rPr lang="en-US" dirty="0"/>
              <a:t>TSQL</a:t>
            </a:r>
            <a:endParaRPr lang="he-IL" dirty="0"/>
          </a:p>
        </p:txBody>
      </p:sp>
      <p:sp>
        <p:nvSpPr>
          <p:cNvPr id="4" name="מציין מיקום של מספר שקופית 3">
            <a:extLst>
              <a:ext uri="{FF2B5EF4-FFF2-40B4-BE49-F238E27FC236}">
                <a16:creationId xmlns:a16="http://schemas.microsoft.com/office/drawing/2014/main" id="{F8E2123C-A24E-42B8-A232-8E4D0683E8E2}"/>
              </a:ext>
            </a:extLst>
          </p:cNvPr>
          <p:cNvSpPr>
            <a:spLocks noGrp="1"/>
          </p:cNvSpPr>
          <p:nvPr>
            <p:ph type="sldNum" sz="quarter" idx="11"/>
          </p:nvPr>
        </p:nvSpPr>
        <p:spPr/>
        <p:txBody>
          <a:bodyPr/>
          <a:lstStyle/>
          <a:p>
            <a:fld id="{746FD205-8D79-439C-A802-2377436AEC8A}" type="slidenum">
              <a:rPr lang="he-IL" smtClean="0"/>
              <a:pPr/>
              <a:t>121</a:t>
            </a:fld>
            <a:endParaRPr lang="he-IL"/>
          </a:p>
        </p:txBody>
      </p:sp>
    </p:spTree>
    <p:extLst>
      <p:ext uri="{BB962C8B-B14F-4D97-AF65-F5344CB8AC3E}">
        <p14:creationId xmlns:p14="http://schemas.microsoft.com/office/powerpoint/2010/main" val="100754203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E537DBE-4939-4F85-B4A6-D018EBA6E050}"/>
              </a:ext>
            </a:extLst>
          </p:cNvPr>
          <p:cNvSpPr>
            <a:spLocks noGrp="1"/>
          </p:cNvSpPr>
          <p:nvPr>
            <p:ph idx="1"/>
          </p:nvPr>
        </p:nvSpPr>
        <p:spPr/>
        <p:txBody>
          <a:bodyPr>
            <a:normAutofit/>
          </a:bodyPr>
          <a:lstStyle/>
          <a:p>
            <a:pPr rtl="1">
              <a:buFont typeface="Courier New" panose="02070309020205020404" pitchFamily="49" charset="0"/>
              <a:buChar char="o"/>
            </a:pPr>
            <a:r>
              <a:rPr lang="he-IL" sz="1800" dirty="0">
                <a:cs typeface="Calibri" panose="020F0502020204030204" pitchFamily="34" charset="0"/>
              </a:rPr>
              <a:t>הצהרת ה-</a:t>
            </a:r>
            <a:r>
              <a:rPr lang="en-US" sz="1800" dirty="0">
                <a:cs typeface="Calibri" panose="020F0502020204030204" pitchFamily="34" charset="0"/>
              </a:rPr>
              <a:t>T-SQL</a:t>
            </a:r>
            <a:r>
              <a:rPr lang="he-IL" sz="1800" dirty="0">
                <a:cs typeface="Calibri" panose="020F0502020204030204" pitchFamily="34" charset="0"/>
              </a:rPr>
              <a:t> הפופולרית ביותר היא הפרוצדורה המאוחסנת, שהיא קוד </a:t>
            </a:r>
            <a:r>
              <a:rPr lang="en-US" sz="1800" dirty="0">
                <a:cs typeface="Calibri" panose="020F0502020204030204" pitchFamily="34" charset="0"/>
              </a:rPr>
              <a:t>T-SQL</a:t>
            </a:r>
            <a:r>
              <a:rPr lang="he-IL" sz="1800" dirty="0">
                <a:cs typeface="Calibri" panose="020F0502020204030204" pitchFamily="34" charset="0"/>
              </a:rPr>
              <a:t> מקומפל ומאוחסן. בדומה ל </a:t>
            </a:r>
            <a:r>
              <a:rPr lang="en-US" sz="1800" dirty="0">
                <a:cs typeface="Calibri" panose="020F0502020204030204" pitchFamily="34" charset="0"/>
              </a:rPr>
              <a:t>views</a:t>
            </a:r>
            <a:r>
              <a:rPr lang="he-IL" sz="1800" dirty="0">
                <a:cs typeface="Calibri" panose="020F0502020204030204" pitchFamily="34" charset="0"/>
              </a:rPr>
              <a:t>, פרוצדורות מייצרות </a:t>
            </a:r>
            <a:r>
              <a:rPr lang="he-IL" sz="1800" dirty="0" err="1">
                <a:cs typeface="Calibri" panose="020F0502020204030204" pitchFamily="34" charset="0"/>
              </a:rPr>
              <a:t>תוכנית</a:t>
            </a:r>
            <a:r>
              <a:rPr lang="he-IL" sz="1800" dirty="0">
                <a:cs typeface="Calibri" panose="020F0502020204030204" pitchFamily="34" charset="0"/>
              </a:rPr>
              <a:t> ביצוע כאשר קוראים להן בפעם הראשונה. ההבדל הוא שפרוצדורות יכולות לבחור נתונים ולהפעיל כל קוד </a:t>
            </a:r>
            <a:r>
              <a:rPr lang="en-US" sz="1800" dirty="0">
                <a:cs typeface="Calibri" panose="020F0502020204030204" pitchFamily="34" charset="0"/>
              </a:rPr>
              <a:t>T-SQL</a:t>
            </a:r>
            <a:r>
              <a:rPr lang="he-IL" sz="1800" dirty="0">
                <a:cs typeface="Calibri" panose="020F0502020204030204" pitchFamily="34" charset="0"/>
              </a:rPr>
              <a:t> בתוך כל פרמטר.</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פונקציות מוגדרות על ידי משתמש הן דוגמה נוספת להצהרות </a:t>
            </a:r>
            <a:r>
              <a:rPr lang="en-US" sz="1800" dirty="0">
                <a:cs typeface="Calibri" panose="020F0502020204030204" pitchFamily="34" charset="0"/>
              </a:rPr>
              <a:t>T-SQL</a:t>
            </a:r>
            <a:r>
              <a:rPr lang="he-IL" sz="1800" dirty="0">
                <a:cs typeface="Calibri" panose="020F0502020204030204" pitchFamily="34" charset="0"/>
              </a:rPr>
              <a:t>. פונקציות מוגדרות על ידי משתמש לוקחות פרמטרים של קלט, מבצעות פעולה ומחזירות את התוצאות לקריאה.</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טריגר- סקריפט </a:t>
            </a:r>
            <a:r>
              <a:rPr lang="en-US" sz="1800" dirty="0">
                <a:cs typeface="Calibri" panose="020F0502020204030204" pitchFamily="34" charset="0"/>
              </a:rPr>
              <a:t>T-SQL</a:t>
            </a:r>
            <a:r>
              <a:rPr lang="he-IL" sz="1800" dirty="0">
                <a:cs typeface="Calibri" panose="020F0502020204030204" pitchFamily="34" charset="0"/>
              </a:rPr>
              <a:t> מאוחסן שפועל כאשר מונפקת הצהרה שאינה </a:t>
            </a:r>
            <a:r>
              <a:rPr lang="en-US" sz="1800" dirty="0">
                <a:cs typeface="Calibri" panose="020F0502020204030204" pitchFamily="34" charset="0"/>
              </a:rPr>
              <a:t>SELECT</a:t>
            </a:r>
            <a:r>
              <a:rPr lang="he-IL" sz="1800" dirty="0">
                <a:cs typeface="Calibri" panose="020F0502020204030204" pitchFamily="34" charset="0"/>
              </a:rPr>
              <a:t> כנגד טבלה או תצוגה. שני הטריגרים הנפוצים הם </a:t>
            </a:r>
            <a:r>
              <a:rPr lang="en-US" sz="1800" dirty="0">
                <a:cs typeface="Calibri" panose="020F0502020204030204" pitchFamily="34" charset="0"/>
              </a:rPr>
              <a:t>AFTER</a:t>
            </a:r>
            <a:r>
              <a:rPr lang="he-IL" sz="1800" dirty="0">
                <a:cs typeface="Calibri" panose="020F0502020204030204" pitchFamily="34" charset="0"/>
              </a:rPr>
              <a:t> טריגרים ו-</a:t>
            </a:r>
            <a:r>
              <a:rPr lang="en-US" sz="1800" dirty="0">
                <a:cs typeface="Calibri" panose="020F0502020204030204" pitchFamily="34" charset="0"/>
              </a:rPr>
              <a:t>INSTEAD OF</a:t>
            </a:r>
            <a:r>
              <a:rPr lang="he-IL" sz="1800" dirty="0">
                <a:cs typeface="Calibri" panose="020F0502020204030204" pitchFamily="34" charset="0"/>
              </a:rPr>
              <a:t> טריגרים.</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תכנות הצהרות </a:t>
            </a:r>
            <a:r>
              <a:rPr lang="en-US" sz="1800" dirty="0">
                <a:cs typeface="Calibri" panose="020F0502020204030204" pitchFamily="34" charset="0"/>
              </a:rPr>
              <a:t>T-SQL</a:t>
            </a:r>
            <a:r>
              <a:rPr lang="he-IL" sz="1800" dirty="0">
                <a:cs typeface="Calibri" panose="020F0502020204030204" pitchFamily="34" charset="0"/>
              </a:rPr>
              <a:t> מאפשר למקצועני </a:t>
            </a:r>
            <a:r>
              <a:rPr lang="en-US" sz="1800" dirty="0">
                <a:cs typeface="Calibri" panose="020F0502020204030204" pitchFamily="34" charset="0"/>
              </a:rPr>
              <a:t>IT</a:t>
            </a:r>
            <a:r>
              <a:rPr lang="he-IL" sz="1800" dirty="0">
                <a:cs typeface="Calibri" panose="020F0502020204030204" pitchFamily="34" charset="0"/>
              </a:rPr>
              <a:t> לבנות יישומים הכלולים בתוך </a:t>
            </a:r>
            <a:r>
              <a:rPr lang="en-US" sz="1800" dirty="0">
                <a:cs typeface="Calibri" panose="020F0502020204030204" pitchFamily="34" charset="0"/>
              </a:rPr>
              <a:t>SQL Server</a:t>
            </a:r>
            <a:r>
              <a:rPr lang="he-IL" sz="1800" dirty="0">
                <a:cs typeface="Calibri" panose="020F0502020204030204" pitchFamily="34" charset="0"/>
              </a:rPr>
              <a:t>. יישומים אלה -- או אובייקטים -- יכולים להוסיף, לעדכן, למחוק או לקרוא נתונים המאוחסנים במסד נתונים.</a:t>
            </a:r>
            <a:endParaRPr lang="en-US" sz="1800" dirty="0">
              <a:cs typeface="Calibri" panose="020F0502020204030204" pitchFamily="34" charset="0"/>
            </a:endParaRPr>
          </a:p>
          <a:p>
            <a:pPr rtl="1">
              <a:buFont typeface="Courier New" panose="02070309020205020404" pitchFamily="49" charset="0"/>
              <a:buChar char="o"/>
            </a:pPr>
            <a:r>
              <a:rPr lang="he-IL" sz="1800" dirty="0">
                <a:cs typeface="Calibri" panose="020F0502020204030204" pitchFamily="34" charset="0"/>
              </a:rPr>
              <a:t>אינטגרציה של זמן ריצה משותפת (</a:t>
            </a:r>
            <a:r>
              <a:rPr lang="en-US" sz="1800" dirty="0">
                <a:cs typeface="Calibri" panose="020F0502020204030204" pitchFamily="34" charset="0"/>
              </a:rPr>
              <a:t>CLR</a:t>
            </a:r>
            <a:r>
              <a:rPr lang="he-IL" sz="1800" dirty="0">
                <a:cs typeface="Calibri" panose="020F0502020204030204" pitchFamily="34" charset="0"/>
              </a:rPr>
              <a:t>) היא הדוגמה האחרונה של הצהרת </a:t>
            </a:r>
            <a:r>
              <a:rPr lang="en-US" sz="1800" dirty="0">
                <a:cs typeface="Calibri" panose="020F0502020204030204" pitchFamily="34" charset="0"/>
              </a:rPr>
              <a:t>T-SQL</a:t>
            </a:r>
            <a:r>
              <a:rPr lang="he-IL" sz="1800" dirty="0">
                <a:cs typeface="Calibri" panose="020F0502020204030204" pitchFamily="34" charset="0"/>
              </a:rPr>
              <a:t>. מאז </a:t>
            </a:r>
            <a:r>
              <a:rPr lang="en-US" sz="1800" dirty="0">
                <a:cs typeface="Calibri" panose="020F0502020204030204" pitchFamily="34" charset="0"/>
              </a:rPr>
              <a:t>SQL Server 2005</a:t>
            </a:r>
            <a:r>
              <a:rPr lang="he-IL" sz="1800" dirty="0">
                <a:cs typeface="Calibri" panose="020F0502020204030204" pitchFamily="34" charset="0"/>
              </a:rPr>
              <a:t>, אנשי </a:t>
            </a:r>
            <a:r>
              <a:rPr lang="en-US" sz="1800" dirty="0">
                <a:cs typeface="Calibri" panose="020F0502020204030204" pitchFamily="34" charset="0"/>
              </a:rPr>
              <a:t>IT</a:t>
            </a:r>
            <a:r>
              <a:rPr lang="he-IL" sz="1800" dirty="0">
                <a:cs typeface="Calibri" panose="020F0502020204030204" pitchFamily="34" charset="0"/>
              </a:rPr>
              <a:t> יכולים להשתלב עם .</a:t>
            </a:r>
            <a:r>
              <a:rPr lang="en-US" sz="1800" dirty="0">
                <a:cs typeface="Calibri" panose="020F0502020204030204" pitchFamily="34" charset="0"/>
              </a:rPr>
              <a:t>NET Framework CLR</a:t>
            </a:r>
            <a:r>
              <a:rPr lang="he-IL" sz="1800" dirty="0">
                <a:cs typeface="Calibri" panose="020F0502020204030204" pitchFamily="34" charset="0"/>
              </a:rPr>
              <a:t>. זה מאפשר לך להשתמש בשפות תכנות </a:t>
            </a:r>
            <a:r>
              <a:rPr lang="en-US" sz="1800" dirty="0">
                <a:cs typeface="Calibri" panose="020F0502020204030204" pitchFamily="34" charset="0"/>
              </a:rPr>
              <a:t>NET</a:t>
            </a:r>
            <a:r>
              <a:rPr lang="he-IL" sz="1800" dirty="0">
                <a:cs typeface="Calibri" panose="020F0502020204030204" pitchFamily="34" charset="0"/>
              </a:rPr>
              <a:t> בתוך </a:t>
            </a:r>
            <a:r>
              <a:rPr lang="he-IL" sz="1800" dirty="0" err="1">
                <a:cs typeface="Calibri" panose="020F0502020204030204" pitchFamily="34" charset="0"/>
              </a:rPr>
              <a:t>אובייקטי</a:t>
            </a:r>
            <a:r>
              <a:rPr lang="he-IL" sz="1800" dirty="0">
                <a:cs typeface="Calibri" panose="020F0502020204030204" pitchFamily="34" charset="0"/>
              </a:rPr>
              <a:t> </a:t>
            </a:r>
            <a:r>
              <a:rPr lang="en-US" sz="1800" dirty="0">
                <a:cs typeface="Calibri" panose="020F0502020204030204" pitchFamily="34" charset="0"/>
              </a:rPr>
              <a:t>SQL Server</a:t>
            </a:r>
            <a:r>
              <a:rPr lang="he-IL" sz="1800" dirty="0">
                <a:cs typeface="Calibri" panose="020F0502020204030204" pitchFamily="34" charset="0"/>
              </a:rPr>
              <a:t> כדי ליצור פרוצדורות מאוחסנות, פונקציות מוגדרות על ידי משתמש וטריגרים.</a:t>
            </a:r>
            <a:endParaRPr lang="en-US"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5F061DF-494F-4AB3-9717-0C6BDE80F91A}"/>
              </a:ext>
            </a:extLst>
          </p:cNvPr>
          <p:cNvSpPr>
            <a:spLocks noGrp="1"/>
          </p:cNvSpPr>
          <p:nvPr>
            <p:ph type="title"/>
          </p:nvPr>
        </p:nvSpPr>
        <p:spPr/>
        <p:txBody>
          <a:bodyPr>
            <a:normAutofit fontScale="90000"/>
          </a:bodyPr>
          <a:lstStyle/>
          <a:p>
            <a:pPr rtl="1"/>
            <a:br>
              <a:rPr lang="he-IL" dirty="0"/>
            </a:br>
            <a:r>
              <a:rPr lang="he-IL" dirty="0"/>
              <a:t>דוגמאות להצהרות </a:t>
            </a:r>
            <a:r>
              <a:rPr lang="en-US" dirty="0"/>
              <a:t>TSQL</a:t>
            </a:r>
            <a:endParaRPr lang="he-IL" dirty="0"/>
          </a:p>
        </p:txBody>
      </p:sp>
      <p:sp>
        <p:nvSpPr>
          <p:cNvPr id="4" name="מציין מיקום של מספר שקופית 3">
            <a:extLst>
              <a:ext uri="{FF2B5EF4-FFF2-40B4-BE49-F238E27FC236}">
                <a16:creationId xmlns:a16="http://schemas.microsoft.com/office/drawing/2014/main" id="{EE03A055-1363-46A1-A371-71761D4640CD}"/>
              </a:ext>
            </a:extLst>
          </p:cNvPr>
          <p:cNvSpPr>
            <a:spLocks noGrp="1"/>
          </p:cNvSpPr>
          <p:nvPr>
            <p:ph type="sldNum" sz="quarter" idx="11"/>
          </p:nvPr>
        </p:nvSpPr>
        <p:spPr/>
        <p:txBody>
          <a:bodyPr/>
          <a:lstStyle/>
          <a:p>
            <a:fld id="{746FD205-8D79-439C-A802-2377436AEC8A}" type="slidenum">
              <a:rPr lang="he-IL" smtClean="0"/>
              <a:pPr/>
              <a:t>122</a:t>
            </a:fld>
            <a:endParaRPr lang="he-IL"/>
          </a:p>
        </p:txBody>
      </p:sp>
    </p:spTree>
    <p:extLst>
      <p:ext uri="{BB962C8B-B14F-4D97-AF65-F5344CB8AC3E}">
        <p14:creationId xmlns:p14="http://schemas.microsoft.com/office/powerpoint/2010/main" val="36990652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91F64B8-4005-4098-8419-F820AB593D38}"/>
              </a:ext>
            </a:extLst>
          </p:cNvPr>
          <p:cNvSpPr>
            <a:spLocks noGrp="1"/>
          </p:cNvSpPr>
          <p:nvPr>
            <p:ph idx="1"/>
          </p:nvPr>
        </p:nvSpPr>
        <p:spPr/>
        <p:txBody>
          <a:bodyPr>
            <a:normAutofit/>
          </a:bodyPr>
          <a:lstStyle/>
          <a:p>
            <a:pPr lvl="0" rtl="1">
              <a:buFont typeface="Courier New" panose="02070309020205020404" pitchFamily="49" charset="0"/>
              <a:buChar char="o"/>
            </a:pPr>
            <a:r>
              <a:rPr lang="en-US" sz="1800" dirty="0">
                <a:cs typeface="Calibri" panose="020F0502020204030204" pitchFamily="34" charset="0"/>
              </a:rPr>
              <a:t>SQL</a:t>
            </a:r>
            <a:r>
              <a:rPr lang="he-IL" sz="1800" dirty="0">
                <a:cs typeface="Calibri" panose="020F0502020204030204" pitchFamily="34" charset="0"/>
              </a:rPr>
              <a:t> מתוכנן כהגדרת נתונים (</a:t>
            </a:r>
            <a:r>
              <a:rPr lang="en-US" sz="1800" dirty="0">
                <a:cs typeface="Calibri" panose="020F0502020204030204" pitchFamily="34" charset="0"/>
              </a:rPr>
              <a:t>DDL</a:t>
            </a:r>
            <a:r>
              <a:rPr lang="he-IL" sz="1800" dirty="0">
                <a:cs typeface="Calibri" panose="020F0502020204030204" pitchFamily="34" charset="0"/>
              </a:rPr>
              <a:t>) ושפת מניפולציה של נתונים (</a:t>
            </a:r>
            <a:r>
              <a:rPr lang="en-US" sz="1800" dirty="0">
                <a:cs typeface="Calibri" panose="020F0502020204030204" pitchFamily="34" charset="0"/>
              </a:rPr>
              <a:t>DML</a:t>
            </a:r>
            <a:r>
              <a:rPr lang="he-IL" sz="1800" dirty="0">
                <a:cs typeface="Calibri" panose="020F0502020204030204" pitchFamily="34" charset="0"/>
              </a:rPr>
              <a:t>). </a:t>
            </a:r>
            <a:r>
              <a:rPr lang="en-US" sz="1800" dirty="0">
                <a:cs typeface="Calibri" panose="020F0502020204030204" pitchFamily="34" charset="0"/>
              </a:rPr>
              <a:t>TSQL</a:t>
            </a:r>
            <a:r>
              <a:rPr lang="he-IL" sz="1800" dirty="0">
                <a:cs typeface="Calibri" panose="020F0502020204030204" pitchFamily="34" charset="0"/>
              </a:rPr>
              <a:t> הוא הרחבה </a:t>
            </a:r>
            <a:r>
              <a:rPr lang="en-US" sz="1800" dirty="0">
                <a:cs typeface="Calibri" panose="020F0502020204030204" pitchFamily="34" charset="0"/>
              </a:rPr>
              <a:t>Control-of-Flow</a:t>
            </a:r>
            <a:r>
              <a:rPr lang="he-IL" sz="1800" dirty="0">
                <a:cs typeface="Calibri" panose="020F0502020204030204" pitchFamily="34" charset="0"/>
              </a:rPr>
              <a:t>; חלק מהפקודות שלו מגדירות את סדר ביצוע ההצהרות בפרוצדורה מאוחסנת או קבוצת פקודות.</a:t>
            </a:r>
            <a:endParaRPr lang="en-US" sz="1800" dirty="0">
              <a:cs typeface="Calibri" panose="020F0502020204030204" pitchFamily="34" charset="0"/>
            </a:endParaRPr>
          </a:p>
          <a:p>
            <a:pPr lvl="0" rtl="1">
              <a:buFont typeface="Courier New" panose="02070309020205020404" pitchFamily="49" charset="0"/>
              <a:buChar char="o"/>
            </a:pPr>
            <a:r>
              <a:rPr lang="en-US" sz="1800" dirty="0">
                <a:cs typeface="Calibri" panose="020F0502020204030204" pitchFamily="34" charset="0"/>
              </a:rPr>
              <a:t>SQL</a:t>
            </a:r>
            <a:r>
              <a:rPr lang="he-IL" sz="1800" dirty="0">
                <a:cs typeface="Calibri" panose="020F0502020204030204" pitchFamily="34" charset="0"/>
              </a:rPr>
              <a:t> הוא סטנדרטי לשימוש במערכות מסד נתונים יחסיות מרובות, כולל </a:t>
            </a:r>
            <a:r>
              <a:rPr lang="en-US" sz="1800" dirty="0">
                <a:cs typeface="Calibri" panose="020F0502020204030204" pitchFamily="34" charset="0"/>
              </a:rPr>
              <a:t>SQL Server Oracle, MySQL</a:t>
            </a:r>
            <a:r>
              <a:rPr lang="he-IL" sz="1800" dirty="0">
                <a:cs typeface="Calibri" panose="020F0502020204030204" pitchFamily="34" charset="0"/>
              </a:rPr>
              <a:t> ו-</a:t>
            </a:r>
            <a:r>
              <a:rPr lang="en-US" sz="1800" dirty="0">
                <a:cs typeface="Calibri" panose="020F0502020204030204" pitchFamily="34" charset="0"/>
              </a:rPr>
              <a:t>PostgreSQL</a:t>
            </a:r>
            <a:r>
              <a:rPr lang="he-IL" sz="1800" dirty="0">
                <a:cs typeface="Calibri" panose="020F0502020204030204" pitchFamily="34" charset="0"/>
              </a:rPr>
              <a:t>. </a:t>
            </a:r>
            <a:r>
              <a:rPr lang="en-US" sz="1800" dirty="0">
                <a:cs typeface="Calibri" panose="020F0502020204030204" pitchFamily="34" charset="0"/>
              </a:rPr>
              <a:t>TSQL</a:t>
            </a:r>
            <a:r>
              <a:rPr lang="he-IL" sz="1800" dirty="0">
                <a:cs typeface="Calibri" panose="020F0502020204030204" pitchFamily="34" charset="0"/>
              </a:rPr>
              <a:t>בינתיים, תואם ל-</a:t>
            </a:r>
            <a:r>
              <a:rPr lang="en-US" sz="1800" dirty="0">
                <a:cs typeface="Calibri" panose="020F0502020204030204" pitchFamily="34" charset="0"/>
              </a:rPr>
              <a:t>SQL Server</a:t>
            </a:r>
            <a:r>
              <a:rPr lang="he-IL" sz="1800" dirty="0">
                <a:cs typeface="Calibri" panose="020F0502020204030204" pitchFamily="34" charset="0"/>
              </a:rPr>
              <a:t> ול-</a:t>
            </a:r>
            <a:r>
              <a:rPr lang="en-US" sz="1800" dirty="0">
                <a:cs typeface="Calibri" panose="020F0502020204030204" pitchFamily="34" charset="0"/>
              </a:rPr>
              <a:t>Azure SQL</a:t>
            </a:r>
            <a:r>
              <a:rPr lang="he-IL" sz="1800" dirty="0">
                <a:cs typeface="Calibri" panose="020F0502020204030204" pitchFamily="34" charset="0"/>
              </a:rPr>
              <a:t> בלבד.</a:t>
            </a:r>
            <a:endParaRPr lang="en-US" sz="1800" dirty="0">
              <a:cs typeface="Calibri" panose="020F0502020204030204" pitchFamily="34" charset="0"/>
            </a:endParaRPr>
          </a:p>
          <a:p>
            <a:pPr lvl="0" rtl="1">
              <a:buFont typeface="Courier New" panose="02070309020205020404" pitchFamily="49" charset="0"/>
              <a:buChar char="o"/>
            </a:pPr>
            <a:r>
              <a:rPr lang="he-IL" sz="1800" dirty="0">
                <a:cs typeface="Calibri" panose="020F0502020204030204" pitchFamily="34" charset="0"/>
              </a:rPr>
              <a:t>הצהרות </a:t>
            </a:r>
            <a:r>
              <a:rPr lang="en-US" sz="1800" dirty="0">
                <a:cs typeface="Calibri" panose="020F0502020204030204" pitchFamily="34" charset="0"/>
              </a:rPr>
              <a:t>SQL</a:t>
            </a:r>
            <a:r>
              <a:rPr lang="he-IL" sz="1800" dirty="0">
                <a:cs typeface="Calibri" panose="020F0502020204030204" pitchFamily="34" charset="0"/>
              </a:rPr>
              <a:t> מעובדות בכל פעם, בעוד ש-</a:t>
            </a:r>
            <a:r>
              <a:rPr lang="en-US" sz="1800" dirty="0">
                <a:cs typeface="Calibri" panose="020F0502020204030204" pitchFamily="34" charset="0"/>
              </a:rPr>
              <a:t>T-SQL</a:t>
            </a:r>
            <a:r>
              <a:rPr lang="he-IL" sz="1800" dirty="0">
                <a:cs typeface="Calibri" panose="020F0502020204030204" pitchFamily="34" charset="0"/>
              </a:rPr>
              <a:t> מעבד את הקוד כבלוק, בצורה הגיונית, מובנית היטב, פרוצדורלית.</a:t>
            </a:r>
            <a:endParaRPr lang="en-US" sz="1800" dirty="0">
              <a:cs typeface="Calibri" panose="020F0502020204030204" pitchFamily="34" charset="0"/>
            </a:endParaRPr>
          </a:p>
          <a:p>
            <a:pPr lvl="0" rtl="1">
              <a:buFont typeface="Courier New" panose="02070309020205020404" pitchFamily="49" charset="0"/>
              <a:buChar char="o"/>
            </a:pPr>
            <a:r>
              <a:rPr lang="he-IL" sz="1800" dirty="0">
                <a:cs typeface="Calibri" panose="020F0502020204030204" pitchFamily="34" charset="0"/>
              </a:rPr>
              <a:t>לבסוף, ל-</a:t>
            </a:r>
            <a:r>
              <a:rPr lang="en-US" sz="1800" dirty="0">
                <a:cs typeface="Calibri" panose="020F0502020204030204" pitchFamily="34" charset="0"/>
              </a:rPr>
              <a:t>T-SQL</a:t>
            </a:r>
            <a:r>
              <a:rPr lang="he-IL" sz="1800" dirty="0">
                <a:cs typeface="Calibri" panose="020F0502020204030204" pitchFamily="34" charset="0"/>
              </a:rPr>
              <a:t> יש כמה הבדלים במילות מפתח והוא מציע פונקציות שחסרות ב-</a:t>
            </a:r>
            <a:r>
              <a:rPr lang="en-US" sz="1800" dirty="0">
                <a:cs typeface="Calibri" panose="020F0502020204030204" pitchFamily="34" charset="0"/>
              </a:rPr>
              <a:t>SQL</a:t>
            </a:r>
            <a:r>
              <a:rPr lang="he-IL" sz="1800" dirty="0">
                <a:cs typeface="Calibri" panose="020F0502020204030204" pitchFamily="34" charset="0"/>
              </a:rPr>
              <a:t> הרגיל.</a:t>
            </a:r>
            <a:endParaRPr lang="en-US"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871DA103-71A1-4AF2-8328-72FB664DFA44}"/>
              </a:ext>
            </a:extLst>
          </p:cNvPr>
          <p:cNvSpPr>
            <a:spLocks noGrp="1"/>
          </p:cNvSpPr>
          <p:nvPr>
            <p:ph type="title"/>
          </p:nvPr>
        </p:nvSpPr>
        <p:spPr/>
        <p:txBody>
          <a:bodyPr>
            <a:normAutofit fontScale="90000"/>
          </a:bodyPr>
          <a:lstStyle/>
          <a:p>
            <a:pPr rtl="1"/>
            <a:br>
              <a:rPr lang="en-US" dirty="0"/>
            </a:br>
            <a:r>
              <a:rPr lang="he-IL" dirty="0"/>
              <a:t>ההבדלים בין </a:t>
            </a:r>
            <a:r>
              <a:rPr lang="en-US" dirty="0"/>
              <a:t>TSQL</a:t>
            </a:r>
            <a:r>
              <a:rPr lang="he-IL" dirty="0"/>
              <a:t> ל </a:t>
            </a:r>
            <a:r>
              <a:rPr lang="en-US" dirty="0"/>
              <a:t>SQL</a:t>
            </a:r>
            <a:endParaRPr lang="he-IL" dirty="0"/>
          </a:p>
        </p:txBody>
      </p:sp>
      <p:sp>
        <p:nvSpPr>
          <p:cNvPr id="4" name="מציין מיקום של מספר שקופית 3">
            <a:extLst>
              <a:ext uri="{FF2B5EF4-FFF2-40B4-BE49-F238E27FC236}">
                <a16:creationId xmlns:a16="http://schemas.microsoft.com/office/drawing/2014/main" id="{DE6FFC8A-350F-4171-AA31-CC067C4F6940}"/>
              </a:ext>
            </a:extLst>
          </p:cNvPr>
          <p:cNvSpPr>
            <a:spLocks noGrp="1"/>
          </p:cNvSpPr>
          <p:nvPr>
            <p:ph type="sldNum" sz="quarter" idx="11"/>
          </p:nvPr>
        </p:nvSpPr>
        <p:spPr/>
        <p:txBody>
          <a:bodyPr/>
          <a:lstStyle/>
          <a:p>
            <a:fld id="{746FD205-8D79-439C-A802-2377436AEC8A}" type="slidenum">
              <a:rPr lang="he-IL" smtClean="0"/>
              <a:pPr/>
              <a:t>123</a:t>
            </a:fld>
            <a:endParaRPr lang="he-IL"/>
          </a:p>
        </p:txBody>
      </p:sp>
    </p:spTree>
    <p:extLst>
      <p:ext uri="{BB962C8B-B14F-4D97-AF65-F5344CB8AC3E}">
        <p14:creationId xmlns:p14="http://schemas.microsoft.com/office/powerpoint/2010/main" val="42068711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3700E75-6FE8-4A07-9579-C7CE8DD4AE2F}"/>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הגדרת משתנים</a:t>
            </a:r>
            <a:endParaRPr lang="en-US" sz="1800" dirty="0">
              <a:cs typeface="Calibri" panose="020F0502020204030204" pitchFamily="34" charset="0"/>
            </a:endParaRPr>
          </a:p>
          <a:p>
            <a:pPr marL="64008" indent="0" rtl="1">
              <a:buNone/>
            </a:pPr>
            <a:r>
              <a:rPr lang="he-IL" sz="1800" dirty="0">
                <a:cs typeface="Calibri" panose="020F0502020204030204" pitchFamily="34" charset="0"/>
              </a:rPr>
              <a:t>כדי להגדיר משתנה חדש משתמשים במילה</a:t>
            </a:r>
            <a:r>
              <a:rPr lang="en-US" sz="1800" dirty="0">
                <a:cs typeface="Calibri" panose="020F0502020204030204" pitchFamily="34" charset="0"/>
              </a:rPr>
              <a:t> Declare </a:t>
            </a:r>
            <a:r>
              <a:rPr lang="he-IL" sz="1800" dirty="0">
                <a:cs typeface="Calibri" panose="020F0502020204030204" pitchFamily="34" charset="0"/>
              </a:rPr>
              <a:t>("הגדר" באנגלית), שם המשתנה שלנו סוג הערכים</a:t>
            </a:r>
            <a:r>
              <a:rPr lang="en-US" sz="1800" dirty="0">
                <a:cs typeface="Calibri" panose="020F0502020204030204" pitchFamily="34" charset="0"/>
              </a:rPr>
              <a:t> (Data Type) </a:t>
            </a:r>
            <a:r>
              <a:rPr lang="he-IL" sz="1800" dirty="0">
                <a:cs typeface="Calibri" panose="020F0502020204030204" pitchFamily="34" charset="0"/>
              </a:rPr>
              <a:t>שהמשתנה הזה יהיה מסוגל להכיל</a:t>
            </a:r>
            <a:r>
              <a:rPr lang="en-US" sz="1800" dirty="0">
                <a:cs typeface="Calibri" panose="020F0502020204030204" pitchFamily="34" charset="0"/>
              </a:rPr>
              <a:t>. </a:t>
            </a:r>
          </a:p>
          <a:p>
            <a:pPr marL="64008" indent="0" rtl="1">
              <a:buNone/>
            </a:pPr>
            <a:r>
              <a:rPr lang="he-IL" sz="1800" dirty="0">
                <a:cs typeface="Calibri" panose="020F0502020204030204" pitchFamily="34" charset="0"/>
              </a:rPr>
              <a:t>חשוב</a:t>
            </a:r>
            <a:r>
              <a:rPr lang="en-US" sz="1800" dirty="0">
                <a:cs typeface="Calibri" panose="020F0502020204030204" pitchFamily="34" charset="0"/>
              </a:rPr>
              <a:t>: </a:t>
            </a:r>
            <a:r>
              <a:rPr lang="he-IL" sz="1800" dirty="0">
                <a:cs typeface="Calibri" panose="020F0502020204030204" pitchFamily="34" charset="0"/>
              </a:rPr>
              <a:t>שם משתנה תמיד יתחיל עם הסימן</a:t>
            </a:r>
            <a:r>
              <a:rPr lang="en-US" sz="1800" dirty="0">
                <a:cs typeface="Calibri" panose="020F0502020204030204" pitchFamily="34" charset="0"/>
              </a:rPr>
              <a:t> "@".</a:t>
            </a:r>
            <a:endParaRPr lang="he-IL" sz="1800" dirty="0">
              <a:cs typeface="Calibri" panose="020F0502020204030204" pitchFamily="34" charset="0"/>
            </a:endParaRP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fontAlgn="base">
              <a:buNone/>
            </a:pPr>
            <a:r>
              <a:rPr lang="he-IL" sz="1800" dirty="0">
                <a:cs typeface="Calibri" panose="020F0502020204030204" pitchFamily="34" charset="0"/>
              </a:rPr>
              <a:t>אתחול משתנים</a:t>
            </a:r>
            <a:endParaRPr lang="en-US" sz="1800" dirty="0">
              <a:cs typeface="Calibri" panose="020F0502020204030204" pitchFamily="34" charset="0"/>
            </a:endParaRPr>
          </a:p>
          <a:p>
            <a:pPr marL="64008" indent="0" rtl="1" fontAlgn="base">
              <a:buNone/>
            </a:pPr>
            <a:r>
              <a:rPr lang="he-IL" sz="1800" dirty="0">
                <a:cs typeface="Calibri" panose="020F0502020204030204" pitchFamily="34" charset="0"/>
              </a:rPr>
              <a:t>לאחר הגדרת המשתנה ניתן להכניס לתוכו ערכים. פעולה זאת נקראת "אתחול" או "הצבה". ניתן לאתחל משתנים בשתי צורות. אתחול בערך סטטי ואתחול בערך דינאמי</a:t>
            </a:r>
            <a:r>
              <a:rPr lang="en-US" sz="1800" dirty="0">
                <a:cs typeface="Calibri" panose="020F0502020204030204" pitchFamily="34" charset="0"/>
              </a:rPr>
              <a:t>.</a:t>
            </a:r>
          </a:p>
          <a:p>
            <a:pPr marL="64008" indent="0" rtl="1" fontAlgn="base">
              <a:buNone/>
            </a:pPr>
            <a:r>
              <a:rPr lang="he-IL" sz="1800" dirty="0">
                <a:cs typeface="Calibri" panose="020F0502020204030204" pitchFamily="34" charset="0"/>
              </a:rPr>
              <a:t>אתחול משתנה בערך סטטי</a:t>
            </a:r>
            <a:endParaRPr lang="en-US" sz="1800" dirty="0">
              <a:cs typeface="Calibri" panose="020F0502020204030204" pitchFamily="34" charset="0"/>
            </a:endParaRPr>
          </a:p>
          <a:p>
            <a:pPr marL="64008" indent="0" rtl="1">
              <a:buNone/>
            </a:pPr>
            <a:r>
              <a:rPr lang="he-IL" sz="1800" dirty="0">
                <a:cs typeface="Calibri" panose="020F0502020204030204" pitchFamily="34" charset="0"/>
              </a:rPr>
              <a:t>כדי לאתחל משתנה לערך ספציפי ומוגדר, נשתמש במילה </a:t>
            </a:r>
            <a:r>
              <a:rPr lang="en-US" sz="1800" dirty="0">
                <a:cs typeface="Calibri" panose="020F0502020204030204" pitchFamily="34" charset="0"/>
              </a:rPr>
              <a:t>SET</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45F0F0E-4D1B-46C2-A71D-E813A13F4DBD}"/>
              </a:ext>
            </a:extLst>
          </p:cNvPr>
          <p:cNvSpPr>
            <a:spLocks noGrp="1"/>
          </p:cNvSpPr>
          <p:nvPr>
            <p:ph type="title"/>
          </p:nvPr>
        </p:nvSpPr>
        <p:spPr/>
        <p:txBody>
          <a:bodyPr/>
          <a:lstStyle/>
          <a:p>
            <a:pPr rtl="1"/>
            <a:r>
              <a:rPr lang="he-IL" dirty="0"/>
              <a:t>מדריך </a:t>
            </a:r>
            <a:r>
              <a:rPr lang="en-US" dirty="0"/>
              <a:t>TSQL</a:t>
            </a:r>
            <a:endParaRPr lang="he-IL" dirty="0"/>
          </a:p>
        </p:txBody>
      </p:sp>
      <p:sp>
        <p:nvSpPr>
          <p:cNvPr id="4" name="מציין מיקום של מספר שקופית 3">
            <a:extLst>
              <a:ext uri="{FF2B5EF4-FFF2-40B4-BE49-F238E27FC236}">
                <a16:creationId xmlns:a16="http://schemas.microsoft.com/office/drawing/2014/main" id="{5E4331D7-775D-4EED-A815-74280E0254B5}"/>
              </a:ext>
            </a:extLst>
          </p:cNvPr>
          <p:cNvSpPr>
            <a:spLocks noGrp="1"/>
          </p:cNvSpPr>
          <p:nvPr>
            <p:ph type="sldNum" sz="quarter" idx="11"/>
          </p:nvPr>
        </p:nvSpPr>
        <p:spPr/>
        <p:txBody>
          <a:bodyPr/>
          <a:lstStyle/>
          <a:p>
            <a:fld id="{746FD205-8D79-439C-A802-2377436AEC8A}" type="slidenum">
              <a:rPr lang="he-IL" smtClean="0"/>
              <a:pPr/>
              <a:t>124</a:t>
            </a:fld>
            <a:endParaRPr lang="he-IL"/>
          </a:p>
        </p:txBody>
      </p:sp>
      <p:pic>
        <p:nvPicPr>
          <p:cNvPr id="5" name="תמונה 4">
            <a:extLst>
              <a:ext uri="{FF2B5EF4-FFF2-40B4-BE49-F238E27FC236}">
                <a16:creationId xmlns:a16="http://schemas.microsoft.com/office/drawing/2014/main" id="{E55E6E5B-5E5F-4B17-8A52-8E5910348EBD}"/>
              </a:ext>
            </a:extLst>
          </p:cNvPr>
          <p:cNvPicPr/>
          <p:nvPr/>
        </p:nvPicPr>
        <p:blipFill>
          <a:blip r:embed="rId2"/>
          <a:stretch>
            <a:fillRect/>
          </a:stretch>
        </p:blipFill>
        <p:spPr>
          <a:xfrm>
            <a:off x="6400800" y="2819400"/>
            <a:ext cx="2105660" cy="533400"/>
          </a:xfrm>
          <a:prstGeom prst="rect">
            <a:avLst/>
          </a:prstGeom>
        </p:spPr>
      </p:pic>
    </p:spTree>
    <p:extLst>
      <p:ext uri="{BB962C8B-B14F-4D97-AF65-F5344CB8AC3E}">
        <p14:creationId xmlns:p14="http://schemas.microsoft.com/office/powerpoint/2010/main" val="237701740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9559F2C-13E2-41A9-AD0C-12436AF5041E}"/>
              </a:ext>
            </a:extLst>
          </p:cNvPr>
          <p:cNvSpPr>
            <a:spLocks noGrp="1"/>
          </p:cNvSpPr>
          <p:nvPr>
            <p:ph idx="1"/>
          </p:nvPr>
        </p:nvSpPr>
        <p:spPr/>
        <p:txBody>
          <a:bodyPr>
            <a:normAutofit/>
          </a:bodyPr>
          <a:lstStyle/>
          <a:p>
            <a:pPr marL="64008" indent="0" rtl="1" fontAlgn="base">
              <a:buNone/>
            </a:pPr>
            <a:r>
              <a:rPr lang="he-IL" sz="1800" dirty="0">
                <a:cs typeface="Calibri" panose="020F0502020204030204" pitchFamily="34" charset="0"/>
              </a:rPr>
              <a:t>אתחול משתנים</a:t>
            </a:r>
            <a:endParaRPr lang="en-US" sz="1800" dirty="0">
              <a:cs typeface="Calibri" panose="020F0502020204030204" pitchFamily="34" charset="0"/>
            </a:endParaRPr>
          </a:p>
          <a:p>
            <a:pPr marL="64008" indent="0" rtl="1" fontAlgn="base">
              <a:buNone/>
            </a:pPr>
            <a:r>
              <a:rPr lang="he-IL" sz="1800" dirty="0">
                <a:cs typeface="Calibri" panose="020F0502020204030204" pitchFamily="34" charset="0"/>
              </a:rPr>
              <a:t>לאחר הגדרת המשתנה ניתן להכניס לתוכו ערכים. פעולה זאת נקראת "אתחול" או "הצבה". ניתן לאתחל משתנים בשתי צורות. אתחול בערך סטטי ואתחול בערך דינאמי</a:t>
            </a:r>
            <a:r>
              <a:rPr lang="en-US" sz="1800" dirty="0">
                <a:cs typeface="Calibri" panose="020F0502020204030204" pitchFamily="34" charset="0"/>
              </a:rPr>
              <a:t>.</a:t>
            </a:r>
          </a:p>
          <a:p>
            <a:pPr marL="64008" indent="0" rtl="1" fontAlgn="base">
              <a:buNone/>
            </a:pPr>
            <a:r>
              <a:rPr lang="he-IL" sz="1800" b="1" dirty="0">
                <a:cs typeface="Calibri" panose="020F0502020204030204" pitchFamily="34" charset="0"/>
              </a:rPr>
              <a:t>אתחול משתנה בערך סטטי</a:t>
            </a:r>
            <a:endParaRPr lang="en-US" sz="1800" b="1" dirty="0">
              <a:cs typeface="Calibri" panose="020F0502020204030204" pitchFamily="34" charset="0"/>
            </a:endParaRPr>
          </a:p>
          <a:p>
            <a:pPr marL="64008" indent="0" rtl="1">
              <a:buNone/>
            </a:pPr>
            <a:r>
              <a:rPr lang="he-IL" sz="1800" dirty="0">
                <a:cs typeface="Calibri" panose="020F0502020204030204" pitchFamily="34" charset="0"/>
              </a:rPr>
              <a:t>כדי לאתחל משתנה לערך ספציפי ומוגדר, נשתמש במילה </a:t>
            </a:r>
            <a:r>
              <a:rPr lang="en-US" sz="1800" dirty="0">
                <a:cs typeface="Calibri" panose="020F0502020204030204" pitchFamily="34" charset="0"/>
              </a:rPr>
              <a:t>SET</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fontAlgn="base">
              <a:buNone/>
            </a:pPr>
            <a:r>
              <a:rPr lang="he-IL" sz="1800" b="1" dirty="0">
                <a:cs typeface="Calibri" panose="020F0502020204030204" pitchFamily="34" charset="0"/>
              </a:rPr>
              <a:t>אתחול בערך דינאמי</a:t>
            </a:r>
            <a:endParaRPr lang="en-US" sz="1800" b="1" dirty="0">
              <a:cs typeface="Calibri" panose="020F0502020204030204" pitchFamily="34" charset="0"/>
            </a:endParaRPr>
          </a:p>
          <a:p>
            <a:pPr marL="64008" indent="0">
              <a:buNone/>
            </a:pPr>
            <a:r>
              <a:rPr lang="he-IL" sz="1800" dirty="0">
                <a:cs typeface="Calibri" panose="020F0502020204030204" pitchFamily="34" charset="0"/>
              </a:rPr>
              <a:t>בדרך כלל נהיה מעוניינים להכניס למשתנה ערך דינאמי שקיבלנו ממקור חיצוני כמו קלט ממשתמש או תוצאה של שאילתה</a:t>
            </a: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3A53CFD5-CEC8-4013-89C3-B77B563AFA9C}"/>
              </a:ext>
            </a:extLst>
          </p:cNvPr>
          <p:cNvSpPr>
            <a:spLocks noGrp="1"/>
          </p:cNvSpPr>
          <p:nvPr>
            <p:ph type="title"/>
          </p:nvPr>
        </p:nvSpPr>
        <p:spPr/>
        <p:txBody>
          <a:bodyPr/>
          <a:lstStyle/>
          <a:p>
            <a:pPr rtl="1"/>
            <a:r>
              <a:rPr lang="he-IL" dirty="0"/>
              <a:t>מדריך</a:t>
            </a:r>
            <a:r>
              <a:rPr lang="en-US" dirty="0"/>
              <a:t>TSQL </a:t>
            </a:r>
            <a:r>
              <a:rPr lang="he-IL" dirty="0"/>
              <a:t> - משתנים</a:t>
            </a:r>
          </a:p>
        </p:txBody>
      </p:sp>
      <p:sp>
        <p:nvSpPr>
          <p:cNvPr id="4" name="מציין מיקום של מספר שקופית 3">
            <a:extLst>
              <a:ext uri="{FF2B5EF4-FFF2-40B4-BE49-F238E27FC236}">
                <a16:creationId xmlns:a16="http://schemas.microsoft.com/office/drawing/2014/main" id="{7CD9CD8B-CEA7-4CC7-9142-A655497D1623}"/>
              </a:ext>
            </a:extLst>
          </p:cNvPr>
          <p:cNvSpPr>
            <a:spLocks noGrp="1"/>
          </p:cNvSpPr>
          <p:nvPr>
            <p:ph type="sldNum" sz="quarter" idx="11"/>
          </p:nvPr>
        </p:nvSpPr>
        <p:spPr/>
        <p:txBody>
          <a:bodyPr/>
          <a:lstStyle/>
          <a:p>
            <a:fld id="{746FD205-8D79-439C-A802-2377436AEC8A}" type="slidenum">
              <a:rPr lang="he-IL" smtClean="0"/>
              <a:pPr/>
              <a:t>125</a:t>
            </a:fld>
            <a:endParaRPr lang="he-IL"/>
          </a:p>
        </p:txBody>
      </p:sp>
      <p:pic>
        <p:nvPicPr>
          <p:cNvPr id="5" name="תמונה 4">
            <a:extLst>
              <a:ext uri="{FF2B5EF4-FFF2-40B4-BE49-F238E27FC236}">
                <a16:creationId xmlns:a16="http://schemas.microsoft.com/office/drawing/2014/main" id="{B6387320-E620-408F-8281-B40A2D14C7D0}"/>
              </a:ext>
            </a:extLst>
          </p:cNvPr>
          <p:cNvPicPr/>
          <p:nvPr/>
        </p:nvPicPr>
        <p:blipFill>
          <a:blip r:embed="rId2"/>
          <a:stretch>
            <a:fillRect/>
          </a:stretch>
        </p:blipFill>
        <p:spPr>
          <a:xfrm>
            <a:off x="6858000" y="3133883"/>
            <a:ext cx="1684710" cy="590233"/>
          </a:xfrm>
          <a:prstGeom prst="rect">
            <a:avLst/>
          </a:prstGeom>
        </p:spPr>
      </p:pic>
      <p:pic>
        <p:nvPicPr>
          <p:cNvPr id="6" name="תמונה 5">
            <a:extLst>
              <a:ext uri="{FF2B5EF4-FFF2-40B4-BE49-F238E27FC236}">
                <a16:creationId xmlns:a16="http://schemas.microsoft.com/office/drawing/2014/main" id="{864873B2-9F2A-4EF1-926D-28A219E8DEC7}"/>
              </a:ext>
            </a:extLst>
          </p:cNvPr>
          <p:cNvPicPr/>
          <p:nvPr/>
        </p:nvPicPr>
        <p:blipFill>
          <a:blip r:embed="rId3"/>
          <a:stretch>
            <a:fillRect/>
          </a:stretch>
        </p:blipFill>
        <p:spPr>
          <a:xfrm>
            <a:off x="5638800" y="4773549"/>
            <a:ext cx="3039122" cy="1093851"/>
          </a:xfrm>
          <a:prstGeom prst="rect">
            <a:avLst/>
          </a:prstGeom>
        </p:spPr>
      </p:pic>
      <p:pic>
        <p:nvPicPr>
          <p:cNvPr id="7" name="תמונה 6">
            <a:extLst>
              <a:ext uri="{FF2B5EF4-FFF2-40B4-BE49-F238E27FC236}">
                <a16:creationId xmlns:a16="http://schemas.microsoft.com/office/drawing/2014/main" id="{C8A43FA2-D33F-467B-AACF-9639DBD20BE4}"/>
              </a:ext>
            </a:extLst>
          </p:cNvPr>
          <p:cNvPicPr/>
          <p:nvPr/>
        </p:nvPicPr>
        <p:blipFill>
          <a:blip r:embed="rId4"/>
          <a:stretch>
            <a:fillRect/>
          </a:stretch>
        </p:blipFill>
        <p:spPr>
          <a:xfrm>
            <a:off x="1295400" y="4772069"/>
            <a:ext cx="4042993" cy="1247731"/>
          </a:xfrm>
          <a:prstGeom prst="rect">
            <a:avLst/>
          </a:prstGeom>
        </p:spPr>
      </p:pic>
    </p:spTree>
    <p:extLst>
      <p:ext uri="{BB962C8B-B14F-4D97-AF65-F5344CB8AC3E}">
        <p14:creationId xmlns:p14="http://schemas.microsoft.com/office/powerpoint/2010/main" val="50447077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0C229EA-8248-464A-85F1-0830F3CF7993}"/>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הצגת משתנים בעזרת </a:t>
            </a:r>
            <a:r>
              <a:rPr lang="en-US" sz="1800" dirty="0">
                <a:cs typeface="Calibri" panose="020F0502020204030204" pitchFamily="34" charset="0"/>
              </a:rPr>
              <a:t>select</a:t>
            </a:r>
            <a:r>
              <a:rPr lang="he-IL" sz="1800" dirty="0">
                <a:cs typeface="Calibri" panose="020F0502020204030204" pitchFamily="34" charset="0"/>
              </a:rPr>
              <a:t>:</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r>
              <a:rPr lang="he-IL" sz="1800" dirty="0">
                <a:cs typeface="Calibri" panose="020F0502020204030204" pitchFamily="34" charset="0"/>
              </a:rPr>
              <a:t>ניתן להשתמש בשאילתה הזו גם עבור שליפת הערכים לתוך משתנים:</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8E674979-431D-443A-9780-7612B4EEEFA3}"/>
              </a:ext>
            </a:extLst>
          </p:cNvPr>
          <p:cNvSpPr>
            <a:spLocks noGrp="1"/>
          </p:cNvSpPr>
          <p:nvPr>
            <p:ph type="title"/>
          </p:nvPr>
        </p:nvSpPr>
        <p:spPr/>
        <p:txBody>
          <a:bodyPr/>
          <a:lstStyle/>
          <a:p>
            <a:pPr rtl="1"/>
            <a:r>
              <a:rPr lang="he-IL" dirty="0"/>
              <a:t>מדריך</a:t>
            </a:r>
            <a:r>
              <a:rPr lang="en-US" dirty="0"/>
              <a:t>TSQL </a:t>
            </a:r>
            <a:r>
              <a:rPr lang="he-IL" dirty="0"/>
              <a:t> - משתנים</a:t>
            </a:r>
          </a:p>
        </p:txBody>
      </p:sp>
      <p:sp>
        <p:nvSpPr>
          <p:cNvPr id="4" name="מציין מיקום של מספר שקופית 3">
            <a:extLst>
              <a:ext uri="{FF2B5EF4-FFF2-40B4-BE49-F238E27FC236}">
                <a16:creationId xmlns:a16="http://schemas.microsoft.com/office/drawing/2014/main" id="{AE6295A0-0F69-430B-9A93-3A29AF4CBBA5}"/>
              </a:ext>
            </a:extLst>
          </p:cNvPr>
          <p:cNvSpPr>
            <a:spLocks noGrp="1"/>
          </p:cNvSpPr>
          <p:nvPr>
            <p:ph type="sldNum" sz="quarter" idx="11"/>
          </p:nvPr>
        </p:nvSpPr>
        <p:spPr/>
        <p:txBody>
          <a:bodyPr/>
          <a:lstStyle/>
          <a:p>
            <a:fld id="{746FD205-8D79-439C-A802-2377436AEC8A}" type="slidenum">
              <a:rPr lang="he-IL" smtClean="0"/>
              <a:pPr/>
              <a:t>126</a:t>
            </a:fld>
            <a:endParaRPr lang="he-IL" dirty="0"/>
          </a:p>
        </p:txBody>
      </p:sp>
      <p:pic>
        <p:nvPicPr>
          <p:cNvPr id="5" name="תמונה 4">
            <a:extLst>
              <a:ext uri="{FF2B5EF4-FFF2-40B4-BE49-F238E27FC236}">
                <a16:creationId xmlns:a16="http://schemas.microsoft.com/office/drawing/2014/main" id="{8AAE4BC3-1EED-428D-B50F-0B200B6319C3}"/>
              </a:ext>
            </a:extLst>
          </p:cNvPr>
          <p:cNvPicPr/>
          <p:nvPr/>
        </p:nvPicPr>
        <p:blipFill>
          <a:blip r:embed="rId2"/>
          <a:stretch>
            <a:fillRect/>
          </a:stretch>
        </p:blipFill>
        <p:spPr>
          <a:xfrm>
            <a:off x="5638800" y="1905000"/>
            <a:ext cx="2973070" cy="533400"/>
          </a:xfrm>
          <a:prstGeom prst="rect">
            <a:avLst/>
          </a:prstGeom>
        </p:spPr>
      </p:pic>
      <p:pic>
        <p:nvPicPr>
          <p:cNvPr id="6" name="תמונה 5">
            <a:extLst>
              <a:ext uri="{FF2B5EF4-FFF2-40B4-BE49-F238E27FC236}">
                <a16:creationId xmlns:a16="http://schemas.microsoft.com/office/drawing/2014/main" id="{2C45D402-314A-422A-BBF6-1843B2D16A0C}"/>
              </a:ext>
            </a:extLst>
          </p:cNvPr>
          <p:cNvPicPr/>
          <p:nvPr/>
        </p:nvPicPr>
        <p:blipFill>
          <a:blip r:embed="rId3"/>
          <a:stretch>
            <a:fillRect/>
          </a:stretch>
        </p:blipFill>
        <p:spPr>
          <a:xfrm>
            <a:off x="3337560" y="2915284"/>
            <a:ext cx="5274310" cy="1390015"/>
          </a:xfrm>
          <a:prstGeom prst="rect">
            <a:avLst/>
          </a:prstGeom>
        </p:spPr>
      </p:pic>
    </p:spTree>
    <p:extLst>
      <p:ext uri="{BB962C8B-B14F-4D97-AF65-F5344CB8AC3E}">
        <p14:creationId xmlns:p14="http://schemas.microsoft.com/office/powerpoint/2010/main" val="177964188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7C5373F-C6AE-4EE6-AF3F-602C89B66545}"/>
              </a:ext>
            </a:extLst>
          </p:cNvPr>
          <p:cNvSpPr>
            <a:spLocks noGrp="1"/>
          </p:cNvSpPr>
          <p:nvPr>
            <p:ph idx="1"/>
          </p:nvPr>
        </p:nvSpPr>
        <p:spPr/>
        <p:txBody>
          <a:bodyPr/>
          <a:lstStyle/>
          <a:p>
            <a:pPr marL="64008" indent="0" rtl="1">
              <a:buNone/>
            </a:pPr>
            <a:r>
              <a:rPr lang="he-IL" sz="1800" b="1" dirty="0">
                <a:cs typeface="Calibri" panose="020F0502020204030204" pitchFamily="34" charset="0"/>
              </a:rPr>
              <a:t>כתיבת תנאים בעזרת הפקודה </a:t>
            </a:r>
            <a:r>
              <a:rPr lang="en-US" sz="1800" b="1" dirty="0">
                <a:cs typeface="Calibri" panose="020F0502020204030204" pitchFamily="34" charset="0"/>
              </a:rPr>
              <a:t>If, else</a:t>
            </a:r>
            <a:r>
              <a:rPr lang="he-IL" sz="1800" b="1" dirty="0">
                <a:cs typeface="Calibri" panose="020F0502020204030204" pitchFamily="34" charset="0"/>
              </a:rPr>
              <a:t>:</a:t>
            </a:r>
          </a:p>
          <a:p>
            <a:pPr marL="64008" indent="0" rtl="1">
              <a:buNone/>
            </a:pPr>
            <a:endParaRPr lang="en-US"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EE4D82B5-D8AA-4540-8183-72C0BB6D379F}"/>
              </a:ext>
            </a:extLst>
          </p:cNvPr>
          <p:cNvSpPr>
            <a:spLocks noGrp="1"/>
          </p:cNvSpPr>
          <p:nvPr>
            <p:ph type="title"/>
          </p:nvPr>
        </p:nvSpPr>
        <p:spPr/>
        <p:txBody>
          <a:bodyPr/>
          <a:lstStyle/>
          <a:p>
            <a:pPr rtl="1"/>
            <a:r>
              <a:rPr lang="he-IL" dirty="0"/>
              <a:t>מדריך </a:t>
            </a:r>
            <a:r>
              <a:rPr lang="en-US" dirty="0"/>
              <a:t> TSQL</a:t>
            </a:r>
            <a:r>
              <a:rPr lang="he-IL" dirty="0"/>
              <a:t> -</a:t>
            </a:r>
            <a:r>
              <a:rPr lang="en-US" dirty="0"/>
              <a:t> </a:t>
            </a:r>
            <a:r>
              <a:rPr lang="he-IL" dirty="0"/>
              <a:t>תנאים</a:t>
            </a:r>
          </a:p>
        </p:txBody>
      </p:sp>
      <p:sp>
        <p:nvSpPr>
          <p:cNvPr id="4" name="מציין מיקום של מספר שקופית 3">
            <a:extLst>
              <a:ext uri="{FF2B5EF4-FFF2-40B4-BE49-F238E27FC236}">
                <a16:creationId xmlns:a16="http://schemas.microsoft.com/office/drawing/2014/main" id="{45045D20-7D3E-4578-94C5-70A524607850}"/>
              </a:ext>
            </a:extLst>
          </p:cNvPr>
          <p:cNvSpPr>
            <a:spLocks noGrp="1"/>
          </p:cNvSpPr>
          <p:nvPr>
            <p:ph type="sldNum" sz="quarter" idx="11"/>
          </p:nvPr>
        </p:nvSpPr>
        <p:spPr/>
        <p:txBody>
          <a:bodyPr/>
          <a:lstStyle/>
          <a:p>
            <a:fld id="{746FD205-8D79-439C-A802-2377436AEC8A}" type="slidenum">
              <a:rPr lang="he-IL" smtClean="0"/>
              <a:pPr/>
              <a:t>127</a:t>
            </a:fld>
            <a:endParaRPr lang="he-IL"/>
          </a:p>
        </p:txBody>
      </p:sp>
      <p:pic>
        <p:nvPicPr>
          <p:cNvPr id="6" name="תמונה 5">
            <a:extLst>
              <a:ext uri="{FF2B5EF4-FFF2-40B4-BE49-F238E27FC236}">
                <a16:creationId xmlns:a16="http://schemas.microsoft.com/office/drawing/2014/main" id="{B2078EF3-419B-4FB1-9046-00B873F72DBD}"/>
              </a:ext>
            </a:extLst>
          </p:cNvPr>
          <p:cNvPicPr/>
          <p:nvPr/>
        </p:nvPicPr>
        <p:blipFill>
          <a:blip r:embed="rId2"/>
          <a:stretch>
            <a:fillRect/>
          </a:stretch>
        </p:blipFill>
        <p:spPr>
          <a:xfrm>
            <a:off x="5791200" y="1991679"/>
            <a:ext cx="2654300" cy="1727835"/>
          </a:xfrm>
          <a:prstGeom prst="rect">
            <a:avLst/>
          </a:prstGeom>
        </p:spPr>
      </p:pic>
      <p:pic>
        <p:nvPicPr>
          <p:cNvPr id="7" name="תמונה 6">
            <a:extLst>
              <a:ext uri="{FF2B5EF4-FFF2-40B4-BE49-F238E27FC236}">
                <a16:creationId xmlns:a16="http://schemas.microsoft.com/office/drawing/2014/main" id="{1A98AF60-46A1-44D6-BD96-26C943672A3F}"/>
              </a:ext>
            </a:extLst>
          </p:cNvPr>
          <p:cNvPicPr/>
          <p:nvPr/>
        </p:nvPicPr>
        <p:blipFill>
          <a:blip r:embed="rId3"/>
          <a:stretch>
            <a:fillRect/>
          </a:stretch>
        </p:blipFill>
        <p:spPr>
          <a:xfrm>
            <a:off x="1381761" y="1991679"/>
            <a:ext cx="3942080" cy="2410460"/>
          </a:xfrm>
          <a:prstGeom prst="rect">
            <a:avLst/>
          </a:prstGeom>
        </p:spPr>
      </p:pic>
    </p:spTree>
    <p:extLst>
      <p:ext uri="{BB962C8B-B14F-4D97-AF65-F5344CB8AC3E}">
        <p14:creationId xmlns:p14="http://schemas.microsoft.com/office/powerpoint/2010/main" val="241090607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FFB0D28-643E-4E65-A535-B23C775FBAF8}"/>
              </a:ext>
            </a:extLst>
          </p:cNvPr>
          <p:cNvSpPr>
            <a:spLocks noGrp="1"/>
          </p:cNvSpPr>
          <p:nvPr>
            <p:ph idx="1"/>
          </p:nvPr>
        </p:nvSpPr>
        <p:spPr/>
        <p:txBody>
          <a:bodyPr>
            <a:normAutofit/>
          </a:bodyPr>
          <a:lstStyle/>
          <a:p>
            <a:pPr marL="64008" indent="0" rtl="1" fontAlgn="base">
              <a:buNone/>
            </a:pPr>
            <a:r>
              <a:rPr lang="he-IL" sz="1800" dirty="0">
                <a:cs typeface="Calibri" panose="020F0502020204030204" pitchFamily="34" charset="0"/>
              </a:rPr>
              <a:t>במקרים רבים נרצה לחזור על פעולה מסוימת כמו למשל לבצע בדיקה מול נתון מסוים בכל שורה בטבלה. אם ננסה לכתוב את הבדיקה מספר רב של פעמים זה יהיה לא יעיל, לא קריא וגם לא יאפשר לנו גמישות בכתיבת הקוד – מה אם אנחנו לא יודעים כמה שורות יש? מה אם </a:t>
            </a:r>
            <a:r>
              <a:rPr lang="he-IL" sz="1800" dirty="0" err="1">
                <a:cs typeface="Calibri" panose="020F0502020204030204" pitchFamily="34" charset="0"/>
              </a:rPr>
              <a:t>לאחמ"כ</a:t>
            </a:r>
            <a:r>
              <a:rPr lang="he-IL" sz="1800" dirty="0">
                <a:cs typeface="Calibri" panose="020F0502020204030204" pitchFamily="34" charset="0"/>
              </a:rPr>
              <a:t> יוסיפו שורה חדשה ונרצה שהתכנית תכלול גם בדיקה עליה?</a:t>
            </a:r>
            <a:endParaRPr lang="en-US" sz="1800" dirty="0">
              <a:cs typeface="Calibri" panose="020F0502020204030204" pitchFamily="34" charset="0"/>
            </a:endParaRPr>
          </a:p>
          <a:p>
            <a:pPr marL="64008" indent="0" rtl="1" fontAlgn="base">
              <a:buNone/>
            </a:pPr>
            <a:r>
              <a:rPr lang="he-IL" sz="1800" dirty="0">
                <a:cs typeface="Calibri" panose="020F0502020204030204" pitchFamily="34" charset="0"/>
              </a:rPr>
              <a:t>במקרים כאלה נשתמש בלולאות.</a:t>
            </a:r>
          </a:p>
          <a:p>
            <a:pPr marL="64008" indent="0" rtl="1" fontAlgn="base">
              <a:buNone/>
            </a:pPr>
            <a:r>
              <a:rPr lang="he-IL" sz="1800" b="1" dirty="0">
                <a:cs typeface="Calibri" panose="020F0502020204030204" pitchFamily="34" charset="0"/>
              </a:rPr>
              <a:t>לולאות </a:t>
            </a:r>
            <a:r>
              <a:rPr lang="en-US" sz="1800" b="1" dirty="0">
                <a:cs typeface="Calibri" panose="020F0502020204030204" pitchFamily="34" charset="0"/>
              </a:rPr>
              <a:t>WHILE</a:t>
            </a:r>
          </a:p>
          <a:p>
            <a:pPr marL="64008" indent="0" rtl="1" fontAlgn="base">
              <a:buNone/>
            </a:pPr>
            <a:r>
              <a:rPr lang="he-IL" sz="1800" dirty="0">
                <a:cs typeface="Calibri" panose="020F0502020204030204" pitchFamily="34" charset="0"/>
              </a:rPr>
              <a:t>ב- </a:t>
            </a:r>
            <a:r>
              <a:rPr lang="en-US" sz="1800" dirty="0">
                <a:cs typeface="Calibri" panose="020F0502020204030204" pitchFamily="34" charset="0"/>
              </a:rPr>
              <a:t>T-SQL</a:t>
            </a:r>
            <a:r>
              <a:rPr lang="he-IL" sz="1800" dirty="0">
                <a:cs typeface="Calibri" panose="020F0502020204030204" pitchFamily="34" charset="0"/>
              </a:rPr>
              <a:t> אנחנו יכולים ליצור לולאות אשר ירוצו (יבצעו את אותן פעולות שוב ושוב) כל עוד תנאי מסוים מתקיים. התנאי הזה נקרא "תנאי כניסה" מפני שהוא מגדיר תנאי שאם מתקיים, תכנס התכנית לתוך הלולאה ותתחיל לבצע את הקוד שבתוכה. יש להגדיר את התנאי בתחילת הלולאה, </a:t>
            </a:r>
            <a:r>
              <a:rPr lang="he-IL" sz="1800" dirty="0" err="1">
                <a:cs typeface="Calibri" panose="020F0502020204030204" pitchFamily="34" charset="0"/>
              </a:rPr>
              <a:t>מייד</a:t>
            </a:r>
            <a:r>
              <a:rPr lang="he-IL" sz="1800" dirty="0">
                <a:cs typeface="Calibri" panose="020F0502020204030204" pitchFamily="34" charset="0"/>
              </a:rPr>
              <a:t> אחרי המילה </a:t>
            </a:r>
            <a:r>
              <a:rPr lang="en-US" sz="1800" dirty="0">
                <a:cs typeface="Calibri" panose="020F0502020204030204" pitchFamily="34" charset="0"/>
              </a:rPr>
              <a:t>WHILE</a:t>
            </a:r>
            <a:r>
              <a:rPr lang="he-IL" sz="1800" dirty="0">
                <a:cs typeface="Calibri" panose="020F0502020204030204" pitchFamily="34" charset="0"/>
              </a:rPr>
              <a:t> וזאת הסיבה שהלולאות נקראות "לולאות </a:t>
            </a:r>
            <a:r>
              <a:rPr lang="en-US" sz="1800" dirty="0">
                <a:cs typeface="Calibri" panose="020F0502020204030204" pitchFamily="34" charset="0"/>
              </a:rPr>
              <a:t>WHILE</a:t>
            </a:r>
            <a:r>
              <a:rPr lang="he-IL" sz="1800" dirty="0">
                <a:cs typeface="Calibri" panose="020F0502020204030204" pitchFamily="34" charset="0"/>
              </a:rPr>
              <a:t>". זהו הסוג היחיד של לולאות ב-</a:t>
            </a:r>
            <a:r>
              <a:rPr lang="en-US" sz="1800" dirty="0">
                <a:cs typeface="Calibri" panose="020F0502020204030204" pitchFamily="34" charset="0"/>
              </a:rPr>
              <a:t>T-SQL</a:t>
            </a:r>
            <a:r>
              <a:rPr lang="he-IL" sz="1800" dirty="0">
                <a:cs typeface="Calibri" panose="020F0502020204030204" pitchFamily="34" charset="0"/>
              </a:rPr>
              <a:t> למרות שבשפות תכנות אחרות יש סוגים נוספים של לולאות.</a:t>
            </a:r>
            <a:endParaRPr lang="en-US" sz="1800" dirty="0">
              <a:cs typeface="Calibri" panose="020F0502020204030204" pitchFamily="34" charset="0"/>
            </a:endParaRPr>
          </a:p>
          <a:p>
            <a:pPr marL="64008" indent="0" rtl="1" fontAlgn="base">
              <a:buNone/>
            </a:pPr>
            <a:br>
              <a:rPr lang="he-IL" sz="1800" dirty="0">
                <a:cs typeface="Calibri" panose="020F0502020204030204" pitchFamily="34" charset="0"/>
              </a:rPr>
            </a:br>
            <a:endParaRPr lang="en-US"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7A86EB9A-2244-4CDA-A4F0-738A2905E32F}"/>
              </a:ext>
            </a:extLst>
          </p:cNvPr>
          <p:cNvSpPr>
            <a:spLocks noGrp="1"/>
          </p:cNvSpPr>
          <p:nvPr>
            <p:ph type="title"/>
          </p:nvPr>
        </p:nvSpPr>
        <p:spPr/>
        <p:txBody>
          <a:bodyPr/>
          <a:lstStyle/>
          <a:p>
            <a:pPr rtl="1"/>
            <a:r>
              <a:rPr lang="he-IL" dirty="0"/>
              <a:t>מדריך </a:t>
            </a:r>
            <a:r>
              <a:rPr lang="en-US" dirty="0"/>
              <a:t>TSQL </a:t>
            </a:r>
            <a:r>
              <a:rPr lang="he-IL" dirty="0"/>
              <a:t> - לולאות</a:t>
            </a:r>
          </a:p>
        </p:txBody>
      </p:sp>
      <p:sp>
        <p:nvSpPr>
          <p:cNvPr id="4" name="מציין מיקום של מספר שקופית 3">
            <a:extLst>
              <a:ext uri="{FF2B5EF4-FFF2-40B4-BE49-F238E27FC236}">
                <a16:creationId xmlns:a16="http://schemas.microsoft.com/office/drawing/2014/main" id="{B3A664F6-F2D9-4B9E-8439-D757482EB58B}"/>
              </a:ext>
            </a:extLst>
          </p:cNvPr>
          <p:cNvSpPr>
            <a:spLocks noGrp="1"/>
          </p:cNvSpPr>
          <p:nvPr>
            <p:ph type="sldNum" sz="quarter" idx="11"/>
          </p:nvPr>
        </p:nvSpPr>
        <p:spPr/>
        <p:txBody>
          <a:bodyPr/>
          <a:lstStyle/>
          <a:p>
            <a:fld id="{746FD205-8D79-439C-A802-2377436AEC8A}" type="slidenum">
              <a:rPr lang="he-IL" smtClean="0"/>
              <a:pPr/>
              <a:t>128</a:t>
            </a:fld>
            <a:endParaRPr lang="he-IL"/>
          </a:p>
        </p:txBody>
      </p:sp>
      <p:pic>
        <p:nvPicPr>
          <p:cNvPr id="5" name="תמונה 4">
            <a:extLst>
              <a:ext uri="{FF2B5EF4-FFF2-40B4-BE49-F238E27FC236}">
                <a16:creationId xmlns:a16="http://schemas.microsoft.com/office/drawing/2014/main" id="{0EA16080-C5C5-44B7-92FF-8876D65C9D36}"/>
              </a:ext>
            </a:extLst>
          </p:cNvPr>
          <p:cNvPicPr/>
          <p:nvPr/>
        </p:nvPicPr>
        <p:blipFill>
          <a:blip r:embed="rId2"/>
          <a:stretch>
            <a:fillRect/>
          </a:stretch>
        </p:blipFill>
        <p:spPr>
          <a:xfrm>
            <a:off x="6019800" y="5200650"/>
            <a:ext cx="2505075" cy="971550"/>
          </a:xfrm>
          <a:prstGeom prst="rect">
            <a:avLst/>
          </a:prstGeom>
        </p:spPr>
      </p:pic>
    </p:spTree>
    <p:extLst>
      <p:ext uri="{BB962C8B-B14F-4D97-AF65-F5344CB8AC3E}">
        <p14:creationId xmlns:p14="http://schemas.microsoft.com/office/powerpoint/2010/main" val="157794297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4D63A18-C226-42E8-BA04-4EB657464A4D}"/>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פתחי את מסד הנתונים של בית הספר ובצעי:</a:t>
            </a:r>
          </a:p>
          <a:p>
            <a:pPr rtl="1">
              <a:buFont typeface="Courier New" panose="02070309020205020404" pitchFamily="49" charset="0"/>
              <a:buChar char="o"/>
            </a:pPr>
            <a:r>
              <a:rPr lang="he-IL" sz="1800" dirty="0">
                <a:cs typeface="Calibri" panose="020F0502020204030204" pitchFamily="34" charset="0"/>
              </a:rPr>
              <a:t>הגדירי משתנה </a:t>
            </a:r>
            <a:r>
              <a:rPr lang="en-US" sz="1800" dirty="0" err="1">
                <a:cs typeface="Calibri" panose="020F0502020204030204" pitchFamily="34" charset="0"/>
              </a:rPr>
              <a:t>first_name</a:t>
            </a:r>
            <a:r>
              <a:rPr lang="he-IL" sz="1800" dirty="0">
                <a:cs typeface="Calibri" panose="020F0502020204030204" pitchFamily="34" charset="0"/>
              </a:rPr>
              <a:t> ושלפי לתוכו את שם התלמידה הכי ותיקה בבית הספר</a:t>
            </a:r>
          </a:p>
          <a:p>
            <a:pPr rtl="1">
              <a:buFont typeface="Courier New" panose="02070309020205020404" pitchFamily="49" charset="0"/>
              <a:buChar char="o"/>
            </a:pPr>
            <a:r>
              <a:rPr lang="he-IL" sz="1800" dirty="0">
                <a:cs typeface="Calibri" panose="020F0502020204030204" pitchFamily="34" charset="0"/>
              </a:rPr>
              <a:t>הגדירי משתנים: </a:t>
            </a:r>
            <a:r>
              <a:rPr lang="en-US" sz="1800" dirty="0">
                <a:cs typeface="Calibri" panose="020F0502020204030204" pitchFamily="34" charset="0"/>
              </a:rPr>
              <a:t>id, </a:t>
            </a:r>
            <a:r>
              <a:rPr lang="en-US" sz="1800" dirty="0" err="1">
                <a:cs typeface="Calibri" panose="020F0502020204030204" pitchFamily="34" charset="0"/>
              </a:rPr>
              <a:t>first_name</a:t>
            </a:r>
            <a:r>
              <a:rPr lang="en-US" sz="1800" dirty="0">
                <a:cs typeface="Calibri" panose="020F0502020204030204" pitchFamily="34" charset="0"/>
              </a:rPr>
              <a:t>, </a:t>
            </a:r>
            <a:r>
              <a:rPr lang="en-US" sz="1800" dirty="0" err="1">
                <a:cs typeface="Calibri" panose="020F0502020204030204" pitchFamily="34" charset="0"/>
              </a:rPr>
              <a:t>last_name</a:t>
            </a:r>
            <a:r>
              <a:rPr lang="he-IL" sz="1800" dirty="0">
                <a:cs typeface="Calibri" panose="020F0502020204030204" pitchFamily="34" charset="0"/>
              </a:rPr>
              <a:t> וששלפי לתוכם בהתאמה את פרטי התלמידה הכי ותיקה בבית הספר</a:t>
            </a:r>
          </a:p>
          <a:p>
            <a:pPr rtl="1">
              <a:buFont typeface="Courier New" panose="02070309020205020404" pitchFamily="49" charset="0"/>
              <a:buChar char="o"/>
            </a:pPr>
            <a:r>
              <a:rPr lang="he-IL" sz="1800" dirty="0">
                <a:cs typeface="Calibri" panose="020F0502020204030204" pitchFamily="34" charset="0"/>
              </a:rPr>
              <a:t>הגדירי משתנה מוצע ציונים, שלפי אליו ממוצע ציונים של תלמידה </a:t>
            </a:r>
            <a:r>
              <a:rPr lang="he-IL" sz="1800" dirty="0" err="1">
                <a:cs typeface="Calibri" panose="020F0502020204030204" pitchFamily="34" charset="0"/>
              </a:rPr>
              <a:t>מסויימת</a:t>
            </a:r>
            <a:r>
              <a:rPr lang="he-IL" sz="1800" dirty="0">
                <a:cs typeface="Calibri" panose="020F0502020204030204" pitchFamily="34" charset="0"/>
              </a:rPr>
              <a:t> (עפ"י ת"ז), לאחר מכן, בדקי בתנאי – אם ממוצע הציונים גבוה מ 90, הדפיסי </a:t>
            </a:r>
            <a:r>
              <a:rPr lang="en-US" sz="1800" dirty="0">
                <a:cs typeface="Calibri" panose="020F0502020204030204" pitchFamily="34" charset="0"/>
              </a:rPr>
              <a:t>high</a:t>
            </a:r>
            <a:r>
              <a:rPr lang="he-IL" sz="1800" dirty="0">
                <a:cs typeface="Calibri" panose="020F0502020204030204" pitchFamily="34" charset="0"/>
              </a:rPr>
              <a:t>, אחרת הדפיסי </a:t>
            </a:r>
            <a:r>
              <a:rPr lang="en-US" sz="1800" dirty="0">
                <a:cs typeface="Calibri" panose="020F0502020204030204" pitchFamily="34" charset="0"/>
              </a:rPr>
              <a:t>normal</a:t>
            </a: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5C299C1C-342E-4F26-9311-3ADA7E92DF94}"/>
              </a:ext>
            </a:extLst>
          </p:cNvPr>
          <p:cNvSpPr>
            <a:spLocks noGrp="1"/>
          </p:cNvSpPr>
          <p:nvPr>
            <p:ph type="title"/>
          </p:nvPr>
        </p:nvSpPr>
        <p:spPr/>
        <p:txBody>
          <a:bodyPr/>
          <a:lstStyle/>
          <a:p>
            <a:pPr rtl="1"/>
            <a:r>
              <a:rPr lang="en-US" dirty="0"/>
              <a:t>TSQL</a:t>
            </a:r>
            <a:r>
              <a:rPr lang="he-IL" dirty="0"/>
              <a:t> - תרגיל</a:t>
            </a:r>
          </a:p>
        </p:txBody>
      </p:sp>
      <p:sp>
        <p:nvSpPr>
          <p:cNvPr id="4" name="מציין מיקום של מספר שקופית 3">
            <a:extLst>
              <a:ext uri="{FF2B5EF4-FFF2-40B4-BE49-F238E27FC236}">
                <a16:creationId xmlns:a16="http://schemas.microsoft.com/office/drawing/2014/main" id="{7869F6BF-9A54-4241-8BE0-72BD610B462C}"/>
              </a:ext>
            </a:extLst>
          </p:cNvPr>
          <p:cNvSpPr>
            <a:spLocks noGrp="1"/>
          </p:cNvSpPr>
          <p:nvPr>
            <p:ph type="sldNum" sz="quarter" idx="11"/>
          </p:nvPr>
        </p:nvSpPr>
        <p:spPr/>
        <p:txBody>
          <a:bodyPr/>
          <a:lstStyle/>
          <a:p>
            <a:fld id="{746FD205-8D79-439C-A802-2377436AEC8A}" type="slidenum">
              <a:rPr lang="he-IL" smtClean="0"/>
              <a:pPr/>
              <a:t>129</a:t>
            </a:fld>
            <a:endParaRPr lang="he-IL"/>
          </a:p>
        </p:txBody>
      </p:sp>
    </p:spTree>
    <p:extLst>
      <p:ext uri="{BB962C8B-B14F-4D97-AF65-F5344CB8AC3E}">
        <p14:creationId xmlns:p14="http://schemas.microsoft.com/office/powerpoint/2010/main" val="55236283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436CF568-A1C9-40B1-9164-7E272C26391D}"/>
              </a:ext>
            </a:extLst>
          </p:cNvPr>
          <p:cNvSpPr>
            <a:spLocks noGrp="1"/>
          </p:cNvSpPr>
          <p:nvPr>
            <p:ph idx="1"/>
          </p:nvPr>
        </p:nvSpPr>
        <p:spPr/>
        <p:txBody>
          <a:bodyPr>
            <a:normAutofit fontScale="92500" lnSpcReduction="10000"/>
          </a:bodyPr>
          <a:lstStyle/>
          <a:p>
            <a:pPr marL="64008" indent="0">
              <a:buNone/>
            </a:pPr>
            <a:r>
              <a:rPr lang="he-IL" sz="1800" dirty="0">
                <a:cs typeface="Calibri" panose="020F0502020204030204" pitchFamily="34" charset="0"/>
              </a:rPr>
              <a:t>על מסד הנתונים של בית הספר שיצרת בצעי את הפעולות הבאות:</a:t>
            </a:r>
          </a:p>
          <a:p>
            <a:pPr marL="64008" indent="0" rtl="1">
              <a:buNone/>
            </a:pPr>
            <a:r>
              <a:rPr lang="he-IL" sz="1800" b="1" dirty="0">
                <a:cs typeface="Calibri" panose="020F0502020204030204" pitchFamily="34" charset="0"/>
              </a:rPr>
              <a:t>הוספת טבלת משכורות עם השדות הבאים: </a:t>
            </a:r>
            <a:r>
              <a:rPr lang="he-IL" sz="1800" dirty="0">
                <a:cs typeface="Calibri" panose="020F0502020204030204" pitchFamily="34" charset="0"/>
              </a:rPr>
              <a:t>קוד – מפתח ראשי - רץ, ת"ז מורה – קשרי לטבלת מורות, חודש (</a:t>
            </a:r>
            <a:r>
              <a:rPr lang="en-US" sz="1800" dirty="0">
                <a:cs typeface="Calibri" panose="020F0502020204030204" pitchFamily="34" charset="0"/>
              </a:rPr>
              <a:t>int</a:t>
            </a:r>
            <a:r>
              <a:rPr lang="he-IL" sz="1800" dirty="0">
                <a:cs typeface="Calibri" panose="020F0502020204030204" pitchFamily="34" charset="0"/>
              </a:rPr>
              <a:t>), שנה (</a:t>
            </a:r>
            <a:r>
              <a:rPr lang="en-US" sz="1800" dirty="0">
                <a:cs typeface="Calibri" panose="020F0502020204030204" pitchFamily="34" charset="0"/>
              </a:rPr>
              <a:t>int</a:t>
            </a:r>
            <a:r>
              <a:rPr lang="he-IL" sz="1800" dirty="0">
                <a:cs typeface="Calibri" panose="020F0502020204030204" pitchFamily="34" charset="0"/>
              </a:rPr>
              <a:t>), מספר שעות, סכום כללי (</a:t>
            </a:r>
            <a:r>
              <a:rPr lang="en-US" sz="1800">
                <a:cs typeface="Calibri" panose="020F0502020204030204" pitchFamily="34" charset="0"/>
              </a:rPr>
              <a:t>float</a:t>
            </a:r>
            <a:r>
              <a:rPr lang="he-IL" sz="1800">
                <a:cs typeface="Calibri" panose="020F0502020204030204" pitchFamily="34" charset="0"/>
              </a:rPr>
              <a:t>)</a:t>
            </a:r>
            <a:endParaRPr lang="he-IL" sz="1800" dirty="0">
              <a:cs typeface="Calibri" panose="020F0502020204030204" pitchFamily="34" charset="0"/>
            </a:endParaRPr>
          </a:p>
          <a:p>
            <a:pPr marL="64008" indent="0">
              <a:buNone/>
            </a:pPr>
            <a:r>
              <a:rPr lang="he-IL" sz="1800" dirty="0">
                <a:cs typeface="Calibri" panose="020F0502020204030204" pitchFamily="34" charset="0"/>
              </a:rPr>
              <a:t>יצירת פרוצדורה – הכנסת פרטי שכר </a:t>
            </a:r>
            <a:r>
              <a:rPr lang="he-IL" sz="1800" b="1" dirty="0">
                <a:cs typeface="Calibri" panose="020F0502020204030204" pitchFamily="34" charset="0"/>
              </a:rPr>
              <a:t>וחישוב בונוס:</a:t>
            </a:r>
          </a:p>
          <a:p>
            <a:pPr marL="406908" indent="-342900" rtl="1">
              <a:buAutoNum type="arabicPeriod"/>
            </a:pPr>
            <a:r>
              <a:rPr lang="he-IL" sz="1800" dirty="0">
                <a:cs typeface="Calibri" panose="020F0502020204030204" pitchFamily="34" charset="0"/>
              </a:rPr>
              <a:t>קבלת הפרמטרים הבאים: ת"ז מורה, מספר שעות, חודש, שנה, </a:t>
            </a:r>
            <a:r>
              <a:rPr lang="he-IL" sz="1800" b="1" dirty="0">
                <a:cs typeface="Calibri" panose="020F0502020204030204" pitchFamily="34" charset="0"/>
              </a:rPr>
              <a:t>פרמטר </a:t>
            </a:r>
            <a:r>
              <a:rPr lang="en-US" sz="1800" b="1" dirty="0">
                <a:cs typeface="Calibri" panose="020F0502020204030204" pitchFamily="34" charset="0"/>
              </a:rPr>
              <a:t>output</a:t>
            </a:r>
            <a:r>
              <a:rPr lang="he-IL" sz="1800" b="1" dirty="0">
                <a:cs typeface="Calibri" panose="020F0502020204030204" pitchFamily="34" charset="0"/>
              </a:rPr>
              <a:t> שאומר: האם קיבלת בונוס (מסוג </a:t>
            </a:r>
            <a:r>
              <a:rPr lang="en-US" sz="1800" b="1" dirty="0">
                <a:cs typeface="Calibri" panose="020F0502020204030204" pitchFamily="34" charset="0"/>
              </a:rPr>
              <a:t>bit</a:t>
            </a:r>
            <a:r>
              <a:rPr lang="he-IL" sz="1800" b="1" dirty="0">
                <a:cs typeface="Calibri" panose="020F0502020204030204" pitchFamily="34" charset="0"/>
              </a:rPr>
              <a:t>)</a:t>
            </a:r>
          </a:p>
          <a:p>
            <a:pPr marL="406908" indent="-342900" rtl="1">
              <a:buAutoNum type="arabicPeriod"/>
            </a:pPr>
            <a:r>
              <a:rPr lang="he-IL" sz="1800" dirty="0">
                <a:cs typeface="Calibri" panose="020F0502020204030204" pitchFamily="34" charset="0"/>
              </a:rPr>
              <a:t>הגדרת משתנה שכר לשעה ושליפת השכר לשעה הרלוונטי עפ"י ת"ז המורה</a:t>
            </a:r>
          </a:p>
          <a:p>
            <a:pPr marL="406908" indent="-342900" rtl="1">
              <a:buAutoNum type="arabicPeriod"/>
            </a:pPr>
            <a:r>
              <a:rPr lang="he-IL" sz="1800" dirty="0">
                <a:cs typeface="Calibri" panose="020F0502020204030204" pitchFamily="34" charset="0"/>
              </a:rPr>
              <a:t>חישוב השכר הכללי – מספר השעות שהתקבל * שכר לשעה</a:t>
            </a:r>
          </a:p>
          <a:p>
            <a:pPr marL="406908" indent="-342900" rtl="1">
              <a:buAutoNum type="arabicPeriod"/>
            </a:pPr>
            <a:r>
              <a:rPr lang="he-IL" sz="1800" dirty="0">
                <a:cs typeface="Calibri" panose="020F0502020204030204" pitchFamily="34" charset="0"/>
              </a:rPr>
              <a:t>הכנסת כל הפרטים הנ"ל לטבלת משכורות</a:t>
            </a:r>
          </a:p>
          <a:p>
            <a:pPr marL="406908" indent="-342900" rtl="1">
              <a:buAutoNum type="arabicPeriod"/>
            </a:pPr>
            <a:r>
              <a:rPr lang="he-IL" sz="1800" b="1" dirty="0">
                <a:cs typeface="Calibri" panose="020F0502020204030204" pitchFamily="34" charset="0"/>
              </a:rPr>
              <a:t>שליפת מספר המקצועות שהמורה מלמדת מטבלת מורות למקצועות. </a:t>
            </a:r>
            <a:br>
              <a:rPr lang="en-US" sz="1800" b="1" dirty="0">
                <a:cs typeface="Calibri" panose="020F0502020204030204" pitchFamily="34" charset="0"/>
              </a:rPr>
            </a:br>
            <a:r>
              <a:rPr lang="he-IL" sz="1800" b="1" dirty="0">
                <a:cs typeface="Calibri" panose="020F0502020204030204" pitchFamily="34" charset="0"/>
              </a:rPr>
              <a:t>במידה והמורה מלמדת יותר מ 2 מקצועות ומספר השעות שעבדה החודש גבוה מ 60 – עדכני את השדה בונוס של המורה המתאימה בטבלת מורות לבונוס שקיים + סכום של 15% מהשכר של חודש זה.</a:t>
            </a:r>
            <a:br>
              <a:rPr lang="en-US" sz="1800" b="1" dirty="0">
                <a:cs typeface="Calibri" panose="020F0502020204030204" pitchFamily="34" charset="0"/>
              </a:rPr>
            </a:br>
            <a:r>
              <a:rPr lang="he-IL" sz="1800" b="1" dirty="0">
                <a:cs typeface="Calibri" panose="020F0502020204030204" pitchFamily="34" charset="0"/>
              </a:rPr>
              <a:t>במידה והמורה מלמדת יותר מ 2 מקצועות ומספר השעות שעבדה החודש אינו גבוה מ 60 עדכני לבונוס שקיים + סכום של 10% מהשכר של חודש זה</a:t>
            </a:r>
            <a:br>
              <a:rPr lang="en-US" sz="1800" b="1" dirty="0">
                <a:cs typeface="Calibri" panose="020F0502020204030204" pitchFamily="34" charset="0"/>
              </a:rPr>
            </a:br>
            <a:r>
              <a:rPr lang="he-IL" sz="1800" b="1" dirty="0">
                <a:cs typeface="Calibri" panose="020F0502020204030204" pitchFamily="34" charset="0"/>
              </a:rPr>
              <a:t>במידה והתקיימו אחד מהתנאים הנ"ל, הכניסי לשדה ה </a:t>
            </a:r>
            <a:r>
              <a:rPr lang="en-US" sz="1800" b="1" dirty="0">
                <a:cs typeface="Calibri" panose="020F0502020204030204" pitchFamily="34" charset="0"/>
              </a:rPr>
              <a:t>output</a:t>
            </a:r>
            <a:r>
              <a:rPr lang="he-IL" sz="1800" b="1" dirty="0">
                <a:cs typeface="Calibri" panose="020F0502020204030204" pitchFamily="34" charset="0"/>
              </a:rPr>
              <a:t> את הערך 1, אחרת הכניסי 0</a:t>
            </a:r>
          </a:p>
          <a:p>
            <a:pPr marL="406908" indent="-342900" rtl="1">
              <a:buAutoNum type="arabicPeriod"/>
            </a:pPr>
            <a:r>
              <a:rPr lang="he-IL" sz="1800" dirty="0">
                <a:cs typeface="Calibri" panose="020F0502020204030204" pitchFamily="34" charset="0"/>
              </a:rPr>
              <a:t>הריצי את הפרוצדורה, בדקי שהטבלאות עודכנו והדפיסי את התוצאה האם עודכן הבונוס</a:t>
            </a:r>
          </a:p>
        </p:txBody>
      </p:sp>
      <p:sp>
        <p:nvSpPr>
          <p:cNvPr id="3" name="כותרת 2">
            <a:extLst>
              <a:ext uri="{FF2B5EF4-FFF2-40B4-BE49-F238E27FC236}">
                <a16:creationId xmlns:a16="http://schemas.microsoft.com/office/drawing/2014/main" id="{B3F08D80-EF70-4D13-81A2-D8378C55D3B3}"/>
              </a:ext>
            </a:extLst>
          </p:cNvPr>
          <p:cNvSpPr>
            <a:spLocks noGrp="1"/>
          </p:cNvSpPr>
          <p:nvPr>
            <p:ph type="title"/>
          </p:nvPr>
        </p:nvSpPr>
        <p:spPr/>
        <p:txBody>
          <a:bodyPr/>
          <a:lstStyle/>
          <a:p>
            <a:r>
              <a:rPr lang="he-IL" dirty="0"/>
              <a:t>פרוצדורות – תרגיל מתקדם </a:t>
            </a:r>
          </a:p>
        </p:txBody>
      </p:sp>
      <p:sp>
        <p:nvSpPr>
          <p:cNvPr id="4" name="מציין מיקום של מספר שקופית 3">
            <a:extLst>
              <a:ext uri="{FF2B5EF4-FFF2-40B4-BE49-F238E27FC236}">
                <a16:creationId xmlns:a16="http://schemas.microsoft.com/office/drawing/2014/main" id="{970A9989-290A-48A9-98DC-EA00B7D24DEF}"/>
              </a:ext>
            </a:extLst>
          </p:cNvPr>
          <p:cNvSpPr>
            <a:spLocks noGrp="1"/>
          </p:cNvSpPr>
          <p:nvPr>
            <p:ph type="sldNum" sz="quarter" idx="11"/>
          </p:nvPr>
        </p:nvSpPr>
        <p:spPr/>
        <p:txBody>
          <a:bodyPr/>
          <a:lstStyle/>
          <a:p>
            <a:fld id="{746FD205-8D79-439C-A802-2377436AEC8A}" type="slidenum">
              <a:rPr lang="he-IL" smtClean="0"/>
              <a:pPr/>
              <a:t>130</a:t>
            </a:fld>
            <a:endParaRPr lang="he-IL"/>
          </a:p>
        </p:txBody>
      </p:sp>
    </p:spTree>
    <p:extLst>
      <p:ext uri="{BB962C8B-B14F-4D97-AF65-F5344CB8AC3E}">
        <p14:creationId xmlns:p14="http://schemas.microsoft.com/office/powerpoint/2010/main" val="333574536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91E62E73-EFFF-4DE6-AEE5-2E440DD7C92D}"/>
              </a:ext>
            </a:extLst>
          </p:cNvPr>
          <p:cNvSpPr>
            <a:spLocks noGrp="1"/>
          </p:cNvSpPr>
          <p:nvPr>
            <p:ph idx="1"/>
          </p:nvPr>
        </p:nvSpPr>
        <p:spPr/>
        <p:txBody>
          <a:bodyPr/>
          <a:lstStyle/>
          <a:p>
            <a:pPr marL="64008" indent="0" rtl="1">
              <a:buNone/>
            </a:pPr>
            <a:r>
              <a:rPr lang="he-IL" sz="1800" dirty="0">
                <a:cs typeface="Calibri" panose="020F0502020204030204" pitchFamily="34" charset="0"/>
              </a:rPr>
              <a:t>פונקציה ב-</a:t>
            </a:r>
            <a:r>
              <a:rPr lang="en-US" sz="1800" dirty="0">
                <a:cs typeface="Calibri" panose="020F0502020204030204" pitchFamily="34" charset="0"/>
              </a:rPr>
              <a:t> SQL Server </a:t>
            </a:r>
            <a:r>
              <a:rPr lang="he-IL" sz="1800" dirty="0">
                <a:cs typeface="Calibri" panose="020F0502020204030204" pitchFamily="34" charset="0"/>
              </a:rPr>
              <a:t>היא קבוצה של הצהרות </a:t>
            </a:r>
            <a:r>
              <a:rPr lang="en-US" sz="1800" dirty="0">
                <a:cs typeface="Calibri" panose="020F0502020204030204" pitchFamily="34" charset="0"/>
              </a:rPr>
              <a:t>SQL</a:t>
            </a:r>
            <a:r>
              <a:rPr lang="he-IL" sz="1800" dirty="0">
                <a:cs typeface="Calibri" panose="020F0502020204030204" pitchFamily="34" charset="0"/>
              </a:rPr>
              <a:t>.</a:t>
            </a:r>
            <a:br>
              <a:rPr lang="en-US" sz="1800" dirty="0">
                <a:cs typeface="Calibri" panose="020F0502020204030204" pitchFamily="34" charset="0"/>
              </a:rPr>
            </a:br>
            <a:r>
              <a:rPr lang="he-IL" sz="1800" dirty="0">
                <a:cs typeface="Calibri" panose="020F0502020204030204" pitchFamily="34" charset="0"/>
              </a:rPr>
              <a:t>פונקציות גם מורכבות מראש ונקראות או מבוצעות על ידי שם הפונקציה לפי הדרישה. </a:t>
            </a:r>
            <a:br>
              <a:rPr lang="en-US" sz="1800" dirty="0">
                <a:cs typeface="Calibri" panose="020F0502020204030204" pitchFamily="34" charset="0"/>
              </a:rPr>
            </a:br>
            <a:r>
              <a:rPr lang="he-IL" sz="1800" dirty="0">
                <a:cs typeface="Calibri" panose="020F0502020204030204" pitchFamily="34" charset="0"/>
              </a:rPr>
              <a:t>פונקציה ב-</a:t>
            </a:r>
            <a:r>
              <a:rPr lang="en-US" sz="1800" dirty="0">
                <a:cs typeface="Calibri" panose="020F0502020204030204" pitchFamily="34" charset="0"/>
              </a:rPr>
              <a:t>SQL Server </a:t>
            </a:r>
            <a:r>
              <a:rPr lang="he-IL" sz="1800" dirty="0">
                <a:cs typeface="Calibri" panose="020F0502020204030204" pitchFamily="34" charset="0"/>
              </a:rPr>
              <a:t> היא אובייקט מסד נתונים. משתמשים יכולים לשלוח קלט דרך פרמטרי הקלט, והיא יכולה להחזיר ערך אחד כמו גם טבלה.</a:t>
            </a:r>
          </a:p>
          <a:p>
            <a:pPr marL="64008" indent="0" rtl="1">
              <a:buNone/>
            </a:pPr>
            <a:r>
              <a:rPr lang="en-US" sz="1800" dirty="0">
                <a:cs typeface="Calibri" panose="020F0502020204030204" pitchFamily="34" charset="0"/>
              </a:rPr>
              <a:t>Syntax:</a:t>
            </a:r>
          </a:p>
          <a:p>
            <a:pPr marL="64008" indent="0" rtl="1">
              <a:buNone/>
            </a:pPr>
            <a:endParaRPr lang="he-IL" sz="1800" dirty="0">
              <a:cs typeface="Calibri" panose="020F0502020204030204" pitchFamily="34" charset="0"/>
            </a:endParaRPr>
          </a:p>
          <a:p>
            <a:pPr marL="64008" indent="0" rtl="1">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9CC7EC63-C28A-43A0-807D-EE681FB82A35}"/>
              </a:ext>
            </a:extLst>
          </p:cNvPr>
          <p:cNvSpPr>
            <a:spLocks noGrp="1"/>
          </p:cNvSpPr>
          <p:nvPr>
            <p:ph type="title"/>
          </p:nvPr>
        </p:nvSpPr>
        <p:spPr/>
        <p:txBody>
          <a:bodyPr/>
          <a:lstStyle/>
          <a:p>
            <a:pPr algn="l"/>
            <a:r>
              <a:rPr lang="en-US" dirty="0"/>
              <a:t>SQL Server Function</a:t>
            </a:r>
            <a:endParaRPr lang="he-IL" dirty="0"/>
          </a:p>
        </p:txBody>
      </p:sp>
      <p:sp>
        <p:nvSpPr>
          <p:cNvPr id="4" name="מציין מיקום של מספר שקופית 3">
            <a:extLst>
              <a:ext uri="{FF2B5EF4-FFF2-40B4-BE49-F238E27FC236}">
                <a16:creationId xmlns:a16="http://schemas.microsoft.com/office/drawing/2014/main" id="{B3A8F7ED-A5DF-4097-A262-78082F71645E}"/>
              </a:ext>
            </a:extLst>
          </p:cNvPr>
          <p:cNvSpPr>
            <a:spLocks noGrp="1"/>
          </p:cNvSpPr>
          <p:nvPr>
            <p:ph type="sldNum" sz="quarter" idx="11"/>
          </p:nvPr>
        </p:nvSpPr>
        <p:spPr/>
        <p:txBody>
          <a:bodyPr/>
          <a:lstStyle/>
          <a:p>
            <a:fld id="{746FD205-8D79-439C-A802-2377436AEC8A}" type="slidenum">
              <a:rPr lang="he-IL" smtClean="0"/>
              <a:pPr/>
              <a:t>131</a:t>
            </a:fld>
            <a:endParaRPr lang="he-IL"/>
          </a:p>
        </p:txBody>
      </p:sp>
      <p:pic>
        <p:nvPicPr>
          <p:cNvPr id="5" name="תמונה 4">
            <a:extLst>
              <a:ext uri="{FF2B5EF4-FFF2-40B4-BE49-F238E27FC236}">
                <a16:creationId xmlns:a16="http://schemas.microsoft.com/office/drawing/2014/main" id="{671F29C2-9DFD-4C7E-AD9B-F075A7EE0D13}"/>
              </a:ext>
            </a:extLst>
          </p:cNvPr>
          <p:cNvPicPr>
            <a:picLocks noChangeAspect="1"/>
          </p:cNvPicPr>
          <p:nvPr/>
        </p:nvPicPr>
        <p:blipFill>
          <a:blip r:embed="rId2"/>
          <a:stretch>
            <a:fillRect/>
          </a:stretch>
        </p:blipFill>
        <p:spPr>
          <a:xfrm>
            <a:off x="6060004" y="3110453"/>
            <a:ext cx="2455346" cy="1918747"/>
          </a:xfrm>
          <a:prstGeom prst="rect">
            <a:avLst/>
          </a:prstGeom>
        </p:spPr>
      </p:pic>
    </p:spTree>
    <p:extLst>
      <p:ext uri="{BB962C8B-B14F-4D97-AF65-F5344CB8AC3E}">
        <p14:creationId xmlns:p14="http://schemas.microsoft.com/office/powerpoint/2010/main" val="290360245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EB3C34EF-431D-4EA5-BBD5-C0F740877B8A}"/>
              </a:ext>
            </a:extLst>
          </p:cNvPr>
          <p:cNvSpPr>
            <a:spLocks noGrp="1"/>
          </p:cNvSpPr>
          <p:nvPr>
            <p:ph idx="1"/>
          </p:nvPr>
        </p:nvSpPr>
        <p:spPr/>
        <p:txBody>
          <a:bodyPr>
            <a:normAutofit fontScale="92500" lnSpcReduction="10000"/>
          </a:bodyPr>
          <a:lstStyle/>
          <a:p>
            <a:pPr marL="64008" indent="0" rtl="1">
              <a:buNone/>
            </a:pPr>
            <a:r>
              <a:rPr lang="he-IL" sz="1800" dirty="0">
                <a:cs typeface="Calibri" panose="020F0502020204030204" pitchFamily="34" charset="0"/>
              </a:rPr>
              <a:t>ישנם הבדלים רבים בין פרוצדורה לפונקציה, להלן ההבדלים העיקריים:</a:t>
            </a:r>
          </a:p>
          <a:p>
            <a:pPr rtl="1">
              <a:buFont typeface="Courier New" panose="02070309020205020404" pitchFamily="49" charset="0"/>
              <a:buChar char="o"/>
            </a:pPr>
            <a:r>
              <a:rPr lang="he-IL" sz="1800" dirty="0">
                <a:cs typeface="Calibri" panose="020F0502020204030204" pitchFamily="34" charset="0"/>
              </a:rPr>
              <a:t>פרוצדורה מאוחסנת יכולה להחזיר ערכים רבים, לעומת פונקציה שיכולה להחזיר רק ערך בודד (</a:t>
            </a:r>
            <a:r>
              <a:rPr lang="he-IL" sz="1800" dirty="0" err="1">
                <a:cs typeface="Calibri" panose="020F0502020204030204" pitchFamily="34" charset="0"/>
              </a:rPr>
              <a:t>סקלרי</a:t>
            </a:r>
            <a:r>
              <a:rPr lang="he-IL" sz="1800" dirty="0">
                <a:cs typeface="Calibri" panose="020F0502020204030204" pitchFamily="34" charset="0"/>
              </a:rPr>
              <a:t> או טבלאי)</a:t>
            </a:r>
          </a:p>
          <a:p>
            <a:pPr rtl="1">
              <a:buFont typeface="Courier New" panose="02070309020205020404" pitchFamily="49" charset="0"/>
              <a:buChar char="o"/>
            </a:pPr>
            <a:r>
              <a:rPr lang="he-IL" sz="1800" dirty="0">
                <a:cs typeface="Calibri" panose="020F0502020204030204" pitchFamily="34" charset="0"/>
              </a:rPr>
              <a:t>ערך החזרה של הפרוצדורה המאוחסנת הוא אופציונלי, לעומת פונקציה שחייבת להחזיר ערך.</a:t>
            </a:r>
          </a:p>
          <a:p>
            <a:pPr rtl="1">
              <a:buFont typeface="Courier New" panose="02070309020205020404" pitchFamily="49" charset="0"/>
              <a:buChar char="o"/>
            </a:pPr>
            <a:r>
              <a:rPr lang="he-IL" sz="1800" dirty="0">
                <a:cs typeface="Calibri" panose="020F0502020204030204" pitchFamily="34" charset="0"/>
              </a:rPr>
              <a:t>לפרוצדורה מאוחסנת יכולים להיות פרמטרי קלט ופלט, אך לפונקציה יכולים להיות פרמטרי קלט בלבד (בפונקציה, הפלט היחיד הוא ערך החזרה של הפונקציה, זאת לעומת פרוצדורה שניתן להגדיר שתחזיר מספר פרמטרי פלט)</a:t>
            </a:r>
          </a:p>
          <a:p>
            <a:pPr rtl="1">
              <a:buFont typeface="Courier New" panose="02070309020205020404" pitchFamily="49" charset="0"/>
              <a:buChar char="o"/>
            </a:pPr>
            <a:r>
              <a:rPr lang="he-IL" sz="1800" dirty="0">
                <a:cs typeface="Calibri" panose="020F0502020204030204" pitchFamily="34" charset="0"/>
              </a:rPr>
              <a:t>פרוצדורה יכולה לטפל בשגיאות דרך בלוק </a:t>
            </a:r>
            <a:r>
              <a:rPr lang="en-US" sz="1800" dirty="0">
                <a:cs typeface="Calibri" panose="020F0502020204030204" pitchFamily="34" charset="0"/>
              </a:rPr>
              <a:t>TRY-CATCH </a:t>
            </a:r>
            <a:r>
              <a:rPr lang="he-IL" sz="1800" dirty="0">
                <a:cs typeface="Calibri" panose="020F0502020204030204" pitchFamily="34" charset="0"/>
              </a:rPr>
              <a:t> ופונקציה לא.</a:t>
            </a:r>
          </a:p>
          <a:p>
            <a:pPr rtl="1">
              <a:buFont typeface="Courier New" panose="02070309020205020404" pitchFamily="49" charset="0"/>
              <a:buChar char="o"/>
            </a:pPr>
            <a:r>
              <a:rPr lang="he-IL" sz="1800" dirty="0">
                <a:cs typeface="Calibri" panose="020F0502020204030204" pitchFamily="34" charset="0"/>
              </a:rPr>
              <a:t>פרוצדורה מאוחסנת תומכת בהצהרות </a:t>
            </a:r>
            <a:r>
              <a:rPr lang="en-US" sz="1800" dirty="0">
                <a:cs typeface="Calibri" panose="020F0502020204030204" pitchFamily="34" charset="0"/>
              </a:rPr>
              <a:t> SELECT, INSERT, UPDATE </a:t>
            </a:r>
            <a:r>
              <a:rPr lang="he-IL" sz="1800" dirty="0">
                <a:cs typeface="Calibri" panose="020F0502020204030204" pitchFamily="34" charset="0"/>
              </a:rPr>
              <a:t>ו-</a:t>
            </a:r>
            <a:r>
              <a:rPr lang="en-US" sz="1800" dirty="0">
                <a:cs typeface="Calibri" panose="020F0502020204030204" pitchFamily="34" charset="0"/>
              </a:rPr>
              <a:t> DELETE </a:t>
            </a:r>
            <a:r>
              <a:rPr lang="he-IL" sz="1800" dirty="0">
                <a:cs typeface="Calibri" panose="020F0502020204030204" pitchFamily="34" charset="0"/>
              </a:rPr>
              <a:t>לעומת פונקציה שתומכת רק ב-</a:t>
            </a:r>
            <a:r>
              <a:rPr lang="en-US" sz="1800" dirty="0">
                <a:cs typeface="Calibri" panose="020F0502020204030204" pitchFamily="34" charset="0"/>
              </a:rPr>
              <a:t>SELECT</a:t>
            </a:r>
            <a:r>
              <a:rPr lang="he-IL" sz="1800" dirty="0">
                <a:cs typeface="Calibri" panose="020F0502020204030204" pitchFamily="34" charset="0"/>
              </a:rPr>
              <a:t>.</a:t>
            </a:r>
          </a:p>
          <a:p>
            <a:pPr rtl="1">
              <a:buFont typeface="Courier New" panose="02070309020205020404" pitchFamily="49" charset="0"/>
              <a:buChar char="o"/>
            </a:pPr>
            <a:r>
              <a:rPr lang="he-IL" sz="1800" dirty="0">
                <a:cs typeface="Calibri" panose="020F0502020204030204" pitchFamily="34" charset="0"/>
              </a:rPr>
              <a:t>פרוצדורה מאוחסנת מסייעת בביצוע </a:t>
            </a:r>
            <a:r>
              <a:rPr lang="en-US" sz="1800" dirty="0">
                <a:cs typeface="Calibri" panose="020F0502020204030204" pitchFamily="34" charset="0"/>
              </a:rPr>
              <a:t>transactions</a:t>
            </a:r>
            <a:r>
              <a:rPr lang="he-IL" sz="1800" dirty="0">
                <a:cs typeface="Calibri" panose="020F0502020204030204" pitchFamily="34" charset="0"/>
              </a:rPr>
              <a:t> ופונקציה לא.</a:t>
            </a:r>
          </a:p>
          <a:p>
            <a:pPr rtl="1">
              <a:buFont typeface="Courier New" panose="02070309020205020404" pitchFamily="49" charset="0"/>
              <a:buChar char="o"/>
            </a:pPr>
            <a:r>
              <a:rPr lang="he-IL" sz="1800" dirty="0">
                <a:cs typeface="Calibri" panose="020F0502020204030204" pitchFamily="34" charset="0"/>
              </a:rPr>
              <a:t>ניתן לבצע פונקציה בתוך פרוצדורה מאוחסנת, אבל פרוצדורה מאוחסנת לא עובדת בתוך פונקציה.</a:t>
            </a:r>
          </a:p>
          <a:p>
            <a:pPr rtl="1">
              <a:buFont typeface="Courier New" panose="02070309020205020404" pitchFamily="49" charset="0"/>
              <a:buChar char="o"/>
            </a:pPr>
            <a:r>
              <a:rPr lang="he-IL" sz="1800" b="1" dirty="0">
                <a:cs typeface="Calibri" panose="020F0502020204030204" pitchFamily="34" charset="0"/>
              </a:rPr>
              <a:t>במשפטי ה </a:t>
            </a:r>
            <a:r>
              <a:rPr lang="en-US" sz="1800" b="1" dirty="0">
                <a:cs typeface="Calibri" panose="020F0502020204030204" pitchFamily="34" charset="0"/>
              </a:rPr>
              <a:t>SELECT</a:t>
            </a:r>
            <a:r>
              <a:rPr lang="he-IL" sz="1800" b="1" dirty="0">
                <a:cs typeface="Calibri" panose="020F0502020204030204" pitchFamily="34" charset="0"/>
              </a:rPr>
              <a:t> ניתן להשתמש בפונקציה אך לא בפרוצדורה.</a:t>
            </a:r>
          </a:p>
          <a:p>
            <a:pPr marL="64008" indent="0" rtl="1">
              <a:buNone/>
            </a:pPr>
            <a:r>
              <a:rPr lang="he-IL" sz="1800" dirty="0">
                <a:cs typeface="Calibri" panose="020F0502020204030204" pitchFamily="34" charset="0"/>
              </a:rPr>
              <a:t>לסיכום: כאשר נרצה לבצע קבוצת פקודות שיבצעו מטרה אחת ונוכל להפעילן מספר פעמים, נשתמש בפרוצדורה, לעומת זאת, כאשר נרצה לכתוב קוד מסוים שנוכל להשתמש בו תוך ביצוע </a:t>
            </a:r>
            <a:r>
              <a:rPr lang="he-IL" sz="1800" dirty="0" err="1">
                <a:cs typeface="Calibri" panose="020F0502020204030204" pitchFamily="34" charset="0"/>
              </a:rPr>
              <a:t>שאילתא</a:t>
            </a:r>
            <a:r>
              <a:rPr lang="he-IL" sz="1800" dirty="0">
                <a:cs typeface="Calibri" panose="020F0502020204030204" pitchFamily="34" charset="0"/>
              </a:rPr>
              <a:t>, נשתמש בפונקציה (לדוגמא: </a:t>
            </a:r>
            <a:r>
              <a:rPr lang="en-US" sz="1800" dirty="0">
                <a:cs typeface="Calibri" panose="020F0502020204030204" pitchFamily="34" charset="0"/>
              </a:rPr>
              <a:t>MAX</a:t>
            </a:r>
            <a:r>
              <a:rPr lang="he-IL" sz="1800" dirty="0">
                <a:cs typeface="Calibri" panose="020F0502020204030204" pitchFamily="34" charset="0"/>
              </a:rPr>
              <a:t> – משתמשים בה הרבה בכתיבת </a:t>
            </a:r>
            <a:r>
              <a:rPr lang="he-IL" sz="1800" dirty="0" err="1">
                <a:cs typeface="Calibri" panose="020F0502020204030204" pitchFamily="34" charset="0"/>
              </a:rPr>
              <a:t>שאילתא</a:t>
            </a:r>
            <a:r>
              <a:rPr lang="he-IL" sz="1800" dirty="0">
                <a:cs typeface="Calibri" panose="020F0502020204030204" pitchFamily="34" charset="0"/>
              </a:rPr>
              <a:t>...)</a:t>
            </a:r>
          </a:p>
        </p:txBody>
      </p:sp>
      <p:sp>
        <p:nvSpPr>
          <p:cNvPr id="3" name="כותרת 2">
            <a:extLst>
              <a:ext uri="{FF2B5EF4-FFF2-40B4-BE49-F238E27FC236}">
                <a16:creationId xmlns:a16="http://schemas.microsoft.com/office/drawing/2014/main" id="{0EC0C278-12FE-481E-952C-0E9BBE2F75BA}"/>
              </a:ext>
            </a:extLst>
          </p:cNvPr>
          <p:cNvSpPr>
            <a:spLocks noGrp="1"/>
          </p:cNvSpPr>
          <p:nvPr>
            <p:ph type="title"/>
          </p:nvPr>
        </p:nvSpPr>
        <p:spPr/>
        <p:txBody>
          <a:bodyPr/>
          <a:lstStyle/>
          <a:p>
            <a:pPr algn="l"/>
            <a:r>
              <a:rPr lang="en-US" dirty="0"/>
              <a:t>Function VS Procedure</a:t>
            </a:r>
            <a:endParaRPr lang="he-IL" dirty="0"/>
          </a:p>
        </p:txBody>
      </p:sp>
      <p:sp>
        <p:nvSpPr>
          <p:cNvPr id="4" name="מציין מיקום של מספר שקופית 3">
            <a:extLst>
              <a:ext uri="{FF2B5EF4-FFF2-40B4-BE49-F238E27FC236}">
                <a16:creationId xmlns:a16="http://schemas.microsoft.com/office/drawing/2014/main" id="{DFF337D0-A73A-412F-9B37-0360F8F5395A}"/>
              </a:ext>
            </a:extLst>
          </p:cNvPr>
          <p:cNvSpPr>
            <a:spLocks noGrp="1"/>
          </p:cNvSpPr>
          <p:nvPr>
            <p:ph type="sldNum" sz="quarter" idx="11"/>
          </p:nvPr>
        </p:nvSpPr>
        <p:spPr/>
        <p:txBody>
          <a:bodyPr/>
          <a:lstStyle/>
          <a:p>
            <a:fld id="{746FD205-8D79-439C-A802-2377436AEC8A}" type="slidenum">
              <a:rPr lang="he-IL" smtClean="0"/>
              <a:pPr/>
              <a:t>132</a:t>
            </a:fld>
            <a:endParaRPr lang="he-IL" dirty="0"/>
          </a:p>
        </p:txBody>
      </p:sp>
    </p:spTree>
    <p:extLst>
      <p:ext uri="{BB962C8B-B14F-4D97-AF65-F5344CB8AC3E}">
        <p14:creationId xmlns:p14="http://schemas.microsoft.com/office/powerpoint/2010/main" val="352344535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13A0F40-563C-4573-A056-6757F792D5A7}"/>
              </a:ext>
            </a:extLst>
          </p:cNvPr>
          <p:cNvSpPr>
            <a:spLocks noGrp="1"/>
          </p:cNvSpPr>
          <p:nvPr>
            <p:ph idx="1"/>
          </p:nvPr>
        </p:nvSpPr>
        <p:spPr/>
        <p:txBody>
          <a:bodyPr>
            <a:normAutofit/>
          </a:bodyPr>
          <a:lstStyle/>
          <a:p>
            <a:pPr marL="64008" indent="0" rtl="1">
              <a:buNone/>
            </a:pPr>
            <a:r>
              <a:rPr lang="en-US" sz="1800" dirty="0">
                <a:cs typeface="Calibri" panose="020F0502020204030204" pitchFamily="34" charset="0"/>
              </a:rPr>
              <a:t>Views</a:t>
            </a:r>
            <a:r>
              <a:rPr lang="he-IL" sz="1800" dirty="0">
                <a:cs typeface="Calibri" panose="020F0502020204030204" pitchFamily="34" charset="0"/>
              </a:rPr>
              <a:t> ב-</a:t>
            </a:r>
            <a:r>
              <a:rPr lang="en-US" sz="1800" dirty="0">
                <a:cs typeface="Calibri" panose="020F0502020204030204" pitchFamily="34" charset="0"/>
              </a:rPr>
              <a:t>SQL </a:t>
            </a:r>
            <a:r>
              <a:rPr lang="he-IL" sz="1800" dirty="0">
                <a:cs typeface="Calibri" panose="020F0502020204030204" pitchFamily="34" charset="0"/>
              </a:rPr>
              <a:t> הם סוג של טבלה וירטואלית. ל </a:t>
            </a:r>
            <a:r>
              <a:rPr lang="en-US" sz="1800" dirty="0">
                <a:cs typeface="Calibri" panose="020F0502020204030204" pitchFamily="34" charset="0"/>
              </a:rPr>
              <a:t>view</a:t>
            </a:r>
            <a:r>
              <a:rPr lang="he-IL" sz="1800" dirty="0">
                <a:cs typeface="Calibri" panose="020F0502020204030204" pitchFamily="34" charset="0"/>
              </a:rPr>
              <a:t> יש גם שורות ועמודות כמו טבלאות, אבל הוא לא מאחסן נתונים בדיסק כמו טבלה. </a:t>
            </a:r>
            <a:r>
              <a:rPr lang="en-US" sz="1800" dirty="0">
                <a:cs typeface="Calibri" panose="020F0502020204030204" pitchFamily="34" charset="0"/>
              </a:rPr>
              <a:t>View</a:t>
            </a:r>
            <a:r>
              <a:rPr lang="he-IL" sz="1800" dirty="0">
                <a:cs typeface="Calibri" panose="020F0502020204030204" pitchFamily="34" charset="0"/>
              </a:rPr>
              <a:t> מגדיר שאילתה מותאמת אישית המאחזרת נתונים מטבלה אחת או יותר, ומייצגת את הנתונים כאילו הם מגיעים ממקור יחיד.</a:t>
            </a:r>
          </a:p>
          <a:p>
            <a:pPr marL="64008" indent="0" rtl="1">
              <a:buNone/>
            </a:pPr>
            <a:r>
              <a:rPr lang="he-IL" sz="1800" dirty="0">
                <a:cs typeface="Calibri" panose="020F0502020204030204" pitchFamily="34" charset="0"/>
              </a:rPr>
              <a:t>ניתן ליצור </a:t>
            </a:r>
            <a:r>
              <a:rPr lang="en-US" sz="1800" dirty="0">
                <a:cs typeface="Calibri" panose="020F0502020204030204" pitchFamily="34" charset="0"/>
              </a:rPr>
              <a:t>view</a:t>
            </a:r>
            <a:r>
              <a:rPr lang="he-IL" sz="1800" dirty="0">
                <a:cs typeface="Calibri" panose="020F0502020204030204" pitchFamily="34" charset="0"/>
              </a:rPr>
              <a:t> על ידי בחירת שדות מתוך טבלה אחת או יותר הקיימת במסד הנתונים. תצוגה יכולה לכלול את כל השורות בטבלה או שורות ספציפיות בהתבסס על תנאים מסוימים.</a:t>
            </a:r>
          </a:p>
          <a:p>
            <a:pPr marL="64008" indent="0" rtl="1">
              <a:buNone/>
            </a:pPr>
            <a:r>
              <a:rPr lang="he-IL" sz="1800" dirty="0">
                <a:cs typeface="Calibri" panose="020F0502020204030204" pitchFamily="34" charset="0"/>
              </a:rPr>
              <a:t>יצירת </a:t>
            </a:r>
            <a:r>
              <a:rPr lang="en-US" sz="1800" dirty="0">
                <a:cs typeface="Calibri" panose="020F0502020204030204" pitchFamily="34" charset="0"/>
              </a:rPr>
              <a:t>view</a:t>
            </a:r>
            <a:r>
              <a:rPr lang="he-IL" sz="1800" dirty="0">
                <a:cs typeface="Calibri" panose="020F0502020204030204" pitchFamily="34" charset="0"/>
              </a:rPr>
              <a:t>:</a:t>
            </a:r>
          </a:p>
          <a:p>
            <a:pPr marL="64008" indent="0" rtl="1">
              <a:buNone/>
            </a:pPr>
            <a:endParaRPr lang="en-US" sz="1800" dirty="0">
              <a:cs typeface="Calibri" panose="020F0502020204030204" pitchFamily="34" charset="0"/>
            </a:endParaRPr>
          </a:p>
        </p:txBody>
      </p:sp>
      <p:sp>
        <p:nvSpPr>
          <p:cNvPr id="3" name="כותרת 2">
            <a:extLst>
              <a:ext uri="{FF2B5EF4-FFF2-40B4-BE49-F238E27FC236}">
                <a16:creationId xmlns:a16="http://schemas.microsoft.com/office/drawing/2014/main" id="{412D2665-EFBE-4613-ACE5-F073C5A67DDD}"/>
              </a:ext>
            </a:extLst>
          </p:cNvPr>
          <p:cNvSpPr>
            <a:spLocks noGrp="1"/>
          </p:cNvSpPr>
          <p:nvPr>
            <p:ph type="title"/>
          </p:nvPr>
        </p:nvSpPr>
        <p:spPr/>
        <p:txBody>
          <a:bodyPr/>
          <a:lstStyle/>
          <a:p>
            <a:r>
              <a:rPr lang="en-US" dirty="0"/>
              <a:t>View</a:t>
            </a:r>
            <a:endParaRPr lang="he-IL" dirty="0"/>
          </a:p>
        </p:txBody>
      </p:sp>
      <p:sp>
        <p:nvSpPr>
          <p:cNvPr id="4" name="מציין מיקום של מספר שקופית 3">
            <a:extLst>
              <a:ext uri="{FF2B5EF4-FFF2-40B4-BE49-F238E27FC236}">
                <a16:creationId xmlns:a16="http://schemas.microsoft.com/office/drawing/2014/main" id="{AF9A52CA-1562-4BBF-B30E-CDC3E80BD421}"/>
              </a:ext>
            </a:extLst>
          </p:cNvPr>
          <p:cNvSpPr>
            <a:spLocks noGrp="1"/>
          </p:cNvSpPr>
          <p:nvPr>
            <p:ph type="sldNum" sz="quarter" idx="11"/>
          </p:nvPr>
        </p:nvSpPr>
        <p:spPr/>
        <p:txBody>
          <a:bodyPr/>
          <a:lstStyle/>
          <a:p>
            <a:fld id="{746FD205-8D79-439C-A802-2377436AEC8A}" type="slidenum">
              <a:rPr lang="he-IL" smtClean="0"/>
              <a:pPr/>
              <a:t>133</a:t>
            </a:fld>
            <a:endParaRPr lang="he-IL"/>
          </a:p>
        </p:txBody>
      </p:sp>
      <p:pic>
        <p:nvPicPr>
          <p:cNvPr id="5" name="תמונה 4">
            <a:extLst>
              <a:ext uri="{FF2B5EF4-FFF2-40B4-BE49-F238E27FC236}">
                <a16:creationId xmlns:a16="http://schemas.microsoft.com/office/drawing/2014/main" id="{C94596E0-5564-44D3-81DC-80ADDBE7AA1D}"/>
              </a:ext>
            </a:extLst>
          </p:cNvPr>
          <p:cNvPicPr/>
          <p:nvPr/>
        </p:nvPicPr>
        <p:blipFill>
          <a:blip r:embed="rId2"/>
          <a:stretch>
            <a:fillRect/>
          </a:stretch>
        </p:blipFill>
        <p:spPr>
          <a:xfrm>
            <a:off x="4343400" y="3200400"/>
            <a:ext cx="2786062" cy="2733675"/>
          </a:xfrm>
          <a:prstGeom prst="rect">
            <a:avLst/>
          </a:prstGeom>
        </p:spPr>
      </p:pic>
    </p:spTree>
    <p:extLst>
      <p:ext uri="{BB962C8B-B14F-4D97-AF65-F5344CB8AC3E}">
        <p14:creationId xmlns:p14="http://schemas.microsoft.com/office/powerpoint/2010/main" val="311569241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CCB1F97-C4D9-4082-9FEA-2E9EAA741870}"/>
              </a:ext>
            </a:extLst>
          </p:cNvPr>
          <p:cNvSpPr>
            <a:spLocks noGrp="1"/>
          </p:cNvSpPr>
          <p:nvPr>
            <p:ph idx="1"/>
          </p:nvPr>
        </p:nvSpPr>
        <p:spPr/>
        <p:txBody>
          <a:bodyPr>
            <a:normAutofit/>
          </a:bodyPr>
          <a:lstStyle/>
          <a:p>
            <a:pPr marL="64008" indent="0" rtl="1">
              <a:buNone/>
            </a:pPr>
            <a:r>
              <a:rPr lang="he-IL" sz="1700" dirty="0">
                <a:cs typeface="Calibri" panose="020F0502020204030204" pitchFamily="34" charset="0"/>
              </a:rPr>
              <a:t>יצירת </a:t>
            </a:r>
            <a:r>
              <a:rPr lang="en-US" sz="1700" dirty="0">
                <a:cs typeface="Calibri" panose="020F0502020204030204" pitchFamily="34" charset="0"/>
              </a:rPr>
              <a:t>view</a:t>
            </a:r>
            <a:r>
              <a:rPr lang="he-IL" sz="1700" dirty="0">
                <a:cs typeface="Calibri" panose="020F0502020204030204" pitchFamily="34" charset="0"/>
              </a:rPr>
              <a:t> ממספר טבלאות:</a:t>
            </a:r>
          </a:p>
          <a:p>
            <a:pPr marL="64008" indent="0" rtl="1">
              <a:buNone/>
            </a:pPr>
            <a:endParaRPr lang="he-IL" sz="1700" dirty="0">
              <a:cs typeface="Calibri" panose="020F0502020204030204" pitchFamily="34" charset="0"/>
            </a:endParaRPr>
          </a:p>
          <a:p>
            <a:pPr marL="64008" indent="0" rtl="1">
              <a:buNone/>
            </a:pPr>
            <a:endParaRPr lang="he-IL" sz="1700" dirty="0">
              <a:cs typeface="Calibri" panose="020F0502020204030204" pitchFamily="34" charset="0"/>
            </a:endParaRPr>
          </a:p>
          <a:p>
            <a:pPr marL="64008" indent="0" rtl="1">
              <a:buNone/>
            </a:pPr>
            <a:endParaRPr lang="he-IL" sz="1700" dirty="0">
              <a:cs typeface="Calibri" panose="020F0502020204030204" pitchFamily="34" charset="0"/>
            </a:endParaRPr>
          </a:p>
          <a:p>
            <a:pPr marL="64008" indent="0" rtl="1">
              <a:buNone/>
            </a:pPr>
            <a:endParaRPr lang="he-IL" sz="1700" dirty="0">
              <a:cs typeface="Calibri" panose="020F0502020204030204" pitchFamily="34" charset="0"/>
            </a:endParaRPr>
          </a:p>
          <a:p>
            <a:pPr marL="64008" indent="0" rtl="1">
              <a:buNone/>
            </a:pPr>
            <a:r>
              <a:rPr lang="he-IL" sz="1700" dirty="0">
                <a:cs typeface="Calibri" panose="020F0502020204030204" pitchFamily="34" charset="0"/>
              </a:rPr>
              <a:t>כעת נשלוף מה </a:t>
            </a:r>
            <a:r>
              <a:rPr lang="en-US" sz="1700" dirty="0">
                <a:cs typeface="Calibri" panose="020F0502020204030204" pitchFamily="34" charset="0"/>
              </a:rPr>
              <a:t>view</a:t>
            </a:r>
            <a:r>
              <a:rPr lang="he-IL" sz="1700" dirty="0">
                <a:cs typeface="Calibri" panose="020F0502020204030204" pitchFamily="34" charset="0"/>
              </a:rPr>
              <a:t> בדיוק כמו מטבלה רגילה (אעפ"י שמאחורי הקלעים בכל פעם כשקוראים ל </a:t>
            </a:r>
            <a:r>
              <a:rPr lang="en-US" sz="1700" dirty="0">
                <a:cs typeface="Calibri" panose="020F0502020204030204" pitchFamily="34" charset="0"/>
              </a:rPr>
              <a:t>view</a:t>
            </a:r>
            <a:r>
              <a:rPr lang="he-IL" sz="1700" dirty="0">
                <a:cs typeface="Calibri" panose="020F0502020204030204" pitchFamily="34" charset="0"/>
              </a:rPr>
              <a:t> מבצעת שאילתה שיוצרת את הטבלה הווירטואלית)</a:t>
            </a:r>
          </a:p>
          <a:p>
            <a:pPr marL="64008" indent="0" rtl="1">
              <a:buNone/>
            </a:pPr>
            <a:endParaRPr lang="he-IL" sz="1700" dirty="0">
              <a:cs typeface="Calibri" panose="020F0502020204030204" pitchFamily="34" charset="0"/>
            </a:endParaRPr>
          </a:p>
        </p:txBody>
      </p:sp>
      <p:sp>
        <p:nvSpPr>
          <p:cNvPr id="3" name="כותרת 2">
            <a:extLst>
              <a:ext uri="{FF2B5EF4-FFF2-40B4-BE49-F238E27FC236}">
                <a16:creationId xmlns:a16="http://schemas.microsoft.com/office/drawing/2014/main" id="{B394A300-6F51-4EC6-8253-8F8C688808CC}"/>
              </a:ext>
            </a:extLst>
          </p:cNvPr>
          <p:cNvSpPr>
            <a:spLocks noGrp="1"/>
          </p:cNvSpPr>
          <p:nvPr>
            <p:ph type="title"/>
          </p:nvPr>
        </p:nvSpPr>
        <p:spPr/>
        <p:txBody>
          <a:bodyPr/>
          <a:lstStyle/>
          <a:p>
            <a:pPr rtl="1"/>
            <a:r>
              <a:rPr lang="en-US" dirty="0"/>
              <a:t>View</a:t>
            </a:r>
            <a:r>
              <a:rPr lang="he-IL" dirty="0"/>
              <a:t>  - דוגמא</a:t>
            </a:r>
          </a:p>
        </p:txBody>
      </p:sp>
      <p:sp>
        <p:nvSpPr>
          <p:cNvPr id="4" name="מציין מיקום של מספר שקופית 3">
            <a:extLst>
              <a:ext uri="{FF2B5EF4-FFF2-40B4-BE49-F238E27FC236}">
                <a16:creationId xmlns:a16="http://schemas.microsoft.com/office/drawing/2014/main" id="{5203C954-904D-445B-83AF-1FF099E463BC}"/>
              </a:ext>
            </a:extLst>
          </p:cNvPr>
          <p:cNvSpPr>
            <a:spLocks noGrp="1"/>
          </p:cNvSpPr>
          <p:nvPr>
            <p:ph type="sldNum" sz="quarter" idx="11"/>
          </p:nvPr>
        </p:nvSpPr>
        <p:spPr/>
        <p:txBody>
          <a:bodyPr/>
          <a:lstStyle/>
          <a:p>
            <a:fld id="{746FD205-8D79-439C-A802-2377436AEC8A}" type="slidenum">
              <a:rPr lang="he-IL" smtClean="0"/>
              <a:pPr/>
              <a:t>134</a:t>
            </a:fld>
            <a:endParaRPr lang="he-IL"/>
          </a:p>
        </p:txBody>
      </p:sp>
      <p:pic>
        <p:nvPicPr>
          <p:cNvPr id="5" name="תמונה 4">
            <a:extLst>
              <a:ext uri="{FF2B5EF4-FFF2-40B4-BE49-F238E27FC236}">
                <a16:creationId xmlns:a16="http://schemas.microsoft.com/office/drawing/2014/main" id="{7B8A910F-FF93-4E4A-9A26-3498C19C7F46}"/>
              </a:ext>
            </a:extLst>
          </p:cNvPr>
          <p:cNvPicPr/>
          <p:nvPr/>
        </p:nvPicPr>
        <p:blipFill>
          <a:blip r:embed="rId2"/>
          <a:stretch>
            <a:fillRect/>
          </a:stretch>
        </p:blipFill>
        <p:spPr>
          <a:xfrm>
            <a:off x="3276600" y="1905000"/>
            <a:ext cx="5274310" cy="1083310"/>
          </a:xfrm>
          <a:prstGeom prst="rect">
            <a:avLst/>
          </a:prstGeom>
        </p:spPr>
      </p:pic>
      <p:pic>
        <p:nvPicPr>
          <p:cNvPr id="6" name="תמונה 5">
            <a:extLst>
              <a:ext uri="{FF2B5EF4-FFF2-40B4-BE49-F238E27FC236}">
                <a16:creationId xmlns:a16="http://schemas.microsoft.com/office/drawing/2014/main" id="{2D88F53F-0AB8-4E6A-B99A-12943381D2D8}"/>
              </a:ext>
            </a:extLst>
          </p:cNvPr>
          <p:cNvPicPr/>
          <p:nvPr/>
        </p:nvPicPr>
        <p:blipFill>
          <a:blip r:embed="rId3"/>
          <a:stretch>
            <a:fillRect/>
          </a:stretch>
        </p:blipFill>
        <p:spPr>
          <a:xfrm>
            <a:off x="4038600" y="3844358"/>
            <a:ext cx="2300287" cy="499042"/>
          </a:xfrm>
          <a:prstGeom prst="rect">
            <a:avLst/>
          </a:prstGeom>
        </p:spPr>
      </p:pic>
      <p:pic>
        <p:nvPicPr>
          <p:cNvPr id="8" name="תמונה 7">
            <a:extLst>
              <a:ext uri="{FF2B5EF4-FFF2-40B4-BE49-F238E27FC236}">
                <a16:creationId xmlns:a16="http://schemas.microsoft.com/office/drawing/2014/main" id="{A3FC65B7-B15A-4CF4-B9E0-CBEF90EE214F}"/>
              </a:ext>
            </a:extLst>
          </p:cNvPr>
          <p:cNvPicPr/>
          <p:nvPr/>
        </p:nvPicPr>
        <p:blipFill>
          <a:blip r:embed="rId4"/>
          <a:stretch>
            <a:fillRect/>
          </a:stretch>
        </p:blipFill>
        <p:spPr>
          <a:xfrm>
            <a:off x="3886200" y="4444433"/>
            <a:ext cx="3937764" cy="1422967"/>
          </a:xfrm>
          <a:prstGeom prst="rect">
            <a:avLst/>
          </a:prstGeom>
        </p:spPr>
      </p:pic>
    </p:spTree>
    <p:extLst>
      <p:ext uri="{BB962C8B-B14F-4D97-AF65-F5344CB8AC3E}">
        <p14:creationId xmlns:p14="http://schemas.microsoft.com/office/powerpoint/2010/main" val="75736393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387B4ABA-3D44-4F0C-8BAE-703D94DE9892}"/>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מסד נתונים טוב יכיל </a:t>
            </a:r>
            <a:r>
              <a:rPr lang="en-US" sz="1800" dirty="0">
                <a:cs typeface="Calibri" panose="020F0502020204030204" pitchFamily="34" charset="0"/>
              </a:rPr>
              <a:t>views</a:t>
            </a:r>
            <a:r>
              <a:rPr lang="he-IL" sz="1800" dirty="0">
                <a:cs typeface="Calibri" panose="020F0502020204030204" pitchFamily="34" charset="0"/>
              </a:rPr>
              <a:t> מהסיבות הבאות:</a:t>
            </a:r>
            <a:endParaRPr lang="en-US" sz="1800" dirty="0">
              <a:cs typeface="Calibri" panose="020F0502020204030204" pitchFamily="34" charset="0"/>
            </a:endParaRPr>
          </a:p>
          <a:p>
            <a:pPr lvl="0" rtl="1">
              <a:buFont typeface="Courier New" panose="02070309020205020404" pitchFamily="49" charset="0"/>
              <a:buChar char="o"/>
            </a:pPr>
            <a:r>
              <a:rPr lang="he-IL" sz="1800" b="1" dirty="0">
                <a:cs typeface="Calibri" panose="020F0502020204030204" pitchFamily="34" charset="0"/>
              </a:rPr>
              <a:t>הגבלת גישה לנתונים </a:t>
            </a:r>
            <a:r>
              <a:rPr lang="he-IL" sz="1800" dirty="0">
                <a:cs typeface="Calibri" panose="020F0502020204030204" pitchFamily="34" charset="0"/>
              </a:rPr>
              <a:t>- </a:t>
            </a:r>
            <a:r>
              <a:rPr lang="en-US" sz="1800" dirty="0">
                <a:cs typeface="Calibri" panose="020F0502020204030204" pitchFamily="34" charset="0"/>
              </a:rPr>
              <a:t>views</a:t>
            </a:r>
            <a:r>
              <a:rPr lang="he-IL" sz="1800" dirty="0">
                <a:cs typeface="Calibri" panose="020F0502020204030204" pitchFamily="34" charset="0"/>
              </a:rPr>
              <a:t> מספקים רמה נוספת של אבטחת טבלה על ידי הגבלת גישה לקבוצה קבועה מראש של שורות ועמודות של טבלה.</a:t>
            </a:r>
            <a:endParaRPr lang="en-US" sz="1800" dirty="0">
              <a:cs typeface="Calibri" panose="020F0502020204030204" pitchFamily="34" charset="0"/>
            </a:endParaRPr>
          </a:p>
          <a:p>
            <a:pPr lvl="0" rtl="1">
              <a:buFont typeface="Courier New" panose="02070309020205020404" pitchFamily="49" charset="0"/>
              <a:buChar char="o"/>
            </a:pPr>
            <a:r>
              <a:rPr lang="he-IL" sz="1800" b="1" dirty="0">
                <a:cs typeface="Calibri" panose="020F0502020204030204" pitchFamily="34" charset="0"/>
              </a:rPr>
              <a:t>הסתרת מורכבות הנתונים </a:t>
            </a:r>
            <a:r>
              <a:rPr lang="he-IL" sz="1800" dirty="0">
                <a:cs typeface="Calibri" panose="020F0502020204030204" pitchFamily="34" charset="0"/>
              </a:rPr>
              <a:t>- </a:t>
            </a:r>
            <a:r>
              <a:rPr lang="en-US" sz="1800" dirty="0">
                <a:cs typeface="Calibri" panose="020F0502020204030204" pitchFamily="34" charset="0"/>
              </a:rPr>
              <a:t>view</a:t>
            </a:r>
            <a:r>
              <a:rPr lang="he-IL" sz="1800" dirty="0">
                <a:cs typeface="Calibri" panose="020F0502020204030204" pitchFamily="34" charset="0"/>
              </a:rPr>
              <a:t> יכול להסתיר את המורכבות שקיימת בטבלאות מרובות שהתבצע ביניהן </a:t>
            </a:r>
            <a:r>
              <a:rPr lang="en-US" sz="1800" dirty="0">
                <a:cs typeface="Calibri" panose="020F0502020204030204" pitchFamily="34" charset="0"/>
              </a:rPr>
              <a:t>join</a:t>
            </a:r>
            <a:r>
              <a:rPr lang="he-IL" sz="1800" dirty="0">
                <a:cs typeface="Calibri" panose="020F0502020204030204" pitchFamily="34" charset="0"/>
              </a:rPr>
              <a:t>.</a:t>
            </a:r>
            <a:endParaRPr lang="en-US" sz="1800" dirty="0">
              <a:cs typeface="Calibri" panose="020F0502020204030204" pitchFamily="34" charset="0"/>
            </a:endParaRPr>
          </a:p>
          <a:p>
            <a:pPr lvl="0" rtl="1">
              <a:buFont typeface="Courier New" panose="02070309020205020404" pitchFamily="49" charset="0"/>
              <a:buChar char="o"/>
            </a:pPr>
            <a:r>
              <a:rPr lang="he-IL" sz="1800" b="1" dirty="0">
                <a:cs typeface="Calibri" panose="020F0502020204030204" pitchFamily="34" charset="0"/>
              </a:rPr>
              <a:t>פישוט פקודות למשתמש </a:t>
            </a:r>
            <a:r>
              <a:rPr lang="he-IL" sz="1800" dirty="0">
                <a:cs typeface="Calibri" panose="020F0502020204030204" pitchFamily="34" charset="0"/>
              </a:rPr>
              <a:t>– </a:t>
            </a:r>
            <a:r>
              <a:rPr lang="en-US" sz="1800" dirty="0">
                <a:cs typeface="Calibri" panose="020F0502020204030204" pitchFamily="34" charset="0"/>
              </a:rPr>
              <a:t>view </a:t>
            </a:r>
            <a:r>
              <a:rPr lang="he-IL" sz="1800" dirty="0">
                <a:cs typeface="Calibri" panose="020F0502020204030204" pitchFamily="34" charset="0"/>
              </a:rPr>
              <a:t> מאפשרים למשתמש לבחור מידע ממספר טבלאות מבלי לדרוש מהמשתמשים לדעת כיצד לבצע </a:t>
            </a:r>
            <a:r>
              <a:rPr lang="en-US" sz="1800" dirty="0">
                <a:cs typeface="Calibri" panose="020F0502020204030204" pitchFamily="34" charset="0"/>
              </a:rPr>
              <a:t>join</a:t>
            </a:r>
            <a:r>
              <a:rPr lang="he-IL" sz="1800" dirty="0">
                <a:cs typeface="Calibri" panose="020F0502020204030204" pitchFamily="34" charset="0"/>
              </a:rPr>
              <a:t>.</a:t>
            </a:r>
            <a:endParaRPr lang="en-US" sz="1800" dirty="0">
              <a:cs typeface="Calibri" panose="020F0502020204030204" pitchFamily="34" charset="0"/>
            </a:endParaRPr>
          </a:p>
          <a:p>
            <a:pPr lvl="0" rtl="1">
              <a:buFont typeface="Courier New" panose="02070309020205020404" pitchFamily="49" charset="0"/>
              <a:buChar char="o"/>
            </a:pPr>
            <a:r>
              <a:rPr lang="he-IL" sz="1800" b="1" dirty="0">
                <a:cs typeface="Calibri" panose="020F0502020204030204" pitchFamily="34" charset="0"/>
              </a:rPr>
              <a:t>אחסון שאילתות מורכבות </a:t>
            </a:r>
            <a:r>
              <a:rPr lang="he-IL" sz="1800" dirty="0">
                <a:cs typeface="Calibri" panose="020F0502020204030204" pitchFamily="34" charset="0"/>
              </a:rPr>
              <a:t>- ניתן להשתמש ב </a:t>
            </a:r>
            <a:r>
              <a:rPr lang="en-US" sz="1800" dirty="0">
                <a:cs typeface="Calibri" panose="020F0502020204030204" pitchFamily="34" charset="0"/>
              </a:rPr>
              <a:t>views</a:t>
            </a:r>
            <a:r>
              <a:rPr lang="he-IL" sz="1800" dirty="0">
                <a:cs typeface="Calibri" panose="020F0502020204030204" pitchFamily="34" charset="0"/>
              </a:rPr>
              <a:t> לאחסון שאילתות מורכבות.</a:t>
            </a:r>
            <a:endParaRPr lang="en-US" sz="1800" dirty="0">
              <a:cs typeface="Calibri" panose="020F0502020204030204" pitchFamily="34" charset="0"/>
            </a:endParaRPr>
          </a:p>
          <a:p>
            <a:pPr lvl="0" rtl="1">
              <a:buFont typeface="Courier New" panose="02070309020205020404" pitchFamily="49" charset="0"/>
              <a:buChar char="o"/>
            </a:pPr>
            <a:r>
              <a:rPr lang="he-IL" sz="1800" b="1" dirty="0">
                <a:cs typeface="Calibri" panose="020F0502020204030204" pitchFamily="34" charset="0"/>
              </a:rPr>
              <a:t>שינוי שם עמודות </a:t>
            </a:r>
            <a:r>
              <a:rPr lang="he-IL" sz="1800" dirty="0">
                <a:cs typeface="Calibri" panose="020F0502020204030204" pitchFamily="34" charset="0"/>
              </a:rPr>
              <a:t>- ניתן להשתמש ב </a:t>
            </a:r>
            <a:r>
              <a:rPr lang="en-US" sz="1800" dirty="0">
                <a:cs typeface="Calibri" panose="020F0502020204030204" pitchFamily="34" charset="0"/>
              </a:rPr>
              <a:t>views</a:t>
            </a:r>
            <a:r>
              <a:rPr lang="he-IL" sz="1800" dirty="0">
                <a:cs typeface="Calibri" panose="020F0502020204030204" pitchFamily="34" charset="0"/>
              </a:rPr>
              <a:t> גם כדי לשנות את שמות העמודות מבלי להשפיע על טבלאות הבסיס בתנאי שמספר העמודות בתצוגה חייב להתאים למספר העמודות שצוין בהצהרת </a:t>
            </a:r>
            <a:r>
              <a:rPr lang="en-US" sz="1800" dirty="0">
                <a:cs typeface="Calibri" panose="020F0502020204030204" pitchFamily="34" charset="0"/>
              </a:rPr>
              <a:t>select</a:t>
            </a:r>
            <a:r>
              <a:rPr lang="he-IL" sz="1800" dirty="0">
                <a:cs typeface="Calibri" panose="020F0502020204030204" pitchFamily="34" charset="0"/>
              </a:rPr>
              <a:t>. לפיכך, שינוי שם עוזר להסתיר את שמות העמודות של טבלאות הבסיס.</a:t>
            </a:r>
            <a:endParaRPr lang="en-US" sz="1800" dirty="0">
              <a:cs typeface="Calibri" panose="020F0502020204030204" pitchFamily="34" charset="0"/>
            </a:endParaRPr>
          </a:p>
          <a:p>
            <a:pPr lvl="0" rtl="1">
              <a:buFont typeface="Courier New" panose="02070309020205020404" pitchFamily="49" charset="0"/>
              <a:buChar char="o"/>
            </a:pPr>
            <a:r>
              <a:rPr lang="he-IL" sz="1800" b="1" dirty="0">
                <a:cs typeface="Calibri" panose="020F0502020204030204" pitchFamily="34" charset="0"/>
              </a:rPr>
              <a:t>ניתן ליצור תצוגות שונות על אותה טבלה עבור משתמשים שונים</a:t>
            </a:r>
            <a:r>
              <a:rPr lang="he-IL" sz="1800" dirty="0">
                <a:cs typeface="Calibri" panose="020F0502020204030204" pitchFamily="34" charset="0"/>
              </a:rPr>
              <a:t>.</a:t>
            </a:r>
            <a:endParaRPr lang="en-US" sz="18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D80D75A8-691F-4078-BD0B-B82EF8AB0FF9}"/>
              </a:ext>
            </a:extLst>
          </p:cNvPr>
          <p:cNvSpPr>
            <a:spLocks noGrp="1"/>
          </p:cNvSpPr>
          <p:nvPr>
            <p:ph type="title"/>
          </p:nvPr>
        </p:nvSpPr>
        <p:spPr/>
        <p:txBody>
          <a:bodyPr/>
          <a:lstStyle/>
          <a:p>
            <a:pPr rtl="1"/>
            <a:r>
              <a:rPr lang="he-IL" dirty="0"/>
              <a:t>מתי נשתמש ב </a:t>
            </a:r>
            <a:r>
              <a:rPr lang="en-US" dirty="0"/>
              <a:t>view</a:t>
            </a:r>
            <a:r>
              <a:rPr lang="he-IL" dirty="0"/>
              <a:t>?</a:t>
            </a:r>
          </a:p>
        </p:txBody>
      </p:sp>
      <p:sp>
        <p:nvSpPr>
          <p:cNvPr id="4" name="מציין מיקום של מספר שקופית 3">
            <a:extLst>
              <a:ext uri="{FF2B5EF4-FFF2-40B4-BE49-F238E27FC236}">
                <a16:creationId xmlns:a16="http://schemas.microsoft.com/office/drawing/2014/main" id="{DEBB39BC-56A9-4BA6-92B6-85230B6531EC}"/>
              </a:ext>
            </a:extLst>
          </p:cNvPr>
          <p:cNvSpPr>
            <a:spLocks noGrp="1"/>
          </p:cNvSpPr>
          <p:nvPr>
            <p:ph type="sldNum" sz="quarter" idx="11"/>
          </p:nvPr>
        </p:nvSpPr>
        <p:spPr/>
        <p:txBody>
          <a:bodyPr/>
          <a:lstStyle/>
          <a:p>
            <a:fld id="{746FD205-8D79-439C-A802-2377436AEC8A}" type="slidenum">
              <a:rPr lang="he-IL" smtClean="0"/>
              <a:pPr/>
              <a:t>135</a:t>
            </a:fld>
            <a:endParaRPr lang="he-IL"/>
          </a:p>
        </p:txBody>
      </p:sp>
    </p:spTree>
    <p:extLst>
      <p:ext uri="{BB962C8B-B14F-4D97-AF65-F5344CB8AC3E}">
        <p14:creationId xmlns:p14="http://schemas.microsoft.com/office/powerpoint/2010/main" val="158300428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5A2CC7A8-2090-41C0-8206-A08F033B1A10}"/>
              </a:ext>
            </a:extLst>
          </p:cNvPr>
          <p:cNvSpPr>
            <a:spLocks noGrp="1"/>
          </p:cNvSpPr>
          <p:nvPr>
            <p:ph idx="1"/>
          </p:nvPr>
        </p:nvSpPr>
        <p:spPr/>
        <p:txBody>
          <a:bodyPr>
            <a:normAutofit/>
          </a:bodyPr>
          <a:lstStyle/>
          <a:p>
            <a:pPr lvl="0" rtl="1">
              <a:buFont typeface="Courier New" panose="02070309020205020404" pitchFamily="49" charset="0"/>
              <a:buChar char="o"/>
            </a:pPr>
            <a:r>
              <a:rPr lang="en-US" sz="1900" dirty="0">
                <a:cs typeface="Calibri" panose="020F0502020204030204" pitchFamily="34" charset="0"/>
              </a:rPr>
              <a:t>views</a:t>
            </a:r>
            <a:r>
              <a:rPr lang="he-IL" sz="1900" dirty="0">
                <a:cs typeface="Calibri" panose="020F0502020204030204" pitchFamily="34" charset="0"/>
              </a:rPr>
              <a:t> ב-</a:t>
            </a:r>
            <a:r>
              <a:rPr lang="en-US" sz="1900" dirty="0">
                <a:cs typeface="Calibri" panose="020F0502020204030204" pitchFamily="34" charset="0"/>
              </a:rPr>
              <a:t>SQL</a:t>
            </a:r>
            <a:r>
              <a:rPr lang="he-IL" sz="1900" dirty="0">
                <a:cs typeface="Calibri" panose="020F0502020204030204" pitchFamily="34" charset="0"/>
              </a:rPr>
              <a:t> הם סוג של טבלה וירטואלית.</a:t>
            </a:r>
            <a:endParaRPr lang="en-US" sz="1900" dirty="0">
              <a:cs typeface="Calibri" panose="020F0502020204030204" pitchFamily="34" charset="0"/>
            </a:endParaRPr>
          </a:p>
          <a:p>
            <a:pPr lvl="0" rtl="1">
              <a:buFont typeface="Courier New" panose="02070309020205020404" pitchFamily="49" charset="0"/>
              <a:buChar char="o"/>
            </a:pPr>
            <a:r>
              <a:rPr lang="he-IL" sz="1900" dirty="0">
                <a:cs typeface="Calibri" panose="020F0502020204030204" pitchFamily="34" charset="0"/>
              </a:rPr>
              <a:t>השדות ב </a:t>
            </a:r>
            <a:r>
              <a:rPr lang="en-US" sz="1900" dirty="0">
                <a:cs typeface="Calibri" panose="020F0502020204030204" pitchFamily="34" charset="0"/>
              </a:rPr>
              <a:t>view</a:t>
            </a:r>
            <a:r>
              <a:rPr lang="he-IL" sz="1900" dirty="0">
                <a:cs typeface="Calibri" panose="020F0502020204030204" pitchFamily="34" charset="0"/>
              </a:rPr>
              <a:t> יכולים להיות מטבלאות אחת או מרובות.</a:t>
            </a:r>
            <a:endParaRPr lang="en-US" sz="1900" dirty="0">
              <a:cs typeface="Calibri" panose="020F0502020204030204" pitchFamily="34" charset="0"/>
            </a:endParaRPr>
          </a:p>
          <a:p>
            <a:pPr lvl="0" rtl="1">
              <a:buFont typeface="Courier New" panose="02070309020205020404" pitchFamily="49" charset="0"/>
              <a:buChar char="o"/>
            </a:pPr>
            <a:r>
              <a:rPr lang="he-IL" sz="1900" dirty="0">
                <a:cs typeface="Calibri" panose="020F0502020204030204" pitchFamily="34" charset="0"/>
              </a:rPr>
              <a:t>ניתן ליצור </a:t>
            </a:r>
            <a:r>
              <a:rPr lang="en-US" sz="1900" dirty="0">
                <a:cs typeface="Calibri" panose="020F0502020204030204" pitchFamily="34" charset="0"/>
              </a:rPr>
              <a:t>view</a:t>
            </a:r>
            <a:r>
              <a:rPr lang="he-IL" sz="1900" dirty="0">
                <a:cs typeface="Calibri" panose="020F0502020204030204" pitchFamily="34" charset="0"/>
              </a:rPr>
              <a:t> באמצעות משפט </a:t>
            </a:r>
            <a:r>
              <a:rPr lang="en-US" sz="1900" dirty="0">
                <a:cs typeface="Calibri" panose="020F0502020204030204" pitchFamily="34" charset="0"/>
              </a:rPr>
              <a:t>CREATE VIEW</a:t>
            </a:r>
            <a:r>
              <a:rPr lang="he-IL" sz="1900" dirty="0">
                <a:cs typeface="Calibri" panose="020F0502020204030204" pitchFamily="34" charset="0"/>
              </a:rPr>
              <a:t> ולמחוק </a:t>
            </a:r>
            <a:r>
              <a:rPr lang="en-US" sz="1900" dirty="0">
                <a:cs typeface="Calibri" panose="020F0502020204030204" pitchFamily="34" charset="0"/>
              </a:rPr>
              <a:t>view</a:t>
            </a:r>
            <a:r>
              <a:rPr lang="he-IL" sz="1900" dirty="0">
                <a:cs typeface="Calibri" panose="020F0502020204030204" pitchFamily="34" charset="0"/>
              </a:rPr>
              <a:t> באמצעות משפט </a:t>
            </a:r>
            <a:r>
              <a:rPr lang="en-US" sz="1900" dirty="0">
                <a:cs typeface="Calibri" panose="020F0502020204030204" pitchFamily="34" charset="0"/>
              </a:rPr>
              <a:t>DROP VIEW</a:t>
            </a:r>
            <a:r>
              <a:rPr lang="he-IL" sz="1900" dirty="0">
                <a:cs typeface="Calibri" panose="020F0502020204030204" pitchFamily="34" charset="0"/>
              </a:rPr>
              <a:t>.</a:t>
            </a:r>
            <a:endParaRPr lang="en-US" sz="1900" dirty="0">
              <a:cs typeface="Calibri" panose="020F0502020204030204" pitchFamily="34" charset="0"/>
            </a:endParaRPr>
          </a:p>
          <a:p>
            <a:pPr lvl="0" rtl="1">
              <a:buFont typeface="Courier New" panose="02070309020205020404" pitchFamily="49" charset="0"/>
              <a:buChar char="o"/>
            </a:pPr>
            <a:r>
              <a:rPr lang="he-IL" sz="1900" dirty="0">
                <a:cs typeface="Calibri" panose="020F0502020204030204" pitchFamily="34" charset="0"/>
              </a:rPr>
              <a:t>ניתן לעדכן </a:t>
            </a:r>
            <a:r>
              <a:rPr lang="en-US" sz="1900" dirty="0">
                <a:cs typeface="Calibri" panose="020F0502020204030204" pitchFamily="34" charset="0"/>
              </a:rPr>
              <a:t>view</a:t>
            </a:r>
            <a:r>
              <a:rPr lang="he-IL" sz="1900" dirty="0">
                <a:cs typeface="Calibri" panose="020F0502020204030204" pitchFamily="34" charset="0"/>
              </a:rPr>
              <a:t> באמצעות הצהרת </a:t>
            </a:r>
            <a:r>
              <a:rPr lang="en-US" sz="1900" dirty="0">
                <a:cs typeface="Calibri" panose="020F0502020204030204" pitchFamily="34" charset="0"/>
              </a:rPr>
              <a:t>CREATE OR REPLACE VIEW</a:t>
            </a:r>
            <a:r>
              <a:rPr lang="he-IL" sz="1900" dirty="0">
                <a:cs typeface="Calibri" panose="020F0502020204030204" pitchFamily="34" charset="0"/>
              </a:rPr>
              <a:t>.</a:t>
            </a:r>
            <a:endParaRPr lang="en-US" sz="1900" dirty="0">
              <a:cs typeface="Calibri" panose="020F0502020204030204" pitchFamily="34" charset="0"/>
            </a:endParaRPr>
          </a:p>
          <a:p>
            <a:pPr lvl="0" rtl="1">
              <a:buFont typeface="Courier New" panose="02070309020205020404" pitchFamily="49" charset="0"/>
              <a:buChar char="o"/>
            </a:pPr>
            <a:r>
              <a:rPr lang="he-IL" sz="1900" dirty="0">
                <a:cs typeface="Calibri" panose="020F0502020204030204" pitchFamily="34" charset="0"/>
              </a:rPr>
              <a:t>פסקת </a:t>
            </a:r>
            <a:r>
              <a:rPr lang="en-US" sz="1900" dirty="0">
                <a:cs typeface="Calibri" panose="020F0502020204030204" pitchFamily="34" charset="0"/>
              </a:rPr>
              <a:t>WITH CHECK OPTION</a:t>
            </a:r>
            <a:r>
              <a:rPr lang="he-IL" sz="1900" dirty="0">
                <a:cs typeface="Calibri" panose="020F0502020204030204" pitchFamily="34" charset="0"/>
              </a:rPr>
              <a:t> משמשת למניעת הוספת שורות חדשות שאינן עומדות בתנאי הסינון של ה </a:t>
            </a:r>
            <a:r>
              <a:rPr lang="en-US" sz="1900" dirty="0">
                <a:cs typeface="Calibri" panose="020F0502020204030204" pitchFamily="34" charset="0"/>
              </a:rPr>
              <a:t>view</a:t>
            </a:r>
            <a:r>
              <a:rPr lang="he-IL" sz="1900" dirty="0">
                <a:cs typeface="Calibri" panose="020F0502020204030204" pitchFamily="34" charset="0"/>
              </a:rPr>
              <a:t>.</a:t>
            </a:r>
            <a:endParaRPr lang="en-US" sz="1900" dirty="0">
              <a:cs typeface="Calibri" panose="020F0502020204030204" pitchFamily="34" charset="0"/>
            </a:endParaRPr>
          </a:p>
          <a:p>
            <a:pPr marL="64008" indent="0">
              <a:buNone/>
            </a:pPr>
            <a:endParaRPr lang="he-IL" sz="1800" dirty="0">
              <a:cs typeface="Calibri" panose="020F0502020204030204" pitchFamily="34" charset="0"/>
            </a:endParaRPr>
          </a:p>
        </p:txBody>
      </p:sp>
      <p:sp>
        <p:nvSpPr>
          <p:cNvPr id="3" name="כותרת 2">
            <a:extLst>
              <a:ext uri="{FF2B5EF4-FFF2-40B4-BE49-F238E27FC236}">
                <a16:creationId xmlns:a16="http://schemas.microsoft.com/office/drawing/2014/main" id="{E4CDAC90-13E8-421C-AE23-33AC757142B4}"/>
              </a:ext>
            </a:extLst>
          </p:cNvPr>
          <p:cNvSpPr>
            <a:spLocks noGrp="1"/>
          </p:cNvSpPr>
          <p:nvPr>
            <p:ph type="title"/>
          </p:nvPr>
        </p:nvSpPr>
        <p:spPr/>
        <p:txBody>
          <a:bodyPr/>
          <a:lstStyle/>
          <a:p>
            <a:pPr rtl="1"/>
            <a:r>
              <a:rPr lang="en-US" dirty="0"/>
              <a:t>View</a:t>
            </a:r>
            <a:r>
              <a:rPr lang="he-IL" dirty="0"/>
              <a:t> – נקודות חשובות</a:t>
            </a:r>
          </a:p>
        </p:txBody>
      </p:sp>
      <p:sp>
        <p:nvSpPr>
          <p:cNvPr id="4" name="מציין מיקום של מספר שקופית 3">
            <a:extLst>
              <a:ext uri="{FF2B5EF4-FFF2-40B4-BE49-F238E27FC236}">
                <a16:creationId xmlns:a16="http://schemas.microsoft.com/office/drawing/2014/main" id="{C3DCB5BB-138C-468C-970C-D7CC11A9BFD9}"/>
              </a:ext>
            </a:extLst>
          </p:cNvPr>
          <p:cNvSpPr>
            <a:spLocks noGrp="1"/>
          </p:cNvSpPr>
          <p:nvPr>
            <p:ph type="sldNum" sz="quarter" idx="11"/>
          </p:nvPr>
        </p:nvSpPr>
        <p:spPr/>
        <p:txBody>
          <a:bodyPr/>
          <a:lstStyle/>
          <a:p>
            <a:fld id="{746FD205-8D79-439C-A802-2377436AEC8A}" type="slidenum">
              <a:rPr lang="he-IL" smtClean="0"/>
              <a:pPr/>
              <a:t>136</a:t>
            </a:fld>
            <a:endParaRPr lang="he-IL"/>
          </a:p>
        </p:txBody>
      </p:sp>
    </p:spTree>
    <p:extLst>
      <p:ext uri="{BB962C8B-B14F-4D97-AF65-F5344CB8AC3E}">
        <p14:creationId xmlns:p14="http://schemas.microsoft.com/office/powerpoint/2010/main" val="54655180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7E79435B-B458-42AE-A233-FE06699EA49D}"/>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טריגר הוא סוג מיוחד של פרוצדורה מאוחסנת המופעלת או מבוצעת באופן אוטומטי כאשר מתרחש אירוע כלשהו (הוספה, מחיקה ועדכון).</a:t>
            </a:r>
          </a:p>
          <a:p>
            <a:pPr marL="64008" indent="0" rtl="1">
              <a:buNone/>
            </a:pPr>
            <a:r>
              <a:rPr lang="he-IL" sz="1800" dirty="0">
                <a:cs typeface="Calibri" panose="020F0502020204030204" pitchFamily="34" charset="0"/>
              </a:rPr>
              <a:t>לדוגמא: ניתן ליצור </a:t>
            </a:r>
            <a:r>
              <a:rPr lang="en-US" sz="1800" dirty="0">
                <a:cs typeface="Calibri" panose="020F0502020204030204" pitchFamily="34" charset="0"/>
              </a:rPr>
              <a:t>trigger</a:t>
            </a:r>
            <a:r>
              <a:rPr lang="he-IL" sz="1800" dirty="0">
                <a:cs typeface="Calibri" panose="020F0502020204030204" pitchFamily="34" charset="0"/>
              </a:rPr>
              <a:t> שיעקוב אחרי פעולות של הוספת נתונים לטבלה (</a:t>
            </a:r>
            <a:r>
              <a:rPr lang="en-US" sz="1800" dirty="0">
                <a:cs typeface="Calibri" panose="020F0502020204030204" pitchFamily="34" charset="0"/>
              </a:rPr>
              <a:t>insert</a:t>
            </a:r>
            <a:r>
              <a:rPr lang="he-IL" sz="1800" dirty="0">
                <a:cs typeface="Calibri" panose="020F0502020204030204" pitchFamily="34" charset="0"/>
              </a:rPr>
              <a:t>).</a:t>
            </a:r>
            <a:br>
              <a:rPr lang="en-US" sz="1800" dirty="0">
                <a:cs typeface="Calibri" panose="020F0502020204030204" pitchFamily="34" charset="0"/>
              </a:rPr>
            </a:br>
            <a:r>
              <a:rPr lang="he-IL" sz="1800" dirty="0">
                <a:cs typeface="Calibri" panose="020F0502020204030204" pitchFamily="34" charset="0"/>
              </a:rPr>
              <a:t>לאחר הפעלת ה </a:t>
            </a:r>
            <a:r>
              <a:rPr lang="en-US" sz="1800" dirty="0">
                <a:cs typeface="Calibri" panose="020F0502020204030204" pitchFamily="34" charset="0"/>
              </a:rPr>
              <a:t>trigger</a:t>
            </a:r>
            <a:r>
              <a:rPr lang="he-IL" sz="1800" dirty="0">
                <a:cs typeface="Calibri" panose="020F0502020204030204" pitchFamily="34" charset="0"/>
              </a:rPr>
              <a:t>, נוצרת טבלה בשם </a:t>
            </a:r>
            <a:r>
              <a:rPr lang="en-US" sz="1800" dirty="0">
                <a:cs typeface="Calibri" panose="020F0502020204030204" pitchFamily="34" charset="0"/>
              </a:rPr>
              <a:t>INSERTED</a:t>
            </a:r>
            <a:r>
              <a:rPr lang="he-IL" sz="1800" dirty="0">
                <a:cs typeface="Calibri" panose="020F0502020204030204" pitchFamily="34" charset="0"/>
              </a:rPr>
              <a:t> בזיכרון. כאשר מבצעות פעולות הכנסה לטבלה עליה מבוצע ה </a:t>
            </a:r>
            <a:r>
              <a:rPr lang="en-US" sz="1800" dirty="0">
                <a:cs typeface="Calibri" panose="020F0502020204030204" pitchFamily="34" charset="0"/>
              </a:rPr>
              <a:t>trigger</a:t>
            </a:r>
            <a:r>
              <a:rPr lang="he-IL" sz="1800" dirty="0">
                <a:cs typeface="Calibri" panose="020F0502020204030204" pitchFamily="34" charset="0"/>
              </a:rPr>
              <a:t>, תתמלא טבלת ה </a:t>
            </a:r>
            <a:r>
              <a:rPr lang="en-US" sz="1800" dirty="0">
                <a:cs typeface="Calibri" panose="020F0502020204030204" pitchFamily="34" charset="0"/>
              </a:rPr>
              <a:t>Inserted </a:t>
            </a:r>
            <a:r>
              <a:rPr lang="he-IL" sz="1800" dirty="0">
                <a:cs typeface="Calibri" panose="020F0502020204030204" pitchFamily="34" charset="0"/>
              </a:rPr>
              <a:t> ג"כ שהתאם למה שכתוב בקוד ה</a:t>
            </a:r>
            <a:r>
              <a:rPr lang="en-US" sz="1800" dirty="0">
                <a:cs typeface="Calibri" panose="020F0502020204030204" pitchFamily="34" charset="0"/>
              </a:rPr>
              <a:t> trigger</a:t>
            </a:r>
            <a:r>
              <a:rPr lang="he-IL" sz="1800" dirty="0">
                <a:cs typeface="Calibri" panose="020F0502020204030204" pitchFamily="34" charset="0"/>
              </a:rPr>
              <a:t>. </a:t>
            </a:r>
          </a:p>
          <a:p>
            <a:pPr marL="64008" indent="0" rtl="1">
              <a:buNone/>
            </a:pPr>
            <a:r>
              <a:rPr lang="he-IL" sz="1800" dirty="0">
                <a:cs typeface="Calibri" panose="020F0502020204030204" pitchFamily="34" charset="0"/>
              </a:rPr>
              <a:t>מתי נשתמש ב </a:t>
            </a:r>
            <a:r>
              <a:rPr lang="en-US" sz="1800" dirty="0">
                <a:cs typeface="Calibri" panose="020F0502020204030204" pitchFamily="34" charset="0"/>
              </a:rPr>
              <a:t>Trigger</a:t>
            </a:r>
            <a:r>
              <a:rPr lang="he-IL" sz="1800" dirty="0">
                <a:cs typeface="Calibri" panose="020F0502020204030204" pitchFamily="34" charset="0"/>
              </a:rPr>
              <a:t>?</a:t>
            </a:r>
          </a:p>
          <a:p>
            <a:pPr marL="64008" indent="0" rtl="1">
              <a:buNone/>
            </a:pPr>
            <a:r>
              <a:rPr lang="he-IL" sz="1800" dirty="0">
                <a:cs typeface="Calibri" panose="020F0502020204030204" pitchFamily="34" charset="0"/>
              </a:rPr>
              <a:t>נשתמש בטריגר כאשר נרצה שאירוע כלשהו יתרחש אוטומטית בתרחישים רצויים מסוימים.</a:t>
            </a:r>
          </a:p>
          <a:p>
            <a:pPr marL="64008" indent="0" rtl="1">
              <a:buNone/>
            </a:pPr>
            <a:r>
              <a:rPr lang="he-IL" sz="1800" dirty="0">
                <a:cs typeface="Calibri" panose="020F0502020204030204" pitchFamily="34" charset="0"/>
              </a:rPr>
              <a:t>לדוגמא:</a:t>
            </a:r>
          </a:p>
          <a:p>
            <a:pPr marL="64008" indent="0" rtl="1">
              <a:buNone/>
            </a:pPr>
            <a:r>
              <a:rPr lang="he-IL" sz="1800" dirty="0">
                <a:cs typeface="Calibri" panose="020F0502020204030204" pitchFamily="34" charset="0"/>
              </a:rPr>
              <a:t>יש לנו טבלה שמשתנה לעתים קרובות, וברצוננו לדעת כמה פעמים ומתי השינויים האלה מתרחשים.</a:t>
            </a:r>
          </a:p>
          <a:p>
            <a:pPr marL="64008" indent="0" rtl="1">
              <a:buNone/>
            </a:pPr>
            <a:r>
              <a:rPr lang="he-IL" sz="1800" dirty="0">
                <a:cs typeface="Calibri" panose="020F0502020204030204" pitchFamily="34" charset="0"/>
              </a:rPr>
              <a:t>במקרה כזה, נוכל ליצור טריגר שיכניס את הנתונים הרצויים לטבלה אחרת בכל פעם שמתרחש שינוי כלשהו בטבלה הראשית. (הטבלה תעקוב אחרי הטבלה ששונתה, ותשמור נתונים בקשר לשינוי: בתאריך... בשעה... שונו השדות...)</a:t>
            </a:r>
          </a:p>
        </p:txBody>
      </p:sp>
      <p:sp>
        <p:nvSpPr>
          <p:cNvPr id="3" name="כותרת 2">
            <a:extLst>
              <a:ext uri="{FF2B5EF4-FFF2-40B4-BE49-F238E27FC236}">
                <a16:creationId xmlns:a16="http://schemas.microsoft.com/office/drawing/2014/main" id="{09E65922-5D65-4A68-A26C-B16FD2BF6E3F}"/>
              </a:ext>
            </a:extLst>
          </p:cNvPr>
          <p:cNvSpPr>
            <a:spLocks noGrp="1"/>
          </p:cNvSpPr>
          <p:nvPr>
            <p:ph type="title"/>
          </p:nvPr>
        </p:nvSpPr>
        <p:spPr/>
        <p:txBody>
          <a:bodyPr/>
          <a:lstStyle/>
          <a:p>
            <a:r>
              <a:rPr lang="en-US" dirty="0"/>
              <a:t>Trigger</a:t>
            </a:r>
            <a:endParaRPr lang="he-IL" dirty="0"/>
          </a:p>
        </p:txBody>
      </p:sp>
      <p:sp>
        <p:nvSpPr>
          <p:cNvPr id="4" name="מציין מיקום של מספר שקופית 3">
            <a:extLst>
              <a:ext uri="{FF2B5EF4-FFF2-40B4-BE49-F238E27FC236}">
                <a16:creationId xmlns:a16="http://schemas.microsoft.com/office/drawing/2014/main" id="{650C8BBA-D9F2-4878-90D8-77A39501FE96}"/>
              </a:ext>
            </a:extLst>
          </p:cNvPr>
          <p:cNvSpPr>
            <a:spLocks noGrp="1"/>
          </p:cNvSpPr>
          <p:nvPr>
            <p:ph type="sldNum" sz="quarter" idx="11"/>
          </p:nvPr>
        </p:nvSpPr>
        <p:spPr/>
        <p:txBody>
          <a:bodyPr/>
          <a:lstStyle/>
          <a:p>
            <a:fld id="{746FD205-8D79-439C-A802-2377436AEC8A}" type="slidenum">
              <a:rPr lang="he-IL" smtClean="0"/>
              <a:pPr/>
              <a:t>137</a:t>
            </a:fld>
            <a:endParaRPr lang="he-IL"/>
          </a:p>
        </p:txBody>
      </p:sp>
    </p:spTree>
    <p:extLst>
      <p:ext uri="{BB962C8B-B14F-4D97-AF65-F5344CB8AC3E}">
        <p14:creationId xmlns:p14="http://schemas.microsoft.com/office/powerpoint/2010/main" val="35072231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299589F3-A2DE-443B-82C1-B7D71F9AE3E6}"/>
              </a:ext>
            </a:extLst>
          </p:cNvPr>
          <p:cNvSpPr>
            <a:spLocks noGrp="1"/>
          </p:cNvSpPr>
          <p:nvPr>
            <p:ph idx="1"/>
          </p:nvPr>
        </p:nvSpPr>
        <p:spPr/>
        <p:txBody>
          <a:bodyPr/>
          <a:lstStyle/>
          <a:p>
            <a:pPr marL="64008" indent="0" rtl="1">
              <a:buNone/>
            </a:pPr>
            <a:r>
              <a:rPr lang="he-IL" sz="1800" dirty="0">
                <a:cs typeface="Calibri" panose="020F0502020204030204" pitchFamily="34" charset="0"/>
              </a:rPr>
              <a:t>ב-</a:t>
            </a:r>
            <a:r>
              <a:rPr lang="en-US" sz="1800" dirty="0">
                <a:cs typeface="Calibri" panose="020F0502020204030204" pitchFamily="34" charset="0"/>
              </a:rPr>
              <a:t> SQL Server, </a:t>
            </a:r>
            <a:r>
              <a:rPr lang="he-IL" sz="1800" dirty="0">
                <a:cs typeface="Calibri" panose="020F0502020204030204" pitchFamily="34" charset="0"/>
              </a:rPr>
              <a:t>אנו יכולים ליצור את 3 סוגי הטריגרים הבאים:</a:t>
            </a:r>
          </a:p>
          <a:p>
            <a:pPr rtl="1">
              <a:buFont typeface="Courier New" panose="02070309020205020404" pitchFamily="49" charset="0"/>
              <a:buChar char="o"/>
            </a:pPr>
            <a:r>
              <a:rPr lang="en-US" sz="1800" b="1" dirty="0">
                <a:cs typeface="Calibri" panose="020F0502020204030204" pitchFamily="34" charset="0"/>
              </a:rPr>
              <a:t>Data Definition Language (DDL) triggers</a:t>
            </a:r>
            <a:r>
              <a:rPr lang="he-IL" sz="1800" b="1" dirty="0">
                <a:cs typeface="Calibri" panose="020F0502020204030204" pitchFamily="34" charset="0"/>
              </a:rPr>
              <a:t> </a:t>
            </a:r>
            <a:r>
              <a:rPr lang="he-IL" sz="1800" dirty="0">
                <a:cs typeface="Calibri" panose="020F0502020204030204" pitchFamily="34" charset="0"/>
              </a:rPr>
              <a:t>– ניתן ליצור טריגרים על הצהרות </a:t>
            </a:r>
            <a:r>
              <a:rPr lang="en-US" sz="1800" dirty="0">
                <a:cs typeface="Calibri" panose="020F0502020204030204" pitchFamily="34" charset="0"/>
              </a:rPr>
              <a:t>DDL </a:t>
            </a:r>
            <a:r>
              <a:rPr lang="he-IL" sz="1800" dirty="0">
                <a:cs typeface="Calibri" panose="020F0502020204030204" pitchFamily="34" charset="0"/>
              </a:rPr>
              <a:t>כמו </a:t>
            </a:r>
            <a:r>
              <a:rPr lang="en-US" sz="1800" dirty="0">
                <a:cs typeface="Calibri" panose="020F0502020204030204" pitchFamily="34" charset="0"/>
              </a:rPr>
              <a:t>CREATE, ALTER </a:t>
            </a:r>
            <a:r>
              <a:rPr lang="he-IL" sz="1800" dirty="0">
                <a:cs typeface="Calibri" panose="020F0502020204030204" pitchFamily="34" charset="0"/>
              </a:rPr>
              <a:t> ו-</a:t>
            </a:r>
            <a:r>
              <a:rPr lang="en-US" sz="1800" dirty="0">
                <a:cs typeface="Calibri" panose="020F0502020204030204" pitchFamily="34" charset="0"/>
              </a:rPr>
              <a:t> DROP</a:t>
            </a:r>
            <a:r>
              <a:rPr lang="he-IL" sz="1800" dirty="0">
                <a:cs typeface="Calibri" panose="020F0502020204030204" pitchFamily="34" charset="0"/>
              </a:rPr>
              <a:t> ופרוצדורות מאוחסנות שמבצעות פעולות אלו.</a:t>
            </a:r>
          </a:p>
          <a:p>
            <a:pPr rtl="1">
              <a:buFont typeface="Courier New" panose="02070309020205020404" pitchFamily="49" charset="0"/>
              <a:buChar char="o"/>
            </a:pPr>
            <a:r>
              <a:rPr lang="en-US" sz="1800" b="1" dirty="0">
                <a:cs typeface="Calibri" panose="020F0502020204030204" pitchFamily="34" charset="0"/>
              </a:rPr>
              <a:t>Data Manipulation Language (DML) triggers</a:t>
            </a:r>
            <a:r>
              <a:rPr lang="he-IL" sz="1800" dirty="0">
                <a:cs typeface="Calibri" panose="020F0502020204030204" pitchFamily="34" charset="0"/>
              </a:rPr>
              <a:t> – ניתן ליצור טריגרים על הצהרות </a:t>
            </a:r>
            <a:r>
              <a:rPr lang="en-US" sz="1800" dirty="0">
                <a:cs typeface="Calibri" panose="020F0502020204030204" pitchFamily="34" charset="0"/>
              </a:rPr>
              <a:t>DML</a:t>
            </a:r>
            <a:r>
              <a:rPr lang="he-IL" sz="1800" dirty="0">
                <a:cs typeface="Calibri" panose="020F0502020204030204" pitchFamily="34" charset="0"/>
              </a:rPr>
              <a:t> כמו </a:t>
            </a:r>
            <a:r>
              <a:rPr lang="en-US" sz="1800" dirty="0">
                <a:cs typeface="Calibri" panose="020F0502020204030204" pitchFamily="34" charset="0"/>
              </a:rPr>
              <a:t> INSERT, UPDATE </a:t>
            </a:r>
            <a:r>
              <a:rPr lang="he-IL" sz="1800" dirty="0">
                <a:cs typeface="Calibri" panose="020F0502020204030204" pitchFamily="34" charset="0"/>
              </a:rPr>
              <a:t>ו-</a:t>
            </a:r>
            <a:r>
              <a:rPr lang="en-US" sz="1800" dirty="0">
                <a:cs typeface="Calibri" panose="020F0502020204030204" pitchFamily="34" charset="0"/>
              </a:rPr>
              <a:t>DELETE </a:t>
            </a:r>
            <a:r>
              <a:rPr lang="he-IL" sz="1800" dirty="0">
                <a:cs typeface="Calibri" panose="020F0502020204030204" pitchFamily="34" charset="0"/>
              </a:rPr>
              <a:t>ו פרוצדורות מאוחסנות שמבצעות פעולות אלו.</a:t>
            </a:r>
          </a:p>
          <a:p>
            <a:pPr rtl="1">
              <a:buFont typeface="Courier New" panose="02070309020205020404" pitchFamily="49" charset="0"/>
              <a:buChar char="o"/>
            </a:pPr>
            <a:r>
              <a:rPr lang="en-US" sz="1800" b="1" dirty="0">
                <a:cs typeface="Calibri" panose="020F0502020204030204" pitchFamily="34" charset="0"/>
              </a:rPr>
              <a:t>Logon triggers</a:t>
            </a:r>
            <a:r>
              <a:rPr lang="he-IL" sz="1800" b="1" dirty="0">
                <a:cs typeface="Calibri" panose="020F0502020204030204" pitchFamily="34" charset="0"/>
              </a:rPr>
              <a:t> - </a:t>
            </a:r>
            <a:r>
              <a:rPr lang="he-IL" sz="1800" dirty="0">
                <a:cs typeface="Calibri" panose="020F0502020204030204" pitchFamily="34" charset="0"/>
              </a:rPr>
              <a:t>סוג מיוחד של טריגר המופעל כאשר מועלה אירוע </a:t>
            </a:r>
            <a:r>
              <a:rPr lang="en-US" sz="1800" dirty="0">
                <a:cs typeface="Calibri" panose="020F0502020204030204" pitchFamily="34" charset="0"/>
              </a:rPr>
              <a:t>LOGON </a:t>
            </a:r>
            <a:r>
              <a:rPr lang="he-IL" sz="1800" dirty="0">
                <a:cs typeface="Calibri" panose="020F0502020204030204" pitchFamily="34" charset="0"/>
              </a:rPr>
              <a:t>של </a:t>
            </a:r>
            <a:r>
              <a:rPr lang="en-US" sz="1800" dirty="0">
                <a:cs typeface="Calibri" panose="020F0502020204030204" pitchFamily="34" charset="0"/>
              </a:rPr>
              <a:t>SQL Server</a:t>
            </a:r>
            <a:r>
              <a:rPr lang="he-IL" sz="1800" dirty="0">
                <a:cs typeface="Calibri" panose="020F0502020204030204" pitchFamily="34" charset="0"/>
              </a:rPr>
              <a:t>.</a:t>
            </a:r>
          </a:p>
        </p:txBody>
      </p:sp>
      <p:sp>
        <p:nvSpPr>
          <p:cNvPr id="3" name="כותרת 2">
            <a:extLst>
              <a:ext uri="{FF2B5EF4-FFF2-40B4-BE49-F238E27FC236}">
                <a16:creationId xmlns:a16="http://schemas.microsoft.com/office/drawing/2014/main" id="{08D3E06D-A2A5-4E3A-BCB1-A2248DE11046}"/>
              </a:ext>
            </a:extLst>
          </p:cNvPr>
          <p:cNvSpPr>
            <a:spLocks noGrp="1"/>
          </p:cNvSpPr>
          <p:nvPr>
            <p:ph type="title"/>
          </p:nvPr>
        </p:nvSpPr>
        <p:spPr/>
        <p:txBody>
          <a:bodyPr/>
          <a:lstStyle/>
          <a:p>
            <a:pPr algn="l"/>
            <a:r>
              <a:rPr lang="en-US" dirty="0"/>
              <a:t>Types of Triggers</a:t>
            </a:r>
            <a:endParaRPr lang="he-IL" dirty="0"/>
          </a:p>
        </p:txBody>
      </p:sp>
      <p:sp>
        <p:nvSpPr>
          <p:cNvPr id="4" name="מציין מיקום של מספר שקופית 3">
            <a:extLst>
              <a:ext uri="{FF2B5EF4-FFF2-40B4-BE49-F238E27FC236}">
                <a16:creationId xmlns:a16="http://schemas.microsoft.com/office/drawing/2014/main" id="{4CE54532-E5A5-4709-9ED2-03BD3A99D496}"/>
              </a:ext>
            </a:extLst>
          </p:cNvPr>
          <p:cNvSpPr>
            <a:spLocks noGrp="1"/>
          </p:cNvSpPr>
          <p:nvPr>
            <p:ph type="sldNum" sz="quarter" idx="11"/>
          </p:nvPr>
        </p:nvSpPr>
        <p:spPr/>
        <p:txBody>
          <a:bodyPr/>
          <a:lstStyle/>
          <a:p>
            <a:fld id="{746FD205-8D79-439C-A802-2377436AEC8A}" type="slidenum">
              <a:rPr lang="he-IL" smtClean="0"/>
              <a:pPr/>
              <a:t>138</a:t>
            </a:fld>
            <a:endParaRPr lang="he-IL"/>
          </a:p>
        </p:txBody>
      </p:sp>
    </p:spTree>
    <p:extLst>
      <p:ext uri="{BB962C8B-B14F-4D97-AF65-F5344CB8AC3E}">
        <p14:creationId xmlns:p14="http://schemas.microsoft.com/office/powerpoint/2010/main" val="351591021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C95E0DE6-8309-42A5-A874-BF456BAD7CAF}"/>
              </a:ext>
            </a:extLst>
          </p:cNvPr>
          <p:cNvSpPr>
            <a:spLocks noGrp="1"/>
          </p:cNvSpPr>
          <p:nvPr>
            <p:ph idx="1"/>
          </p:nvPr>
        </p:nvSpPr>
        <p:spPr/>
        <p:txBody>
          <a:bodyPr/>
          <a:lstStyle/>
          <a:p>
            <a:pPr marL="64008" indent="0" rtl="1">
              <a:buNone/>
            </a:pPr>
            <a:r>
              <a:rPr lang="en-US" sz="1800" dirty="0">
                <a:cs typeface="Calibri" panose="020F0502020204030204" pitchFamily="34" charset="0"/>
              </a:rPr>
              <a:t>After trigger</a:t>
            </a:r>
            <a:r>
              <a:rPr lang="he-IL" sz="1800" dirty="0">
                <a:cs typeface="Calibri" panose="020F0502020204030204" pitchFamily="34" charset="0"/>
              </a:rPr>
              <a:t> - מופעל לאחר ששרת </a:t>
            </a:r>
            <a:r>
              <a:rPr lang="en-US" sz="1800" dirty="0">
                <a:cs typeface="Calibri" panose="020F0502020204030204" pitchFamily="34" charset="0"/>
              </a:rPr>
              <a:t> SQL </a:t>
            </a:r>
            <a:r>
              <a:rPr lang="he-IL" sz="1800" dirty="0">
                <a:cs typeface="Calibri" panose="020F0502020204030204" pitchFamily="34" charset="0"/>
              </a:rPr>
              <a:t>מסיים את ביצוע הפעולה בהצלחה שהפעילה אותו.</a:t>
            </a:r>
          </a:p>
          <a:p>
            <a:pPr marL="64008" indent="0" rtl="1">
              <a:buNone/>
            </a:pPr>
            <a:r>
              <a:rPr lang="he-IL" sz="1800" dirty="0">
                <a:cs typeface="Calibri" panose="020F0502020204030204" pitchFamily="34" charset="0"/>
              </a:rPr>
              <a:t>לדוגמא: אם נכניס רשומה/שורה לטבלה, הטריגר הקשור/משויך לאירוע ה-</a:t>
            </a:r>
            <a:r>
              <a:rPr lang="en-US" sz="1800" dirty="0">
                <a:cs typeface="Calibri" panose="020F0502020204030204" pitchFamily="34" charset="0"/>
              </a:rPr>
              <a:t>insert </a:t>
            </a:r>
            <a:r>
              <a:rPr lang="he-IL" sz="1800" dirty="0">
                <a:cs typeface="Calibri" panose="020F0502020204030204" pitchFamily="34" charset="0"/>
              </a:rPr>
              <a:t> בטבלה זו יופעל רק לאחר שהשורה תעבור את כל האילוצים, כגון אילוץ המפתח הראשי וכמה כללים. אם הכנסת הרשומה/שורה נכשלת, שרת </a:t>
            </a:r>
            <a:r>
              <a:rPr lang="en-US" sz="1800" dirty="0">
                <a:cs typeface="Calibri" panose="020F0502020204030204" pitchFamily="34" charset="0"/>
              </a:rPr>
              <a:t>SQL </a:t>
            </a:r>
            <a:r>
              <a:rPr lang="he-IL" sz="1800" dirty="0">
                <a:cs typeface="Calibri" panose="020F0502020204030204" pitchFamily="34" charset="0"/>
              </a:rPr>
              <a:t> לא יפעיל את ה </a:t>
            </a:r>
            <a:r>
              <a:rPr lang="en-US" sz="1800" dirty="0">
                <a:cs typeface="Calibri" panose="020F0502020204030204" pitchFamily="34" charset="0"/>
              </a:rPr>
              <a:t>After Trigger</a:t>
            </a:r>
            <a:r>
              <a:rPr lang="he-IL" sz="1800" dirty="0">
                <a:cs typeface="Calibri" panose="020F0502020204030204" pitchFamily="34" charset="0"/>
              </a:rPr>
              <a:t>.</a:t>
            </a:r>
            <a:endParaRPr lang="en-US" sz="1800" dirty="0">
              <a:cs typeface="Calibri" panose="020F0502020204030204" pitchFamily="34" charset="0"/>
            </a:endParaRPr>
          </a:p>
          <a:p>
            <a:pPr marL="64008" indent="0" rtl="1">
              <a:buNone/>
            </a:pPr>
            <a:r>
              <a:rPr lang="en-US" sz="1800" dirty="0">
                <a:cs typeface="Calibri" panose="020F0502020204030204" pitchFamily="34" charset="0"/>
              </a:rPr>
              <a:t>Instead of Trigger</a:t>
            </a:r>
            <a:r>
              <a:rPr lang="he-IL" sz="1800" dirty="0">
                <a:cs typeface="Calibri" panose="020F0502020204030204" pitchFamily="34" charset="0"/>
              </a:rPr>
              <a:t> - מופעל לפני שה-</a:t>
            </a:r>
            <a:r>
              <a:rPr lang="en-US" sz="1800" dirty="0">
                <a:cs typeface="Calibri" panose="020F0502020204030204" pitchFamily="34" charset="0"/>
              </a:rPr>
              <a:t> SQL Server </a:t>
            </a:r>
            <a:r>
              <a:rPr lang="he-IL" sz="1800" dirty="0">
                <a:cs typeface="Calibri" panose="020F0502020204030204" pitchFamily="34" charset="0"/>
              </a:rPr>
              <a:t>מתחיל בביצוע הפעולה שהפעילה אותו. זה שונה מה </a:t>
            </a:r>
            <a:r>
              <a:rPr lang="en-US" sz="1800" dirty="0">
                <a:cs typeface="Calibri" panose="020F0502020204030204" pitchFamily="34" charset="0"/>
              </a:rPr>
              <a:t> after trigger</a:t>
            </a:r>
            <a:r>
              <a:rPr lang="he-IL" sz="1800" dirty="0">
                <a:cs typeface="Calibri" panose="020F0502020204030204" pitchFamily="34" charset="0"/>
              </a:rPr>
              <a:t>שמופעל לאחר שהפעולה שגרמה לו לפעול הסתיימה בהצלחה. </a:t>
            </a:r>
            <a:br>
              <a:rPr lang="en-US" sz="1800" dirty="0">
                <a:cs typeface="Calibri" panose="020F0502020204030204" pitchFamily="34" charset="0"/>
              </a:rPr>
            </a:br>
            <a:r>
              <a:rPr lang="he-IL" sz="1800" dirty="0">
                <a:cs typeface="Calibri" panose="020F0502020204030204" pitchFamily="34" charset="0"/>
              </a:rPr>
              <a:t>במקרה זה, אם לדוגמא נעשה ניסיון להוספת שורה לטבלה שה </a:t>
            </a:r>
            <a:r>
              <a:rPr lang="en-US" sz="1800" dirty="0">
                <a:cs typeface="Calibri" panose="020F0502020204030204" pitchFamily="34" charset="0"/>
              </a:rPr>
              <a:t> Trigger </a:t>
            </a:r>
            <a:r>
              <a:rPr lang="he-IL" sz="1800" dirty="0">
                <a:cs typeface="Calibri" panose="020F0502020204030204" pitchFamily="34" charset="0"/>
              </a:rPr>
              <a:t>עוקב אחריה, גם אם הוא לא צלח, פעולת ה </a:t>
            </a:r>
            <a:r>
              <a:rPr lang="en-US" sz="1800" dirty="0">
                <a:cs typeface="Calibri" panose="020F0502020204030204" pitchFamily="34" charset="0"/>
              </a:rPr>
              <a:t> trigger </a:t>
            </a:r>
            <a:r>
              <a:rPr lang="he-IL" sz="1800" dirty="0">
                <a:cs typeface="Calibri" panose="020F0502020204030204" pitchFamily="34" charset="0"/>
              </a:rPr>
              <a:t>תתבצע, כיוון </a:t>
            </a:r>
            <a:r>
              <a:rPr lang="he-IL" sz="1800">
                <a:cs typeface="Calibri" panose="020F0502020204030204" pitchFamily="34" charset="0"/>
              </a:rPr>
              <a:t>שהיא מבוצעת </a:t>
            </a:r>
            <a:r>
              <a:rPr lang="he-IL" sz="1800" dirty="0">
                <a:cs typeface="Calibri" panose="020F0502020204030204" pitchFamily="34" charset="0"/>
              </a:rPr>
              <a:t>עוד קודם לכן.</a:t>
            </a:r>
          </a:p>
        </p:txBody>
      </p:sp>
      <p:sp>
        <p:nvSpPr>
          <p:cNvPr id="3" name="כותרת 2">
            <a:extLst>
              <a:ext uri="{FF2B5EF4-FFF2-40B4-BE49-F238E27FC236}">
                <a16:creationId xmlns:a16="http://schemas.microsoft.com/office/drawing/2014/main" id="{05118C78-65AA-4634-ABB5-AD7383436A61}"/>
              </a:ext>
            </a:extLst>
          </p:cNvPr>
          <p:cNvSpPr>
            <a:spLocks noGrp="1"/>
          </p:cNvSpPr>
          <p:nvPr>
            <p:ph type="title"/>
          </p:nvPr>
        </p:nvSpPr>
        <p:spPr/>
        <p:txBody>
          <a:bodyPr/>
          <a:lstStyle/>
          <a:p>
            <a:pPr algn="l"/>
            <a:r>
              <a:rPr lang="en-US" dirty="0"/>
              <a:t>DML Triggers</a:t>
            </a:r>
            <a:endParaRPr lang="he-IL" dirty="0"/>
          </a:p>
        </p:txBody>
      </p:sp>
      <p:sp>
        <p:nvSpPr>
          <p:cNvPr id="4" name="מציין מיקום של מספר שקופית 3">
            <a:extLst>
              <a:ext uri="{FF2B5EF4-FFF2-40B4-BE49-F238E27FC236}">
                <a16:creationId xmlns:a16="http://schemas.microsoft.com/office/drawing/2014/main" id="{8B0CA1D2-32C1-4E6E-9704-5017B305B65F}"/>
              </a:ext>
            </a:extLst>
          </p:cNvPr>
          <p:cNvSpPr>
            <a:spLocks noGrp="1"/>
          </p:cNvSpPr>
          <p:nvPr>
            <p:ph type="sldNum" sz="quarter" idx="11"/>
          </p:nvPr>
        </p:nvSpPr>
        <p:spPr/>
        <p:txBody>
          <a:bodyPr/>
          <a:lstStyle/>
          <a:p>
            <a:fld id="{746FD205-8D79-439C-A802-2377436AEC8A}" type="slidenum">
              <a:rPr lang="he-IL" smtClean="0"/>
              <a:pPr/>
              <a:t>139</a:t>
            </a:fld>
            <a:endParaRPr lang="he-IL"/>
          </a:p>
        </p:txBody>
      </p:sp>
    </p:spTree>
    <p:extLst>
      <p:ext uri="{BB962C8B-B14F-4D97-AF65-F5344CB8AC3E}">
        <p14:creationId xmlns:p14="http://schemas.microsoft.com/office/powerpoint/2010/main" val="217199750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3B8B0DB3-B924-44D9-A34E-C4705F2B1D53}"/>
              </a:ext>
            </a:extLst>
          </p:cNvPr>
          <p:cNvPicPr>
            <a:picLocks noGrp="1" noChangeAspect="1"/>
          </p:cNvPicPr>
          <p:nvPr>
            <p:ph idx="1"/>
          </p:nvPr>
        </p:nvPicPr>
        <p:blipFill>
          <a:blip r:embed="rId2"/>
          <a:stretch>
            <a:fillRect/>
          </a:stretch>
        </p:blipFill>
        <p:spPr>
          <a:xfrm>
            <a:off x="2281237" y="2667000"/>
            <a:ext cx="4581525" cy="2047875"/>
          </a:xfrm>
          <a:prstGeom prst="rect">
            <a:avLst/>
          </a:prstGeom>
        </p:spPr>
      </p:pic>
      <p:sp>
        <p:nvSpPr>
          <p:cNvPr id="3" name="כותרת 2">
            <a:extLst>
              <a:ext uri="{FF2B5EF4-FFF2-40B4-BE49-F238E27FC236}">
                <a16:creationId xmlns:a16="http://schemas.microsoft.com/office/drawing/2014/main" id="{7BFDC91D-1210-4CDF-9371-0F68C67B05CA}"/>
              </a:ext>
            </a:extLst>
          </p:cNvPr>
          <p:cNvSpPr>
            <a:spLocks noGrp="1"/>
          </p:cNvSpPr>
          <p:nvPr>
            <p:ph type="title"/>
          </p:nvPr>
        </p:nvSpPr>
        <p:spPr/>
        <p:txBody>
          <a:bodyPr/>
          <a:lstStyle/>
          <a:p>
            <a:pPr algn="l"/>
            <a:r>
              <a:rPr lang="en-US" dirty="0"/>
              <a:t>Trigger - Syntax</a:t>
            </a:r>
            <a:endParaRPr lang="he-IL" dirty="0"/>
          </a:p>
        </p:txBody>
      </p:sp>
      <p:sp>
        <p:nvSpPr>
          <p:cNvPr id="4" name="מציין מיקום של מספר שקופית 3">
            <a:extLst>
              <a:ext uri="{FF2B5EF4-FFF2-40B4-BE49-F238E27FC236}">
                <a16:creationId xmlns:a16="http://schemas.microsoft.com/office/drawing/2014/main" id="{445FEAA1-B6A5-40EE-A2C3-4E4DDC4F9AE0}"/>
              </a:ext>
            </a:extLst>
          </p:cNvPr>
          <p:cNvSpPr>
            <a:spLocks noGrp="1"/>
          </p:cNvSpPr>
          <p:nvPr>
            <p:ph type="sldNum" sz="quarter" idx="11"/>
          </p:nvPr>
        </p:nvSpPr>
        <p:spPr/>
        <p:txBody>
          <a:bodyPr/>
          <a:lstStyle/>
          <a:p>
            <a:fld id="{746FD205-8D79-439C-A802-2377436AEC8A}" type="slidenum">
              <a:rPr lang="he-IL" smtClean="0"/>
              <a:pPr/>
              <a:t>140</a:t>
            </a:fld>
            <a:endParaRPr lang="he-IL"/>
          </a:p>
        </p:txBody>
      </p:sp>
    </p:spTree>
    <p:extLst>
      <p:ext uri="{BB962C8B-B14F-4D97-AF65-F5344CB8AC3E}">
        <p14:creationId xmlns:p14="http://schemas.microsoft.com/office/powerpoint/2010/main" val="358612889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23BA1A32-DA0E-4410-99D6-3771BEEA237B}"/>
              </a:ext>
            </a:extLst>
          </p:cNvPr>
          <p:cNvPicPr>
            <a:picLocks noGrp="1" noChangeAspect="1"/>
          </p:cNvPicPr>
          <p:nvPr>
            <p:ph idx="1"/>
          </p:nvPr>
        </p:nvPicPr>
        <p:blipFill>
          <a:blip r:embed="rId2"/>
          <a:stretch>
            <a:fillRect/>
          </a:stretch>
        </p:blipFill>
        <p:spPr>
          <a:xfrm>
            <a:off x="457200" y="1407850"/>
            <a:ext cx="1895475" cy="875797"/>
          </a:xfrm>
          <a:prstGeom prst="rect">
            <a:avLst/>
          </a:prstGeom>
        </p:spPr>
      </p:pic>
      <p:sp>
        <p:nvSpPr>
          <p:cNvPr id="3" name="כותרת 2">
            <a:extLst>
              <a:ext uri="{FF2B5EF4-FFF2-40B4-BE49-F238E27FC236}">
                <a16:creationId xmlns:a16="http://schemas.microsoft.com/office/drawing/2014/main" id="{257F05C5-64E3-4DDE-A2AE-1A6CBA24D297}"/>
              </a:ext>
            </a:extLst>
          </p:cNvPr>
          <p:cNvSpPr>
            <a:spLocks noGrp="1"/>
          </p:cNvSpPr>
          <p:nvPr>
            <p:ph type="title"/>
          </p:nvPr>
        </p:nvSpPr>
        <p:spPr/>
        <p:txBody>
          <a:bodyPr/>
          <a:lstStyle/>
          <a:p>
            <a:pPr rtl="1"/>
            <a:r>
              <a:rPr lang="en-US" dirty="0"/>
              <a:t>Trigger</a:t>
            </a:r>
            <a:r>
              <a:rPr lang="he-IL" dirty="0"/>
              <a:t> - דוגמא</a:t>
            </a:r>
          </a:p>
        </p:txBody>
      </p:sp>
      <p:sp>
        <p:nvSpPr>
          <p:cNvPr id="4" name="מציין מיקום של מספר שקופית 3">
            <a:extLst>
              <a:ext uri="{FF2B5EF4-FFF2-40B4-BE49-F238E27FC236}">
                <a16:creationId xmlns:a16="http://schemas.microsoft.com/office/drawing/2014/main" id="{47947558-AC5B-49CE-8E80-7E87F6143386}"/>
              </a:ext>
            </a:extLst>
          </p:cNvPr>
          <p:cNvSpPr>
            <a:spLocks noGrp="1"/>
          </p:cNvSpPr>
          <p:nvPr>
            <p:ph type="sldNum" sz="quarter" idx="11"/>
          </p:nvPr>
        </p:nvSpPr>
        <p:spPr/>
        <p:txBody>
          <a:bodyPr/>
          <a:lstStyle/>
          <a:p>
            <a:fld id="{746FD205-8D79-439C-A802-2377436AEC8A}" type="slidenum">
              <a:rPr lang="he-IL" smtClean="0"/>
              <a:pPr/>
              <a:t>141</a:t>
            </a:fld>
            <a:endParaRPr lang="he-IL"/>
          </a:p>
        </p:txBody>
      </p:sp>
      <p:pic>
        <p:nvPicPr>
          <p:cNvPr id="6" name="תמונה 5">
            <a:extLst>
              <a:ext uri="{FF2B5EF4-FFF2-40B4-BE49-F238E27FC236}">
                <a16:creationId xmlns:a16="http://schemas.microsoft.com/office/drawing/2014/main" id="{D9C48158-33ED-4982-88C7-AFE8EB6263C1}"/>
              </a:ext>
            </a:extLst>
          </p:cNvPr>
          <p:cNvPicPr>
            <a:picLocks noChangeAspect="1"/>
          </p:cNvPicPr>
          <p:nvPr/>
        </p:nvPicPr>
        <p:blipFill>
          <a:blip r:embed="rId3"/>
          <a:stretch>
            <a:fillRect/>
          </a:stretch>
        </p:blipFill>
        <p:spPr>
          <a:xfrm>
            <a:off x="438151" y="2514600"/>
            <a:ext cx="3981450" cy="875044"/>
          </a:xfrm>
          <a:prstGeom prst="rect">
            <a:avLst/>
          </a:prstGeom>
        </p:spPr>
      </p:pic>
      <p:pic>
        <p:nvPicPr>
          <p:cNvPr id="7" name="תמונה 6">
            <a:extLst>
              <a:ext uri="{FF2B5EF4-FFF2-40B4-BE49-F238E27FC236}">
                <a16:creationId xmlns:a16="http://schemas.microsoft.com/office/drawing/2014/main" id="{30E932FA-D069-4598-9313-F3153FB02D61}"/>
              </a:ext>
            </a:extLst>
          </p:cNvPr>
          <p:cNvPicPr>
            <a:picLocks noChangeAspect="1"/>
          </p:cNvPicPr>
          <p:nvPr/>
        </p:nvPicPr>
        <p:blipFill>
          <a:blip r:embed="rId4"/>
          <a:stretch>
            <a:fillRect/>
          </a:stretch>
        </p:blipFill>
        <p:spPr>
          <a:xfrm>
            <a:off x="5257802" y="1466271"/>
            <a:ext cx="3067050" cy="1485851"/>
          </a:xfrm>
          <a:prstGeom prst="rect">
            <a:avLst/>
          </a:prstGeom>
        </p:spPr>
      </p:pic>
      <p:pic>
        <p:nvPicPr>
          <p:cNvPr id="8" name="תמונה 7">
            <a:extLst>
              <a:ext uri="{FF2B5EF4-FFF2-40B4-BE49-F238E27FC236}">
                <a16:creationId xmlns:a16="http://schemas.microsoft.com/office/drawing/2014/main" id="{196A7C02-C1ED-4700-BD90-6D1A046DDBD9}"/>
              </a:ext>
            </a:extLst>
          </p:cNvPr>
          <p:cNvPicPr>
            <a:picLocks noChangeAspect="1"/>
          </p:cNvPicPr>
          <p:nvPr/>
        </p:nvPicPr>
        <p:blipFill>
          <a:blip r:embed="rId5"/>
          <a:stretch>
            <a:fillRect/>
          </a:stretch>
        </p:blipFill>
        <p:spPr>
          <a:xfrm>
            <a:off x="420211" y="3484035"/>
            <a:ext cx="5059581" cy="3076575"/>
          </a:xfrm>
          <a:prstGeom prst="rect">
            <a:avLst/>
          </a:prstGeom>
        </p:spPr>
      </p:pic>
      <p:sp>
        <p:nvSpPr>
          <p:cNvPr id="9" name="TextBox 8">
            <a:extLst>
              <a:ext uri="{FF2B5EF4-FFF2-40B4-BE49-F238E27FC236}">
                <a16:creationId xmlns:a16="http://schemas.microsoft.com/office/drawing/2014/main" id="{68645C21-EDE3-49A3-B271-1B1FC5ADF4ED}"/>
              </a:ext>
            </a:extLst>
          </p:cNvPr>
          <p:cNvSpPr txBox="1"/>
          <p:nvPr/>
        </p:nvSpPr>
        <p:spPr>
          <a:xfrm>
            <a:off x="5791199" y="3657600"/>
            <a:ext cx="3067049" cy="2308324"/>
          </a:xfrm>
          <a:prstGeom prst="rect">
            <a:avLst/>
          </a:prstGeom>
          <a:noFill/>
        </p:spPr>
        <p:txBody>
          <a:bodyPr wrap="square" rtlCol="1">
            <a:spAutoFit/>
          </a:bodyPr>
          <a:lstStyle/>
          <a:p>
            <a:pPr algn="r" rtl="1"/>
            <a:r>
              <a:rPr lang="he-IL" dirty="0">
                <a:cs typeface="Calibri" panose="020F0502020204030204" pitchFamily="34" charset="0"/>
              </a:rPr>
              <a:t>בדוגמא זו טבלת </a:t>
            </a:r>
            <a:r>
              <a:rPr lang="en-US" dirty="0" err="1">
                <a:cs typeface="Calibri" panose="020F0502020204030204" pitchFamily="34" charset="0"/>
              </a:rPr>
              <a:t>employee_test_audit</a:t>
            </a:r>
            <a:r>
              <a:rPr lang="he-IL" dirty="0">
                <a:cs typeface="Calibri" panose="020F0502020204030204" pitchFamily="34" charset="0"/>
              </a:rPr>
              <a:t> עוקבת אחרי טבלת </a:t>
            </a:r>
            <a:r>
              <a:rPr lang="en-US" dirty="0" err="1">
                <a:cs typeface="Calibri" panose="020F0502020204030204" pitchFamily="34" charset="0"/>
              </a:rPr>
              <a:t>employee_tet</a:t>
            </a:r>
            <a:endParaRPr lang="en-US" dirty="0">
              <a:cs typeface="Calibri" panose="020F0502020204030204" pitchFamily="34" charset="0"/>
            </a:endParaRPr>
          </a:p>
          <a:p>
            <a:pPr algn="r" rtl="1"/>
            <a:r>
              <a:rPr lang="he-IL" dirty="0">
                <a:cs typeface="Calibri" panose="020F0502020204030204" pitchFamily="34" charset="0"/>
              </a:rPr>
              <a:t>במידה וההכנסה ל </a:t>
            </a:r>
            <a:r>
              <a:rPr lang="en-US" dirty="0" err="1">
                <a:cs typeface="Calibri" panose="020F0502020204030204" pitchFamily="34" charset="0"/>
              </a:rPr>
              <a:t>employee_test</a:t>
            </a:r>
            <a:r>
              <a:rPr lang="he-IL" dirty="0">
                <a:cs typeface="Calibri" panose="020F0502020204030204" pitchFamily="34" charset="0"/>
              </a:rPr>
              <a:t> הצליחה, תוכנס גם שורה לטבלת </a:t>
            </a:r>
            <a:r>
              <a:rPr lang="en-US" dirty="0" err="1">
                <a:cs typeface="Calibri" panose="020F0502020204030204" pitchFamily="34" charset="0"/>
              </a:rPr>
              <a:t>employee_test_audit</a:t>
            </a:r>
            <a:endParaRPr lang="he-IL" dirty="0">
              <a:cs typeface="Calibri" panose="020F0502020204030204" pitchFamily="34" charset="0"/>
            </a:endParaRPr>
          </a:p>
        </p:txBody>
      </p:sp>
    </p:spTree>
    <p:extLst>
      <p:ext uri="{BB962C8B-B14F-4D97-AF65-F5344CB8AC3E}">
        <p14:creationId xmlns:p14="http://schemas.microsoft.com/office/powerpoint/2010/main" val="42099336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a:extLst>
              <a:ext uri="{FF2B5EF4-FFF2-40B4-BE49-F238E27FC236}">
                <a16:creationId xmlns:a16="http://schemas.microsoft.com/office/drawing/2014/main" id="{88FCD1AE-D3BE-41AB-A0B2-6026FD55EB9B}"/>
              </a:ext>
            </a:extLst>
          </p:cNvPr>
          <p:cNvSpPr>
            <a:spLocks noGrp="1"/>
          </p:cNvSpPr>
          <p:nvPr>
            <p:ph idx="1"/>
          </p:nvPr>
        </p:nvSpPr>
        <p:spPr/>
        <p:txBody>
          <a:bodyPr>
            <a:normAutofit/>
          </a:bodyPr>
          <a:lstStyle/>
          <a:p>
            <a:pPr marL="64008" indent="0" rtl="1">
              <a:buNone/>
            </a:pPr>
            <a:r>
              <a:rPr lang="he-IL" sz="1800" dirty="0">
                <a:cs typeface="Calibri" panose="020F0502020204030204" pitchFamily="34" charset="0"/>
              </a:rPr>
              <a:t>על מסד הנתונים של בית הספר שיצרת בצעי את הפעולות הבאות:</a:t>
            </a:r>
          </a:p>
          <a:p>
            <a:pPr rtl="1">
              <a:buFont typeface="Courier New" panose="02070309020205020404" pitchFamily="49" charset="0"/>
              <a:buChar char="o"/>
            </a:pPr>
            <a:r>
              <a:rPr lang="he-IL" sz="1800" dirty="0">
                <a:cs typeface="Calibri" panose="020F0502020204030204" pitchFamily="34" charset="0"/>
              </a:rPr>
              <a:t>הוסיפי לטבלת תלמידות את השדה בונוס נקודות (אתחלי את ערכו ב 0)</a:t>
            </a:r>
          </a:p>
          <a:p>
            <a:pPr rtl="1">
              <a:buFont typeface="Courier New" panose="02070309020205020404" pitchFamily="49" charset="0"/>
              <a:buChar char="o"/>
            </a:pPr>
            <a:r>
              <a:rPr lang="he-IL" sz="1800" dirty="0">
                <a:cs typeface="Calibri" panose="020F0502020204030204" pitchFamily="34" charset="0"/>
              </a:rPr>
              <a:t>צרי טריגר שעוקב אחרי טבלת ציונים, בכל פעם שמתווסף ציון חדש למערכת, יתרחש הטריגר ויבדוק האם הציון שהתווסף גבוה מ 90, במידה וכן, יתעדכן השדה בונוס נקודות של התלמידה הזו ב 2 נקודות נוספות.</a:t>
            </a:r>
          </a:p>
          <a:p>
            <a:pPr rtl="1">
              <a:buFont typeface="Courier New" panose="02070309020205020404" pitchFamily="49" charset="0"/>
              <a:buChar char="o"/>
            </a:pPr>
            <a:r>
              <a:rPr lang="he-IL" sz="1800" dirty="0">
                <a:cs typeface="Calibri" panose="020F0502020204030204" pitchFamily="34" charset="0"/>
              </a:rPr>
              <a:t>הוסיפי מספר ציונים חדשים ובדקי שהבונוס התעדכן.	</a:t>
            </a:r>
          </a:p>
        </p:txBody>
      </p:sp>
      <p:sp>
        <p:nvSpPr>
          <p:cNvPr id="3" name="כותרת 2">
            <a:extLst>
              <a:ext uri="{FF2B5EF4-FFF2-40B4-BE49-F238E27FC236}">
                <a16:creationId xmlns:a16="http://schemas.microsoft.com/office/drawing/2014/main" id="{6F80FF7B-AB4B-42F3-A667-12BE44CCD341}"/>
              </a:ext>
            </a:extLst>
          </p:cNvPr>
          <p:cNvSpPr>
            <a:spLocks noGrp="1"/>
          </p:cNvSpPr>
          <p:nvPr>
            <p:ph type="title"/>
          </p:nvPr>
        </p:nvSpPr>
        <p:spPr/>
        <p:txBody>
          <a:bodyPr/>
          <a:lstStyle/>
          <a:p>
            <a:pPr rtl="1"/>
            <a:r>
              <a:rPr lang="en-US" dirty="0"/>
              <a:t>Trigger</a:t>
            </a:r>
            <a:r>
              <a:rPr lang="he-IL" dirty="0"/>
              <a:t> - תרגיל</a:t>
            </a:r>
          </a:p>
        </p:txBody>
      </p:sp>
      <p:sp>
        <p:nvSpPr>
          <p:cNvPr id="4" name="מציין מיקום של מספר שקופית 3">
            <a:extLst>
              <a:ext uri="{FF2B5EF4-FFF2-40B4-BE49-F238E27FC236}">
                <a16:creationId xmlns:a16="http://schemas.microsoft.com/office/drawing/2014/main" id="{20AC5FCE-8927-4A5A-96C1-1FF293918D4C}"/>
              </a:ext>
            </a:extLst>
          </p:cNvPr>
          <p:cNvSpPr>
            <a:spLocks noGrp="1"/>
          </p:cNvSpPr>
          <p:nvPr>
            <p:ph type="sldNum" sz="quarter" idx="11"/>
          </p:nvPr>
        </p:nvSpPr>
        <p:spPr/>
        <p:txBody>
          <a:bodyPr/>
          <a:lstStyle/>
          <a:p>
            <a:fld id="{746FD205-8D79-439C-A802-2377436AEC8A}" type="slidenum">
              <a:rPr lang="he-IL" smtClean="0"/>
              <a:pPr/>
              <a:t>142</a:t>
            </a:fld>
            <a:endParaRPr lang="he-IL"/>
          </a:p>
        </p:txBody>
      </p:sp>
    </p:spTree>
    <p:extLst>
      <p:ext uri="{BB962C8B-B14F-4D97-AF65-F5344CB8AC3E}">
        <p14:creationId xmlns:p14="http://schemas.microsoft.com/office/powerpoint/2010/main" val="12767966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DEBB3141636B894099107E6745BE213F04000498BE45EB900B4AB4820FEB2B334769" ma:contentTypeVersion="56" ma:contentTypeDescription="Create a new document." ma:contentTypeScope="" ma:versionID="88e980705863785d62b24b2f127d8bb3">
  <xsd:schema xmlns:xsd="http://www.w3.org/2001/XMLSchema" xmlns:xs="http://www.w3.org/2001/XMLSchema" xmlns:p="http://schemas.microsoft.com/office/2006/metadata/properties" xmlns:ns2="6e9ea02a-742f-4d68-9828-878561d4a93c" targetNamespace="http://schemas.microsoft.com/office/2006/metadata/properties" ma:root="true" ma:fieldsID="41e2f71470f72663579db268ee2082ab" ns2:_="">
    <xsd:import namespace="6e9ea02a-742f-4d68-9828-878561d4a93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ea02a-742f-4d68-9828-878561d4a93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0:00:00Z"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BlockPublish" ma:index="12" nillable="true" ma:displayName="Block from Publishing?" ma:default="" ma:internalName="BlockPublish" ma:readOnly="false">
      <xsd:simpleType>
        <xsd:restriction base="dms:Boolean"/>
      </xsd:simpleType>
    </xsd:element>
    <xsd:element name="BugNumber" ma:index="13" nillable="true" ma:displayName="Bug Number" ma:default="" ma:internalName="BugNumber" ma:readOnly="false">
      <xsd:simpleType>
        <xsd:restriction base="dms:Text"/>
      </xsd:simpleType>
    </xsd:element>
    <xsd:element name="CampaignTagsTaxHTField0" ma:index="15" nillable="true" ma:taxonomy="true" ma:internalName="CampaignTagsTaxHTField0" ma:taxonomyFieldName="CampaignTags" ma:displayName="Campaigns" ma:readOnly="false" ma:default="" ma:fieldId="{f49aea52-57cf-43e7-ad0f-73ec13c09c94}"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6" nillable="true" ma:displayName="Client Viewer" ma:default="" ma:internalName="TPClientViewer">
      <xsd:simpleType>
        <xsd:restriction base="dms:Text"/>
      </xsd:simpleType>
    </xsd:element>
    <xsd:element name="ClipArtFilename" ma:index="17" nillable="true" ma:displayName="Clip Art Name" ma:default="" ma:internalName="ClipArtFilename" ma:readOnly="false">
      <xsd:simpleType>
        <xsd:restriction base="dms:Text"/>
      </xsd:simpleType>
    </xsd:element>
    <xsd:element name="TPCommandLine" ma:index="18" nillable="true" ma:displayName="Command Line" ma:default="" ma:internalName="TPCommandLine">
      <xsd:simpleType>
        <xsd:restriction base="dms:Text"/>
      </xsd:simpleType>
    </xsd:element>
    <xsd:element name="TPComponent" ma:index="19" nillable="true" ma:displayName="Component" ma:default="" ma:internalName="TPComponent">
      <xsd:simpleType>
        <xsd:restriction base="dms:Text"/>
      </xsd:simpleType>
    </xsd:element>
    <xsd:element name="ContentItem" ma:index="20" nillable="true" ma:displayName="Content Item" ma:default="" ma:hidden="true" ma:internalName="ContentItem" ma:readOnly="false">
      <xsd:simpleType>
        <xsd:restriction base="dms:Unknown"/>
      </xsd:simpleType>
    </xsd:element>
    <xsd:element name="CrawlForDependencies" ma:index="22" nillable="true" ma:displayName="Crawl for Dependencies?" ma:default="true" ma:internalName="CrawlForDependencies" ma:readOnly="false">
      <xsd:simpleType>
        <xsd:restriction base="dms:Boolean"/>
      </xsd:simpleType>
    </xsd:element>
    <xsd:element name="CSXHash" ma:index="25" nillable="true" ma:displayName="CSX Hash" ma:default="" ma:indexed="true" ma:internalName="CSXHash" ma:readOnly="false">
      <xsd:simpleType>
        <xsd:restriction base="dms:Text"/>
      </xsd:simpleType>
    </xsd:element>
    <xsd:element name="CSXSubmissionMarket" ma:index="26" nillable="true" ma:displayName="CSX Submission Market" ma:default="" ma:list="{97E9BFDD-1396-425A-819C-F21D6585E878}" ma:internalName="CSXSubmissionMarket" ma:readOnly="false" ma:showField="MarketName" ma:web="6e9ea02a-742f-4d68-9828-878561d4a93c">
      <xsd:simpleType>
        <xsd:restriction base="dms:Lookup"/>
      </xsd:simpleType>
    </xsd:element>
    <xsd:element name="CSXUpdate" ma:index="27" nillable="true" ma:displayName="CSX Updated?" ma:default="false" ma:internalName="CSXUpdate" ma:readOnly="false">
      <xsd:simpleType>
        <xsd:restriction base="dms:Boolean"/>
      </xsd:simpleType>
    </xsd:element>
    <xsd:element name="IntlLangReviewDate" ma:index="28" nillable="true" ma:displayName="Date to Complete Intl QA" ma:default="" ma:internalName="IntlLangReviewDate" ma:readOnly="false">
      <xsd:simpleType>
        <xsd:restriction base="dms:DateTime"/>
      </xsd:simpleType>
    </xsd:element>
    <xsd:element name="IsDeleted" ma:index="29" nillable="true" ma:displayName="Deleted?" ma:default="" ma:internalName="IsDeleted" ma:readOnly="false">
      <xsd:simpleType>
        <xsd:restriction base="dms:Boolean"/>
      </xsd:simpleType>
    </xsd:element>
    <xsd:element name="APDescription" ma:index="30" nillable="true" ma:displayName="Description" ma:default="" ma:internalName="APDescription" ma:readOnly="false">
      <xsd:simpleType>
        <xsd:restriction base="dms:Note"/>
      </xsd:simpleType>
    </xsd:element>
    <xsd:element name="DirectSourceMarket" ma:index="31" nillable="true" ma:displayName="Direct Source Market Group" ma:default="" ma:internalName="DirectSourceMarket" ma:readOnly="false">
      <xsd:simpleType>
        <xsd:restriction base="dms:Text"/>
      </xsd:simpleType>
    </xsd:element>
    <xsd:element name="Downloads" ma:index="32" nillable="true" ma:displayName="Downloads" ma:default="0" ma:hidden="true" ma:internalName="Downloads" ma:readOnly="false">
      <xsd:simpleType>
        <xsd:restriction base="dms:Unknown"/>
      </xsd:simpleType>
    </xsd:element>
    <xsd:element name="DSATActionTaken" ma:index="33"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4"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5" nillable="true" ma:displayName="Editorial Status" ma:default="" ma:internalName="EditorialStatus" ma:readOnly="false">
      <xsd:simpleType>
        <xsd:restriction base="dms:Unknown"/>
      </xsd:simpleType>
    </xsd:element>
    <xsd:element name="EditorialTags" ma:index="36" nillable="true" ma:displayName="Editorial Tags" ma:default="" ma:internalName="EditorialTags">
      <xsd:simpleType>
        <xsd:restriction base="dms:Unknown"/>
      </xsd:simpleType>
    </xsd:element>
    <xsd:element name="TPExecutable" ma:index="37" nillable="true" ma:displayName="Executable" ma:default="" ma:internalName="TPExecutable">
      <xsd:simpleType>
        <xsd:restriction base="dms:Text"/>
      </xsd:simpleType>
    </xsd:element>
    <xsd:element name="FeatureTagsTaxHTField0" ma:index="39" nillable="true" ma:taxonomy="true" ma:internalName="FeatureTagsTaxHTField0" ma:taxonomyFieldName="FeatureTags" ma:displayName="Features" ma:readOnly="false" ma:default="" ma:fieldId="{42c02ad2-dcd2-4ab7-b59e-0790aa7a8b17}"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0" nillable="true" ma:displayName="Friendly Name" ma:default="" ma:internalName="TPFriendlyName">
      <xsd:simpleType>
        <xsd:restriction base="dms:Text"/>
      </xsd:simpleType>
    </xsd:element>
    <xsd:element name="FriendlyTitle" ma:index="41" nillable="true" ma:displayName="Friendly Title" ma:default="" ma:description="Shorter title to be used when displaying search results" ma:internalName="FriendlyTitle" ma:readOnly="false">
      <xsd:simpleType>
        <xsd:restriction base="dms:Text"/>
      </xsd:simpleType>
    </xsd:element>
    <xsd:element name="PrimaryImageGen" ma:index="42" nillable="true" ma:displayName="Generate Images?" ma:default="true" ma:internalName="PrimaryImageGen">
      <xsd:simpleType>
        <xsd:restriction base="dms:Boolean"/>
      </xsd:simpleType>
    </xsd:element>
    <xsd:element name="HandoffToMSDN" ma:index="43" nillable="true" ma:displayName="Handoff To MSDN Date" ma:default="" ma:internalName="HandoffToMSDN" ma:readOnly="false">
      <xsd:simpleType>
        <xsd:restriction base="dms:DateTime"/>
      </xsd:simpleType>
    </xsd:element>
    <xsd:element name="InProjectListLookup" ma:index="44" nillable="true" ma:displayName="InProjectListLookup" ma:list="{B6637CC4-9BDF-4FFE-8FBF-4FC2310BA3C9}" ma:internalName="InProjectListLookup" ma:readOnly="true" ma:showField="InProjectList"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TPInstallLocation" ma:index="45" nillable="true" ma:displayName="Install Location" ma:default="" ma:internalName="TPInstallLocation">
      <xsd:simpleType>
        <xsd:restriction base="dms:Text"/>
      </xsd:simpleType>
    </xsd:element>
    <xsd:element name="InternalTagsTaxHTField0" ma:index="47" nillable="true" ma:taxonomy="true" ma:internalName="InternalTagsTaxHTField0" ma:taxonomyFieldName="InternalTags" ma:displayName="Internal Tags" ma:readOnly="false" ma:default="" ma:fieldId="{481df231-2158-47e1-bee4-ea5880ea189b}"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8" nillable="true" ma:displayName="Intl Lang QA Review Required?" ma:default="" ma:internalName="IntlLangReview" ma:readOnly="false">
      <xsd:simpleType>
        <xsd:restriction base="dms:Boolean"/>
      </xsd:simpleType>
    </xsd:element>
    <xsd:element name="IntlLangReviewer" ma:index="49" nillable="true" ma:displayName="Intl Lang QA Reviewer" ma:default="" ma:internalName="IntlLangReviewer" ma:readOnly="false">
      <xsd:simpleType>
        <xsd:restriction base="dms:Text"/>
      </xsd:simpleType>
    </xsd:element>
    <xsd:element name="MarketSpecific" ma:index="50" nillable="true" ma:displayName="Is Market Specific?" ma:default="" ma:internalName="MarketSpecific" ma:readOnly="false">
      <xsd:simpleType>
        <xsd:restriction base="dms:Boolean"/>
      </xsd:simpleType>
    </xsd:element>
    <xsd:element name="LastCompleteVersionLookup" ma:index="51" nillable="true" ma:displayName="Last Complete Version Lookup" ma:default="" ma:list="{B6637CC4-9BDF-4FFE-8FBF-4FC2310BA3C9}" ma:internalName="LastCompleteVersionLookup" ma:readOnly="true" ma:showField="LastCompleteVersion"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HandOff" ma:index="52" nillable="true" ma:displayName="Last Hand-off" ma:default="" ma:internalName="LastHandOff" ma:readOnly="false">
      <xsd:simpleType>
        <xsd:restriction base="dms:DateTime"/>
      </xsd:simpleType>
    </xsd:element>
    <xsd:element name="LastModifiedDateTime" ma:index="53" nillable="true" ma:displayName="Last Modified Date" ma:default="" ma:internalName="LastModifiedDateTime" ma:readOnly="false">
      <xsd:simpleType>
        <xsd:restriction base="dms:DateTime"/>
      </xsd:simpleType>
    </xsd:element>
    <xsd:element name="LastPreviewErrorLookup" ma:index="54" nillable="true" ma:displayName="Last Preview Attempt Error" ma:default="" ma:list="{B6637CC4-9BDF-4FFE-8FBF-4FC2310BA3C9}" ma:internalName="LastPreviewErrorLookup" ma:readOnly="true" ma:showField="LastPreviewError"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reviewResultLookup" ma:index="55" nillable="true" ma:displayName="Last Preview Attempt Result" ma:default="" ma:list="{B6637CC4-9BDF-4FFE-8FBF-4FC2310BA3C9}" ma:internalName="LastPreviewResultLookup" ma:readOnly="true" ma:showField="LastPreviewResult"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6" nillable="true" ma:displayName="Last Preview Attempted On" ma:default="" ma:list="{B6637CC4-9BDF-4FFE-8FBF-4FC2310BA3C9}" ma:internalName="LastPreviewAttemptDateLookup" ma:readOnly="true" ma:showField="LastPreviewAttemptDate"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reviewedByLookup" ma:index="57" nillable="true" ma:displayName="Last Previewed By" ma:default="" ma:list="{B6637CC4-9BDF-4FFE-8FBF-4FC2310BA3C9}" ma:internalName="LastPreviewedByLookup" ma:readOnly="true" ma:showField="LastPreviewedBy"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reviewTimeLookup" ma:index="58" nillable="true" ma:displayName="Last Previewed Date" ma:default="" ma:list="{B6637CC4-9BDF-4FFE-8FBF-4FC2310BA3C9}" ma:internalName="LastPreviewTimeLookup" ma:readOnly="true" ma:showField="LastPreviewTime"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reviewVersionLookup" ma:index="59" nillable="true" ma:displayName="Last Previewed Version" ma:default="" ma:list="{B6637CC4-9BDF-4FFE-8FBF-4FC2310BA3C9}" ma:internalName="LastPreviewVersionLookup" ma:readOnly="true" ma:showField="LastPreviewVersion"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ublishErrorLookup" ma:index="60" nillable="true" ma:displayName="Last Publish Attempt Error" ma:default="" ma:list="{B6637CC4-9BDF-4FFE-8FBF-4FC2310BA3C9}" ma:internalName="LastPublishErrorLookup" ma:readOnly="true" ma:showField="LastPublishError"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ublishResultLookup" ma:index="61" nillable="true" ma:displayName="Last Publish Attempt Result" ma:default="" ma:list="{B6637CC4-9BDF-4FFE-8FBF-4FC2310BA3C9}" ma:internalName="LastPublishResultLookup" ma:readOnly="true" ma:showField="LastPublishResult"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2" nillable="true" ma:displayName="Last Publish Attempted On" ma:default="" ma:list="{B6637CC4-9BDF-4FFE-8FBF-4FC2310BA3C9}" ma:internalName="LastPublishAttemptDateLookup" ma:readOnly="true" ma:showField="LastPublishAttemptDate"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ublishedByLookup" ma:index="63" nillable="true" ma:displayName="Last Published By" ma:default="" ma:list="{B6637CC4-9BDF-4FFE-8FBF-4FC2310BA3C9}" ma:internalName="LastPublishedByLookup" ma:readOnly="true" ma:showField="LastPublishedBy"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ublishTimeLookup" ma:index="64" nillable="true" ma:displayName="Last Published Date" ma:default="" ma:list="{B6637CC4-9BDF-4FFE-8FBF-4FC2310BA3C9}" ma:internalName="LastPublishTimeLookup" ma:readOnly="true" ma:showField="LastPublishTime"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5" nillable="true" ma:displayName="Last Published Version" ma:default="" ma:list="{B6637CC4-9BDF-4FFE-8FBF-4FC2310BA3C9}" ma:internalName="LastPublishVersionLookup" ma:readOnly="true" ma:showField="LastPublishVersion"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TPLaunchHelpLinkType" ma:index="66"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7" nillable="true" ma:displayName="Legacy Data" ma:default="" ma:internalName="LegacyData" ma:readOnly="false">
      <xsd:simpleType>
        <xsd:restriction base="dms:Note"/>
      </xsd:simpleType>
    </xsd:element>
    <xsd:element name="TPLaunchHelpLink" ma:index="68" nillable="true" ma:displayName="Link to Launch Help Topic" ma:default="" ma:internalName="TPLaunchHelpLink">
      <xsd:simpleType>
        <xsd:restriction base="dms:Text"/>
      </xsd:simpleType>
    </xsd:element>
    <xsd:element name="LocComments" ma:index="69" nillable="true" ma:displayName="Loc Approval Comments" ma:default="" ma:internalName="LocComments" ma:readOnly="false">
      <xsd:simpleType>
        <xsd:restriction base="dms:Note"/>
      </xsd:simpleType>
    </xsd:element>
    <xsd:element name="LocLastLocAttemptVersionLookup" ma:index="70" nillable="true" ma:displayName="Loc Last Loc Attempt Version" ma:default="" ma:list="{622F070B-DDF0-482B-8229-151EA03F1CC6}" ma:internalName="LocLastLocAttemptVersionLookup" ma:readOnly="false" ma:showField="LastLocAttemptVersion" ma:web="6e9ea02a-742f-4d68-9828-878561d4a93c">
      <xsd:simpleType>
        <xsd:restriction base="dms:Lookup"/>
      </xsd:simpleType>
    </xsd:element>
    <xsd:element name="LocLastLocAttemptVersionTypeLookup" ma:index="71" nillable="true" ma:displayName="Loc Last Loc Attempt Version Type" ma:default="" ma:list="{622F070B-DDF0-482B-8229-151EA03F1CC6}" ma:internalName="LocLastLocAttemptVersionTypeLookup" ma:readOnly="true" ma:showField="LastLocAttemptVersionType" ma:web="6e9ea02a-742f-4d68-9828-878561d4a93c">
      <xsd:simpleType>
        <xsd:restriction base="dms:Lookup"/>
      </xsd:simpleType>
    </xsd:element>
    <xsd:element name="LocManualTestRequired" ma:index="72" nillable="true" ma:displayName="Loc Manual Test Required" ma:default="" ma:internalName="LocManualTestRequired" ma:readOnly="false">
      <xsd:simpleType>
        <xsd:restriction base="dms:Boolean"/>
      </xsd:simpleType>
    </xsd:element>
    <xsd:element name="LocMarketGroupTiers2" ma:index="73" nillable="true" ma:displayName="Loc Market Group Tiers" ma:internalName="LocMarketGroupTiers2" ma:readOnly="false">
      <xsd:simpleType>
        <xsd:restriction base="dms:Unknown"/>
      </xsd:simpleType>
    </xsd:element>
    <xsd:element name="LocNewPublishedVersionLookup" ma:index="74" nillable="true" ma:displayName="Loc New Published Version Lookup" ma:default="" ma:list="{622F070B-DDF0-482B-8229-151EA03F1CC6}" ma:internalName="LocNewPublishedVersionLookup" ma:readOnly="true" ma:showField="NewPublishedVersion" ma:web="6e9ea02a-742f-4d68-9828-878561d4a93c">
      <xsd:simpleType>
        <xsd:restriction base="dms:Lookup"/>
      </xsd:simpleType>
    </xsd:element>
    <xsd:element name="LocOverallHandbackStatusLookup" ma:index="75" nillable="true" ma:displayName="Loc Overall Handback Status" ma:default="" ma:list="{622F070B-DDF0-482B-8229-151EA03F1CC6}" ma:internalName="LocOverallHandbackStatusLookup" ma:readOnly="true" ma:showField="OverallHandbackStatus" ma:web="6e9ea02a-742f-4d68-9828-878561d4a93c">
      <xsd:simpleType>
        <xsd:restriction base="dms:Lookup"/>
      </xsd:simpleType>
    </xsd:element>
    <xsd:element name="LocOverallLocStatusLookup" ma:index="76" nillable="true" ma:displayName="Loc Overall Localize Status" ma:default="" ma:list="{622F070B-DDF0-482B-8229-151EA03F1CC6}" ma:internalName="LocOverallLocStatusLookup" ma:readOnly="true" ma:showField="OverallLocStatus" ma:web="6e9ea02a-742f-4d68-9828-878561d4a93c">
      <xsd:simpleType>
        <xsd:restriction base="dms:Lookup"/>
      </xsd:simpleType>
    </xsd:element>
    <xsd:element name="LocOverallPreviewStatusLookup" ma:index="77" nillable="true" ma:displayName="Loc Overall Preview Status" ma:default="" ma:list="{622F070B-DDF0-482B-8229-151EA03F1CC6}" ma:internalName="LocOverallPreviewStatusLookup" ma:readOnly="true" ma:showField="OverallPreviewStatus" ma:web="6e9ea02a-742f-4d68-9828-878561d4a93c">
      <xsd:simpleType>
        <xsd:restriction base="dms:Lookup"/>
      </xsd:simpleType>
    </xsd:element>
    <xsd:element name="LocOverallPublishStatusLookup" ma:index="78" nillable="true" ma:displayName="Loc Overall Publish Status" ma:default="" ma:list="{622F070B-DDF0-482B-8229-151EA03F1CC6}" ma:internalName="LocOverallPublishStatusLookup" ma:readOnly="true" ma:showField="OverallPublishStatus" ma:web="6e9ea02a-742f-4d68-9828-878561d4a93c">
      <xsd:simpleType>
        <xsd:restriction base="dms:Lookup"/>
      </xsd:simpleType>
    </xsd:element>
    <xsd:element name="IntlLocPriority" ma:index="79" nillable="true" ma:displayName="Loc Priority" ma:default="" ma:internalName="IntlLocPriority" ma:readOnly="false">
      <xsd:simpleType>
        <xsd:restriction base="dms:Unknown"/>
      </xsd:simpleType>
    </xsd:element>
    <xsd:element name="LocProcessedForHandoffsLookup" ma:index="80" nillable="true" ma:displayName="Loc Processed For Handoffs" ma:default="" ma:list="{622F070B-DDF0-482B-8229-151EA03F1CC6}" ma:internalName="LocProcessedForHandoffsLookup" ma:readOnly="true" ma:showField="ProcessedForHandoffs" ma:web="6e9ea02a-742f-4d68-9828-878561d4a93c">
      <xsd:simpleType>
        <xsd:restriction base="dms:Lookup"/>
      </xsd:simpleType>
    </xsd:element>
    <xsd:element name="LocProcessedForMarketsLookup" ma:index="81" nillable="true" ma:displayName="Loc Processed For Markets" ma:default="" ma:list="{622F070B-DDF0-482B-8229-151EA03F1CC6}" ma:internalName="LocProcessedForMarketsLookup" ma:readOnly="true" ma:showField="ProcessedForMarkets" ma:web="6e9ea02a-742f-4d68-9828-878561d4a93c">
      <xsd:simpleType>
        <xsd:restriction base="dms:Lookup"/>
      </xsd:simpleType>
    </xsd:element>
    <xsd:element name="LocPublishedDependentAssetsLookup" ma:index="82" nillable="true" ma:displayName="Loc Published Dependent Assets" ma:default="" ma:list="{622F070B-DDF0-482B-8229-151EA03F1CC6}" ma:internalName="LocPublishedDependentAssetsLookup" ma:readOnly="true" ma:showField="PublishedDependentAssets" ma:web="6e9ea02a-742f-4d68-9828-878561d4a93c">
      <xsd:simpleType>
        <xsd:restriction base="dms:Lookup"/>
      </xsd:simpleType>
    </xsd:element>
    <xsd:element name="LocPublishedLinkedAssetsLookup" ma:index="83" nillable="true" ma:displayName="Loc Published Linked Assets" ma:default="" ma:list="{622F070B-DDF0-482B-8229-151EA03F1CC6}" ma:internalName="LocPublishedLinkedAssetsLookup" ma:readOnly="true" ma:showField="PublishedLinkedAssets" ma:web="6e9ea02a-742f-4d68-9828-878561d4a93c">
      <xsd:simpleType>
        <xsd:restriction base="dms:Lookup"/>
      </xsd:simpleType>
    </xsd:element>
    <xsd:element name="LocRecommendedHandoff" ma:index="84" nillable="true" ma:displayName="Loc Recommended Handoff" ma:default="" ma:indexed="true" ma:internalName="LocRecommendedHandoff" ma:readOnly="false">
      <xsd:simpleType>
        <xsd:restriction base="dms:Text"/>
      </xsd:simpleType>
    </xsd:element>
    <xsd:element name="LocalizationTagsTaxHTField0" ma:index="86" nillable="true" ma:taxonomy="true" ma:internalName="LocalizationTagsTaxHTField0" ma:taxonomyFieldName="LocalizationTags" ma:displayName="Localization Tags" ma:readOnly="false" ma:default="" ma:fieldId="{beb7c97e-5beb-4bf0-a64a-0521b62690fb}"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7" nillable="true" ma:displayName="Machine Translated" ma:default="" ma:internalName="MachineTranslated" ma:readOnly="false">
      <xsd:simpleType>
        <xsd:restriction base="dms:Boolean"/>
      </xsd:simpleType>
    </xsd:element>
    <xsd:element name="Manager" ma:index="88" nillable="true" ma:displayName="Manager" ma:hidden="true" ma:internalName="Manager" ma:readOnly="false">
      <xsd:simpleType>
        <xsd:restriction base="dms:Text"/>
      </xsd:simpleType>
    </xsd:element>
    <xsd:element name="Markets" ma:index="89" nillable="true" ma:displayName="Markets" ma:default="" ma:description="Leave blank to show in all markets" ma:list="{97E9BFDD-1396-425A-819C-F21D6585E878}" ma:internalName="Markets" ma:readOnly="false" ma:showField="MarketName"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Milestone" ma:index="90" nillable="true" ma:displayName="Milestone" ma:default="" ma:internalName="Milestone" ma:readOnly="false">
      <xsd:simpleType>
        <xsd:restriction base="dms:Unknown"/>
      </xsd:simpleType>
    </xsd:element>
    <xsd:element name="TPNamespace" ma:index="93" nillable="true" ma:displayName="Namespace" ma:default="" ma:internalName="TPNamespace">
      <xsd:simpleType>
        <xsd:restriction base="dms:Text"/>
      </xsd:simpleType>
    </xsd:element>
    <xsd:element name="NumericId" ma:index="94" nillable="true" ma:displayName="Numeric ID" ma:default="" ma:indexed="true" ma:internalName="NumericId" ma:readOnly="false">
      <xsd:simpleType>
        <xsd:restriction base="dms:Number"/>
      </xsd:simpleType>
    </xsd:element>
    <xsd:element name="NumOfRatingsLookup" ma:index="95" nillable="true" ma:displayName="NumOfRatings" ma:default="" ma:list="{B6637CC4-9BDF-4FFE-8FBF-4FC2310BA3C9}" ma:internalName="NumOfRatingsLookup" ma:readOnly="true" ma:showField="NumOfRatings"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OOCacheId" ma:index="96" nillable="true" ma:displayName="OOCacheId" ma:internalName="OOCacheId" ma:readOnly="false">
      <xsd:simpleType>
        <xsd:restriction base="dms:Text"/>
      </xsd:simpleType>
    </xsd:element>
    <xsd:element name="OpenTemplate" ma:index="97" nillable="true" ma:displayName="Open Template" ma:default="true" ma:internalName="OpenTemplate">
      <xsd:simpleType>
        <xsd:restriction base="dms:Boolean"/>
      </xsd:simpleType>
    </xsd:element>
    <xsd:element name="OriginAsset" ma:index="98" nillable="true" ma:displayName="Origin Asset" ma:default="" ma:internalName="OriginAsset" ma:readOnly="false">
      <xsd:simpleType>
        <xsd:restriction base="dms:Text"/>
      </xsd:simpleType>
    </xsd:element>
    <xsd:element name="OriginalRelease" ma:index="99"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0" nillable="true" ma:displayName="Original Source Market Group" ma:default="" ma:internalName="OriginalSourceMarket" ma:readOnly="false">
      <xsd:simpleType>
        <xsd:restriction base="dms:Text"/>
      </xsd:simpleType>
    </xsd:element>
    <xsd:element name="OutputCachingOn" ma:index="101" nillable="true" ma:displayName="Output Caching" ma:default="true" ma:hidden="true" ma:internalName="OutputCachingOn" ma:readOnly="false">
      <xsd:simpleType>
        <xsd:restriction base="dms:Boolean"/>
      </xsd:simpleType>
    </xsd:element>
    <xsd:element name="ParentAssetId" ma:index="102" nillable="true" ma:displayName="Parent Asset Id" ma:default="" ma:internalName="ParentAssetId" ma:readOnly="false">
      <xsd:simpleType>
        <xsd:restriction base="dms:Text"/>
      </xsd:simpleType>
    </xsd:element>
    <xsd:element name="PlannedPubDate" ma:index="103" nillable="true" ma:displayName="Planned Publish Date" ma:default="" ma:indexed="true" ma:internalName="PlannedPubDate" ma:readOnly="false">
      <xsd:simpleType>
        <xsd:restriction base="dms:DateTime"/>
      </xsd:simpleType>
    </xsd:element>
    <xsd:element name="PolicheckWords" ma:index="104" nillable="true" ma:displayName="Policheck Words" ma:default="" ma:internalName="PolicheckWords" ma:readOnly="false">
      <xsd:simpleType>
        <xsd:restriction base="dms:Text"/>
      </xsd:simpleType>
    </xsd:element>
    <xsd:element name="BusinessGroup" ma:index="105" nillable="true" ma:displayName="Product Division Owner" ma:default="" ma:internalName="BusinessGroup" ma:readOnly="false">
      <xsd:simpleType>
        <xsd:restriction base="dms:Unknown"/>
      </xsd:simpleType>
    </xsd:element>
    <xsd:element name="UAProjectedTotalWords" ma:index="106" nillable="true" ma:displayName="Projected Word Count" ma:default="" ma:internalName="UAProjectedTotalWords" ma:readOnly="false">
      <xsd:simpleType>
        <xsd:restriction base="dms:Unknown"/>
      </xsd:simpleType>
    </xsd:element>
    <xsd:element name="Provider" ma:index="107" nillable="true" ma:displayName="Provider" ma:default="" ma:internalName="Provider" ma:readOnly="false">
      <xsd:simpleType>
        <xsd:restriction base="dms:Unknown"/>
      </xsd:simpleType>
    </xsd:element>
    <xsd:element name="Providers" ma:index="108" nillable="true" ma:displayName="Providers" ma:default="" ma:internalName="Providers">
      <xsd:simpleType>
        <xsd:restriction base="dms:Unknown"/>
      </xsd:simpleType>
    </xsd:element>
    <xsd:element name="PublishStatusLookup" ma:index="109" nillable="true" ma:displayName="Publish Status" ma:default="" ma:list="{B6637CC4-9BDF-4FFE-8FBF-4FC2310BA3C9}" ma:internalName="PublishStatusLookup" ma:readOnly="false" ma:showField="PublishStatus"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PublishTargets" ma:index="110" nillable="true" ma:displayName="Publish Target" ma:default="OfficeOnlineVNext" ma:internalName="PublishTargets" ma:readOnly="false">
      <xsd:simpleType>
        <xsd:restriction base="dms:Unknown"/>
      </xsd:simpleType>
    </xsd:element>
    <xsd:element name="RecommendationsModifier" ma:index="111" nillable="true" ma:displayName="Recommendations Modifier" ma:default="" ma:internalName="RecommendationsModifier" ma:readOnly="false">
      <xsd:simpleType>
        <xsd:restriction base="dms:Number"/>
      </xsd:simpleType>
    </xsd:element>
    <xsd:element name="ArtSampleDocs" ma:index="112" nillable="true" ma:displayName="Sample Docs" ma:default="" ma:hidden="true" ma:internalName="ArtSampleDocs" ma:readOnly="false">
      <xsd:simpleType>
        <xsd:restriction base="dms:Text"/>
      </xsd:simpleType>
    </xsd:element>
    <xsd:element name="ScenarioTagsTaxHTField0" ma:index="114" nillable="true" ma:taxonomy="true" ma:internalName="ScenarioTagsTaxHTField0" ma:taxonomyFieldName="ScenarioTags" ma:displayName="Scenarios" ma:readOnly="false" ma:default="" ma:fieldId="{2b17064f-d481-4d1f-8972-3daed425d45b}"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6"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7" nillable="true" ma:displayName="Source Title" ma:default="" ma:indexed="true" ma:internalName="SourceTitle" ma:readOnly="false">
      <xsd:simpleType>
        <xsd:restriction base="dms:Text"/>
      </xsd:simpleType>
    </xsd:element>
    <xsd:element name="CSXSubmissionDate" ma:index="118" nillable="true" ma:displayName="Submission Date" ma:default="" ma:internalName="CSXSubmissionDate" ma:readOnly="false">
      <xsd:simpleType>
        <xsd:restriction base="dms:DateTime"/>
      </xsd:simpleType>
    </xsd:element>
    <xsd:element name="SubmitterId" ma:index="119" nillable="true" ma:displayName="Submitter ID" ma:default="" ma:internalName="SubmitterId" ma:readOnly="false">
      <xsd:simpleType>
        <xsd:restriction base="dms:Text"/>
      </xsd:simpleType>
    </xsd:element>
    <xsd:element name="TaxCatchAll" ma:index="120" nillable="true" ma:displayName="Taxonomy Catch All Column" ma:hidden="true" ma:list="{cf79a0c3-d835-43ca-aa56-b38f2035bf82}" ma:internalName="TaxCatchAll" ma:showField="CatchAllData"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TaxCatchAllLabel" ma:index="121" nillable="true" ma:displayName="Taxonomy Catch All Column1" ma:hidden="true" ma:list="{cf79a0c3-d835-43ca-aa56-b38f2035bf82}" ma:internalName="TaxCatchAllLabel" ma:readOnly="true" ma:showField="CatchAllDataLabel" ma:web="6e9ea02a-742f-4d68-9828-878561d4a93c">
      <xsd:complexType>
        <xsd:complexContent>
          <xsd:extension base="dms:MultiChoiceLookup">
            <xsd:sequence>
              <xsd:element name="Value" type="dms:Lookup" maxOccurs="unbounded" minOccurs="0" nillable="true"/>
            </xsd:sequence>
          </xsd:extension>
        </xsd:complexContent>
      </xsd:complexType>
    </xsd:element>
    <xsd:element name="TemplateStatus" ma:index="122" nillable="true" ma:displayName="Template Status" ma:default="" ma:internalName="TemplateStatus">
      <xsd:simpleType>
        <xsd:restriction base="dms:Unknown"/>
      </xsd:simpleType>
    </xsd:element>
    <xsd:element name="TemplateTemplateType" ma:index="123" nillable="true" ma:displayName="Template Type" ma:default="" ma:internalName="TemplateTemplateType">
      <xsd:simpleType>
        <xsd:restriction base="dms:Unknown"/>
      </xsd:simpleType>
    </xsd:element>
    <xsd:element name="ThumbnailAssetId" ma:index="124" nillable="true" ma:displayName="Thumbnail Image Asset" ma:default="" ma:internalName="ThumbnailAssetId" ma:readOnly="false">
      <xsd:simpleType>
        <xsd:restriction base="dms:Text"/>
      </xsd:simpleType>
    </xsd:element>
    <xsd:element name="TimesCloned" ma:index="125" nillable="true" ma:displayName="Times Cloned" ma:default="" ma:internalName="TimesCloned" ma:readOnly="false">
      <xsd:simpleType>
        <xsd:restriction base="dms:Number"/>
      </xsd:simpleType>
    </xsd:element>
    <xsd:element name="TrustLevel" ma:index="127" nillable="true" ma:displayName="Trust Level" ma:default="1 Microsoft Managed Content" ma:internalName="TrustLevel" ma:readOnly="false">
      <xsd:simpleType>
        <xsd:restriction base="dms:Unknown"/>
      </xsd:simpleType>
    </xsd:element>
    <xsd:element name="UALocComments" ma:index="128" nillable="true" ma:displayName="UA Loc Comments" ma:default="" ma:internalName="UALocComments" ma:readOnly="false">
      <xsd:simpleType>
        <xsd:restriction base="dms:Note"/>
      </xsd:simpleType>
    </xsd:element>
    <xsd:element name="UALocRecommendation" ma:index="129"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0" nillable="true" ma:displayName="UA Notes" ma:default="" ma:internalName="UANotes" ma:readOnly="false">
      <xsd:simpleType>
        <xsd:restriction base="dms:Note"/>
      </xsd:simpleType>
    </xsd:element>
    <xsd:element name="TPAppVersion" ma:index="131" nillable="true" ma:displayName="Version" ma:default="" ma:internalName="TPAppVersion">
      <xsd:simpleType>
        <xsd:restriction base="dms:Text"/>
      </xsd:simpleType>
    </xsd:element>
    <xsd:element name="VoteCount" ma:index="132"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1" ma:displayName="Content Type"/>
        <xsd:element ref="dc:title" minOccurs="0" maxOccurs="1" ma:index="126"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irectSourceMarket xmlns="6e9ea02a-742f-4d68-9828-878561d4a93c">english</DirectSourceMarket>
    <ApprovalStatus xmlns="6e9ea02a-742f-4d68-9828-878561d4a93c">InProgress</ApprovalStatus>
    <MarketSpecific xmlns="6e9ea02a-742f-4d68-9828-878561d4a93c" xsi:nil="true"/>
    <PrimaryImageGen xmlns="6e9ea02a-742f-4d68-9828-878561d4a93c">true</PrimaryImageGen>
    <ThumbnailAssetId xmlns="6e9ea02a-742f-4d68-9828-878561d4a93c" xsi:nil="true"/>
    <TPFriendlyName xmlns="6e9ea02a-742f-4d68-9828-878561d4a93c">Sales proposal presentation</TPFriendlyName>
    <NumericId xmlns="6e9ea02a-742f-4d68-9828-878561d4a93c">-1</NumericId>
    <BusinessGroup xmlns="6e9ea02a-742f-4d68-9828-878561d4a93c" xsi:nil="true"/>
    <SourceTitle xmlns="6e9ea02a-742f-4d68-9828-878561d4a93c">Sales proposal presentation</SourceTitle>
    <APEditor xmlns="6e9ea02a-742f-4d68-9828-878561d4a93c">
      <UserInfo>
        <DisplayName>REDMOND\v-luannv</DisplayName>
        <AccountId>88</AccountId>
        <AccountType/>
      </UserInfo>
    </APEditor>
    <OpenTemplate xmlns="6e9ea02a-742f-4d68-9828-878561d4a93c">true</OpenTemplate>
    <UALocComments xmlns="6e9ea02a-742f-4d68-9828-878561d4a93c" xsi:nil="true"/>
    <ParentAssetId xmlns="6e9ea02a-742f-4d68-9828-878561d4a93c" xsi:nil="true"/>
    <IntlLangReviewDate xmlns="6e9ea02a-742f-4d68-9828-878561d4a93c" xsi:nil="true"/>
    <PublishStatusLookup xmlns="6e9ea02a-742f-4d68-9828-878561d4a93c">
      <Value>42995</Value>
      <Value>286929</Value>
    </PublishStatusLookup>
    <MachineTranslated xmlns="6e9ea02a-742f-4d68-9828-878561d4a93c">false</MachineTranslated>
    <OriginalSourceMarket xmlns="6e9ea02a-742f-4d68-9828-878561d4a93c">english</OriginalSourceMarket>
    <TPInstallLocation xmlns="6e9ea02a-742f-4d68-9828-878561d4a93c">{My Templates}</TPInstallLocation>
    <ClipArtFilename xmlns="6e9ea02a-742f-4d68-9828-878561d4a93c" xsi:nil="true"/>
    <APDescription xmlns="6e9ea02a-742f-4d68-9828-878561d4a93c" xsi:nil="true"/>
    <ContentItem xmlns="6e9ea02a-742f-4d68-9828-878561d4a93c" xsi:nil="true"/>
    <PublishTargets xmlns="6e9ea02a-742f-4d68-9828-878561d4a93c">OfficeOnline</PublishTargets>
    <TimesCloned xmlns="6e9ea02a-742f-4d68-9828-878561d4a93c" xsi:nil="true"/>
    <AssetStart xmlns="6e9ea02a-742f-4d68-9828-878561d4a93c">2009-01-02T00:00:00+00:00</AssetStart>
    <Provider xmlns="6e9ea02a-742f-4d68-9828-878561d4a93c">EY006220130</Provider>
    <AcquiredFrom xmlns="6e9ea02a-742f-4d68-9828-878561d4a93c" xsi:nil="true"/>
    <LastHandOff xmlns="6e9ea02a-742f-4d68-9828-878561d4a93c" xsi:nil="true"/>
    <TPClientViewer xmlns="6e9ea02a-742f-4d68-9828-878561d4a93c">Microsoft Office PowerPoint</TPClientViewer>
    <IsDeleted xmlns="6e9ea02a-742f-4d68-9828-878561d4a93c">false</IsDeleted>
    <TemplateStatus xmlns="6e9ea02a-742f-4d68-9828-878561d4a93c" xsi:nil="true"/>
    <SubmitterId xmlns="6e9ea02a-742f-4d68-9828-878561d4a93c" xsi:nil="true"/>
    <TPExecutable xmlns="6e9ea02a-742f-4d68-9828-878561d4a93c" xsi:nil="true"/>
    <AssetType xmlns="6e9ea02a-742f-4d68-9828-878561d4a93c">TP</AssetType>
    <CSXUpdate xmlns="6e9ea02a-742f-4d68-9828-878561d4a93c">false</CSXUpdate>
    <BugNumber xmlns="6e9ea02a-742f-4d68-9828-878561d4a93c" xsi:nil="true"/>
    <ApprovalLog xmlns="6e9ea02a-742f-4d68-9828-878561d4a93c" xsi:nil="true"/>
    <CSXSubmissionDate xmlns="6e9ea02a-742f-4d68-9828-878561d4a93c" xsi:nil="true"/>
    <Milestone xmlns="6e9ea02a-742f-4d68-9828-878561d4a93c" xsi:nil="true"/>
    <OriginAsset xmlns="6e9ea02a-742f-4d68-9828-878561d4a93c" xsi:nil="true"/>
    <TPComponent xmlns="6e9ea02a-742f-4d68-9828-878561d4a93c">PPTFiles</TPComponent>
    <AssetId xmlns="6e9ea02a-742f-4d68-9828-878561d4a93c">TP010220213</AssetId>
    <TPLaunchHelpLink xmlns="6e9ea02a-742f-4d68-9828-878561d4a93c" xsi:nil="true"/>
    <TPApplication xmlns="6e9ea02a-742f-4d68-9828-878561d4a93c">PowerPoint</TPApplication>
    <IntlLocPriority xmlns="6e9ea02a-742f-4d68-9828-878561d4a93c" xsi:nil="true"/>
    <PlannedPubDate xmlns="6e9ea02a-742f-4d68-9828-878561d4a93c" xsi:nil="true"/>
    <IntlLangReviewer xmlns="6e9ea02a-742f-4d68-9828-878561d4a93c" xsi:nil="true"/>
    <HandoffToMSDN xmlns="6e9ea02a-742f-4d68-9828-878561d4a93c" xsi:nil="true"/>
    <CrawlForDependencies xmlns="6e9ea02a-742f-4d68-9828-878561d4a93c">false</CrawlForDependencies>
    <TrustLevel xmlns="6e9ea02a-742f-4d68-9828-878561d4a93c">1 Microsoft Managed Content</TrustLevel>
    <IsSearchable xmlns="6e9ea02a-742f-4d68-9828-878561d4a93c">false</IsSearchable>
    <TPNamespace xmlns="6e9ea02a-742f-4d68-9828-878561d4a93c">POWERPNT</TPNamespace>
    <Markets xmlns="6e9ea02a-742f-4d68-9828-878561d4a93c"/>
    <UAProjectedTotalWords xmlns="6e9ea02a-742f-4d68-9828-878561d4a93c" xsi:nil="true"/>
    <IntlLangReview xmlns="6e9ea02a-742f-4d68-9828-878561d4a93c" xsi:nil="true"/>
    <OutputCachingOn xmlns="6e9ea02a-742f-4d68-9828-878561d4a93c">false</OutputCachingOn>
    <TPCommandLine xmlns="6e9ea02a-742f-4d68-9828-878561d4a93c">{PP} /n {FilePath}</TPCommandLine>
    <TPAppVersion xmlns="6e9ea02a-742f-4d68-9828-878561d4a93c">12</TPAppVersion>
    <APAuthor xmlns="6e9ea02a-742f-4d68-9828-878561d4a93c">
      <UserInfo>
        <DisplayName>REDMOND\cynvey</DisplayName>
        <AccountId>191</AccountId>
        <AccountType/>
      </UserInfo>
    </APAuthor>
    <EditorialStatus xmlns="6e9ea02a-742f-4d68-9828-878561d4a93c" xsi:nil="true"/>
    <TPLaunchHelpLinkType xmlns="6e9ea02a-742f-4d68-9828-878561d4a93c">Template</TPLaunchHelpLinkType>
    <LastModifiedDateTime xmlns="6e9ea02a-742f-4d68-9828-878561d4a93c" xsi:nil="true"/>
    <UACurrentWords xmlns="6e9ea02a-742f-4d68-9828-878561d4a93c">0</UACurrentWords>
    <UALocRecommendation xmlns="6e9ea02a-742f-4d68-9828-878561d4a93c">Localize</UALocRecommendation>
    <ArtSampleDocs xmlns="6e9ea02a-742f-4d68-9828-878561d4a93c" xsi:nil="true"/>
    <UANotes xmlns="6e9ea02a-742f-4d68-9828-878561d4a93c" xsi:nil="true"/>
    <ShowIn xmlns="6e9ea02a-742f-4d68-9828-878561d4a93c" xsi:nil="true"/>
    <CSXHash xmlns="6e9ea02a-742f-4d68-9828-878561d4a93c" xsi:nil="true"/>
    <VoteCount xmlns="6e9ea02a-742f-4d68-9828-878561d4a93c" xsi:nil="true"/>
    <CSXSubmissionMarket xmlns="6e9ea02a-742f-4d68-9828-878561d4a93c" xsi:nil="true"/>
    <AssetExpire xmlns="6e9ea02a-742f-4d68-9828-878561d4a93c">2029-05-12T00:00:00+00:00</AssetExpire>
    <DSATActionTaken xmlns="6e9ea02a-742f-4d68-9828-878561d4a93c" xsi:nil="true"/>
    <LastPublishResultLookup xmlns="6e9ea02a-742f-4d68-9828-878561d4a93c" xsi:nil="true"/>
    <OOCacheId xmlns="6e9ea02a-742f-4d68-9828-878561d4a93c" xsi:nil="true"/>
    <EditorialTags xmlns="6e9ea02a-742f-4d68-9828-878561d4a93c" xsi:nil="true"/>
    <FriendlyTitle xmlns="6e9ea02a-742f-4d68-9828-878561d4a93c" xsi:nil="true"/>
    <Providers xmlns="6e9ea02a-742f-4d68-9828-878561d4a93c" xsi:nil="true"/>
    <PolicheckWords xmlns="6e9ea02a-742f-4d68-9828-878561d4a93c" xsi:nil="true"/>
    <Manager xmlns="6e9ea02a-742f-4d68-9828-878561d4a93c" xsi:nil="true"/>
    <TemplateTemplateType xmlns="6e9ea02a-742f-4d68-9828-878561d4a93c">PowerPoint 12 Default</TemplateTemplateType>
    <LegacyData xmlns="6e9ea02a-742f-4d68-9828-878561d4a93c" xsi:nil="true"/>
    <Downloads xmlns="6e9ea02a-742f-4d68-9828-878561d4a93c">0</Downloads>
    <CampaignTagsTaxHTField0 xmlns="6e9ea02a-742f-4d68-9828-878561d4a93c">
      <Terms xmlns="http://schemas.microsoft.com/office/infopath/2007/PartnerControls"/>
    </CampaignTagsTaxHTField0>
    <LocLastLocAttemptVersionLookup xmlns="6e9ea02a-742f-4d68-9828-878561d4a93c">24016</LocLastLocAttemptVersionLookup>
    <LocComments xmlns="6e9ea02a-742f-4d68-9828-878561d4a93c" xsi:nil="true"/>
    <LocalizationTagsTaxHTField0 xmlns="6e9ea02a-742f-4d68-9828-878561d4a93c">
      <Terms xmlns="http://schemas.microsoft.com/office/infopath/2007/PartnerControls"/>
    </LocalizationTagsTaxHTField0>
    <LocNewPublishedVersionLookup xmlns="6e9ea02a-742f-4d68-9828-878561d4a93c" xsi:nil="true"/>
    <LocOverallPublishStatusLookup xmlns="6e9ea02a-742f-4d68-9828-878561d4a93c" xsi:nil="true"/>
    <InternalTagsTaxHTField0 xmlns="6e9ea02a-742f-4d68-9828-878561d4a93c">
      <Terms xmlns="http://schemas.microsoft.com/office/infopath/2007/PartnerControls"/>
    </InternalTagsTaxHTField0>
    <LocLastLocAttemptVersionTypeLookup xmlns="6e9ea02a-742f-4d68-9828-878561d4a93c" xsi:nil="true"/>
    <FeatureTagsTaxHTField0 xmlns="6e9ea02a-742f-4d68-9828-878561d4a93c">
      <Terms xmlns="http://schemas.microsoft.com/office/infopath/2007/PartnerControls"/>
    </FeatureTagsTaxHTField0>
    <LocOverallLocStatusLookup xmlns="6e9ea02a-742f-4d68-9828-878561d4a93c" xsi:nil="true"/>
    <LocProcessedForHandoffsLookup xmlns="6e9ea02a-742f-4d68-9828-878561d4a93c" xsi:nil="true"/>
    <ScenarioTagsTaxHTField0 xmlns="6e9ea02a-742f-4d68-9828-878561d4a93c">
      <Terms xmlns="http://schemas.microsoft.com/office/infopath/2007/PartnerControls"/>
    </ScenarioTagsTaxHTField0>
    <TaxCatchAll xmlns="6e9ea02a-742f-4d68-9828-878561d4a93c"/>
    <BlockPublish xmlns="6e9ea02a-742f-4d68-9828-878561d4a93c" xsi:nil="true"/>
    <LocManualTestRequired xmlns="6e9ea02a-742f-4d68-9828-878561d4a93c" xsi:nil="true"/>
    <LocProcessedForMarketsLookup xmlns="6e9ea02a-742f-4d68-9828-878561d4a93c" xsi:nil="true"/>
    <LocOverallHandbackStatusLookup xmlns="6e9ea02a-742f-4d68-9828-878561d4a93c" xsi:nil="true"/>
    <LocPublishedDependentAssetsLookup xmlns="6e9ea02a-742f-4d68-9828-878561d4a93c" xsi:nil="true"/>
    <LocOverallPreviewStatusLookup xmlns="6e9ea02a-742f-4d68-9828-878561d4a93c" xsi:nil="true"/>
    <LocPublishedLinkedAssetsLookup xmlns="6e9ea02a-742f-4d68-9828-878561d4a93c" xsi:nil="true"/>
    <LocRecommendedHandoff xmlns="6e9ea02a-742f-4d68-9828-878561d4a93c" xsi:nil="true"/>
    <RecommendationsModifier xmlns="6e9ea02a-742f-4d68-9828-878561d4a93c" xsi:nil="true"/>
    <OriginalRelease xmlns="6e9ea02a-742f-4d68-9828-878561d4a93c">14</OriginalRelease>
    <LocMarketGroupTiers2 xmlns="6e9ea02a-742f-4d68-9828-878561d4a93c" xsi:nil="true"/>
  </documentManagement>
</p:properties>
</file>

<file path=customXml/itemProps1.xml><?xml version="1.0" encoding="utf-8"?>
<ds:datastoreItem xmlns:ds="http://schemas.openxmlformats.org/officeDocument/2006/customXml" ds:itemID="{7275DA3A-3A60-4B3C-9DA8-A56C687C5D04}">
  <ds:schemaRefs>
    <ds:schemaRef ds:uri="http://schemas.microsoft.com/sharepoint/v3/contenttype/forms"/>
  </ds:schemaRefs>
</ds:datastoreItem>
</file>

<file path=customXml/itemProps2.xml><?xml version="1.0" encoding="utf-8"?>
<ds:datastoreItem xmlns:ds="http://schemas.openxmlformats.org/officeDocument/2006/customXml" ds:itemID="{20BF573D-9A78-4E74-A3E4-0528FD8809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ea02a-742f-4d68-9828-878561d4a9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B85EEE-92B5-4E6B-8424-4B208E8A4945}">
  <ds:schemaRefs>
    <ds:schemaRef ds:uri="http://schemas.microsoft.com/office/2006/metadata/properties"/>
    <ds:schemaRef ds:uri="http://purl.org/dc/elements/1.1/"/>
    <ds:schemaRef ds:uri="http://www.w3.org/XML/1998/namespace"/>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6e9ea02a-742f-4d68-9828-878561d4a93c"/>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0</TotalTime>
  <Words>11094</Words>
  <Application>Microsoft Office PowerPoint</Application>
  <PresentationFormat>‫הצגה על המסך (4:3)</PresentationFormat>
  <Paragraphs>1214</Paragraphs>
  <Slides>142</Slides>
  <Notes>11</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142</vt:i4>
      </vt:variant>
    </vt:vector>
  </HeadingPairs>
  <TitlesOfParts>
    <vt:vector size="150" baseType="lpstr">
      <vt:lpstr>Arial</vt:lpstr>
      <vt:lpstr>Calibri</vt:lpstr>
      <vt:lpstr>Century Gothic</vt:lpstr>
      <vt:lpstr>Courier New</vt:lpstr>
      <vt:lpstr>Gisha</vt:lpstr>
      <vt:lpstr>Verdana</vt:lpstr>
      <vt:lpstr>Wingdings 2</vt:lpstr>
      <vt:lpstr>Verve</vt:lpstr>
      <vt:lpstr>SQL</vt:lpstr>
      <vt:lpstr>מהם בסיסי נתונים?</vt:lpstr>
      <vt:lpstr>שימוש בבסיסי נתונים</vt:lpstr>
      <vt:lpstr>Relational and non-relational databases</vt:lpstr>
      <vt:lpstr>Relational database</vt:lpstr>
      <vt:lpstr>מרכיבי מסד הנתונים הטבלאי</vt:lpstr>
      <vt:lpstr>מרכיבי מסד נתונים הטבלאי - דוגמא</vt:lpstr>
      <vt:lpstr>מפתחות</vt:lpstr>
      <vt:lpstr>מפתחות - דוגמא</vt:lpstr>
      <vt:lpstr>קשרים בין טבלאות</vt:lpstr>
      <vt:lpstr>קשרים בין טבלאות - דוגמא</vt:lpstr>
      <vt:lpstr>מסד נתונים – דוגמא מסכמת</vt:lpstr>
      <vt:lpstr>Constraints – אילוצים - סיכום</vt:lpstr>
      <vt:lpstr>מסד נתונים - תרגיל</vt:lpstr>
      <vt:lpstr>SQL – Structured Query Language</vt:lpstr>
      <vt:lpstr>התחברות ל SQL Server</vt:lpstr>
      <vt:lpstr>עבודה עם מסד נתונים ב SQL</vt:lpstr>
      <vt:lpstr>יצירת טבלה חדשה – צורה גרפית</vt:lpstr>
      <vt:lpstr>יצירת טבלה חדשה – ע"י סקריפט</vt:lpstr>
      <vt:lpstr>מחיקת טבלה</vt:lpstr>
      <vt:lpstr>עדכון מבנה טבלה קיימת</vt:lpstr>
      <vt:lpstr>הגדרת שדה המפתח כמפתח רץ</vt:lpstr>
      <vt:lpstr>הוספת נתונים לטבלה/ צפיה בנתוני הטבלה</vt:lpstr>
      <vt:lpstr>יצירת קשרי גומלין בין טבלאות</vt:lpstr>
      <vt:lpstr>סוגי משתנים</vt:lpstr>
      <vt:lpstr>בעיות אפשריות בעת מילוי נתונים/ שינוי מבנה טבלה</vt:lpstr>
      <vt:lpstr>שמירת שינויים</vt:lpstr>
      <vt:lpstr>יצירת טבלאות וקשרי גומלין ב SQL – תרגיל</vt:lpstr>
      <vt:lpstr>פקודות CRUD</vt:lpstr>
      <vt:lpstr>Create – הוספת נתונים לטבלה</vt:lpstr>
      <vt:lpstr>Create - Example</vt:lpstr>
      <vt:lpstr>Read – עדכון נתוני טבלה</vt:lpstr>
      <vt:lpstr>Update</vt:lpstr>
      <vt:lpstr>Delete</vt:lpstr>
      <vt:lpstr>פקודות CRUD - תרגיל</vt:lpstr>
      <vt:lpstr>שאילתות </vt:lpstr>
      <vt:lpstr>Select… From</vt:lpstr>
      <vt:lpstr>Select… From</vt:lpstr>
      <vt:lpstr>חישובים על עמודות</vt:lpstr>
      <vt:lpstr>חישובים על עמודות</vt:lpstr>
      <vt:lpstr>חישובים על עמודות</vt:lpstr>
      <vt:lpstr>Column Alias</vt:lpstr>
      <vt:lpstr>Column Aliases</vt:lpstr>
      <vt:lpstr>String Concatenation</vt:lpstr>
      <vt:lpstr>Distinct</vt:lpstr>
      <vt:lpstr>שליפות – תרגיל</vt:lpstr>
      <vt:lpstr>Where</vt:lpstr>
      <vt:lpstr>Where</vt:lpstr>
      <vt:lpstr>AND, OR and NOT Operator</vt:lpstr>
      <vt:lpstr>AND Operator</vt:lpstr>
      <vt:lpstr>OR Operator</vt:lpstr>
      <vt:lpstr>NOT Operator</vt:lpstr>
      <vt:lpstr>In Operator</vt:lpstr>
      <vt:lpstr>Between Operator</vt:lpstr>
      <vt:lpstr>Like Operator</vt:lpstr>
      <vt:lpstr>Like Operator - Examples</vt:lpstr>
      <vt:lpstr>תרגיל שליפות – where</vt:lpstr>
      <vt:lpstr>IS NULL / NOT NULL</vt:lpstr>
      <vt:lpstr>SELECT TOP</vt:lpstr>
      <vt:lpstr>Scalar functions</vt:lpstr>
      <vt:lpstr>String functions</vt:lpstr>
      <vt:lpstr>String functions</vt:lpstr>
      <vt:lpstr>String functions – רשימת הפונקציות המלאה</vt:lpstr>
      <vt:lpstr>String functions – רשימת הפונקציות המלאה - המשך</vt:lpstr>
      <vt:lpstr>Numeric functions</vt:lpstr>
      <vt:lpstr>Numeric functions – רשימת הפונקציות המלאה</vt:lpstr>
      <vt:lpstr>Numeric functions – רשימת הפונקציות המלאה - המשך</vt:lpstr>
      <vt:lpstr>Date functions</vt:lpstr>
      <vt:lpstr>Date functions – רשימת הפונקציות המלאה</vt:lpstr>
      <vt:lpstr>Conversion functions</vt:lpstr>
      <vt:lpstr>Conversion functions</vt:lpstr>
      <vt:lpstr>Conditional functions</vt:lpstr>
      <vt:lpstr>Case</vt:lpstr>
      <vt:lpstr>ORDER BY</vt:lpstr>
      <vt:lpstr>ORDER BY</vt:lpstr>
      <vt:lpstr>where+פונקציות סקלריות + order by - תרגיל</vt:lpstr>
      <vt:lpstr>Group functions</vt:lpstr>
      <vt:lpstr>Group functions</vt:lpstr>
      <vt:lpstr>Group functions</vt:lpstr>
      <vt:lpstr>Group functions</vt:lpstr>
      <vt:lpstr>Group By</vt:lpstr>
      <vt:lpstr>Group By</vt:lpstr>
      <vt:lpstr>Group By</vt:lpstr>
      <vt:lpstr>Having</vt:lpstr>
      <vt:lpstr>Having</vt:lpstr>
      <vt:lpstr>Join</vt:lpstr>
      <vt:lpstr>Inner Join</vt:lpstr>
      <vt:lpstr>Left Join</vt:lpstr>
      <vt:lpstr>Left Join</vt:lpstr>
      <vt:lpstr>Right Join</vt:lpstr>
      <vt:lpstr>Right Join</vt:lpstr>
      <vt:lpstr>Full Join</vt:lpstr>
      <vt:lpstr>Full Join</vt:lpstr>
      <vt:lpstr>Join more than 2 tables</vt:lpstr>
      <vt:lpstr>Self Join</vt:lpstr>
      <vt:lpstr>Join</vt:lpstr>
      <vt:lpstr>Join - תרגיל</vt:lpstr>
      <vt:lpstr>Join – תרגיל 2</vt:lpstr>
      <vt:lpstr>תרגילים נוספים שאילתות – שליפות, עדכונים ומחיקות</vt:lpstr>
      <vt:lpstr>Sub Queries</vt:lpstr>
      <vt:lpstr>Single Row Sub Queries</vt:lpstr>
      <vt:lpstr>Single Row Sub Queries</vt:lpstr>
      <vt:lpstr>Multiple Row Sub Queries</vt:lpstr>
      <vt:lpstr>Multiple Row Sub Queries</vt:lpstr>
      <vt:lpstr>Sub Query</vt:lpstr>
      <vt:lpstr>Sub Query - תרגיל</vt:lpstr>
      <vt:lpstr>Stored Procedure</vt:lpstr>
      <vt:lpstr>Stored procedure features</vt:lpstr>
      <vt:lpstr>Disadvantages of Stored Procedures</vt:lpstr>
      <vt:lpstr>Types of Stored Procedures</vt:lpstr>
      <vt:lpstr>*DDL, DML</vt:lpstr>
      <vt:lpstr>Create a stored procedure</vt:lpstr>
      <vt:lpstr>Create a stored procedure</vt:lpstr>
      <vt:lpstr>Stored Procedure</vt:lpstr>
      <vt:lpstr>Input Parameters in Stored Procedure</vt:lpstr>
      <vt:lpstr>Output Parameters in Stored Procedure</vt:lpstr>
      <vt:lpstr>Stored procedure – תרגיל התחלה</vt:lpstr>
      <vt:lpstr>Stored procedure – תרגיל</vt:lpstr>
      <vt:lpstr>Call one procedure from another</vt:lpstr>
      <vt:lpstr>Stored procedure - תרגיל</vt:lpstr>
      <vt:lpstr>TSQL</vt:lpstr>
      <vt:lpstr> דוגמאות להצהרות TSQL</vt:lpstr>
      <vt:lpstr> ההבדלים בין TSQL ל SQL</vt:lpstr>
      <vt:lpstr>מדריך TSQL</vt:lpstr>
      <vt:lpstr>מדריךTSQL  - משתנים</vt:lpstr>
      <vt:lpstr>מדריךTSQL  - משתנים</vt:lpstr>
      <vt:lpstr>מדריך  TSQL - תנאים</vt:lpstr>
      <vt:lpstr>מדריך TSQL  - לולאות</vt:lpstr>
      <vt:lpstr>TSQL - תרגיל</vt:lpstr>
      <vt:lpstr>פרוצדורות – תרגיל מתקדם </vt:lpstr>
      <vt:lpstr>SQL Server Function</vt:lpstr>
      <vt:lpstr>Function VS Procedure</vt:lpstr>
      <vt:lpstr>View</vt:lpstr>
      <vt:lpstr>View  - דוגמא</vt:lpstr>
      <vt:lpstr>מתי נשתמש ב view?</vt:lpstr>
      <vt:lpstr>View – נקודות חשובות</vt:lpstr>
      <vt:lpstr>Trigger</vt:lpstr>
      <vt:lpstr>Types of Triggers</vt:lpstr>
      <vt:lpstr>DML Triggers</vt:lpstr>
      <vt:lpstr>Trigger - Syntax</vt:lpstr>
      <vt:lpstr>Trigger - דוגמא</vt:lpstr>
      <vt:lpstr>Trigger - תרגיל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proposal presentation</dc:title>
  <dc:creator/>
  <cp:lastModifiedBy/>
  <cp:revision>1</cp:revision>
  <dcterms:created xsi:type="dcterms:W3CDTF">2007-06-01T21:00:32Z</dcterms:created>
  <dcterms:modified xsi:type="dcterms:W3CDTF">2025-05-27T15:38:22Z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0x010100DEBB3141636B894099107E6745BE213F04000498BE45EB900B4AB4820FEB2B334769</vt:lpwstr>
  </property>
  <property fmtid="{D5CDD505-2E9C-101B-9397-08002B2CF9AE}" pid="3" name="ImageGenCounter">
    <vt:i4>0</vt:i4>
  </property>
  <property fmtid="{D5CDD505-2E9C-101B-9397-08002B2CF9AE}" pid="4" name="ViolationReportStatus">
    <vt:lpwstr>None</vt:lpwstr>
  </property>
  <property fmtid="{D5CDD505-2E9C-101B-9397-08002B2CF9AE}" pid="5" name="ImageGenStatus">
    <vt:i4>0</vt:i4>
  </property>
  <property fmtid="{D5CDD505-2E9C-101B-9397-08002B2CF9AE}" pid="6" name="Applications">
    <vt:lpwstr>67;#Template 12;#53;#PowerPoint 12;#407;#PowerPoint 14</vt:lpwstr>
  </property>
  <property fmtid="{D5CDD505-2E9C-101B-9397-08002B2CF9AE}" pid="7" name="PolicheckCounter">
    <vt:i4>0</vt:i4>
  </property>
  <property fmtid="{D5CDD505-2E9C-101B-9397-08002B2CF9AE}" pid="8" name="PolicheckStatus">
    <vt:i4>0</vt:i4>
  </property>
  <property fmtid="{D5CDD505-2E9C-101B-9397-08002B2CF9AE}" pid="9" name="APTrustLevel">
    <vt:r8>1</vt:r8>
  </property>
  <property fmtid="{D5CDD505-2E9C-101B-9397-08002B2CF9AE}" pid="10" name="Order">
    <vt:r8>4259200</vt:r8>
  </property>
</Properties>
</file>